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85"/>
  </p:handoutMasterIdLst>
  <p:sldIdLst>
    <p:sldId id="329" r:id="rId2"/>
    <p:sldId id="328" r:id="rId3"/>
    <p:sldId id="330" r:id="rId4"/>
    <p:sldId id="348" r:id="rId5"/>
    <p:sldId id="349" r:id="rId6"/>
    <p:sldId id="337" r:id="rId7"/>
    <p:sldId id="338" r:id="rId8"/>
    <p:sldId id="339" r:id="rId9"/>
    <p:sldId id="340" r:id="rId10"/>
    <p:sldId id="346" r:id="rId11"/>
    <p:sldId id="347" r:id="rId12"/>
    <p:sldId id="341" r:id="rId13"/>
    <p:sldId id="342" r:id="rId14"/>
    <p:sldId id="343" r:id="rId15"/>
    <p:sldId id="344" r:id="rId16"/>
    <p:sldId id="345" r:id="rId17"/>
    <p:sldId id="317" r:id="rId18"/>
    <p:sldId id="318" r:id="rId19"/>
    <p:sldId id="320" r:id="rId20"/>
    <p:sldId id="321" r:id="rId21"/>
    <p:sldId id="322" r:id="rId22"/>
    <p:sldId id="323" r:id="rId23"/>
    <p:sldId id="324" r:id="rId24"/>
    <p:sldId id="326" r:id="rId25"/>
    <p:sldId id="327" r:id="rId26"/>
    <p:sldId id="257" r:id="rId27"/>
    <p:sldId id="258" r:id="rId28"/>
    <p:sldId id="259" r:id="rId29"/>
    <p:sldId id="260" r:id="rId30"/>
    <p:sldId id="262" r:id="rId31"/>
    <p:sldId id="286" r:id="rId32"/>
    <p:sldId id="263" r:id="rId33"/>
    <p:sldId id="264" r:id="rId34"/>
    <p:sldId id="265" r:id="rId35"/>
    <p:sldId id="266" r:id="rId36"/>
    <p:sldId id="267" r:id="rId37"/>
    <p:sldId id="268" r:id="rId38"/>
    <p:sldId id="269" r:id="rId39"/>
    <p:sldId id="270" r:id="rId40"/>
    <p:sldId id="271" r:id="rId41"/>
    <p:sldId id="272" r:id="rId42"/>
    <p:sldId id="273" r:id="rId43"/>
    <p:sldId id="274" r:id="rId44"/>
    <p:sldId id="275" r:id="rId45"/>
    <p:sldId id="276" r:id="rId46"/>
    <p:sldId id="277" r:id="rId47"/>
    <p:sldId id="278" r:id="rId48"/>
    <p:sldId id="280" r:id="rId49"/>
    <p:sldId id="279" r:id="rId50"/>
    <p:sldId id="281" r:id="rId51"/>
    <p:sldId id="282" r:id="rId52"/>
    <p:sldId id="283" r:id="rId53"/>
    <p:sldId id="284" r:id="rId54"/>
    <p:sldId id="285" r:id="rId55"/>
    <p:sldId id="288" r:id="rId56"/>
    <p:sldId id="289" r:id="rId57"/>
    <p:sldId id="291" r:id="rId58"/>
    <p:sldId id="292" r:id="rId59"/>
    <p:sldId id="293" r:id="rId60"/>
    <p:sldId id="294" r:id="rId61"/>
    <p:sldId id="295" r:id="rId62"/>
    <p:sldId id="332" r:id="rId63"/>
    <p:sldId id="335" r:id="rId64"/>
    <p:sldId id="296" r:id="rId65"/>
    <p:sldId id="297" r:id="rId66"/>
    <p:sldId id="331" r:id="rId67"/>
    <p:sldId id="298" r:id="rId68"/>
    <p:sldId id="299" r:id="rId69"/>
    <p:sldId id="300" r:id="rId70"/>
    <p:sldId id="301" r:id="rId71"/>
    <p:sldId id="302" r:id="rId72"/>
    <p:sldId id="303" r:id="rId73"/>
    <p:sldId id="304" r:id="rId74"/>
    <p:sldId id="305" r:id="rId75"/>
    <p:sldId id="306" r:id="rId76"/>
    <p:sldId id="307" r:id="rId77"/>
    <p:sldId id="308" r:id="rId78"/>
    <p:sldId id="309" r:id="rId79"/>
    <p:sldId id="336" r:id="rId80"/>
    <p:sldId id="310" r:id="rId81"/>
    <p:sldId id="311" r:id="rId82"/>
    <p:sldId id="312" r:id="rId83"/>
    <p:sldId id="313" r:id="rId8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FF66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104" d="100"/>
          <a:sy n="104" d="100"/>
        </p:scale>
        <p:origin x="144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69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24.xml"/><Relationship Id="rId13" Type="http://schemas.openxmlformats.org/officeDocument/2006/relationships/slide" Target="slides/slide29.xml"/><Relationship Id="rId18" Type="http://schemas.openxmlformats.org/officeDocument/2006/relationships/slide" Target="slides/slide61.xml"/><Relationship Id="rId26" Type="http://schemas.openxmlformats.org/officeDocument/2006/relationships/slide" Target="slides/slide80.xml"/><Relationship Id="rId3" Type="http://schemas.openxmlformats.org/officeDocument/2006/relationships/slide" Target="slides/slide19.xml"/><Relationship Id="rId21" Type="http://schemas.openxmlformats.org/officeDocument/2006/relationships/slide" Target="slides/slide67.xml"/><Relationship Id="rId7" Type="http://schemas.openxmlformats.org/officeDocument/2006/relationships/slide" Target="slides/slide23.xml"/><Relationship Id="rId12" Type="http://schemas.openxmlformats.org/officeDocument/2006/relationships/slide" Target="slides/slide28.xml"/><Relationship Id="rId17" Type="http://schemas.openxmlformats.org/officeDocument/2006/relationships/slide" Target="slides/slide60.xml"/><Relationship Id="rId25" Type="http://schemas.openxmlformats.org/officeDocument/2006/relationships/slide" Target="slides/slide78.xml"/><Relationship Id="rId2" Type="http://schemas.openxmlformats.org/officeDocument/2006/relationships/slide" Target="slides/slide18.xml"/><Relationship Id="rId16" Type="http://schemas.openxmlformats.org/officeDocument/2006/relationships/slide" Target="slides/slide59.xml"/><Relationship Id="rId20" Type="http://schemas.openxmlformats.org/officeDocument/2006/relationships/slide" Target="slides/slide65.xml"/><Relationship Id="rId29" Type="http://schemas.openxmlformats.org/officeDocument/2006/relationships/slide" Target="slides/slide83.xml"/><Relationship Id="rId1" Type="http://schemas.openxmlformats.org/officeDocument/2006/relationships/slide" Target="slides/slide17.xml"/><Relationship Id="rId6" Type="http://schemas.openxmlformats.org/officeDocument/2006/relationships/slide" Target="slides/slide22.xml"/><Relationship Id="rId11" Type="http://schemas.openxmlformats.org/officeDocument/2006/relationships/slide" Target="slides/slide27.xml"/><Relationship Id="rId24" Type="http://schemas.openxmlformats.org/officeDocument/2006/relationships/slide" Target="slides/slide77.xml"/><Relationship Id="rId5" Type="http://schemas.openxmlformats.org/officeDocument/2006/relationships/slide" Target="slides/slide21.xml"/><Relationship Id="rId15" Type="http://schemas.openxmlformats.org/officeDocument/2006/relationships/slide" Target="slides/slide58.xml"/><Relationship Id="rId23" Type="http://schemas.openxmlformats.org/officeDocument/2006/relationships/slide" Target="slides/slide76.xml"/><Relationship Id="rId28" Type="http://schemas.openxmlformats.org/officeDocument/2006/relationships/slide" Target="slides/slide82.xml"/><Relationship Id="rId10" Type="http://schemas.openxmlformats.org/officeDocument/2006/relationships/slide" Target="slides/slide26.xml"/><Relationship Id="rId19" Type="http://schemas.openxmlformats.org/officeDocument/2006/relationships/slide" Target="slides/slide64.xml"/><Relationship Id="rId4" Type="http://schemas.openxmlformats.org/officeDocument/2006/relationships/slide" Target="slides/slide20.xml"/><Relationship Id="rId9" Type="http://schemas.openxmlformats.org/officeDocument/2006/relationships/slide" Target="slides/slide25.xml"/><Relationship Id="rId14" Type="http://schemas.openxmlformats.org/officeDocument/2006/relationships/slide" Target="slides/slide57.xml"/><Relationship Id="rId22" Type="http://schemas.openxmlformats.org/officeDocument/2006/relationships/slide" Target="slides/slide75.xml"/><Relationship Id="rId27" Type="http://schemas.openxmlformats.org/officeDocument/2006/relationships/slide" Target="slides/slide8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C506996-2520-456A-A361-87E3E3C3B8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11169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DD8D0A-A828-4B84-891A-1D5CA5707A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8643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5A1DFD-F597-4C1B-852A-CF59F2BE0E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5196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6A568C-D1E1-47E1-A101-F4A10960FE9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9916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73E2B9-47B2-499C-ABFE-561F1530B6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2719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E78A76-B852-4A33-96FD-1C3DBD5033A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4660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FAF49C-A05E-449D-AAA1-4471522C75C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5358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5C87B0-414A-4BDF-BCA9-A22B050610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844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CE8938-027C-49E4-BA5F-F4D6880F8C9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174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6D3CFA-8E3C-4088-A255-8134CB79ECB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8445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1569C8-A946-4F65-85AF-AAA6CA0DACB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5539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FEF53-159B-43EF-A614-A1E6EA3C16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9125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735EE20-E4FA-4F43-BEC3-2178E993A2A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 smtClean="0"/>
              <a:t>Divide and conquer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Design </a:t>
            </a:r>
            <a:r>
              <a:rPr lang="en-US" dirty="0" smtClean="0"/>
              <a:t>and Analysis of Algorithms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Part-3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39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General Method</a:t>
            </a:r>
          </a:p>
          <a:p>
            <a:r>
              <a:rPr lang="en-US" dirty="0" smtClean="0"/>
              <a:t>Binary Search</a:t>
            </a:r>
          </a:p>
          <a:p>
            <a:r>
              <a:rPr lang="en-US" dirty="0" smtClean="0"/>
              <a:t>Merge Sort</a:t>
            </a:r>
          </a:p>
          <a:p>
            <a:r>
              <a:rPr lang="en-US" dirty="0" smtClean="0"/>
              <a:t>Quick Sort</a:t>
            </a:r>
          </a:p>
          <a:p>
            <a:r>
              <a:rPr lang="en-US" dirty="0" smtClean="0"/>
              <a:t>Exponential</a:t>
            </a:r>
          </a:p>
          <a:p>
            <a:r>
              <a:rPr lang="en-US" dirty="0" err="1" smtClean="0"/>
              <a:t>Strassen’s</a:t>
            </a:r>
            <a:r>
              <a:rPr lang="en-US" dirty="0" smtClean="0"/>
              <a:t> Matrix Multiplication</a:t>
            </a:r>
          </a:p>
          <a:p>
            <a:r>
              <a:rPr lang="en-US" dirty="0" smtClean="0"/>
              <a:t>Finding Minimum and Maximum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606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981200"/>
            <a:ext cx="8382000" cy="4114800"/>
          </a:xfrm>
        </p:spPr>
        <p:txBody>
          <a:bodyPr/>
          <a:lstStyle/>
          <a:p>
            <a:r>
              <a:rPr lang="en-US" dirty="0" smtClean="0"/>
              <a:t>The given problem is</a:t>
            </a:r>
          </a:p>
          <a:p>
            <a:pPr lvl="1"/>
            <a:r>
              <a:rPr lang="en-US" u="sng" dirty="0" smtClean="0"/>
              <a:t>Divided</a:t>
            </a:r>
            <a:r>
              <a:rPr lang="en-US" dirty="0" smtClean="0"/>
              <a:t> into small sub problems</a:t>
            </a:r>
          </a:p>
          <a:p>
            <a:pPr lvl="1"/>
            <a:r>
              <a:rPr lang="en-US" dirty="0" smtClean="0"/>
              <a:t>Sub problems are solved independently</a:t>
            </a:r>
          </a:p>
          <a:p>
            <a:pPr lvl="1"/>
            <a:r>
              <a:rPr lang="en-US" u="sng" dirty="0" smtClean="0"/>
              <a:t>Conquer</a:t>
            </a:r>
            <a:r>
              <a:rPr lang="en-US" dirty="0" smtClean="0"/>
              <a:t>: Sub </a:t>
            </a:r>
            <a:r>
              <a:rPr lang="en-US" dirty="0" smtClean="0"/>
              <a:t>problems are of same type as the  original  problem (</a:t>
            </a:r>
            <a:r>
              <a:rPr lang="en-US" dirty="0" smtClean="0">
                <a:solidFill>
                  <a:srgbClr val="FF0000"/>
                </a:solidFill>
              </a:rPr>
              <a:t>recursive</a:t>
            </a:r>
            <a:r>
              <a:rPr lang="en-US" dirty="0" smtClean="0"/>
              <a:t> algorithms are used)</a:t>
            </a:r>
          </a:p>
          <a:p>
            <a:pPr lvl="1"/>
            <a:r>
              <a:rPr lang="en-US" u="sng" dirty="0" smtClean="0"/>
              <a:t>Combine</a:t>
            </a:r>
            <a:r>
              <a:rPr lang="en-US" dirty="0" smtClean="0"/>
              <a:t> the solutions of sub problems in to a solution of the whole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375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Real-time problems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Looking for a name in the phone book</a:t>
            </a:r>
          </a:p>
          <a:p>
            <a:r>
              <a:rPr lang="en-US" dirty="0" smtClean="0"/>
              <a:t>Breaking a stone into dust</a:t>
            </a:r>
          </a:p>
          <a:p>
            <a:r>
              <a:rPr lang="en-US" dirty="0" smtClean="0"/>
              <a:t>Finding our car in a parking lot</a:t>
            </a:r>
          </a:p>
          <a:p>
            <a:pPr lvl="1"/>
            <a:r>
              <a:rPr lang="en-US" dirty="0" smtClean="0"/>
              <a:t>Binary search</a:t>
            </a:r>
          </a:p>
          <a:p>
            <a:pPr lvl="1"/>
            <a:r>
              <a:rPr lang="en-US" dirty="0" smtClean="0"/>
              <a:t>Merge and quick sort </a:t>
            </a:r>
          </a:p>
          <a:p>
            <a:pPr lvl="1"/>
            <a:r>
              <a:rPr lang="en-US" dirty="0" smtClean="0"/>
              <a:t>Min max</a:t>
            </a:r>
          </a:p>
          <a:p>
            <a:pPr lvl="1"/>
            <a:r>
              <a:rPr lang="en-US" dirty="0" smtClean="0"/>
              <a:t>Matrix multiplication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5240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Advantages Vs disadvantages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495800"/>
          </a:xfrm>
        </p:spPr>
        <p:txBody>
          <a:bodyPr/>
          <a:lstStyle/>
          <a:p>
            <a:pPr lvl="2"/>
            <a:r>
              <a:rPr lang="en-US" dirty="0" smtClean="0"/>
              <a:t>Best technique for solving big problems where the main problem can be divided into similar sub problems.</a:t>
            </a:r>
          </a:p>
          <a:p>
            <a:pPr lvl="2"/>
            <a:r>
              <a:rPr lang="en-US" dirty="0" smtClean="0"/>
              <a:t>Sub problems can be handled in parallel avoiding any kind of dependencies.</a:t>
            </a:r>
          </a:p>
          <a:p>
            <a:pPr lvl="2"/>
            <a:r>
              <a:rPr lang="en-US" dirty="0" smtClean="0"/>
              <a:t>Efficient memory utilization </a:t>
            </a:r>
          </a:p>
          <a:p>
            <a:r>
              <a:rPr lang="en-US" dirty="0" smtClean="0"/>
              <a:t>Recursion is slow</a:t>
            </a:r>
          </a:p>
          <a:p>
            <a:r>
              <a:rPr lang="en-US" dirty="0" smtClean="0"/>
              <a:t>Same computation is done repeatedly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3108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Search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534400" cy="5181600"/>
          </a:xfrm>
        </p:spPr>
        <p:txBody>
          <a:bodyPr/>
          <a:lstStyle/>
          <a:p>
            <a:r>
              <a:rPr lang="en-US" dirty="0" smtClean="0"/>
              <a:t>This works on sorted array</a:t>
            </a:r>
          </a:p>
          <a:p>
            <a:r>
              <a:rPr lang="en-US" dirty="0" smtClean="0"/>
              <a:t>An element which is to be searched from the list of elements stored in array A[0..n-1] is called KEY element.</a:t>
            </a:r>
          </a:p>
          <a:p>
            <a:pPr lvl="1"/>
            <a:r>
              <a:rPr lang="en-US" dirty="0" smtClean="0"/>
              <a:t>Let A[m] be the mid element of the array A.</a:t>
            </a:r>
          </a:p>
          <a:p>
            <a:r>
              <a:rPr lang="en-US" dirty="0" smtClean="0"/>
              <a:t>3 conditions</a:t>
            </a:r>
          </a:p>
          <a:p>
            <a:pPr lvl="1"/>
            <a:r>
              <a:rPr lang="en-US" dirty="0" smtClean="0"/>
              <a:t>If KEY = A[m] the element is present</a:t>
            </a:r>
          </a:p>
          <a:p>
            <a:pPr lvl="1"/>
            <a:r>
              <a:rPr lang="en-US" dirty="0" smtClean="0"/>
              <a:t>If KEY &lt; A[m] then search left sub list</a:t>
            </a:r>
          </a:p>
          <a:p>
            <a:pPr lvl="1"/>
            <a:r>
              <a:rPr lang="en-US" dirty="0" smtClean="0"/>
              <a:t>Else if KEY &gt; A[m] then search the right sub list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392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711" y="76200"/>
            <a:ext cx="7772400" cy="533400"/>
          </a:xfrm>
        </p:spPr>
        <p:txBody>
          <a:bodyPr/>
          <a:lstStyle/>
          <a:p>
            <a:r>
              <a:rPr lang="en-US" dirty="0" smtClean="0"/>
              <a:t>Example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9647028"/>
              </p:ext>
            </p:extLst>
          </p:nvPr>
        </p:nvGraphicFramePr>
        <p:xfrm>
          <a:off x="292271" y="1414165"/>
          <a:ext cx="77724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3400" y="914400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0                1           2             3            4             5           6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39688" y="3810000"/>
            <a:ext cx="720742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Element to be searched(KEY) is 60</a:t>
            </a:r>
          </a:p>
          <a:p>
            <a:r>
              <a:rPr lang="en-US" dirty="0" smtClean="0"/>
              <a:t>Now the get the middle element: m = 3 [(low + High)/2] </a:t>
            </a:r>
          </a:p>
          <a:p>
            <a:r>
              <a:rPr lang="en-US" dirty="0" smtClean="0"/>
              <a:t>Step 1:Check A[m] = KEY</a:t>
            </a:r>
          </a:p>
          <a:p>
            <a:r>
              <a:rPr lang="en-US" dirty="0" smtClean="0"/>
              <a:t>Step 2: search right sub list </a:t>
            </a:r>
          </a:p>
          <a:p>
            <a:endParaRPr lang="en-US" dirty="0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8209225"/>
              </p:ext>
            </p:extLst>
          </p:nvPr>
        </p:nvGraphicFramePr>
        <p:xfrm>
          <a:off x="528636" y="2667000"/>
          <a:ext cx="77724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1000" y="3119735"/>
            <a:ext cx="7924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Left sub list                             mid                      right sub list</a:t>
            </a:r>
            <a:endParaRPr lang="en-US" dirty="0"/>
          </a:p>
        </p:txBody>
      </p:sp>
      <p:sp>
        <p:nvSpPr>
          <p:cNvPr id="9" name="Up Arrow 8"/>
          <p:cNvSpPr/>
          <p:nvPr/>
        </p:nvSpPr>
        <p:spPr>
          <a:xfrm>
            <a:off x="4648200" y="3139779"/>
            <a:ext cx="121158" cy="37901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/>
          <p:cNvSpPr txBox="1"/>
          <p:nvPr/>
        </p:nvSpPr>
        <p:spPr>
          <a:xfrm>
            <a:off x="392402" y="1821804"/>
            <a:ext cx="7684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Low                                                                                  high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227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search analysis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Best case: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𝜃</m:t>
                    </m:r>
                  </m:oMath>
                </a14:m>
                <a:r>
                  <a:rPr lang="en-US" dirty="0" smtClean="0"/>
                  <a:t> (1)</a:t>
                </a:r>
              </a:p>
              <a:p>
                <a:r>
                  <a:rPr lang="en-US" dirty="0" smtClean="0"/>
                  <a:t>Average case :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𝜃</m:t>
                    </m:r>
                  </m:oMath>
                </a14:m>
                <a:r>
                  <a:rPr lang="en-US" dirty="0" smtClean="0"/>
                  <a:t>(log n)</a:t>
                </a:r>
              </a:p>
              <a:p>
                <a:r>
                  <a:rPr lang="en-US" dirty="0" smtClean="0"/>
                  <a:t>Worst case: </a:t>
                </a:r>
                <a:r>
                  <a:rPr lang="en-US" dirty="0" smtClean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𝜃</m:t>
                    </m:r>
                  </m:oMath>
                </a14:m>
                <a:r>
                  <a:rPr lang="en-US" dirty="0" smtClean="0"/>
                  <a:t> (log n)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04" t="-2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3645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066800"/>
          </a:xfrm>
        </p:spPr>
        <p:txBody>
          <a:bodyPr/>
          <a:lstStyle/>
          <a:p>
            <a:r>
              <a:rPr lang="en-US" b="1" dirty="0"/>
              <a:t>Analysis of Binary Search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71600"/>
            <a:ext cx="7772400" cy="5181600"/>
          </a:xfrm>
        </p:spPr>
        <p:txBody>
          <a:bodyPr/>
          <a:lstStyle/>
          <a:p>
            <a:r>
              <a:rPr lang="en-US" sz="2800" dirty="0"/>
              <a:t>Suppose we have an array A and in this array we are searching for a value </a:t>
            </a:r>
            <a:r>
              <a:rPr lang="en-US" sz="2800" dirty="0" smtClean="0"/>
              <a:t>K</a:t>
            </a:r>
          </a:p>
          <a:p>
            <a:r>
              <a:rPr lang="en-US" sz="2800" dirty="0" smtClean="0"/>
              <a:t>If </a:t>
            </a:r>
            <a:r>
              <a:rPr lang="en-US" sz="2800" dirty="0"/>
              <a:t>A has no special properties, then there is no better way to search K than linear </a:t>
            </a:r>
            <a:r>
              <a:rPr lang="en-US" sz="2800" dirty="0" smtClean="0"/>
              <a:t>search.</a:t>
            </a:r>
          </a:p>
          <a:p>
            <a:pPr lvl="1"/>
            <a:r>
              <a:rPr lang="en-US" sz="2400" dirty="0" smtClean="0"/>
              <a:t> </a:t>
            </a:r>
            <a:r>
              <a:rPr lang="en-US" sz="2400" dirty="0"/>
              <a:t>-- to start at the beginning and go through the array one step at a time, comparing each element to K in turn. </a:t>
            </a:r>
            <a:endParaRPr lang="en-US" sz="2400" dirty="0" smtClean="0"/>
          </a:p>
          <a:p>
            <a:pPr lvl="1"/>
            <a:r>
              <a:rPr lang="en-US" sz="2400" dirty="0" smtClean="0"/>
              <a:t>The </a:t>
            </a:r>
            <a:r>
              <a:rPr lang="en-US" sz="2400" dirty="0"/>
              <a:t>time it takes (on average, and in the worst case) is linear, or O(N), to the number of items of array. </a:t>
            </a:r>
            <a:endParaRPr lang="en-US" sz="2400" dirty="0" smtClean="0"/>
          </a:p>
          <a:p>
            <a:r>
              <a:rPr lang="en-US" sz="2800" dirty="0" smtClean="0"/>
              <a:t>But </a:t>
            </a:r>
            <a:r>
              <a:rPr lang="en-US" sz="2800" dirty="0"/>
              <a:t>if A is a sorted array, there is a much faster way, Binary Search, to look for K</a:t>
            </a:r>
            <a:r>
              <a:rPr lang="en-US" sz="2800" dirty="0" smtClean="0"/>
              <a:t>.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958256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914400"/>
          </a:xfrm>
        </p:spPr>
        <p:txBody>
          <a:bodyPr/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Analysis </a:t>
            </a:r>
            <a:r>
              <a:rPr lang="en-US" b="1" dirty="0"/>
              <a:t>of Binary Search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95400"/>
            <a:ext cx="7772400" cy="5257800"/>
          </a:xfrm>
        </p:spPr>
        <p:txBody>
          <a:bodyPr/>
          <a:lstStyle/>
          <a:p>
            <a:r>
              <a:rPr lang="en-US" dirty="0"/>
              <a:t>In binary search, after each iteration, the length of the array we are looking in gets cut in half. </a:t>
            </a:r>
          </a:p>
          <a:p>
            <a:pPr lvl="1"/>
            <a:r>
              <a:rPr lang="en-US" dirty="0"/>
              <a:t>Binary Search can be analyzed with the best, worst, and average case number of comparisons. </a:t>
            </a:r>
            <a:endParaRPr lang="en-US" dirty="0" smtClean="0"/>
          </a:p>
          <a:p>
            <a:pPr lvl="1"/>
            <a:r>
              <a:rPr lang="en-US" dirty="0" smtClean="0"/>
              <a:t>These </a:t>
            </a:r>
            <a:r>
              <a:rPr lang="en-US" dirty="0"/>
              <a:t>analyses are dependent upon the length of the array, so let N =|A| denote the length of the Array A.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29320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Analysis of Binary Search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numbers of comparisons for the recursive and iterative versions of Binary Search are the same</a:t>
            </a:r>
          </a:p>
          <a:p>
            <a:pPr lvl="1"/>
            <a:r>
              <a:rPr lang="en-US" dirty="0"/>
              <a:t>For Recursive Binary Search, count each pass through the if-then-else block as one comparison. </a:t>
            </a:r>
          </a:p>
          <a:p>
            <a:pPr lvl="1"/>
            <a:r>
              <a:rPr lang="en-US" dirty="0"/>
              <a:t>For Iterative Binary Search, count each pass through the while block as one comparison.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970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search – Best case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 case - O (1) comparisons </a:t>
            </a:r>
          </a:p>
          <a:p>
            <a:r>
              <a:rPr lang="en-US" dirty="0"/>
              <a:t>In the best case, the item X is the middle in the array A.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constant number of </a:t>
            </a:r>
            <a:r>
              <a:rPr lang="en-US" dirty="0" smtClean="0"/>
              <a:t>comparisons </a:t>
            </a:r>
            <a:r>
              <a:rPr lang="en-US" dirty="0"/>
              <a:t>(actually just 1) are required.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420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772400" cy="914400"/>
          </a:xfrm>
        </p:spPr>
        <p:txBody>
          <a:bodyPr/>
          <a:lstStyle/>
          <a:p>
            <a:r>
              <a:rPr lang="en-US" dirty="0"/>
              <a:t>Binary search – </a:t>
            </a:r>
            <a:r>
              <a:rPr lang="en-US" dirty="0" smtClean="0"/>
              <a:t>worst case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95400"/>
            <a:ext cx="7772400" cy="5410200"/>
          </a:xfrm>
        </p:spPr>
        <p:txBody>
          <a:bodyPr/>
          <a:lstStyle/>
          <a:p>
            <a:r>
              <a:rPr lang="en-US" dirty="0"/>
              <a:t>Worst case - O (log n) </a:t>
            </a:r>
            <a:r>
              <a:rPr lang="en-US" dirty="0" smtClean="0"/>
              <a:t>comparisons </a:t>
            </a:r>
            <a:endParaRPr lang="en-US" dirty="0"/>
          </a:p>
          <a:p>
            <a:r>
              <a:rPr lang="en-US" dirty="0"/>
              <a:t>In the worst case, the item X does not exist in the array A at all. </a:t>
            </a:r>
            <a:endParaRPr lang="en-US" dirty="0" smtClean="0"/>
          </a:p>
          <a:p>
            <a:r>
              <a:rPr lang="en-US" dirty="0" smtClean="0"/>
              <a:t>Through </a:t>
            </a:r>
            <a:r>
              <a:rPr lang="en-US" dirty="0"/>
              <a:t>each recursion or iteration of Binary Search, the size of the admissible range is </a:t>
            </a:r>
            <a:r>
              <a:rPr lang="en-US" u="sng" dirty="0"/>
              <a:t>halved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halving can be done </a:t>
            </a:r>
            <a:r>
              <a:rPr lang="en-US" dirty="0" smtClean="0"/>
              <a:t>ceiling(log </a:t>
            </a:r>
            <a:r>
              <a:rPr lang="en-US" dirty="0"/>
              <a:t>n ) times. Thus, </a:t>
            </a:r>
            <a:r>
              <a:rPr lang="en-US" dirty="0" smtClean="0"/>
              <a:t>ceiling(log </a:t>
            </a:r>
            <a:r>
              <a:rPr lang="en-US" dirty="0"/>
              <a:t>n ) comparisons are required.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166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en-US" dirty="0"/>
              <a:t>Binary search – </a:t>
            </a:r>
            <a:r>
              <a:rPr lang="en-US" dirty="0" smtClean="0"/>
              <a:t>average case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648200"/>
          </a:xfrm>
        </p:spPr>
        <p:txBody>
          <a:bodyPr/>
          <a:lstStyle/>
          <a:p>
            <a:r>
              <a:rPr lang="en-US" dirty="0"/>
              <a:t>Average case - O (log n) </a:t>
            </a:r>
            <a:r>
              <a:rPr lang="en-US" dirty="0" smtClean="0"/>
              <a:t>comparisons </a:t>
            </a:r>
            <a:endParaRPr lang="en-US" dirty="0"/>
          </a:p>
          <a:p>
            <a:r>
              <a:rPr lang="en-US" dirty="0" smtClean="0"/>
              <a:t>To </a:t>
            </a:r>
            <a:r>
              <a:rPr lang="en-US" dirty="0"/>
              <a:t>simplify the analysis, assume that no item which is not in A will be searched for, and that the probabilities of searching for each element are uniform.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182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difference between O(log(N)) and O(N) is extremely significant when N is large: for any practical problem it is crucial that we avoid O(N) searches</a:t>
            </a:r>
          </a:p>
        </p:txBody>
      </p:sp>
    </p:spTree>
    <p:extLst>
      <p:ext uri="{BB962C8B-B14F-4D97-AF65-F5344CB8AC3E}">
        <p14:creationId xmlns:p14="http://schemas.microsoft.com/office/powerpoint/2010/main" val="1917027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dirty="0" smtClean="0"/>
              <a:t>Binary search space complexity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458200" cy="5486400"/>
          </a:xfrm>
        </p:spPr>
        <p:txBody>
          <a:bodyPr/>
          <a:lstStyle/>
          <a:p>
            <a:r>
              <a:rPr lang="en-US" sz="2800" dirty="0"/>
              <a:t>The space requirements for the recursive and iterative versions of binary search are different. </a:t>
            </a:r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Iterative </a:t>
            </a:r>
            <a:r>
              <a:rPr lang="en-US" sz="2800" dirty="0"/>
              <a:t>Binary Search requires only a </a:t>
            </a:r>
            <a:r>
              <a:rPr lang="en-US" sz="2800" u="sng" dirty="0"/>
              <a:t>constant amount of space</a:t>
            </a:r>
            <a:r>
              <a:rPr lang="en-US" sz="2800" dirty="0"/>
              <a:t>, while Recursive Binary Search requires space proportional to the number of comparisons to maintain the recursion stack. </a:t>
            </a:r>
            <a:endParaRPr lang="en-US" sz="2800" dirty="0" smtClean="0"/>
          </a:p>
          <a:p>
            <a:pPr lvl="0"/>
            <a:endParaRPr lang="en-US" sz="2800" dirty="0" smtClean="0"/>
          </a:p>
          <a:p>
            <a:pPr lvl="0"/>
            <a:r>
              <a:rPr lang="en-US" sz="2800" dirty="0" smtClean="0"/>
              <a:t>Both </a:t>
            </a:r>
            <a:r>
              <a:rPr lang="en-US" sz="2800" dirty="0"/>
              <a:t>iteration and recursion are based on a control structure: Iteration uses a repetition structure; recursion uses a selection structure.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4981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Merge Sort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Apply divide-and-conquer to sorting problem</a:t>
            </a:r>
          </a:p>
          <a:p>
            <a:r>
              <a:rPr lang="en-US" altLang="en-US" sz="2800"/>
              <a:t>Problem: Given </a:t>
            </a:r>
            <a:r>
              <a:rPr lang="en-US" altLang="en-US" sz="2800" i="1"/>
              <a:t>n</a:t>
            </a:r>
            <a:r>
              <a:rPr lang="en-US" altLang="en-US" sz="2800"/>
              <a:t> elements, sort elements into non-decreasing order</a:t>
            </a:r>
          </a:p>
          <a:p>
            <a:r>
              <a:rPr lang="en-US" altLang="en-US" sz="2800"/>
              <a:t>Divide-and-Conquer:</a:t>
            </a:r>
          </a:p>
          <a:p>
            <a:pPr lvl="1"/>
            <a:r>
              <a:rPr lang="en-US" altLang="en-US" sz="2400"/>
              <a:t>If n=1 terminate (every one-element list is already sorted)</a:t>
            </a:r>
          </a:p>
          <a:p>
            <a:pPr lvl="1"/>
            <a:r>
              <a:rPr lang="en-US" altLang="en-US" sz="2400"/>
              <a:t>If n&gt;1, partition elements into two or more sub-collections; sort each; combine into a single sorted list</a:t>
            </a:r>
          </a:p>
          <a:p>
            <a:r>
              <a:rPr lang="en-US" altLang="en-US" sz="2800"/>
              <a:t>How do we partition?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Partitioning - Choice 1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8026400" cy="4495800"/>
          </a:xfrm>
        </p:spPr>
        <p:txBody>
          <a:bodyPr/>
          <a:lstStyle/>
          <a:p>
            <a:r>
              <a:rPr lang="en-US" altLang="en-US" sz="2800"/>
              <a:t>First n-1 elements into set A, last element set B</a:t>
            </a:r>
          </a:p>
          <a:p>
            <a:r>
              <a:rPr lang="en-US" altLang="en-US" sz="2800"/>
              <a:t>Sort A using this partitioning scheme recursively</a:t>
            </a:r>
          </a:p>
          <a:p>
            <a:pPr lvl="1"/>
            <a:r>
              <a:rPr lang="en-US" altLang="en-US" sz="2400"/>
              <a:t>B already sorted</a:t>
            </a:r>
          </a:p>
          <a:p>
            <a:r>
              <a:rPr lang="en-US" altLang="en-US" sz="2800"/>
              <a:t>Combine A and B using method Insert() (= insertion into sorted array)</a:t>
            </a:r>
          </a:p>
          <a:p>
            <a:r>
              <a:rPr lang="en-US" altLang="en-US" sz="2800"/>
              <a:t>Leads to recursive version of InsertionSort()</a:t>
            </a:r>
          </a:p>
          <a:p>
            <a:pPr lvl="1"/>
            <a:r>
              <a:rPr lang="en-US" altLang="en-US" sz="2400"/>
              <a:t>Number of comparisons: O(n</a:t>
            </a:r>
            <a:r>
              <a:rPr lang="en-US" altLang="en-US" sz="2400" baseline="30000"/>
              <a:t>2</a:t>
            </a:r>
            <a:r>
              <a:rPr lang="en-US" altLang="en-US" sz="2400"/>
              <a:t>)</a:t>
            </a:r>
          </a:p>
          <a:p>
            <a:pPr lvl="2"/>
            <a:r>
              <a:rPr lang="en-US" altLang="en-US" sz="2000"/>
              <a:t>Best case = n-1</a:t>
            </a:r>
          </a:p>
          <a:p>
            <a:pPr lvl="2"/>
            <a:endParaRPr lang="en-US" altLang="en-US" sz="2000"/>
          </a:p>
          <a:p>
            <a:pPr lvl="2"/>
            <a:r>
              <a:rPr lang="en-US" altLang="en-US" sz="2000"/>
              <a:t>Worst case = </a:t>
            </a:r>
          </a:p>
        </p:txBody>
      </p:sp>
      <p:graphicFrame>
        <p:nvGraphicFramePr>
          <p:cNvPr id="93188" name="Object 4"/>
          <p:cNvGraphicFramePr>
            <a:graphicFrameLocks noChangeAspect="1"/>
          </p:cNvGraphicFramePr>
          <p:nvPr/>
        </p:nvGraphicFramePr>
        <p:xfrm>
          <a:off x="3657600" y="5181600"/>
          <a:ext cx="21336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13" name="Equation" r:id="rId3" imgW="965160" imgH="431640" progId="Equation.3">
                  <p:embed/>
                </p:oleObj>
              </mc:Choice>
              <mc:Fallback>
                <p:oleObj name="Equation" r:id="rId3" imgW="96516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5181600"/>
                        <a:ext cx="2133600" cy="9525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Partitioning - Choice 2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1524000"/>
            <a:ext cx="8228013" cy="4495800"/>
          </a:xfrm>
        </p:spPr>
        <p:txBody>
          <a:bodyPr/>
          <a:lstStyle/>
          <a:p>
            <a:r>
              <a:rPr lang="en-US" altLang="en-US" sz="2800"/>
              <a:t>Put element with largest key in B, remaining elements in A</a:t>
            </a:r>
          </a:p>
          <a:p>
            <a:r>
              <a:rPr lang="en-US" altLang="en-US" sz="2800"/>
              <a:t>Sort A recursively</a:t>
            </a:r>
          </a:p>
          <a:p>
            <a:r>
              <a:rPr lang="en-US" altLang="en-US" sz="2800"/>
              <a:t>To combine sorted A and B, append B to sorted A</a:t>
            </a:r>
          </a:p>
          <a:p>
            <a:pPr lvl="1"/>
            <a:r>
              <a:rPr lang="en-US" altLang="en-US" sz="2400"/>
              <a:t>Use Max() to find largest element </a:t>
            </a:r>
            <a:r>
              <a:rPr lang="en-US" altLang="en-US" sz="2400">
                <a:sym typeface="Symbol" pitchFamily="18" charset="2"/>
              </a:rPr>
              <a:t> recursive SelectionSort()</a:t>
            </a:r>
          </a:p>
          <a:p>
            <a:pPr lvl="1"/>
            <a:r>
              <a:rPr lang="en-US" altLang="en-US" sz="2400">
                <a:sym typeface="Symbol" pitchFamily="18" charset="2"/>
              </a:rPr>
              <a:t>Use bubbling process to find and move largest element to right-most position  recursive BubbleSort()</a:t>
            </a:r>
          </a:p>
          <a:p>
            <a:r>
              <a:rPr lang="en-US" altLang="en-US" sz="2800">
                <a:sym typeface="Symbol" pitchFamily="18" charset="2"/>
              </a:rPr>
              <a:t>All O(n</a:t>
            </a:r>
            <a:r>
              <a:rPr lang="en-US" altLang="en-US" sz="2800" baseline="30000">
                <a:sym typeface="Symbol" pitchFamily="18" charset="2"/>
              </a:rPr>
              <a:t>2</a:t>
            </a:r>
            <a:r>
              <a:rPr lang="en-US" altLang="en-US" sz="2800">
                <a:sym typeface="Symbol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Partitioning - Choice 3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Let’s try to achieve balanced partitioning</a:t>
            </a:r>
          </a:p>
          <a:p>
            <a:r>
              <a:rPr lang="en-US" altLang="en-US"/>
              <a:t>A gets </a:t>
            </a:r>
            <a:r>
              <a:rPr lang="en-US" altLang="en-US" i="1"/>
              <a:t>n/2 </a:t>
            </a:r>
            <a:r>
              <a:rPr lang="en-US" altLang="en-US"/>
              <a:t>elements, B gets rest half</a:t>
            </a:r>
          </a:p>
          <a:p>
            <a:r>
              <a:rPr lang="en-US" altLang="en-US"/>
              <a:t>Sort A and B recursively</a:t>
            </a:r>
          </a:p>
          <a:p>
            <a:r>
              <a:rPr lang="en-US" altLang="en-US"/>
              <a:t>Combine sorted A and B using a process called </a:t>
            </a:r>
            <a:r>
              <a:rPr lang="en-US" altLang="en-US" i="1"/>
              <a:t>merge</a:t>
            </a:r>
            <a:r>
              <a:rPr lang="en-US" altLang="en-US"/>
              <a:t>, which combines two sorted lists into one</a:t>
            </a:r>
          </a:p>
          <a:p>
            <a:pPr lvl="1"/>
            <a:r>
              <a:rPr lang="en-US" altLang="en-US"/>
              <a:t>How? We will see soon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772400" cy="838200"/>
          </a:xfrm>
        </p:spPr>
        <p:txBody>
          <a:bodyPr/>
          <a:lstStyle/>
          <a:p>
            <a:r>
              <a:rPr lang="en-US" altLang="en-US"/>
              <a:t>Example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7772400" cy="914400"/>
          </a:xfrm>
        </p:spPr>
        <p:txBody>
          <a:bodyPr/>
          <a:lstStyle/>
          <a:p>
            <a:r>
              <a:rPr lang="en-US" altLang="en-US"/>
              <a:t>Partition into lists of size n/2</a:t>
            </a:r>
          </a:p>
        </p:txBody>
      </p:sp>
      <p:sp>
        <p:nvSpPr>
          <p:cNvPr id="97284" name="Text Box 4"/>
          <p:cNvSpPr txBox="1">
            <a:spLocks noChangeArrowheads="1"/>
          </p:cNvSpPr>
          <p:nvPr/>
        </p:nvSpPr>
        <p:spPr bwMode="auto">
          <a:xfrm>
            <a:off x="2293938" y="3355975"/>
            <a:ext cx="160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/>
              <a:t>[10, 4, 6, 3]</a:t>
            </a:r>
          </a:p>
        </p:txBody>
      </p:sp>
      <p:sp>
        <p:nvSpPr>
          <p:cNvPr id="97285" name="Text Box 5"/>
          <p:cNvSpPr txBox="1">
            <a:spLocks noChangeArrowheads="1"/>
          </p:cNvSpPr>
          <p:nvPr/>
        </p:nvSpPr>
        <p:spPr bwMode="auto">
          <a:xfrm>
            <a:off x="2244725" y="2303463"/>
            <a:ext cx="282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/>
              <a:t>[10, 4, 6, 3, 8, 2, 5, 7]</a:t>
            </a:r>
          </a:p>
        </p:txBody>
      </p:sp>
      <p:sp>
        <p:nvSpPr>
          <p:cNvPr id="97286" name="Text Box 6"/>
          <p:cNvSpPr txBox="1">
            <a:spLocks noChangeArrowheads="1"/>
          </p:cNvSpPr>
          <p:nvPr/>
        </p:nvSpPr>
        <p:spPr bwMode="auto">
          <a:xfrm>
            <a:off x="5511800" y="3422650"/>
            <a:ext cx="145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/>
              <a:t>[8, 2, 5, 7]</a:t>
            </a:r>
          </a:p>
        </p:txBody>
      </p:sp>
      <p:sp>
        <p:nvSpPr>
          <p:cNvPr id="97287" name="Text Box 7"/>
          <p:cNvSpPr txBox="1">
            <a:spLocks noChangeArrowheads="1"/>
          </p:cNvSpPr>
          <p:nvPr/>
        </p:nvSpPr>
        <p:spPr bwMode="auto">
          <a:xfrm>
            <a:off x="2366963" y="4611688"/>
            <a:ext cx="996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/>
              <a:t>[10, 4]</a:t>
            </a:r>
          </a:p>
        </p:txBody>
      </p:sp>
      <p:sp>
        <p:nvSpPr>
          <p:cNvPr id="97288" name="Text Box 8"/>
          <p:cNvSpPr txBox="1">
            <a:spLocks noChangeArrowheads="1"/>
          </p:cNvSpPr>
          <p:nvPr/>
        </p:nvSpPr>
        <p:spPr bwMode="auto">
          <a:xfrm>
            <a:off x="3598863" y="4592638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/>
              <a:t>[6, 3]</a:t>
            </a:r>
          </a:p>
        </p:txBody>
      </p:sp>
      <p:sp>
        <p:nvSpPr>
          <p:cNvPr id="97289" name="Text Box 9"/>
          <p:cNvSpPr txBox="1">
            <a:spLocks noChangeArrowheads="1"/>
          </p:cNvSpPr>
          <p:nvPr/>
        </p:nvSpPr>
        <p:spPr bwMode="auto">
          <a:xfrm>
            <a:off x="5270500" y="4570413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/>
              <a:t>[8, 2]</a:t>
            </a:r>
          </a:p>
        </p:txBody>
      </p:sp>
      <p:sp>
        <p:nvSpPr>
          <p:cNvPr id="97290" name="Text Box 10"/>
          <p:cNvSpPr txBox="1">
            <a:spLocks noChangeArrowheads="1"/>
          </p:cNvSpPr>
          <p:nvPr/>
        </p:nvSpPr>
        <p:spPr bwMode="auto">
          <a:xfrm>
            <a:off x="6808788" y="4614863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/>
              <a:t>[5, 7]</a:t>
            </a:r>
          </a:p>
        </p:txBody>
      </p:sp>
      <p:sp>
        <p:nvSpPr>
          <p:cNvPr id="97291" name="Line 11"/>
          <p:cNvSpPr>
            <a:spLocks noChangeShapeType="1"/>
          </p:cNvSpPr>
          <p:nvPr/>
        </p:nvSpPr>
        <p:spPr bwMode="auto">
          <a:xfrm>
            <a:off x="3014663" y="2752725"/>
            <a:ext cx="0" cy="673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2" name="Line 12"/>
          <p:cNvSpPr>
            <a:spLocks noChangeShapeType="1"/>
          </p:cNvSpPr>
          <p:nvPr/>
        </p:nvSpPr>
        <p:spPr bwMode="auto">
          <a:xfrm>
            <a:off x="3460750" y="2762250"/>
            <a:ext cx="2727325" cy="663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3" name="Line 13"/>
          <p:cNvSpPr>
            <a:spLocks noChangeShapeType="1"/>
          </p:cNvSpPr>
          <p:nvPr/>
        </p:nvSpPr>
        <p:spPr bwMode="auto">
          <a:xfrm flipH="1">
            <a:off x="2779713" y="3854450"/>
            <a:ext cx="244475" cy="760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4" name="Line 14"/>
          <p:cNvSpPr>
            <a:spLocks noChangeShapeType="1"/>
          </p:cNvSpPr>
          <p:nvPr/>
        </p:nvSpPr>
        <p:spPr bwMode="auto">
          <a:xfrm>
            <a:off x="3241675" y="3854450"/>
            <a:ext cx="717550" cy="750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5" name="Line 15"/>
          <p:cNvSpPr>
            <a:spLocks noChangeShapeType="1"/>
          </p:cNvSpPr>
          <p:nvPr/>
        </p:nvSpPr>
        <p:spPr bwMode="auto">
          <a:xfrm flipH="1">
            <a:off x="5732463" y="3906838"/>
            <a:ext cx="420687" cy="681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6" name="Line 16"/>
          <p:cNvSpPr>
            <a:spLocks noChangeShapeType="1"/>
          </p:cNvSpPr>
          <p:nvPr/>
        </p:nvSpPr>
        <p:spPr bwMode="auto">
          <a:xfrm>
            <a:off x="6327775" y="3906838"/>
            <a:ext cx="838200" cy="750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7" name="Text Box 17"/>
          <p:cNvSpPr txBox="1">
            <a:spLocks noChangeArrowheads="1"/>
          </p:cNvSpPr>
          <p:nvPr/>
        </p:nvSpPr>
        <p:spPr bwMode="auto">
          <a:xfrm>
            <a:off x="2333625" y="5435600"/>
            <a:ext cx="1123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/>
              <a:t>[4] [10]</a:t>
            </a:r>
          </a:p>
        </p:txBody>
      </p:sp>
      <p:sp>
        <p:nvSpPr>
          <p:cNvPr id="97298" name="Text Box 18"/>
          <p:cNvSpPr txBox="1">
            <a:spLocks noChangeArrowheads="1"/>
          </p:cNvSpPr>
          <p:nvPr/>
        </p:nvSpPr>
        <p:spPr bwMode="auto">
          <a:xfrm>
            <a:off x="3567113" y="5462588"/>
            <a:ext cx="895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/>
              <a:t>[3][6]</a:t>
            </a:r>
          </a:p>
        </p:txBody>
      </p:sp>
      <p:sp>
        <p:nvSpPr>
          <p:cNvPr id="97299" name="Text Box 19"/>
          <p:cNvSpPr txBox="1">
            <a:spLocks noChangeArrowheads="1"/>
          </p:cNvSpPr>
          <p:nvPr/>
        </p:nvSpPr>
        <p:spPr bwMode="auto">
          <a:xfrm>
            <a:off x="5275263" y="5465763"/>
            <a:ext cx="895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/>
              <a:t>[2][8]</a:t>
            </a:r>
          </a:p>
        </p:txBody>
      </p:sp>
      <p:sp>
        <p:nvSpPr>
          <p:cNvPr id="97300" name="Text Box 20"/>
          <p:cNvSpPr txBox="1">
            <a:spLocks noChangeArrowheads="1"/>
          </p:cNvSpPr>
          <p:nvPr/>
        </p:nvSpPr>
        <p:spPr bwMode="auto">
          <a:xfrm>
            <a:off x="6784975" y="5457825"/>
            <a:ext cx="895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/>
              <a:t>[5][7]</a:t>
            </a:r>
          </a:p>
        </p:txBody>
      </p:sp>
      <p:sp>
        <p:nvSpPr>
          <p:cNvPr id="97301" name="Line 21"/>
          <p:cNvSpPr>
            <a:spLocks noChangeShapeType="1"/>
          </p:cNvSpPr>
          <p:nvPr/>
        </p:nvSpPr>
        <p:spPr bwMode="auto">
          <a:xfrm flipH="1">
            <a:off x="2690813" y="5076825"/>
            <a:ext cx="149225" cy="366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02" name="Line 22"/>
          <p:cNvSpPr>
            <a:spLocks noChangeShapeType="1"/>
          </p:cNvSpPr>
          <p:nvPr/>
        </p:nvSpPr>
        <p:spPr bwMode="auto">
          <a:xfrm>
            <a:off x="2987675" y="5086350"/>
            <a:ext cx="122238" cy="392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03" name="Line 23"/>
          <p:cNvSpPr>
            <a:spLocks noChangeShapeType="1"/>
          </p:cNvSpPr>
          <p:nvPr/>
        </p:nvSpPr>
        <p:spPr bwMode="auto">
          <a:xfrm flipH="1">
            <a:off x="3810000" y="5111750"/>
            <a:ext cx="174625" cy="411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04" name="Line 24"/>
          <p:cNvSpPr>
            <a:spLocks noChangeShapeType="1"/>
          </p:cNvSpPr>
          <p:nvPr/>
        </p:nvSpPr>
        <p:spPr bwMode="auto">
          <a:xfrm>
            <a:off x="4062413" y="5111750"/>
            <a:ext cx="141287" cy="419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05" name="Line 25"/>
          <p:cNvSpPr>
            <a:spLocks noChangeShapeType="1"/>
          </p:cNvSpPr>
          <p:nvPr/>
        </p:nvSpPr>
        <p:spPr bwMode="auto">
          <a:xfrm flipH="1">
            <a:off x="5540375" y="5059363"/>
            <a:ext cx="157163" cy="411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06" name="Line 26"/>
          <p:cNvSpPr>
            <a:spLocks noChangeShapeType="1"/>
          </p:cNvSpPr>
          <p:nvPr/>
        </p:nvSpPr>
        <p:spPr bwMode="auto">
          <a:xfrm>
            <a:off x="5775325" y="5068888"/>
            <a:ext cx="131763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07" name="Line 27"/>
          <p:cNvSpPr>
            <a:spLocks noChangeShapeType="1"/>
          </p:cNvSpPr>
          <p:nvPr/>
        </p:nvSpPr>
        <p:spPr bwMode="auto">
          <a:xfrm flipH="1">
            <a:off x="7069138" y="5111750"/>
            <a:ext cx="149225" cy="366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08" name="Line 28"/>
          <p:cNvSpPr>
            <a:spLocks noChangeShapeType="1"/>
          </p:cNvSpPr>
          <p:nvPr/>
        </p:nvSpPr>
        <p:spPr bwMode="auto">
          <a:xfrm>
            <a:off x="7278688" y="5111750"/>
            <a:ext cx="122237" cy="341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1143000"/>
          </a:xfrm>
        </p:spPr>
        <p:txBody>
          <a:bodyPr/>
          <a:lstStyle/>
          <a:p>
            <a:r>
              <a:rPr lang="en-US" altLang="en-US"/>
              <a:t>Example Cont’d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772400" cy="762000"/>
          </a:xfrm>
        </p:spPr>
        <p:txBody>
          <a:bodyPr/>
          <a:lstStyle/>
          <a:p>
            <a:r>
              <a:rPr lang="en-US" altLang="en-US"/>
              <a:t>Merge</a:t>
            </a:r>
          </a:p>
        </p:txBody>
      </p:sp>
      <p:sp>
        <p:nvSpPr>
          <p:cNvPr id="98308" name="Text Box 4"/>
          <p:cNvSpPr txBox="1">
            <a:spLocks noChangeArrowheads="1"/>
          </p:cNvSpPr>
          <p:nvPr/>
        </p:nvSpPr>
        <p:spPr bwMode="auto">
          <a:xfrm>
            <a:off x="2390775" y="3548063"/>
            <a:ext cx="160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/>
              <a:t>[3, 4, 6, 10]</a:t>
            </a:r>
          </a:p>
        </p:txBody>
      </p:sp>
      <p:sp>
        <p:nvSpPr>
          <p:cNvPr id="98309" name="Text Box 5"/>
          <p:cNvSpPr txBox="1">
            <a:spLocks noChangeArrowheads="1"/>
          </p:cNvSpPr>
          <p:nvPr/>
        </p:nvSpPr>
        <p:spPr bwMode="auto">
          <a:xfrm>
            <a:off x="2341563" y="2495550"/>
            <a:ext cx="290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/>
              <a:t>[2, 3, 4, 5, 6, 7, 8, 10 ]</a:t>
            </a:r>
          </a:p>
        </p:txBody>
      </p:sp>
      <p:sp>
        <p:nvSpPr>
          <p:cNvPr id="98310" name="Text Box 6"/>
          <p:cNvSpPr txBox="1">
            <a:spLocks noChangeArrowheads="1"/>
          </p:cNvSpPr>
          <p:nvPr/>
        </p:nvSpPr>
        <p:spPr bwMode="auto">
          <a:xfrm>
            <a:off x="5608638" y="3614738"/>
            <a:ext cx="145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/>
              <a:t>[2, 5, 7, 8]</a:t>
            </a:r>
          </a:p>
        </p:txBody>
      </p:sp>
      <p:sp>
        <p:nvSpPr>
          <p:cNvPr id="98311" name="Text Box 7"/>
          <p:cNvSpPr txBox="1">
            <a:spLocks noChangeArrowheads="1"/>
          </p:cNvSpPr>
          <p:nvPr/>
        </p:nvSpPr>
        <p:spPr bwMode="auto">
          <a:xfrm>
            <a:off x="2463800" y="4803775"/>
            <a:ext cx="996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/>
              <a:t>[4, 10]</a:t>
            </a:r>
          </a:p>
        </p:txBody>
      </p:sp>
      <p:sp>
        <p:nvSpPr>
          <p:cNvPr id="98312" name="Text Box 8"/>
          <p:cNvSpPr txBox="1">
            <a:spLocks noChangeArrowheads="1"/>
          </p:cNvSpPr>
          <p:nvPr/>
        </p:nvSpPr>
        <p:spPr bwMode="auto">
          <a:xfrm>
            <a:off x="3695700" y="4784725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/>
              <a:t>[3, 6]</a:t>
            </a:r>
          </a:p>
        </p:txBody>
      </p:sp>
      <p:sp>
        <p:nvSpPr>
          <p:cNvPr id="98313" name="Text Box 9"/>
          <p:cNvSpPr txBox="1">
            <a:spLocks noChangeArrowheads="1"/>
          </p:cNvSpPr>
          <p:nvPr/>
        </p:nvSpPr>
        <p:spPr bwMode="auto">
          <a:xfrm>
            <a:off x="5367338" y="4762500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/>
              <a:t>[2, 8]</a:t>
            </a:r>
          </a:p>
        </p:txBody>
      </p:sp>
      <p:sp>
        <p:nvSpPr>
          <p:cNvPr id="98314" name="Text Box 10"/>
          <p:cNvSpPr txBox="1">
            <a:spLocks noChangeArrowheads="1"/>
          </p:cNvSpPr>
          <p:nvPr/>
        </p:nvSpPr>
        <p:spPr bwMode="auto">
          <a:xfrm>
            <a:off x="6905625" y="4806950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/>
              <a:t>[5, 7]</a:t>
            </a:r>
          </a:p>
        </p:txBody>
      </p:sp>
      <p:sp>
        <p:nvSpPr>
          <p:cNvPr id="98315" name="Line 11"/>
          <p:cNvSpPr>
            <a:spLocks noChangeShapeType="1"/>
          </p:cNvSpPr>
          <p:nvPr/>
        </p:nvSpPr>
        <p:spPr bwMode="auto">
          <a:xfrm flipH="1">
            <a:off x="5829300" y="4098925"/>
            <a:ext cx="420688" cy="681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6" name="Line 12"/>
          <p:cNvSpPr>
            <a:spLocks noChangeShapeType="1"/>
          </p:cNvSpPr>
          <p:nvPr/>
        </p:nvSpPr>
        <p:spPr bwMode="auto">
          <a:xfrm>
            <a:off x="6424613" y="4098925"/>
            <a:ext cx="838200" cy="750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7" name="Line 13"/>
          <p:cNvSpPr>
            <a:spLocks noChangeShapeType="1"/>
          </p:cNvSpPr>
          <p:nvPr/>
        </p:nvSpPr>
        <p:spPr bwMode="auto">
          <a:xfrm flipV="1">
            <a:off x="2927350" y="4133850"/>
            <a:ext cx="184150" cy="698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8" name="Line 14"/>
          <p:cNvSpPr>
            <a:spLocks noChangeShapeType="1"/>
          </p:cNvSpPr>
          <p:nvPr/>
        </p:nvSpPr>
        <p:spPr bwMode="auto">
          <a:xfrm flipH="1" flipV="1">
            <a:off x="3400425" y="4141788"/>
            <a:ext cx="706438" cy="717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9" name="Line 15"/>
          <p:cNvSpPr>
            <a:spLocks noChangeShapeType="1"/>
          </p:cNvSpPr>
          <p:nvPr/>
        </p:nvSpPr>
        <p:spPr bwMode="auto">
          <a:xfrm flipV="1">
            <a:off x="3189288" y="2954338"/>
            <a:ext cx="463550" cy="611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20" name="Line 16"/>
          <p:cNvSpPr>
            <a:spLocks noChangeShapeType="1"/>
          </p:cNvSpPr>
          <p:nvPr/>
        </p:nvSpPr>
        <p:spPr bwMode="auto">
          <a:xfrm flipH="1" flipV="1">
            <a:off x="4116388" y="2997200"/>
            <a:ext cx="2166937" cy="611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21" name="Text Box 17"/>
          <p:cNvSpPr txBox="1">
            <a:spLocks noChangeArrowheads="1"/>
          </p:cNvSpPr>
          <p:nvPr/>
        </p:nvSpPr>
        <p:spPr bwMode="auto">
          <a:xfrm>
            <a:off x="2430463" y="5627688"/>
            <a:ext cx="1123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/>
              <a:t>[4] [10]</a:t>
            </a:r>
          </a:p>
        </p:txBody>
      </p:sp>
      <p:sp>
        <p:nvSpPr>
          <p:cNvPr id="98322" name="Text Box 18"/>
          <p:cNvSpPr txBox="1">
            <a:spLocks noChangeArrowheads="1"/>
          </p:cNvSpPr>
          <p:nvPr/>
        </p:nvSpPr>
        <p:spPr bwMode="auto">
          <a:xfrm>
            <a:off x="3663950" y="5654675"/>
            <a:ext cx="895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/>
              <a:t>[3][6]</a:t>
            </a:r>
          </a:p>
        </p:txBody>
      </p:sp>
      <p:sp>
        <p:nvSpPr>
          <p:cNvPr id="98323" name="Text Box 19"/>
          <p:cNvSpPr txBox="1">
            <a:spLocks noChangeArrowheads="1"/>
          </p:cNvSpPr>
          <p:nvPr/>
        </p:nvSpPr>
        <p:spPr bwMode="auto">
          <a:xfrm>
            <a:off x="5372100" y="5657850"/>
            <a:ext cx="895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/>
              <a:t>[2][8]</a:t>
            </a:r>
          </a:p>
        </p:txBody>
      </p:sp>
      <p:sp>
        <p:nvSpPr>
          <p:cNvPr id="98324" name="Text Box 20"/>
          <p:cNvSpPr txBox="1">
            <a:spLocks noChangeArrowheads="1"/>
          </p:cNvSpPr>
          <p:nvPr/>
        </p:nvSpPr>
        <p:spPr bwMode="auto">
          <a:xfrm>
            <a:off x="6881813" y="5649913"/>
            <a:ext cx="895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/>
              <a:t>[5][7]</a:t>
            </a:r>
          </a:p>
        </p:txBody>
      </p:sp>
      <p:sp>
        <p:nvSpPr>
          <p:cNvPr id="98325" name="Line 21"/>
          <p:cNvSpPr>
            <a:spLocks noChangeShapeType="1"/>
          </p:cNvSpPr>
          <p:nvPr/>
        </p:nvSpPr>
        <p:spPr bwMode="auto">
          <a:xfrm flipV="1">
            <a:off x="2709863" y="5286375"/>
            <a:ext cx="182562" cy="366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26" name="Line 22"/>
          <p:cNvSpPr>
            <a:spLocks noChangeShapeType="1"/>
          </p:cNvSpPr>
          <p:nvPr/>
        </p:nvSpPr>
        <p:spPr bwMode="auto">
          <a:xfrm flipH="1" flipV="1">
            <a:off x="3067050" y="5313363"/>
            <a:ext cx="131763" cy="349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27" name="Line 23"/>
          <p:cNvSpPr>
            <a:spLocks noChangeShapeType="1"/>
          </p:cNvSpPr>
          <p:nvPr/>
        </p:nvSpPr>
        <p:spPr bwMode="auto">
          <a:xfrm flipV="1">
            <a:off x="3897313" y="5286375"/>
            <a:ext cx="157162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28" name="Line 24"/>
          <p:cNvSpPr>
            <a:spLocks noChangeShapeType="1"/>
          </p:cNvSpPr>
          <p:nvPr/>
        </p:nvSpPr>
        <p:spPr bwMode="auto">
          <a:xfrm flipH="1" flipV="1">
            <a:off x="4194175" y="5303838"/>
            <a:ext cx="106363" cy="393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29" name="Line 25"/>
          <p:cNvSpPr>
            <a:spLocks noChangeShapeType="1"/>
          </p:cNvSpPr>
          <p:nvPr/>
        </p:nvSpPr>
        <p:spPr bwMode="auto">
          <a:xfrm flipV="1">
            <a:off x="5567363" y="5295900"/>
            <a:ext cx="165100" cy="419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30" name="Line 26"/>
          <p:cNvSpPr>
            <a:spLocks noChangeShapeType="1"/>
          </p:cNvSpPr>
          <p:nvPr/>
        </p:nvSpPr>
        <p:spPr bwMode="auto">
          <a:xfrm flipH="1" flipV="1">
            <a:off x="5864225" y="5313363"/>
            <a:ext cx="112713" cy="392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31" name="Line 27"/>
          <p:cNvSpPr>
            <a:spLocks noChangeShapeType="1"/>
          </p:cNvSpPr>
          <p:nvPr/>
        </p:nvSpPr>
        <p:spPr bwMode="auto">
          <a:xfrm flipV="1">
            <a:off x="7140575" y="5303838"/>
            <a:ext cx="139700" cy="376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32" name="Line 28"/>
          <p:cNvSpPr>
            <a:spLocks noChangeShapeType="1"/>
          </p:cNvSpPr>
          <p:nvPr/>
        </p:nvSpPr>
        <p:spPr bwMode="auto">
          <a:xfrm flipH="1" flipV="1">
            <a:off x="7419975" y="5321300"/>
            <a:ext cx="130175" cy="366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 altLang="en-US"/>
              <a:t>Static Method mergeSort()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7175" y="1524000"/>
            <a:ext cx="8658225" cy="44958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Public static void mergeSort(Comparable []a, int left, int right)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	// sort a[left:right]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	if (left &lt; right)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	{// at least two elements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	   int mid = (left+right)/2;   //midpoint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	   mergeSort(a, left, mid);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	   mergeSort(a, mid + 1, right);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	   merge(a, b, left, mid, right); //merge from a to b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	   copy(b, a, left, right);  //copy result back to a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	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}</a:t>
            </a:r>
            <a:endParaRPr lang="en-US" altLang="en-US" sz="240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Evaluation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Recurrence equation:</a:t>
            </a:r>
          </a:p>
          <a:p>
            <a:r>
              <a:rPr lang="en-US" altLang="en-US" dirty="0"/>
              <a:t>Assume n is a power of 2</a:t>
            </a:r>
          </a:p>
          <a:p>
            <a:pPr>
              <a:buFontTx/>
              <a:buNone/>
            </a:pPr>
            <a:r>
              <a:rPr lang="en-US" altLang="en-US" dirty="0"/>
              <a:t>                       </a:t>
            </a:r>
            <a:r>
              <a:rPr lang="en-US" altLang="en-US" dirty="0" smtClean="0"/>
              <a:t>c       </a:t>
            </a:r>
            <a:r>
              <a:rPr lang="en-US" altLang="en-US" dirty="0"/>
              <a:t>if n=1</a:t>
            </a:r>
          </a:p>
          <a:p>
            <a:pPr>
              <a:buFontTx/>
              <a:buNone/>
            </a:pPr>
            <a:r>
              <a:rPr lang="en-US" altLang="en-US" dirty="0"/>
              <a:t>T(n) = </a:t>
            </a:r>
          </a:p>
          <a:p>
            <a:pPr>
              <a:buFontTx/>
              <a:buNone/>
            </a:pPr>
            <a:r>
              <a:rPr lang="en-US" altLang="en-US" dirty="0"/>
              <a:t>                       2T(n/2) + </a:t>
            </a:r>
            <a:r>
              <a:rPr lang="en-US" altLang="en-US" dirty="0" err="1" smtClean="0"/>
              <a:t>cn</a:t>
            </a:r>
            <a:r>
              <a:rPr lang="en-US" altLang="en-US" dirty="0" smtClean="0"/>
              <a:t>     </a:t>
            </a:r>
            <a:r>
              <a:rPr lang="en-US" altLang="en-US" dirty="0"/>
              <a:t>if n&gt;1, n=2</a:t>
            </a:r>
            <a:r>
              <a:rPr lang="en-US" altLang="en-US" baseline="30000" dirty="0"/>
              <a:t>k</a:t>
            </a:r>
            <a:endParaRPr lang="en-US" altLang="en-US" dirty="0"/>
          </a:p>
          <a:p>
            <a:pPr>
              <a:buFontTx/>
              <a:buNone/>
            </a:pPr>
            <a:endParaRPr lang="en-US" altLang="en-US" dirty="0"/>
          </a:p>
          <a:p>
            <a:endParaRPr lang="en-US" altLang="en-US" dirty="0"/>
          </a:p>
        </p:txBody>
      </p:sp>
      <p:sp>
        <p:nvSpPr>
          <p:cNvPr id="101380" name="AutoShape 4"/>
          <p:cNvSpPr>
            <a:spLocks/>
          </p:cNvSpPr>
          <p:nvPr/>
        </p:nvSpPr>
        <p:spPr bwMode="auto">
          <a:xfrm>
            <a:off x="2743200" y="3276600"/>
            <a:ext cx="174625" cy="1563687"/>
          </a:xfrm>
          <a:prstGeom prst="leftBrace">
            <a:avLst>
              <a:gd name="adj1" fmla="val 7462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/>
          <a:lstStyle/>
          <a:p>
            <a:r>
              <a:rPr lang="en-US" altLang="en-US"/>
              <a:t>Solution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14400"/>
            <a:ext cx="8305800" cy="5791200"/>
          </a:xfrm>
        </p:spPr>
        <p:txBody>
          <a:bodyPr/>
          <a:lstStyle/>
          <a:p>
            <a:pPr marL="0" indent="0">
              <a:lnSpc>
                <a:spcPct val="90000"/>
              </a:lnSpc>
              <a:buFontTx/>
              <a:buNone/>
            </a:pPr>
            <a:r>
              <a:rPr lang="en-US" altLang="en-US" dirty="0"/>
              <a:t>By Substitution: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altLang="en-US" sz="2400" dirty="0"/>
              <a:t>T(n) = 2T(n/2) + c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n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altLang="en-US" sz="2400" dirty="0"/>
              <a:t>T(n/2) = 2T(n/4) + c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n/2</a:t>
            </a:r>
          </a:p>
          <a:p>
            <a:pPr marL="0" indent="0">
              <a:lnSpc>
                <a:spcPct val="90000"/>
              </a:lnSpc>
              <a:buFontTx/>
              <a:buNone/>
            </a:pPr>
            <a:endParaRPr lang="en-US" altLang="en-US" sz="2400" dirty="0"/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altLang="en-US" sz="2400" dirty="0"/>
              <a:t>T(n) = 4T(n/4) + 2 c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n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altLang="en-US" sz="2400" dirty="0"/>
              <a:t>T(n) = 8T(n/8) + 3 c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n</a:t>
            </a:r>
          </a:p>
          <a:p>
            <a:pPr marL="0" indent="0">
              <a:lnSpc>
                <a:spcPct val="90000"/>
              </a:lnSpc>
              <a:buFontTx/>
              <a:buNone/>
            </a:pPr>
            <a:endParaRPr lang="en-US" altLang="en-US" sz="2400" dirty="0"/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altLang="en-US" sz="2400" dirty="0"/>
              <a:t>T(n) = 2</a:t>
            </a:r>
            <a:r>
              <a:rPr lang="en-US" altLang="en-US" sz="2400" baseline="30000" dirty="0"/>
              <a:t>i</a:t>
            </a:r>
            <a:r>
              <a:rPr lang="en-US" altLang="en-US" sz="2400" dirty="0"/>
              <a:t>T(n/2</a:t>
            </a:r>
            <a:r>
              <a:rPr lang="en-US" altLang="en-US" sz="2400" baseline="30000" dirty="0"/>
              <a:t>i</a:t>
            </a:r>
            <a:r>
              <a:rPr lang="en-US" altLang="en-US" sz="2400" dirty="0"/>
              <a:t>) + ic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n</a:t>
            </a:r>
          </a:p>
          <a:p>
            <a:pPr marL="0" indent="0">
              <a:lnSpc>
                <a:spcPct val="90000"/>
              </a:lnSpc>
              <a:buFontTx/>
              <a:buNone/>
            </a:pPr>
            <a:endParaRPr lang="en-US" altLang="en-US" sz="2400" dirty="0"/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altLang="en-US" sz="2400" dirty="0"/>
              <a:t>Assuming n = 2</a:t>
            </a:r>
            <a:r>
              <a:rPr lang="en-US" altLang="en-US" sz="2400" baseline="30000" dirty="0"/>
              <a:t>k</a:t>
            </a:r>
            <a:r>
              <a:rPr lang="en-US" altLang="en-US" sz="2400" dirty="0"/>
              <a:t>, expansion halts when we get T(1) on right side; this happens when </a:t>
            </a:r>
            <a:r>
              <a:rPr lang="en-US" altLang="en-US" sz="2400" dirty="0" err="1"/>
              <a:t>i</a:t>
            </a:r>
            <a:r>
              <a:rPr lang="en-US" altLang="en-US" sz="2400" dirty="0"/>
              <a:t>=k  T(n) = 2</a:t>
            </a:r>
            <a:r>
              <a:rPr lang="en-US" altLang="en-US" sz="2400" baseline="30000" dirty="0"/>
              <a:t>k</a:t>
            </a:r>
            <a:r>
              <a:rPr lang="en-US" altLang="en-US" sz="2400" dirty="0"/>
              <a:t>T(1) + kc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n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altLang="en-US" sz="2400" dirty="0"/>
              <a:t>Since 2</a:t>
            </a:r>
            <a:r>
              <a:rPr lang="en-US" altLang="en-US" sz="2400" baseline="30000" dirty="0"/>
              <a:t>k</a:t>
            </a:r>
            <a:r>
              <a:rPr lang="en-US" altLang="en-US" sz="2400" dirty="0"/>
              <a:t>=n, we know k=</a:t>
            </a:r>
            <a:r>
              <a:rPr lang="en-US" altLang="en-US" sz="2400" dirty="0" err="1"/>
              <a:t>logn</a:t>
            </a:r>
            <a:r>
              <a:rPr lang="en-US" altLang="en-US" sz="2400" dirty="0"/>
              <a:t>; since T(1) = c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we get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altLang="en-US" sz="2400" dirty="0"/>
              <a:t>    T(n) = c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n + c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nlogn; 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altLang="en-US" sz="2400" dirty="0"/>
              <a:t>thus an upper bound for </a:t>
            </a:r>
            <a:r>
              <a:rPr lang="en-US" altLang="en-US" sz="2400" dirty="0" err="1"/>
              <a:t>T</a:t>
            </a:r>
            <a:r>
              <a:rPr lang="en-US" altLang="en-US" sz="2400" baseline="-25000" dirty="0" err="1"/>
              <a:t>mergeSort</a:t>
            </a:r>
            <a:r>
              <a:rPr lang="en-US" altLang="en-US" sz="2400" dirty="0"/>
              <a:t>(n) is </a:t>
            </a:r>
            <a:r>
              <a:rPr lang="en-US" altLang="en-US" sz="2400" dirty="0">
                <a:solidFill>
                  <a:srgbClr val="FF0000"/>
                </a:solidFill>
              </a:rPr>
              <a:t>O(</a:t>
            </a:r>
            <a:r>
              <a:rPr lang="en-US" altLang="en-US" sz="2400" dirty="0" err="1">
                <a:solidFill>
                  <a:srgbClr val="FF0000"/>
                </a:solidFill>
              </a:rPr>
              <a:t>nlogn</a:t>
            </a:r>
            <a:r>
              <a:rPr lang="en-US" altLang="en-US" sz="2400" dirty="0">
                <a:solidFill>
                  <a:srgbClr val="FF0000"/>
                </a:solidFill>
              </a:rPr>
              <a:t>)</a:t>
            </a:r>
          </a:p>
        </p:txBody>
      </p:sp>
      <p:graphicFrame>
        <p:nvGraphicFramePr>
          <p:cNvPr id="102404" name="Object 4"/>
          <p:cNvGraphicFramePr>
            <a:graphicFrameLocks noChangeAspect="1"/>
          </p:cNvGraphicFramePr>
          <p:nvPr/>
        </p:nvGraphicFramePr>
        <p:xfrm>
          <a:off x="4514850" y="3321050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9" name="Equation" r:id="rId3" imgW="114120" imgH="215640" progId="Equation.3">
                  <p:embed/>
                </p:oleObj>
              </mc:Choice>
              <mc:Fallback>
                <p:oleObj name="Equation" r:id="rId3" imgW="11412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27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Quicksort Algorithm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2800"/>
              <a:t>Given an array of </a:t>
            </a:r>
            <a:r>
              <a:rPr lang="en-US" altLang="en-US" sz="2800" i="1"/>
              <a:t>n</a:t>
            </a:r>
            <a:r>
              <a:rPr lang="en-US" altLang="en-US" sz="2800"/>
              <a:t> elements (e.g., integers):</a:t>
            </a:r>
          </a:p>
          <a:p>
            <a:r>
              <a:rPr lang="en-US" altLang="en-US" sz="2800"/>
              <a:t>If array only contains one element, return</a:t>
            </a:r>
          </a:p>
          <a:p>
            <a:r>
              <a:rPr lang="en-US" altLang="en-US" sz="2800"/>
              <a:t>Else</a:t>
            </a:r>
          </a:p>
          <a:p>
            <a:pPr lvl="1"/>
            <a:r>
              <a:rPr lang="en-US" altLang="en-US" sz="2400"/>
              <a:t>pick one element to use as </a:t>
            </a:r>
            <a:r>
              <a:rPr lang="en-US" altLang="en-US" sz="2400" i="1"/>
              <a:t>pivot.</a:t>
            </a:r>
          </a:p>
          <a:p>
            <a:pPr lvl="1"/>
            <a:r>
              <a:rPr lang="en-US" altLang="en-US" sz="2400"/>
              <a:t>Partition elements into two sub-arrays:</a:t>
            </a:r>
          </a:p>
          <a:p>
            <a:pPr lvl="2"/>
            <a:r>
              <a:rPr lang="en-US" altLang="en-US" sz="2000"/>
              <a:t>Elements less than or equal to pivot</a:t>
            </a:r>
          </a:p>
          <a:p>
            <a:pPr lvl="2"/>
            <a:r>
              <a:rPr lang="en-US" altLang="en-US" sz="2000"/>
              <a:t>Elements greater than pivot</a:t>
            </a:r>
          </a:p>
          <a:p>
            <a:pPr lvl="1"/>
            <a:r>
              <a:rPr lang="en-US" altLang="en-US" sz="2400"/>
              <a:t>Quicksort two sub-arrays</a:t>
            </a:r>
          </a:p>
          <a:p>
            <a:pPr lvl="1"/>
            <a:r>
              <a:rPr lang="en-US" altLang="en-US" sz="2400"/>
              <a:t>Return results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altLang="en-US"/>
              <a:t>Example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/>
              <a:t>We are given array of n integers to sort:</a:t>
            </a:r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1447800" y="20574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40</a:t>
            </a: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2057400" y="20574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20</a:t>
            </a:r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2667000" y="20574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3276600" y="20574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80</a:t>
            </a:r>
          </a:p>
        </p:txBody>
      </p: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3886200" y="20574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60</a:t>
            </a: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4495800" y="20574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4106" name="Rectangle 10"/>
          <p:cNvSpPr>
            <a:spLocks noChangeArrowheads="1"/>
          </p:cNvSpPr>
          <p:nvPr/>
        </p:nvSpPr>
        <p:spPr bwMode="auto">
          <a:xfrm>
            <a:off x="5105400" y="20574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7</a:t>
            </a:r>
          </a:p>
        </p:txBody>
      </p:sp>
      <p:sp>
        <p:nvSpPr>
          <p:cNvPr id="4107" name="Rectangle 11"/>
          <p:cNvSpPr>
            <a:spLocks noChangeArrowheads="1"/>
          </p:cNvSpPr>
          <p:nvPr/>
        </p:nvSpPr>
        <p:spPr bwMode="auto">
          <a:xfrm>
            <a:off x="5715000" y="20574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30</a:t>
            </a:r>
          </a:p>
        </p:txBody>
      </p:sp>
      <p:sp>
        <p:nvSpPr>
          <p:cNvPr id="4108" name="Rectangle 12"/>
          <p:cNvSpPr>
            <a:spLocks noChangeArrowheads="1"/>
          </p:cNvSpPr>
          <p:nvPr/>
        </p:nvSpPr>
        <p:spPr bwMode="auto">
          <a:xfrm>
            <a:off x="6324600" y="20574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altLang="en-US"/>
              <a:t>Pick Pivot Element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400"/>
              <a:t>There are a number of ways to pick the pivot element.  In this example, we will use the first element in the array:</a:t>
            </a: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1447800" y="23622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40</a:t>
            </a: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2057400" y="23622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20</a:t>
            </a:r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2667000" y="23622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3276600" y="23622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80</a:t>
            </a:r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3886200" y="23622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60</a:t>
            </a:r>
          </a:p>
        </p:txBody>
      </p:sp>
      <p:sp>
        <p:nvSpPr>
          <p:cNvPr id="5129" name="Rectangle 9"/>
          <p:cNvSpPr>
            <a:spLocks noChangeArrowheads="1"/>
          </p:cNvSpPr>
          <p:nvPr/>
        </p:nvSpPr>
        <p:spPr bwMode="auto">
          <a:xfrm>
            <a:off x="4495800" y="23622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5105400" y="23622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7</a:t>
            </a:r>
          </a:p>
        </p:txBody>
      </p:sp>
      <p:sp>
        <p:nvSpPr>
          <p:cNvPr id="5131" name="Rectangle 11"/>
          <p:cNvSpPr>
            <a:spLocks noChangeArrowheads="1"/>
          </p:cNvSpPr>
          <p:nvPr/>
        </p:nvSpPr>
        <p:spPr bwMode="auto">
          <a:xfrm>
            <a:off x="5715000" y="23622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30</a:t>
            </a:r>
          </a:p>
        </p:txBody>
      </p:sp>
      <p:sp>
        <p:nvSpPr>
          <p:cNvPr id="5132" name="Rectangle 12"/>
          <p:cNvSpPr>
            <a:spLocks noChangeArrowheads="1"/>
          </p:cNvSpPr>
          <p:nvPr/>
        </p:nvSpPr>
        <p:spPr bwMode="auto">
          <a:xfrm>
            <a:off x="6324600" y="23622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altLang="en-US"/>
              <a:t>Partitioning Array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1148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altLang="en-US" sz="2800"/>
              <a:t>Given a pivot, partition the elements of the array such that the resulting array consists of: </a:t>
            </a:r>
          </a:p>
          <a:p>
            <a:pPr marL="990600" lvl="1" indent="-533400">
              <a:lnSpc>
                <a:spcPct val="90000"/>
              </a:lnSpc>
              <a:buFontTx/>
              <a:buAutoNum type="arabicPeriod"/>
            </a:pPr>
            <a:r>
              <a:rPr lang="en-US" altLang="en-US" sz="2400"/>
              <a:t>One sub-array that contains elements &gt;= pivot </a:t>
            </a:r>
          </a:p>
          <a:p>
            <a:pPr marL="990600" lvl="1" indent="-533400">
              <a:lnSpc>
                <a:spcPct val="90000"/>
              </a:lnSpc>
              <a:buFontTx/>
              <a:buAutoNum type="arabicPeriod"/>
            </a:pPr>
            <a:r>
              <a:rPr lang="en-US" altLang="en-US" sz="2400"/>
              <a:t>Another sub-array that contains elements &lt; pivot</a:t>
            </a:r>
          </a:p>
          <a:p>
            <a:pPr marL="990600" lvl="1" indent="-533400">
              <a:lnSpc>
                <a:spcPct val="90000"/>
              </a:lnSpc>
              <a:buFontTx/>
              <a:buAutoNum type="arabicPeriod"/>
            </a:pPr>
            <a:endParaRPr lang="en-US" altLang="en-US" sz="2400"/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altLang="en-US" sz="2800"/>
              <a:t>The sub-arrays are stored in the original data array.  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en-US" altLang="en-US" sz="2800"/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altLang="en-US" sz="2800"/>
              <a:t>Partitioning loops through, swapping elements below/above pivot.</a:t>
            </a:r>
          </a:p>
          <a:p>
            <a:pPr marL="609600" indent="-609600">
              <a:lnSpc>
                <a:spcPct val="90000"/>
              </a:lnSpc>
            </a:pPr>
            <a:endParaRPr lang="en-US" altLang="en-US" sz="2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40</a:t>
            </a: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rgbClr val="00B0F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20</a:t>
            </a: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80</a:t>
            </a: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60</a:t>
            </a: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7</a:t>
            </a:r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30</a:t>
            </a:r>
          </a:p>
        </p:txBody>
      </p:sp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100</a:t>
            </a:r>
          </a:p>
        </p:txBody>
      </p:sp>
      <p:sp>
        <p:nvSpPr>
          <p:cNvPr id="8204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8205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8210" name="Text Box 18"/>
          <p:cNvSpPr txBox="1">
            <a:spLocks noChangeArrowheads="1"/>
          </p:cNvSpPr>
          <p:nvPr/>
        </p:nvSpPr>
        <p:spPr bwMode="auto">
          <a:xfrm>
            <a:off x="2209800" y="55626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8211" name="Text Box 19"/>
          <p:cNvSpPr txBox="1">
            <a:spLocks noChangeArrowheads="1"/>
          </p:cNvSpPr>
          <p:nvPr/>
        </p:nvSpPr>
        <p:spPr bwMode="auto">
          <a:xfrm>
            <a:off x="6553200" y="5576888"/>
            <a:ext cx="213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  <p:sp>
        <p:nvSpPr>
          <p:cNvPr id="8212" name="Line 20"/>
          <p:cNvSpPr>
            <a:spLocks noChangeShapeType="1"/>
          </p:cNvSpPr>
          <p:nvPr/>
        </p:nvSpPr>
        <p:spPr bwMode="auto">
          <a:xfrm flipV="1">
            <a:off x="7239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3" name="Line 21"/>
          <p:cNvSpPr>
            <a:spLocks noChangeShapeType="1"/>
          </p:cNvSpPr>
          <p:nvPr/>
        </p:nvSpPr>
        <p:spPr bwMode="auto">
          <a:xfrm flipV="1">
            <a:off x="29718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40</a:t>
            </a: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20</a:t>
            </a: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80</a:t>
            </a:r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60</a:t>
            </a:r>
          </a:p>
        </p:txBody>
      </p:sp>
      <p:sp>
        <p:nvSpPr>
          <p:cNvPr id="35847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35848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7</a:t>
            </a:r>
          </a:p>
        </p:txBody>
      </p:sp>
      <p:sp>
        <p:nvSpPr>
          <p:cNvPr id="35849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30</a:t>
            </a:r>
          </a:p>
        </p:txBody>
      </p:sp>
      <p:sp>
        <p:nvSpPr>
          <p:cNvPr id="35850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100</a:t>
            </a:r>
          </a:p>
        </p:txBody>
      </p:sp>
      <p:sp>
        <p:nvSpPr>
          <p:cNvPr id="35851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35852" name="Text Box 12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35853" name="Text Box 13"/>
          <p:cNvSpPr txBox="1">
            <a:spLocks noChangeArrowheads="1"/>
          </p:cNvSpPr>
          <p:nvPr/>
        </p:nvSpPr>
        <p:spPr bwMode="auto">
          <a:xfrm>
            <a:off x="2209800" y="55626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35854" name="Text Box 14"/>
          <p:cNvSpPr txBox="1">
            <a:spLocks noChangeArrowheads="1"/>
          </p:cNvSpPr>
          <p:nvPr/>
        </p:nvSpPr>
        <p:spPr bwMode="auto">
          <a:xfrm>
            <a:off x="6553200" y="5576888"/>
            <a:ext cx="213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  <p:sp>
        <p:nvSpPr>
          <p:cNvPr id="35855" name="Line 15"/>
          <p:cNvSpPr>
            <a:spLocks noChangeShapeType="1"/>
          </p:cNvSpPr>
          <p:nvPr/>
        </p:nvSpPr>
        <p:spPr bwMode="auto">
          <a:xfrm flipV="1">
            <a:off x="7239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6" name="Line 16"/>
          <p:cNvSpPr>
            <a:spLocks noChangeShapeType="1"/>
          </p:cNvSpPr>
          <p:nvPr/>
        </p:nvSpPr>
        <p:spPr bwMode="auto">
          <a:xfrm flipV="1">
            <a:off x="29718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7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57594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/>
              <a:t>While data[too_big_index] &lt;= data[pivot]</a:t>
            </a:r>
          </a:p>
          <a:p>
            <a:r>
              <a:rPr lang="en-US" altLang="en-US"/>
              <a:t>		++too_big_index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40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20</a:t>
            </a: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80</a:t>
            </a:r>
          </a:p>
        </p:txBody>
      </p:sp>
      <p:sp>
        <p:nvSpPr>
          <p:cNvPr id="11270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60</a:t>
            </a:r>
          </a:p>
        </p:txBody>
      </p:sp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11272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7</a:t>
            </a:r>
          </a:p>
        </p:txBody>
      </p:sp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30</a:t>
            </a:r>
          </a:p>
        </p:txBody>
      </p:sp>
      <p:sp>
        <p:nvSpPr>
          <p:cNvPr id="11274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100</a:t>
            </a:r>
          </a:p>
        </p:txBody>
      </p:sp>
      <p:sp>
        <p:nvSpPr>
          <p:cNvPr id="11275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11276" name="Text Box 12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11277" name="Text Box 13"/>
          <p:cNvSpPr txBox="1">
            <a:spLocks noChangeArrowheads="1"/>
          </p:cNvSpPr>
          <p:nvPr/>
        </p:nvSpPr>
        <p:spPr bwMode="auto">
          <a:xfrm>
            <a:off x="2743200" y="55626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11278" name="Text Box 14"/>
          <p:cNvSpPr txBox="1">
            <a:spLocks noChangeArrowheads="1"/>
          </p:cNvSpPr>
          <p:nvPr/>
        </p:nvSpPr>
        <p:spPr bwMode="auto">
          <a:xfrm>
            <a:off x="6553200" y="5576888"/>
            <a:ext cx="213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  <p:sp>
        <p:nvSpPr>
          <p:cNvPr id="11279" name="Line 15"/>
          <p:cNvSpPr>
            <a:spLocks noChangeShapeType="1"/>
          </p:cNvSpPr>
          <p:nvPr/>
        </p:nvSpPr>
        <p:spPr bwMode="auto">
          <a:xfrm flipV="1">
            <a:off x="7239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0" name="Line 16"/>
          <p:cNvSpPr>
            <a:spLocks noChangeShapeType="1"/>
          </p:cNvSpPr>
          <p:nvPr/>
        </p:nvSpPr>
        <p:spPr bwMode="auto">
          <a:xfrm flipV="1">
            <a:off x="3505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1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57594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/>
              <a:t>While data[too_big_index] &lt;= data[pivot]</a:t>
            </a:r>
          </a:p>
          <a:p>
            <a:r>
              <a:rPr lang="en-US" altLang="en-US"/>
              <a:t>		++too_big_index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40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20</a:t>
            </a: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80</a:t>
            </a:r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60</a:t>
            </a:r>
          </a:p>
        </p:txBody>
      </p:sp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7</a:t>
            </a:r>
          </a:p>
        </p:txBody>
      </p:sp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30</a:t>
            </a:r>
          </a:p>
        </p:txBody>
      </p:sp>
      <p:sp>
        <p:nvSpPr>
          <p:cNvPr id="12298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100</a:t>
            </a:r>
          </a:p>
        </p:txBody>
      </p:sp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12300" name="Text Box 12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12301" name="Text Box 13"/>
          <p:cNvSpPr txBox="1">
            <a:spLocks noChangeArrowheads="1"/>
          </p:cNvSpPr>
          <p:nvPr/>
        </p:nvSpPr>
        <p:spPr bwMode="auto">
          <a:xfrm>
            <a:off x="3429000" y="55626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12302" name="Text Box 14"/>
          <p:cNvSpPr txBox="1">
            <a:spLocks noChangeArrowheads="1"/>
          </p:cNvSpPr>
          <p:nvPr/>
        </p:nvSpPr>
        <p:spPr bwMode="auto">
          <a:xfrm>
            <a:off x="6553200" y="5576888"/>
            <a:ext cx="213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  <p:sp>
        <p:nvSpPr>
          <p:cNvPr id="12303" name="Line 15"/>
          <p:cNvSpPr>
            <a:spLocks noChangeShapeType="1"/>
          </p:cNvSpPr>
          <p:nvPr/>
        </p:nvSpPr>
        <p:spPr bwMode="auto">
          <a:xfrm flipV="1">
            <a:off x="7239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4" name="Line 16"/>
          <p:cNvSpPr>
            <a:spLocks noChangeShapeType="1"/>
          </p:cNvSpPr>
          <p:nvPr/>
        </p:nvSpPr>
        <p:spPr bwMode="auto">
          <a:xfrm flipV="1">
            <a:off x="4191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5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57594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/>
              <a:t>While data[too_big_index] &lt;= data[pivot]</a:t>
            </a:r>
          </a:p>
          <a:p>
            <a:r>
              <a:rPr lang="en-US" altLang="en-US"/>
              <a:t>		++too_big_index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40</a:t>
            </a: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20</a:t>
            </a: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/>
              <a:t>80</a:t>
            </a:r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60</a:t>
            </a:r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7</a:t>
            </a:r>
          </a:p>
        </p:txBody>
      </p:sp>
      <p:sp>
        <p:nvSpPr>
          <p:cNvPr id="13321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30</a:t>
            </a:r>
          </a:p>
        </p:txBody>
      </p:sp>
      <p:sp>
        <p:nvSpPr>
          <p:cNvPr id="13322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100</a:t>
            </a:r>
          </a:p>
        </p:txBody>
      </p:sp>
      <p:sp>
        <p:nvSpPr>
          <p:cNvPr id="13323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13324" name="Text Box 12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13325" name="Text Box 13"/>
          <p:cNvSpPr txBox="1">
            <a:spLocks noChangeArrowheads="1"/>
          </p:cNvSpPr>
          <p:nvPr/>
        </p:nvSpPr>
        <p:spPr bwMode="auto">
          <a:xfrm>
            <a:off x="3429000" y="55626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13326" name="Text Box 14"/>
          <p:cNvSpPr txBox="1">
            <a:spLocks noChangeArrowheads="1"/>
          </p:cNvSpPr>
          <p:nvPr/>
        </p:nvSpPr>
        <p:spPr bwMode="auto">
          <a:xfrm>
            <a:off x="6553200" y="5576888"/>
            <a:ext cx="213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  <p:sp>
        <p:nvSpPr>
          <p:cNvPr id="13327" name="Line 15"/>
          <p:cNvSpPr>
            <a:spLocks noChangeShapeType="1"/>
          </p:cNvSpPr>
          <p:nvPr/>
        </p:nvSpPr>
        <p:spPr bwMode="auto">
          <a:xfrm flipV="1">
            <a:off x="7239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8" name="Line 16"/>
          <p:cNvSpPr>
            <a:spLocks noChangeShapeType="1"/>
          </p:cNvSpPr>
          <p:nvPr/>
        </p:nvSpPr>
        <p:spPr bwMode="auto">
          <a:xfrm flipV="1">
            <a:off x="4191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9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5857875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/>
              <a:t>While data[too_big_index] &lt;= data[pivot]</a:t>
            </a:r>
          </a:p>
          <a:p>
            <a:pPr lvl="1"/>
            <a:r>
              <a:rPr lang="en-US" altLang="en-US"/>
              <a:t>	++too_big_index</a:t>
            </a:r>
          </a:p>
          <a:p>
            <a:pPr>
              <a:buFontTx/>
              <a:buAutoNum type="arabicPeriod"/>
            </a:pPr>
            <a:r>
              <a:rPr lang="en-US" altLang="en-US"/>
              <a:t>While data[too_small_index] &gt; data[pivot]</a:t>
            </a:r>
          </a:p>
          <a:p>
            <a:pPr lvl="1"/>
            <a:r>
              <a:rPr lang="en-US" altLang="en-US"/>
              <a:t>	--too_small_index</a:t>
            </a:r>
          </a:p>
          <a:p>
            <a:endParaRPr lang="en-US" altLang="en-US"/>
          </a:p>
          <a:p>
            <a:pPr lvl="1">
              <a:buFontTx/>
              <a:buAutoNum type="arabicPeriod"/>
            </a:pP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40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20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80</a:t>
            </a:r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60</a:t>
            </a:r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7</a:t>
            </a:r>
          </a:p>
        </p:txBody>
      </p:sp>
      <p:sp>
        <p:nvSpPr>
          <p:cNvPr id="15369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30</a:t>
            </a:r>
          </a:p>
        </p:txBody>
      </p:sp>
      <p:sp>
        <p:nvSpPr>
          <p:cNvPr id="15370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100</a:t>
            </a:r>
          </a:p>
        </p:txBody>
      </p:sp>
      <p:sp>
        <p:nvSpPr>
          <p:cNvPr id="15371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15372" name="Text Box 12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3429000" y="55626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  <p:sp>
        <p:nvSpPr>
          <p:cNvPr id="15375" name="Line 15"/>
          <p:cNvSpPr>
            <a:spLocks noChangeShapeType="1"/>
          </p:cNvSpPr>
          <p:nvPr/>
        </p:nvSpPr>
        <p:spPr bwMode="auto">
          <a:xfrm flipV="1">
            <a:off x="6553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6" name="Line 16"/>
          <p:cNvSpPr>
            <a:spLocks noChangeShapeType="1"/>
          </p:cNvSpPr>
          <p:nvPr/>
        </p:nvSpPr>
        <p:spPr bwMode="auto">
          <a:xfrm flipV="1">
            <a:off x="4191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7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5857875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/>
              <a:t>While data[too_big_index] &lt;= data[pivot]</a:t>
            </a:r>
          </a:p>
          <a:p>
            <a:pPr lvl="1"/>
            <a:r>
              <a:rPr lang="en-US" altLang="en-US"/>
              <a:t>	++too_big_index</a:t>
            </a:r>
          </a:p>
          <a:p>
            <a:pPr>
              <a:buFontTx/>
              <a:buAutoNum type="arabicPeriod"/>
            </a:pPr>
            <a:r>
              <a:rPr lang="en-US" altLang="en-US"/>
              <a:t>While data[too_small_index] &gt; data[pivot]</a:t>
            </a:r>
          </a:p>
          <a:p>
            <a:pPr lvl="1"/>
            <a:r>
              <a:rPr lang="en-US" altLang="en-US"/>
              <a:t>	--too_small_index</a:t>
            </a:r>
          </a:p>
          <a:p>
            <a:endParaRPr lang="en-US" altLang="en-US"/>
          </a:p>
          <a:p>
            <a:pPr lvl="1">
              <a:buFontTx/>
              <a:buAutoNum type="arabicPeriod"/>
            </a:pP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40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20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80</a:t>
            </a:r>
          </a:p>
        </p:txBody>
      </p:sp>
      <p:sp>
        <p:nvSpPr>
          <p:cNvPr id="16390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60</a:t>
            </a:r>
          </a:p>
        </p:txBody>
      </p:sp>
      <p:sp>
        <p:nvSpPr>
          <p:cNvPr id="16391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16392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7</a:t>
            </a:r>
          </a:p>
        </p:txBody>
      </p:sp>
      <p:sp>
        <p:nvSpPr>
          <p:cNvPr id="16393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30</a:t>
            </a:r>
          </a:p>
        </p:txBody>
      </p:sp>
      <p:sp>
        <p:nvSpPr>
          <p:cNvPr id="16394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100</a:t>
            </a:r>
          </a:p>
        </p:txBody>
      </p:sp>
      <p:sp>
        <p:nvSpPr>
          <p:cNvPr id="16395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16396" name="Text Box 12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3429000" y="55626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16398" name="Text Box 14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  <p:sp>
        <p:nvSpPr>
          <p:cNvPr id="16399" name="Line 15"/>
          <p:cNvSpPr>
            <a:spLocks noChangeShapeType="1"/>
          </p:cNvSpPr>
          <p:nvPr/>
        </p:nvSpPr>
        <p:spPr bwMode="auto">
          <a:xfrm flipV="1">
            <a:off x="6553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0" name="Line 16"/>
          <p:cNvSpPr>
            <a:spLocks noChangeShapeType="1"/>
          </p:cNvSpPr>
          <p:nvPr/>
        </p:nvSpPr>
        <p:spPr bwMode="auto">
          <a:xfrm flipV="1">
            <a:off x="4191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1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7600950" cy="337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/>
              <a:t>While data[too_big_index] &lt;= data[pivot]</a:t>
            </a:r>
          </a:p>
          <a:p>
            <a:pPr lvl="1"/>
            <a:r>
              <a:rPr lang="en-US" altLang="en-US"/>
              <a:t>	++too_big_index</a:t>
            </a:r>
          </a:p>
          <a:p>
            <a:pPr>
              <a:buFontTx/>
              <a:buAutoNum type="arabicPeriod"/>
            </a:pPr>
            <a:r>
              <a:rPr lang="en-US" altLang="en-US"/>
              <a:t>While data[too_small_index] &gt; data[pivot]</a:t>
            </a:r>
          </a:p>
          <a:p>
            <a:pPr lvl="1"/>
            <a:r>
              <a:rPr lang="en-US" altLang="en-US"/>
              <a:t>	--too_small_index</a:t>
            </a:r>
          </a:p>
          <a:p>
            <a:pPr>
              <a:buFontTx/>
              <a:buAutoNum type="arabicPeriod"/>
            </a:pPr>
            <a:r>
              <a:rPr lang="en-US" altLang="en-US"/>
              <a:t>If too_big_index &lt; too_small_index</a:t>
            </a:r>
          </a:p>
          <a:p>
            <a:pPr lvl="1"/>
            <a:r>
              <a:rPr lang="en-US" altLang="en-US"/>
              <a:t>	swap data[too_big_index] and data[too_small_index]</a:t>
            </a:r>
          </a:p>
          <a:p>
            <a:endParaRPr lang="en-US" altLang="en-US"/>
          </a:p>
          <a:p>
            <a:pPr lvl="1">
              <a:buFontTx/>
              <a:buAutoNum type="arabicPeriod"/>
            </a:pPr>
            <a:endParaRPr lang="en-US" altLang="en-US"/>
          </a:p>
          <a:p>
            <a:endParaRPr lang="en-US" altLang="en-US"/>
          </a:p>
        </p:txBody>
      </p:sp>
      <p:sp>
        <p:nvSpPr>
          <p:cNvPr id="16404" name="Freeform 20"/>
          <p:cNvSpPr>
            <a:spLocks/>
          </p:cNvSpPr>
          <p:nvPr/>
        </p:nvSpPr>
        <p:spPr bwMode="auto">
          <a:xfrm>
            <a:off x="4343400" y="3733800"/>
            <a:ext cx="2527300" cy="457200"/>
          </a:xfrm>
          <a:custGeom>
            <a:avLst/>
            <a:gdLst>
              <a:gd name="T0" fmla="*/ 0 w 1592"/>
              <a:gd name="T1" fmla="*/ 560 h 560"/>
              <a:gd name="T2" fmla="*/ 384 w 1592"/>
              <a:gd name="T3" fmla="*/ 80 h 560"/>
              <a:gd name="T4" fmla="*/ 1392 w 1592"/>
              <a:gd name="T5" fmla="*/ 80 h 560"/>
              <a:gd name="T6" fmla="*/ 1584 w 1592"/>
              <a:gd name="T7" fmla="*/ 56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92" h="560">
                <a:moveTo>
                  <a:pt x="0" y="560"/>
                </a:moveTo>
                <a:cubicBezTo>
                  <a:pt x="76" y="360"/>
                  <a:pt x="152" y="160"/>
                  <a:pt x="384" y="80"/>
                </a:cubicBezTo>
                <a:cubicBezTo>
                  <a:pt x="616" y="0"/>
                  <a:pt x="1192" y="0"/>
                  <a:pt x="1392" y="80"/>
                </a:cubicBezTo>
                <a:cubicBezTo>
                  <a:pt x="1592" y="160"/>
                  <a:pt x="1588" y="360"/>
                  <a:pt x="1584" y="560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40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20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30</a:t>
            </a: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60</a:t>
            </a:r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7</a:t>
            </a:r>
          </a:p>
        </p:txBody>
      </p:sp>
      <p:sp>
        <p:nvSpPr>
          <p:cNvPr id="17417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80</a:t>
            </a:r>
          </a:p>
        </p:txBody>
      </p:sp>
      <p:sp>
        <p:nvSpPr>
          <p:cNvPr id="17418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100</a:t>
            </a:r>
          </a:p>
        </p:txBody>
      </p:sp>
      <p:sp>
        <p:nvSpPr>
          <p:cNvPr id="17419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17420" name="Text Box 12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17421" name="Text Box 13"/>
          <p:cNvSpPr txBox="1">
            <a:spLocks noChangeArrowheads="1"/>
          </p:cNvSpPr>
          <p:nvPr/>
        </p:nvSpPr>
        <p:spPr bwMode="auto">
          <a:xfrm>
            <a:off x="3429000" y="55626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17422" name="Text Box 14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  <p:sp>
        <p:nvSpPr>
          <p:cNvPr id="17423" name="Line 15"/>
          <p:cNvSpPr>
            <a:spLocks noChangeShapeType="1"/>
          </p:cNvSpPr>
          <p:nvPr/>
        </p:nvSpPr>
        <p:spPr bwMode="auto">
          <a:xfrm flipV="1">
            <a:off x="6553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4" name="Line 16"/>
          <p:cNvSpPr>
            <a:spLocks noChangeShapeType="1"/>
          </p:cNvSpPr>
          <p:nvPr/>
        </p:nvSpPr>
        <p:spPr bwMode="auto">
          <a:xfrm flipV="1">
            <a:off x="4191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5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7600950" cy="337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/>
              <a:t>While data[too_big_index] &lt;= data[pivot]</a:t>
            </a:r>
          </a:p>
          <a:p>
            <a:pPr lvl="1"/>
            <a:r>
              <a:rPr lang="en-US" altLang="en-US"/>
              <a:t>	++too_big_index</a:t>
            </a:r>
          </a:p>
          <a:p>
            <a:pPr>
              <a:buFontTx/>
              <a:buAutoNum type="arabicPeriod"/>
            </a:pPr>
            <a:r>
              <a:rPr lang="en-US" altLang="en-US"/>
              <a:t>While data[too_small_index] &gt; data[pivot]</a:t>
            </a:r>
          </a:p>
          <a:p>
            <a:pPr lvl="1"/>
            <a:r>
              <a:rPr lang="en-US" altLang="en-US"/>
              <a:t>	--too_small_index</a:t>
            </a:r>
          </a:p>
          <a:p>
            <a:pPr>
              <a:buFontTx/>
              <a:buAutoNum type="arabicPeriod"/>
            </a:pPr>
            <a:r>
              <a:rPr lang="en-US" altLang="en-US"/>
              <a:t>If too_big_index &lt; too_small_index</a:t>
            </a:r>
          </a:p>
          <a:p>
            <a:pPr lvl="1"/>
            <a:r>
              <a:rPr lang="en-US" altLang="en-US"/>
              <a:t>	swap data[too_big_index] and data[too_small_index]</a:t>
            </a:r>
          </a:p>
          <a:p>
            <a:endParaRPr lang="en-US" altLang="en-US"/>
          </a:p>
          <a:p>
            <a:pPr lvl="1">
              <a:buFontTx/>
              <a:buAutoNum type="arabicPeriod"/>
            </a:pPr>
            <a:endParaRPr lang="en-US" altLang="en-US"/>
          </a:p>
          <a:p>
            <a:endParaRPr lang="en-US" altLang="en-US"/>
          </a:p>
        </p:txBody>
      </p:sp>
      <p:sp>
        <p:nvSpPr>
          <p:cNvPr id="17426" name="Freeform 18"/>
          <p:cNvSpPr>
            <a:spLocks/>
          </p:cNvSpPr>
          <p:nvPr/>
        </p:nvSpPr>
        <p:spPr bwMode="auto">
          <a:xfrm>
            <a:off x="4343400" y="3733800"/>
            <a:ext cx="2527300" cy="457200"/>
          </a:xfrm>
          <a:custGeom>
            <a:avLst/>
            <a:gdLst>
              <a:gd name="T0" fmla="*/ 0 w 1592"/>
              <a:gd name="T1" fmla="*/ 560 h 560"/>
              <a:gd name="T2" fmla="*/ 384 w 1592"/>
              <a:gd name="T3" fmla="*/ 80 h 560"/>
              <a:gd name="T4" fmla="*/ 1392 w 1592"/>
              <a:gd name="T5" fmla="*/ 80 h 560"/>
              <a:gd name="T6" fmla="*/ 1584 w 1592"/>
              <a:gd name="T7" fmla="*/ 56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92" h="560">
                <a:moveTo>
                  <a:pt x="0" y="560"/>
                </a:moveTo>
                <a:cubicBezTo>
                  <a:pt x="76" y="360"/>
                  <a:pt x="152" y="160"/>
                  <a:pt x="384" y="80"/>
                </a:cubicBezTo>
                <a:cubicBezTo>
                  <a:pt x="616" y="0"/>
                  <a:pt x="1192" y="0"/>
                  <a:pt x="1392" y="80"/>
                </a:cubicBezTo>
                <a:cubicBezTo>
                  <a:pt x="1592" y="160"/>
                  <a:pt x="1588" y="360"/>
                  <a:pt x="1584" y="560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40</a:t>
            </a: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20</a:t>
            </a: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30</a:t>
            </a:r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60</a:t>
            </a:r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7</a:t>
            </a:r>
          </a:p>
        </p:txBody>
      </p:sp>
      <p:sp>
        <p:nvSpPr>
          <p:cNvPr id="18441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80</a:t>
            </a:r>
          </a:p>
        </p:txBody>
      </p:sp>
      <p:sp>
        <p:nvSpPr>
          <p:cNvPr id="18442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100</a:t>
            </a:r>
          </a:p>
        </p:txBody>
      </p:sp>
      <p:sp>
        <p:nvSpPr>
          <p:cNvPr id="18443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18444" name="Text Box 12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18445" name="Text Box 13"/>
          <p:cNvSpPr txBox="1">
            <a:spLocks noChangeArrowheads="1"/>
          </p:cNvSpPr>
          <p:nvPr/>
        </p:nvSpPr>
        <p:spPr bwMode="auto">
          <a:xfrm>
            <a:off x="3429000" y="55626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18446" name="Text Box 14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  <p:sp>
        <p:nvSpPr>
          <p:cNvPr id="18447" name="Line 15"/>
          <p:cNvSpPr>
            <a:spLocks noChangeShapeType="1"/>
          </p:cNvSpPr>
          <p:nvPr/>
        </p:nvSpPr>
        <p:spPr bwMode="auto">
          <a:xfrm flipV="1">
            <a:off x="6553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8" name="Line 16"/>
          <p:cNvSpPr>
            <a:spLocks noChangeShapeType="1"/>
          </p:cNvSpPr>
          <p:nvPr/>
        </p:nvSpPr>
        <p:spPr bwMode="auto">
          <a:xfrm flipV="1">
            <a:off x="4191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9" name="Text Box 17"/>
          <p:cNvSpPr txBox="1">
            <a:spLocks noChangeArrowheads="1"/>
          </p:cNvSpPr>
          <p:nvPr/>
        </p:nvSpPr>
        <p:spPr bwMode="auto">
          <a:xfrm>
            <a:off x="847725" y="447675"/>
            <a:ext cx="7600950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 dirty="0"/>
              <a:t>While data[</a:t>
            </a:r>
            <a:r>
              <a:rPr lang="en-US" altLang="en-US" dirty="0" err="1"/>
              <a:t>too_big_index</a:t>
            </a:r>
            <a:r>
              <a:rPr lang="en-US" altLang="en-US" dirty="0"/>
              <a:t>] &lt;= data[pivot]</a:t>
            </a:r>
          </a:p>
          <a:p>
            <a:pPr lvl="1"/>
            <a:r>
              <a:rPr lang="en-US" altLang="en-US" dirty="0"/>
              <a:t>	++</a:t>
            </a:r>
            <a:r>
              <a:rPr lang="en-US" altLang="en-US" dirty="0" err="1"/>
              <a:t>too_big_index</a:t>
            </a:r>
            <a:endParaRPr lang="en-US" altLang="en-US" dirty="0"/>
          </a:p>
          <a:p>
            <a:pPr>
              <a:buFontTx/>
              <a:buAutoNum type="arabicPeriod"/>
            </a:pPr>
            <a:r>
              <a:rPr lang="en-US" altLang="en-US" dirty="0"/>
              <a:t>While data[</a:t>
            </a:r>
            <a:r>
              <a:rPr lang="en-US" altLang="en-US" dirty="0" err="1"/>
              <a:t>too_small_index</a:t>
            </a:r>
            <a:r>
              <a:rPr lang="en-US" altLang="en-US" dirty="0"/>
              <a:t>] &gt; data[pivot]</a:t>
            </a:r>
          </a:p>
          <a:p>
            <a:pPr lvl="1"/>
            <a:r>
              <a:rPr lang="en-US" altLang="en-US" dirty="0"/>
              <a:t>	--</a:t>
            </a:r>
            <a:r>
              <a:rPr lang="en-US" altLang="en-US" dirty="0" err="1"/>
              <a:t>too_small_index</a:t>
            </a:r>
            <a:endParaRPr lang="en-US" altLang="en-US" dirty="0"/>
          </a:p>
          <a:p>
            <a:pPr>
              <a:buFontTx/>
              <a:buAutoNum type="arabicPeriod"/>
            </a:pPr>
            <a:r>
              <a:rPr lang="en-US" altLang="en-US" dirty="0"/>
              <a:t>If </a:t>
            </a:r>
            <a:r>
              <a:rPr lang="en-US" altLang="en-US" dirty="0" err="1"/>
              <a:t>too_big_index</a:t>
            </a:r>
            <a:r>
              <a:rPr lang="en-US" altLang="en-US" dirty="0"/>
              <a:t> &lt; </a:t>
            </a:r>
            <a:r>
              <a:rPr lang="en-US" altLang="en-US" dirty="0" err="1"/>
              <a:t>too_small_index</a:t>
            </a:r>
            <a:endParaRPr lang="en-US" altLang="en-US" dirty="0"/>
          </a:p>
          <a:p>
            <a:pPr lvl="1"/>
            <a:r>
              <a:rPr lang="en-US" altLang="en-US" dirty="0"/>
              <a:t>	swap data[</a:t>
            </a:r>
            <a:r>
              <a:rPr lang="en-US" altLang="en-US" dirty="0" err="1"/>
              <a:t>too_big_index</a:t>
            </a:r>
            <a:r>
              <a:rPr lang="en-US" altLang="en-US" dirty="0"/>
              <a:t>] and data[</a:t>
            </a:r>
            <a:r>
              <a:rPr lang="en-US" altLang="en-US" dirty="0" err="1"/>
              <a:t>too_small_index</a:t>
            </a:r>
            <a:r>
              <a:rPr lang="en-US" altLang="en-US" dirty="0"/>
              <a:t>]</a:t>
            </a:r>
          </a:p>
          <a:p>
            <a:pPr>
              <a:buFontTx/>
              <a:buAutoNum type="arabicPeriod"/>
            </a:pPr>
            <a:r>
              <a:rPr lang="en-US" altLang="en-US" dirty="0"/>
              <a:t>While </a:t>
            </a:r>
            <a:r>
              <a:rPr lang="en-US" altLang="en-US" dirty="0" err="1"/>
              <a:t>too_small_index</a:t>
            </a:r>
            <a:r>
              <a:rPr lang="en-US" altLang="en-US" dirty="0"/>
              <a:t> &gt; </a:t>
            </a:r>
            <a:r>
              <a:rPr lang="en-US" altLang="en-US" dirty="0" err="1"/>
              <a:t>too_big_index</a:t>
            </a:r>
            <a:r>
              <a:rPr lang="en-US" altLang="en-US" dirty="0"/>
              <a:t>, go to 1.</a:t>
            </a:r>
          </a:p>
          <a:p>
            <a:endParaRPr lang="en-US" altLang="en-US" dirty="0"/>
          </a:p>
          <a:p>
            <a:pPr lvl="1">
              <a:buFontTx/>
              <a:buAutoNum type="arabicPeriod"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40</a:t>
            </a: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20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/>
              <a:t>30</a:t>
            </a:r>
          </a:p>
        </p:txBody>
      </p:sp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60</a:t>
            </a:r>
          </a:p>
        </p:txBody>
      </p:sp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7</a:t>
            </a:r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/>
              <a:t>80</a:t>
            </a:r>
          </a:p>
        </p:txBody>
      </p:sp>
      <p:sp>
        <p:nvSpPr>
          <p:cNvPr id="19466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100</a:t>
            </a:r>
          </a:p>
        </p:txBody>
      </p:sp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19469" name="Text Box 13"/>
          <p:cNvSpPr txBox="1">
            <a:spLocks noChangeArrowheads="1"/>
          </p:cNvSpPr>
          <p:nvPr/>
        </p:nvSpPr>
        <p:spPr bwMode="auto">
          <a:xfrm>
            <a:off x="3429000" y="55626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19470" name="Text Box 14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  <p:sp>
        <p:nvSpPr>
          <p:cNvPr id="19471" name="Line 15"/>
          <p:cNvSpPr>
            <a:spLocks noChangeShapeType="1"/>
          </p:cNvSpPr>
          <p:nvPr/>
        </p:nvSpPr>
        <p:spPr bwMode="auto">
          <a:xfrm flipV="1">
            <a:off x="6553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2" name="Line 16"/>
          <p:cNvSpPr>
            <a:spLocks noChangeShapeType="1"/>
          </p:cNvSpPr>
          <p:nvPr/>
        </p:nvSpPr>
        <p:spPr bwMode="auto">
          <a:xfrm flipV="1">
            <a:off x="4191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3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7600950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 dirty="0"/>
              <a:t>While data[</a:t>
            </a:r>
            <a:r>
              <a:rPr lang="en-US" altLang="en-US" dirty="0" err="1"/>
              <a:t>too_big_index</a:t>
            </a:r>
            <a:r>
              <a:rPr lang="en-US" altLang="en-US" dirty="0"/>
              <a:t>] &lt;= data[pivot]</a:t>
            </a:r>
          </a:p>
          <a:p>
            <a:pPr lvl="1"/>
            <a:r>
              <a:rPr lang="en-US" altLang="en-US" dirty="0"/>
              <a:t>	++</a:t>
            </a:r>
            <a:r>
              <a:rPr lang="en-US" altLang="en-US" dirty="0" err="1"/>
              <a:t>too_big_index</a:t>
            </a:r>
            <a:endParaRPr lang="en-US" altLang="en-US" dirty="0"/>
          </a:p>
          <a:p>
            <a:pPr>
              <a:buFontTx/>
              <a:buAutoNum type="arabicPeriod"/>
            </a:pPr>
            <a:r>
              <a:rPr lang="en-US" altLang="en-US" dirty="0"/>
              <a:t>While data[</a:t>
            </a:r>
            <a:r>
              <a:rPr lang="en-US" altLang="en-US" dirty="0" err="1"/>
              <a:t>too_small_index</a:t>
            </a:r>
            <a:r>
              <a:rPr lang="en-US" altLang="en-US" dirty="0"/>
              <a:t>] &gt; data[pivot]</a:t>
            </a:r>
          </a:p>
          <a:p>
            <a:pPr lvl="1"/>
            <a:r>
              <a:rPr lang="en-US" altLang="en-US" dirty="0"/>
              <a:t>	--</a:t>
            </a:r>
            <a:r>
              <a:rPr lang="en-US" altLang="en-US" dirty="0" err="1"/>
              <a:t>too_small_index</a:t>
            </a:r>
            <a:endParaRPr lang="en-US" altLang="en-US" dirty="0"/>
          </a:p>
          <a:p>
            <a:pPr>
              <a:buFontTx/>
              <a:buAutoNum type="arabicPeriod"/>
            </a:pPr>
            <a:r>
              <a:rPr lang="en-US" altLang="en-US" dirty="0"/>
              <a:t>If </a:t>
            </a:r>
            <a:r>
              <a:rPr lang="en-US" altLang="en-US" dirty="0" err="1"/>
              <a:t>too_big_index</a:t>
            </a:r>
            <a:r>
              <a:rPr lang="en-US" altLang="en-US" dirty="0"/>
              <a:t> &lt; </a:t>
            </a:r>
            <a:r>
              <a:rPr lang="en-US" altLang="en-US" dirty="0" err="1"/>
              <a:t>too_small_index</a:t>
            </a:r>
            <a:endParaRPr lang="en-US" altLang="en-US" dirty="0"/>
          </a:p>
          <a:p>
            <a:pPr lvl="1"/>
            <a:r>
              <a:rPr lang="en-US" altLang="en-US" dirty="0"/>
              <a:t>	swap data[</a:t>
            </a:r>
            <a:r>
              <a:rPr lang="en-US" altLang="en-US" dirty="0" err="1"/>
              <a:t>too_big_index</a:t>
            </a:r>
            <a:r>
              <a:rPr lang="en-US" altLang="en-US" dirty="0"/>
              <a:t>] and data[</a:t>
            </a:r>
            <a:r>
              <a:rPr lang="en-US" altLang="en-US" dirty="0" err="1"/>
              <a:t>too_small_index</a:t>
            </a:r>
            <a:r>
              <a:rPr lang="en-US" altLang="en-US" dirty="0"/>
              <a:t>]</a:t>
            </a:r>
          </a:p>
          <a:p>
            <a:pPr>
              <a:buFontTx/>
              <a:buAutoNum type="arabicPeriod"/>
            </a:pPr>
            <a:r>
              <a:rPr lang="en-US" altLang="en-US" dirty="0"/>
              <a:t>While </a:t>
            </a:r>
            <a:r>
              <a:rPr lang="en-US" altLang="en-US" dirty="0" err="1"/>
              <a:t>too_small_index</a:t>
            </a:r>
            <a:r>
              <a:rPr lang="en-US" altLang="en-US" dirty="0"/>
              <a:t> &gt; </a:t>
            </a:r>
            <a:r>
              <a:rPr lang="en-US" altLang="en-US" dirty="0" err="1"/>
              <a:t>too_big_index</a:t>
            </a:r>
            <a:r>
              <a:rPr lang="en-US" altLang="en-US" dirty="0"/>
              <a:t>, go to 1.</a:t>
            </a:r>
          </a:p>
          <a:p>
            <a:endParaRPr lang="en-US" altLang="en-US" dirty="0"/>
          </a:p>
          <a:p>
            <a:pPr lvl="1">
              <a:buFontTx/>
              <a:buAutoNum type="arabicPeriod"/>
            </a:pPr>
            <a:endParaRPr lang="en-US" altLang="en-US" dirty="0"/>
          </a:p>
          <a:p>
            <a:endParaRPr lang="en-US" altLang="en-US" dirty="0"/>
          </a:p>
        </p:txBody>
      </p:sp>
      <p:sp>
        <p:nvSpPr>
          <p:cNvPr id="19474" name="Line 18"/>
          <p:cNvSpPr>
            <a:spLocks noChangeShapeType="1"/>
          </p:cNvSpPr>
          <p:nvPr/>
        </p:nvSpPr>
        <p:spPr bwMode="auto">
          <a:xfrm>
            <a:off x="609600" y="1143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40</a:t>
            </a: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20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30</a:t>
            </a:r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/>
              <a:t>60</a:t>
            </a:r>
          </a:p>
        </p:txBody>
      </p:sp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7</a:t>
            </a:r>
          </a:p>
        </p:txBody>
      </p:sp>
      <p:sp>
        <p:nvSpPr>
          <p:cNvPr id="20489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/>
              <a:t>80</a:t>
            </a:r>
          </a:p>
        </p:txBody>
      </p:sp>
      <p:sp>
        <p:nvSpPr>
          <p:cNvPr id="20490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100</a:t>
            </a:r>
          </a:p>
        </p:txBody>
      </p:sp>
      <p:sp>
        <p:nvSpPr>
          <p:cNvPr id="20491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20492" name="Text Box 12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20493" name="Text Box 13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20494" name="Text Box 14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  <p:sp>
        <p:nvSpPr>
          <p:cNvPr id="20495" name="Line 15"/>
          <p:cNvSpPr>
            <a:spLocks noChangeShapeType="1"/>
          </p:cNvSpPr>
          <p:nvPr/>
        </p:nvSpPr>
        <p:spPr bwMode="auto">
          <a:xfrm flipV="1">
            <a:off x="6553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6" name="Line 16"/>
          <p:cNvSpPr>
            <a:spLocks noChangeShapeType="1"/>
          </p:cNvSpPr>
          <p:nvPr/>
        </p:nvSpPr>
        <p:spPr bwMode="auto">
          <a:xfrm flipV="1">
            <a:off x="47244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7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7600950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/>
              <a:t>While data[too_big_index] &lt;= data[pivot]</a:t>
            </a:r>
          </a:p>
          <a:p>
            <a:pPr lvl="1"/>
            <a:r>
              <a:rPr lang="en-US" altLang="en-US"/>
              <a:t>	++too_big_index</a:t>
            </a:r>
          </a:p>
          <a:p>
            <a:pPr>
              <a:buFontTx/>
              <a:buAutoNum type="arabicPeriod"/>
            </a:pPr>
            <a:r>
              <a:rPr lang="en-US" altLang="en-US"/>
              <a:t>While data[too_small_index] &gt; data[pivot]</a:t>
            </a:r>
          </a:p>
          <a:p>
            <a:pPr lvl="1"/>
            <a:r>
              <a:rPr lang="en-US" altLang="en-US"/>
              <a:t>	--too_small_index</a:t>
            </a:r>
          </a:p>
          <a:p>
            <a:pPr>
              <a:buFontTx/>
              <a:buAutoNum type="arabicPeriod"/>
            </a:pPr>
            <a:r>
              <a:rPr lang="en-US" altLang="en-US"/>
              <a:t>If too_big_index &lt; too_small_index</a:t>
            </a:r>
          </a:p>
          <a:p>
            <a:pPr lvl="1"/>
            <a:r>
              <a:rPr lang="en-US" altLang="en-US"/>
              <a:t>	swap data[too_big_index] and data[too_small_index]</a:t>
            </a:r>
          </a:p>
          <a:p>
            <a:pPr>
              <a:buFontTx/>
              <a:buAutoNum type="arabicPeriod"/>
            </a:pPr>
            <a:r>
              <a:rPr lang="en-US" altLang="en-US"/>
              <a:t>While too_small_index &gt; too_big_index, go to 1.</a:t>
            </a:r>
          </a:p>
          <a:p>
            <a:endParaRPr lang="en-US" altLang="en-US"/>
          </a:p>
          <a:p>
            <a:pPr lvl="1">
              <a:buFontTx/>
              <a:buAutoNum type="arabicPeriod"/>
            </a:pPr>
            <a:endParaRPr lang="en-US" altLang="en-US"/>
          </a:p>
          <a:p>
            <a:endParaRPr lang="en-US" altLang="en-US"/>
          </a:p>
        </p:txBody>
      </p:sp>
      <p:sp>
        <p:nvSpPr>
          <p:cNvPr id="20498" name="Line 18"/>
          <p:cNvSpPr>
            <a:spLocks noChangeShapeType="1"/>
          </p:cNvSpPr>
          <p:nvPr/>
        </p:nvSpPr>
        <p:spPr bwMode="auto">
          <a:xfrm>
            <a:off x="609600" y="1143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40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20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30</a:t>
            </a:r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/>
              <a:t>60</a:t>
            </a: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7</a:t>
            </a:r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/>
              <a:t>80</a:t>
            </a:r>
          </a:p>
        </p:txBody>
      </p:sp>
      <p:sp>
        <p:nvSpPr>
          <p:cNvPr id="21514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100</a:t>
            </a:r>
          </a:p>
        </p:txBody>
      </p:sp>
      <p:sp>
        <p:nvSpPr>
          <p:cNvPr id="21515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21516" name="Text Box 12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21517" name="Text Box 13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  <p:sp>
        <p:nvSpPr>
          <p:cNvPr id="21519" name="Line 15"/>
          <p:cNvSpPr>
            <a:spLocks noChangeShapeType="1"/>
          </p:cNvSpPr>
          <p:nvPr/>
        </p:nvSpPr>
        <p:spPr bwMode="auto">
          <a:xfrm flipV="1">
            <a:off x="6553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0" name="Line 16"/>
          <p:cNvSpPr>
            <a:spLocks noChangeShapeType="1"/>
          </p:cNvSpPr>
          <p:nvPr/>
        </p:nvSpPr>
        <p:spPr bwMode="auto">
          <a:xfrm flipV="1">
            <a:off x="47244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1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7600950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 dirty="0"/>
              <a:t>While data[</a:t>
            </a:r>
            <a:r>
              <a:rPr lang="en-US" altLang="en-US" dirty="0" err="1"/>
              <a:t>too_big_index</a:t>
            </a:r>
            <a:r>
              <a:rPr lang="en-US" altLang="en-US" dirty="0"/>
              <a:t>] &lt;= data[pivot]</a:t>
            </a:r>
          </a:p>
          <a:p>
            <a:pPr lvl="1"/>
            <a:r>
              <a:rPr lang="en-US" altLang="en-US" dirty="0"/>
              <a:t>	++</a:t>
            </a:r>
            <a:r>
              <a:rPr lang="en-US" altLang="en-US" dirty="0" err="1"/>
              <a:t>too_big_index</a:t>
            </a:r>
            <a:endParaRPr lang="en-US" altLang="en-US" dirty="0"/>
          </a:p>
          <a:p>
            <a:pPr>
              <a:buFontTx/>
              <a:buAutoNum type="arabicPeriod"/>
            </a:pPr>
            <a:r>
              <a:rPr lang="en-US" altLang="en-US" dirty="0"/>
              <a:t>While data[</a:t>
            </a:r>
            <a:r>
              <a:rPr lang="en-US" altLang="en-US" dirty="0" err="1"/>
              <a:t>too_small_index</a:t>
            </a:r>
            <a:r>
              <a:rPr lang="en-US" altLang="en-US" dirty="0"/>
              <a:t>] &gt; data[pivot]</a:t>
            </a:r>
          </a:p>
          <a:p>
            <a:pPr lvl="1"/>
            <a:r>
              <a:rPr lang="en-US" altLang="en-US" dirty="0"/>
              <a:t>	--</a:t>
            </a:r>
            <a:r>
              <a:rPr lang="en-US" altLang="en-US" dirty="0" err="1"/>
              <a:t>too_small_index</a:t>
            </a:r>
            <a:endParaRPr lang="en-US" altLang="en-US" dirty="0"/>
          </a:p>
          <a:p>
            <a:pPr>
              <a:buFontTx/>
              <a:buAutoNum type="arabicPeriod"/>
            </a:pPr>
            <a:r>
              <a:rPr lang="en-US" altLang="en-US" dirty="0"/>
              <a:t>If </a:t>
            </a:r>
            <a:r>
              <a:rPr lang="en-US" altLang="en-US" dirty="0" err="1"/>
              <a:t>too_big_index</a:t>
            </a:r>
            <a:r>
              <a:rPr lang="en-US" altLang="en-US" dirty="0"/>
              <a:t> &lt; </a:t>
            </a:r>
            <a:r>
              <a:rPr lang="en-US" altLang="en-US" dirty="0" err="1"/>
              <a:t>too_small_index</a:t>
            </a:r>
            <a:endParaRPr lang="en-US" altLang="en-US" dirty="0"/>
          </a:p>
          <a:p>
            <a:pPr lvl="1"/>
            <a:r>
              <a:rPr lang="en-US" altLang="en-US" dirty="0"/>
              <a:t>	swap data[</a:t>
            </a:r>
            <a:r>
              <a:rPr lang="en-US" altLang="en-US" dirty="0" err="1"/>
              <a:t>too_big_index</a:t>
            </a:r>
            <a:r>
              <a:rPr lang="en-US" altLang="en-US" dirty="0"/>
              <a:t>] and data[</a:t>
            </a:r>
            <a:r>
              <a:rPr lang="en-US" altLang="en-US" dirty="0" err="1"/>
              <a:t>too_small_index</a:t>
            </a:r>
            <a:r>
              <a:rPr lang="en-US" altLang="en-US" dirty="0"/>
              <a:t>]</a:t>
            </a:r>
          </a:p>
          <a:p>
            <a:pPr>
              <a:buFontTx/>
              <a:buAutoNum type="arabicPeriod"/>
            </a:pPr>
            <a:r>
              <a:rPr lang="en-US" altLang="en-US" dirty="0"/>
              <a:t>While </a:t>
            </a:r>
            <a:r>
              <a:rPr lang="en-US" altLang="en-US" dirty="0" err="1"/>
              <a:t>too_small_index</a:t>
            </a:r>
            <a:r>
              <a:rPr lang="en-US" altLang="en-US" dirty="0"/>
              <a:t> &gt; </a:t>
            </a:r>
            <a:r>
              <a:rPr lang="en-US" altLang="en-US" dirty="0" err="1"/>
              <a:t>too_big_index</a:t>
            </a:r>
            <a:r>
              <a:rPr lang="en-US" altLang="en-US" dirty="0"/>
              <a:t>, go to 1.</a:t>
            </a:r>
          </a:p>
          <a:p>
            <a:endParaRPr lang="en-US" altLang="en-US" dirty="0"/>
          </a:p>
          <a:p>
            <a:pPr lvl="1">
              <a:buFontTx/>
              <a:buAutoNum type="arabicPeriod"/>
            </a:pPr>
            <a:endParaRPr lang="en-US" altLang="en-US" dirty="0"/>
          </a:p>
          <a:p>
            <a:endParaRPr lang="en-US" altLang="en-US" dirty="0"/>
          </a:p>
        </p:txBody>
      </p:sp>
      <p:sp>
        <p:nvSpPr>
          <p:cNvPr id="21522" name="Line 18"/>
          <p:cNvSpPr>
            <a:spLocks noChangeShapeType="1"/>
          </p:cNvSpPr>
          <p:nvPr/>
        </p:nvSpPr>
        <p:spPr bwMode="auto">
          <a:xfrm>
            <a:off x="609600" y="1905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40</a:t>
            </a: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20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30</a:t>
            </a:r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/>
              <a:t>60</a:t>
            </a:r>
          </a:p>
        </p:txBody>
      </p:sp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/>
              <a:t>7</a:t>
            </a:r>
          </a:p>
        </p:txBody>
      </p:sp>
      <p:sp>
        <p:nvSpPr>
          <p:cNvPr id="22537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80</a:t>
            </a:r>
          </a:p>
        </p:txBody>
      </p:sp>
      <p:sp>
        <p:nvSpPr>
          <p:cNvPr id="22538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100</a:t>
            </a:r>
          </a:p>
        </p:txBody>
      </p:sp>
      <p:sp>
        <p:nvSpPr>
          <p:cNvPr id="22539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22540" name="Text Box 12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22541" name="Text Box 13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22542" name="Text Box 14"/>
          <p:cNvSpPr txBox="1">
            <a:spLocks noChangeArrowheads="1"/>
          </p:cNvSpPr>
          <p:nvPr/>
        </p:nvSpPr>
        <p:spPr bwMode="auto">
          <a:xfrm>
            <a:off x="5905500" y="5595937"/>
            <a:ext cx="213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  <p:sp>
        <p:nvSpPr>
          <p:cNvPr id="22543" name="Line 15"/>
          <p:cNvSpPr>
            <a:spLocks noChangeShapeType="1"/>
          </p:cNvSpPr>
          <p:nvPr/>
        </p:nvSpPr>
        <p:spPr bwMode="auto">
          <a:xfrm flipH="1" flipV="1">
            <a:off x="6248400" y="525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4" name="Line 16"/>
          <p:cNvSpPr>
            <a:spLocks noChangeShapeType="1"/>
          </p:cNvSpPr>
          <p:nvPr/>
        </p:nvSpPr>
        <p:spPr bwMode="auto">
          <a:xfrm flipV="1">
            <a:off x="47244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5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7600950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/>
              <a:t>While data[too_big_index] &lt;= data[pivot]</a:t>
            </a:r>
          </a:p>
          <a:p>
            <a:pPr lvl="1"/>
            <a:r>
              <a:rPr lang="en-US" altLang="en-US"/>
              <a:t>	++too_big_index</a:t>
            </a:r>
          </a:p>
          <a:p>
            <a:pPr>
              <a:buFontTx/>
              <a:buAutoNum type="arabicPeriod"/>
            </a:pPr>
            <a:r>
              <a:rPr lang="en-US" altLang="en-US"/>
              <a:t>While data[too_small_index] &gt; data[pivot]</a:t>
            </a:r>
          </a:p>
          <a:p>
            <a:pPr lvl="1"/>
            <a:r>
              <a:rPr lang="en-US" altLang="en-US"/>
              <a:t>	--too_small_index</a:t>
            </a:r>
          </a:p>
          <a:p>
            <a:pPr>
              <a:buFontTx/>
              <a:buAutoNum type="arabicPeriod"/>
            </a:pPr>
            <a:r>
              <a:rPr lang="en-US" altLang="en-US"/>
              <a:t>If too_big_index &lt; too_small_index</a:t>
            </a:r>
          </a:p>
          <a:p>
            <a:pPr lvl="1"/>
            <a:r>
              <a:rPr lang="en-US" altLang="en-US"/>
              <a:t>	swap data[too_big_index] and data[too_small_index]</a:t>
            </a:r>
          </a:p>
          <a:p>
            <a:pPr>
              <a:buFontTx/>
              <a:buAutoNum type="arabicPeriod"/>
            </a:pPr>
            <a:r>
              <a:rPr lang="en-US" altLang="en-US"/>
              <a:t>While too_small_index &gt; too_big_index, go to 1.</a:t>
            </a:r>
          </a:p>
          <a:p>
            <a:endParaRPr lang="en-US" altLang="en-US"/>
          </a:p>
          <a:p>
            <a:pPr lvl="1">
              <a:buFontTx/>
              <a:buAutoNum type="arabicPeriod"/>
            </a:pPr>
            <a:endParaRPr lang="en-US" altLang="en-US"/>
          </a:p>
          <a:p>
            <a:endParaRPr lang="en-US" altLang="en-US"/>
          </a:p>
        </p:txBody>
      </p:sp>
      <p:sp>
        <p:nvSpPr>
          <p:cNvPr id="22546" name="Line 18"/>
          <p:cNvSpPr>
            <a:spLocks noChangeShapeType="1"/>
          </p:cNvSpPr>
          <p:nvPr/>
        </p:nvSpPr>
        <p:spPr bwMode="auto">
          <a:xfrm>
            <a:off x="609600" y="1905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40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20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30</a:t>
            </a:r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/>
              <a:t>60</a:t>
            </a:r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/>
              <a:t>7</a:t>
            </a:r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80</a:t>
            </a:r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100</a:t>
            </a:r>
          </a:p>
        </p:txBody>
      </p:sp>
      <p:sp>
        <p:nvSpPr>
          <p:cNvPr id="23563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23564" name="Text Box 12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23565" name="Text Box 13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23566" name="Text Box 14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  <p:sp>
        <p:nvSpPr>
          <p:cNvPr id="23567" name="Line 15"/>
          <p:cNvSpPr>
            <a:spLocks noChangeShapeType="1"/>
          </p:cNvSpPr>
          <p:nvPr/>
        </p:nvSpPr>
        <p:spPr bwMode="auto">
          <a:xfrm flipH="1" flipV="1">
            <a:off x="6248400" y="525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8" name="Line 16"/>
          <p:cNvSpPr>
            <a:spLocks noChangeShapeType="1"/>
          </p:cNvSpPr>
          <p:nvPr/>
        </p:nvSpPr>
        <p:spPr bwMode="auto">
          <a:xfrm flipV="1">
            <a:off x="47244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9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7600950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/>
              <a:t>While data[too_big_index] &lt;= data[pivot]</a:t>
            </a:r>
          </a:p>
          <a:p>
            <a:pPr lvl="1"/>
            <a:r>
              <a:rPr lang="en-US" altLang="en-US"/>
              <a:t>	++too_big_index</a:t>
            </a:r>
          </a:p>
          <a:p>
            <a:pPr>
              <a:buFontTx/>
              <a:buAutoNum type="arabicPeriod"/>
            </a:pPr>
            <a:r>
              <a:rPr lang="en-US" altLang="en-US"/>
              <a:t>While data[too_small_index] &gt; data[pivot]</a:t>
            </a:r>
          </a:p>
          <a:p>
            <a:pPr lvl="1"/>
            <a:r>
              <a:rPr lang="en-US" altLang="en-US"/>
              <a:t>	--too_small_index</a:t>
            </a:r>
          </a:p>
          <a:p>
            <a:pPr>
              <a:buFontTx/>
              <a:buAutoNum type="arabicPeriod"/>
            </a:pPr>
            <a:r>
              <a:rPr lang="en-US" altLang="en-US"/>
              <a:t>If too_big_index &lt; too_small_index</a:t>
            </a:r>
          </a:p>
          <a:p>
            <a:pPr lvl="1"/>
            <a:r>
              <a:rPr lang="en-US" altLang="en-US"/>
              <a:t>	swap data[too_big_index] and data[too_small_index]</a:t>
            </a:r>
          </a:p>
          <a:p>
            <a:pPr>
              <a:buFontTx/>
              <a:buAutoNum type="arabicPeriod"/>
            </a:pPr>
            <a:r>
              <a:rPr lang="en-US" altLang="en-US"/>
              <a:t>While too_small_index &gt; too_big_index, go to 1.</a:t>
            </a:r>
          </a:p>
          <a:p>
            <a:endParaRPr lang="en-US" altLang="en-US"/>
          </a:p>
          <a:p>
            <a:pPr lvl="1">
              <a:buFontTx/>
              <a:buAutoNum type="arabicPeriod"/>
            </a:pPr>
            <a:endParaRPr lang="en-US" altLang="en-US"/>
          </a:p>
          <a:p>
            <a:endParaRPr lang="en-US" altLang="en-US"/>
          </a:p>
        </p:txBody>
      </p:sp>
      <p:sp>
        <p:nvSpPr>
          <p:cNvPr id="23570" name="Line 18"/>
          <p:cNvSpPr>
            <a:spLocks noChangeShapeType="1"/>
          </p:cNvSpPr>
          <p:nvPr/>
        </p:nvSpPr>
        <p:spPr bwMode="auto">
          <a:xfrm>
            <a:off x="609600" y="25908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1" name="Freeform 19"/>
          <p:cNvSpPr>
            <a:spLocks/>
          </p:cNvSpPr>
          <p:nvPr/>
        </p:nvSpPr>
        <p:spPr bwMode="auto">
          <a:xfrm>
            <a:off x="4953000" y="3733800"/>
            <a:ext cx="1219200" cy="457200"/>
          </a:xfrm>
          <a:custGeom>
            <a:avLst/>
            <a:gdLst>
              <a:gd name="T0" fmla="*/ 0 w 1592"/>
              <a:gd name="T1" fmla="*/ 560 h 560"/>
              <a:gd name="T2" fmla="*/ 384 w 1592"/>
              <a:gd name="T3" fmla="*/ 80 h 560"/>
              <a:gd name="T4" fmla="*/ 1392 w 1592"/>
              <a:gd name="T5" fmla="*/ 80 h 560"/>
              <a:gd name="T6" fmla="*/ 1584 w 1592"/>
              <a:gd name="T7" fmla="*/ 56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92" h="560">
                <a:moveTo>
                  <a:pt x="0" y="560"/>
                </a:moveTo>
                <a:cubicBezTo>
                  <a:pt x="76" y="360"/>
                  <a:pt x="152" y="160"/>
                  <a:pt x="384" y="80"/>
                </a:cubicBezTo>
                <a:cubicBezTo>
                  <a:pt x="616" y="0"/>
                  <a:pt x="1192" y="0"/>
                  <a:pt x="1392" y="80"/>
                </a:cubicBezTo>
                <a:cubicBezTo>
                  <a:pt x="1592" y="160"/>
                  <a:pt x="1588" y="360"/>
                  <a:pt x="1584" y="560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3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7600950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/>
              <a:t>While data[too_big_index] &lt;= data[pivot]</a:t>
            </a:r>
          </a:p>
          <a:p>
            <a:pPr lvl="1"/>
            <a:r>
              <a:rPr lang="en-US" altLang="en-US"/>
              <a:t>	++too_big_index</a:t>
            </a:r>
          </a:p>
          <a:p>
            <a:pPr>
              <a:buFontTx/>
              <a:buAutoNum type="arabicPeriod"/>
            </a:pPr>
            <a:r>
              <a:rPr lang="en-US" altLang="en-US"/>
              <a:t>While data[too_small_index] &gt; data[pivot]</a:t>
            </a:r>
          </a:p>
          <a:p>
            <a:pPr lvl="1"/>
            <a:r>
              <a:rPr lang="en-US" altLang="en-US"/>
              <a:t>	--too_small_index</a:t>
            </a:r>
          </a:p>
          <a:p>
            <a:pPr>
              <a:buFontTx/>
              <a:buAutoNum type="arabicPeriod"/>
            </a:pPr>
            <a:r>
              <a:rPr lang="en-US" altLang="en-US"/>
              <a:t>If too_big_index &lt; too_small_index</a:t>
            </a:r>
          </a:p>
          <a:p>
            <a:pPr lvl="1"/>
            <a:r>
              <a:rPr lang="en-US" altLang="en-US"/>
              <a:t>	swap data[too_big_index] and data[too_small_index]</a:t>
            </a:r>
          </a:p>
          <a:p>
            <a:pPr>
              <a:buFontTx/>
              <a:buAutoNum type="arabicPeriod"/>
            </a:pPr>
            <a:r>
              <a:rPr lang="en-US" altLang="en-US"/>
              <a:t>While too_small_index &gt; too_big_index, go to 1.</a:t>
            </a:r>
          </a:p>
          <a:p>
            <a:endParaRPr lang="en-US" altLang="en-US"/>
          </a:p>
          <a:p>
            <a:pPr lvl="1">
              <a:buFontTx/>
              <a:buAutoNum type="arabicPeriod"/>
            </a:pPr>
            <a:endParaRPr lang="en-US" altLang="en-US"/>
          </a:p>
          <a:p>
            <a:endParaRPr lang="en-US" altLang="en-US"/>
          </a:p>
        </p:txBody>
      </p:sp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40</a:t>
            </a: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20</a:t>
            </a: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30</a:t>
            </a:r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/>
              <a:t>7</a:t>
            </a: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24584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60</a:t>
            </a:r>
          </a:p>
        </p:txBody>
      </p:sp>
      <p:sp>
        <p:nvSpPr>
          <p:cNvPr id="24585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80</a:t>
            </a:r>
          </a:p>
        </p:txBody>
      </p:sp>
      <p:sp>
        <p:nvSpPr>
          <p:cNvPr id="24586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100</a:t>
            </a:r>
          </a:p>
        </p:txBody>
      </p:sp>
      <p:sp>
        <p:nvSpPr>
          <p:cNvPr id="24587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24588" name="Text Box 12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24589" name="Text Box 13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24590" name="Text Box 14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  <p:sp>
        <p:nvSpPr>
          <p:cNvPr id="24591" name="Line 15"/>
          <p:cNvSpPr>
            <a:spLocks noChangeShapeType="1"/>
          </p:cNvSpPr>
          <p:nvPr/>
        </p:nvSpPr>
        <p:spPr bwMode="auto">
          <a:xfrm flipH="1" flipV="1">
            <a:off x="6248400" y="525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2" name="Line 16"/>
          <p:cNvSpPr>
            <a:spLocks noChangeShapeType="1"/>
          </p:cNvSpPr>
          <p:nvPr/>
        </p:nvSpPr>
        <p:spPr bwMode="auto">
          <a:xfrm flipV="1">
            <a:off x="47244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4" name="Line 18"/>
          <p:cNvSpPr>
            <a:spLocks noChangeShapeType="1"/>
          </p:cNvSpPr>
          <p:nvPr/>
        </p:nvSpPr>
        <p:spPr bwMode="auto">
          <a:xfrm>
            <a:off x="609600" y="25908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5" name="Freeform 19"/>
          <p:cNvSpPr>
            <a:spLocks/>
          </p:cNvSpPr>
          <p:nvPr/>
        </p:nvSpPr>
        <p:spPr bwMode="auto">
          <a:xfrm>
            <a:off x="4953000" y="3733800"/>
            <a:ext cx="1219200" cy="457200"/>
          </a:xfrm>
          <a:custGeom>
            <a:avLst/>
            <a:gdLst>
              <a:gd name="T0" fmla="*/ 0 w 1592"/>
              <a:gd name="T1" fmla="*/ 560 h 560"/>
              <a:gd name="T2" fmla="*/ 384 w 1592"/>
              <a:gd name="T3" fmla="*/ 80 h 560"/>
              <a:gd name="T4" fmla="*/ 1392 w 1592"/>
              <a:gd name="T5" fmla="*/ 80 h 560"/>
              <a:gd name="T6" fmla="*/ 1584 w 1592"/>
              <a:gd name="T7" fmla="*/ 56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92" h="560">
                <a:moveTo>
                  <a:pt x="0" y="560"/>
                </a:moveTo>
                <a:cubicBezTo>
                  <a:pt x="76" y="360"/>
                  <a:pt x="152" y="160"/>
                  <a:pt x="384" y="80"/>
                </a:cubicBezTo>
                <a:cubicBezTo>
                  <a:pt x="616" y="0"/>
                  <a:pt x="1192" y="0"/>
                  <a:pt x="1392" y="80"/>
                </a:cubicBezTo>
                <a:cubicBezTo>
                  <a:pt x="1592" y="160"/>
                  <a:pt x="1588" y="360"/>
                  <a:pt x="1584" y="560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7600950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/>
              <a:t>While data[too_big_index] &lt;= data[pivot]</a:t>
            </a:r>
          </a:p>
          <a:p>
            <a:pPr lvl="1"/>
            <a:r>
              <a:rPr lang="en-US" altLang="en-US"/>
              <a:t>	++too_big_index</a:t>
            </a:r>
          </a:p>
          <a:p>
            <a:pPr>
              <a:buFontTx/>
              <a:buAutoNum type="arabicPeriod"/>
            </a:pPr>
            <a:r>
              <a:rPr lang="en-US" altLang="en-US"/>
              <a:t>While data[too_small_index] &gt; data[pivot]</a:t>
            </a:r>
          </a:p>
          <a:p>
            <a:pPr lvl="1"/>
            <a:r>
              <a:rPr lang="en-US" altLang="en-US"/>
              <a:t>	--too_small_index</a:t>
            </a:r>
          </a:p>
          <a:p>
            <a:pPr>
              <a:buFontTx/>
              <a:buAutoNum type="arabicPeriod"/>
            </a:pPr>
            <a:r>
              <a:rPr lang="en-US" altLang="en-US"/>
              <a:t>If too_big_index &lt; too_small_index</a:t>
            </a:r>
          </a:p>
          <a:p>
            <a:pPr lvl="1"/>
            <a:r>
              <a:rPr lang="en-US" altLang="en-US"/>
              <a:t>	swap data[too_big_index] and data[too_small_index]</a:t>
            </a:r>
          </a:p>
          <a:p>
            <a:pPr>
              <a:buFontTx/>
              <a:buAutoNum type="arabicPeriod"/>
            </a:pPr>
            <a:r>
              <a:rPr lang="en-US" altLang="en-US"/>
              <a:t>While too_small_index &gt; too_big_index, go to 1.</a:t>
            </a:r>
          </a:p>
          <a:p>
            <a:endParaRPr lang="en-US" altLang="en-US"/>
          </a:p>
          <a:p>
            <a:pPr lvl="1">
              <a:buFontTx/>
              <a:buAutoNum type="arabicPeriod"/>
            </a:pPr>
            <a:endParaRPr lang="en-US" altLang="en-US"/>
          </a:p>
          <a:p>
            <a:endParaRPr lang="en-US" altLang="en-US"/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40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20</a:t>
            </a: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30</a:t>
            </a:r>
          </a:p>
        </p:txBody>
      </p:sp>
      <p:sp>
        <p:nvSpPr>
          <p:cNvPr id="25607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/>
              <a:t>7</a:t>
            </a:r>
          </a:p>
        </p:txBody>
      </p:sp>
      <p:sp>
        <p:nvSpPr>
          <p:cNvPr id="25608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25609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/>
              <a:t>60</a:t>
            </a:r>
          </a:p>
        </p:txBody>
      </p:sp>
      <p:sp>
        <p:nvSpPr>
          <p:cNvPr id="25610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80</a:t>
            </a:r>
          </a:p>
        </p:txBody>
      </p:sp>
      <p:sp>
        <p:nvSpPr>
          <p:cNvPr id="25611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100</a:t>
            </a:r>
          </a:p>
        </p:txBody>
      </p:sp>
      <p:sp>
        <p:nvSpPr>
          <p:cNvPr id="25612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25613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25614" name="Text Box 14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25615" name="Text Box 15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  <p:sp>
        <p:nvSpPr>
          <p:cNvPr id="25616" name="Line 16"/>
          <p:cNvSpPr>
            <a:spLocks noChangeShapeType="1"/>
          </p:cNvSpPr>
          <p:nvPr/>
        </p:nvSpPr>
        <p:spPr bwMode="auto">
          <a:xfrm flipH="1" flipV="1">
            <a:off x="6248400" y="525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7" name="Line 17"/>
          <p:cNvSpPr>
            <a:spLocks noChangeShapeType="1"/>
          </p:cNvSpPr>
          <p:nvPr/>
        </p:nvSpPr>
        <p:spPr bwMode="auto">
          <a:xfrm flipV="1">
            <a:off x="47244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8" name="Line 18"/>
          <p:cNvSpPr>
            <a:spLocks noChangeShapeType="1"/>
          </p:cNvSpPr>
          <p:nvPr/>
        </p:nvSpPr>
        <p:spPr bwMode="auto">
          <a:xfrm>
            <a:off x="609600" y="33528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7600950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/>
              <a:t>While data[too_big_index] &lt;= data[pivot]</a:t>
            </a:r>
          </a:p>
          <a:p>
            <a:pPr lvl="1"/>
            <a:r>
              <a:rPr lang="en-US" altLang="en-US"/>
              <a:t>	++too_big_index</a:t>
            </a:r>
          </a:p>
          <a:p>
            <a:pPr>
              <a:buFontTx/>
              <a:buAutoNum type="arabicPeriod"/>
            </a:pPr>
            <a:r>
              <a:rPr lang="en-US" altLang="en-US"/>
              <a:t>While data[too_small_index] &gt; data[pivot]</a:t>
            </a:r>
          </a:p>
          <a:p>
            <a:pPr lvl="1"/>
            <a:r>
              <a:rPr lang="en-US" altLang="en-US"/>
              <a:t>	--too_small_index</a:t>
            </a:r>
          </a:p>
          <a:p>
            <a:pPr>
              <a:buFontTx/>
              <a:buAutoNum type="arabicPeriod"/>
            </a:pPr>
            <a:r>
              <a:rPr lang="en-US" altLang="en-US"/>
              <a:t>If too_big_index &lt; too_small_index</a:t>
            </a:r>
          </a:p>
          <a:p>
            <a:pPr lvl="1"/>
            <a:r>
              <a:rPr lang="en-US" altLang="en-US"/>
              <a:t>	swap data[too_big_index] and data[too_small_index]</a:t>
            </a:r>
          </a:p>
          <a:p>
            <a:pPr>
              <a:buFontTx/>
              <a:buAutoNum type="arabicPeriod"/>
            </a:pPr>
            <a:r>
              <a:rPr lang="en-US" altLang="en-US"/>
              <a:t>While too_small_index &gt; too_big_index, go to 1.</a:t>
            </a:r>
          </a:p>
          <a:p>
            <a:endParaRPr lang="en-US" altLang="en-US"/>
          </a:p>
          <a:p>
            <a:pPr lvl="1">
              <a:buFontTx/>
              <a:buAutoNum type="arabicPeriod"/>
            </a:pPr>
            <a:endParaRPr lang="en-US" altLang="en-US"/>
          </a:p>
          <a:p>
            <a:endParaRPr lang="en-US" altLang="en-US"/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40</a:t>
            </a:r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20</a:t>
            </a: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30</a:t>
            </a:r>
          </a:p>
        </p:txBody>
      </p:sp>
      <p:sp>
        <p:nvSpPr>
          <p:cNvPr id="26631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/>
              <a:t>7</a:t>
            </a:r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26633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/>
              <a:t>60</a:t>
            </a:r>
          </a:p>
        </p:txBody>
      </p:sp>
      <p:sp>
        <p:nvSpPr>
          <p:cNvPr id="26634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80</a:t>
            </a:r>
          </a:p>
        </p:txBody>
      </p:sp>
      <p:sp>
        <p:nvSpPr>
          <p:cNvPr id="26635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100</a:t>
            </a:r>
          </a:p>
        </p:txBody>
      </p:sp>
      <p:sp>
        <p:nvSpPr>
          <p:cNvPr id="26636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26637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26638" name="Text Box 14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26639" name="Text Box 15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  <p:sp>
        <p:nvSpPr>
          <p:cNvPr id="26640" name="Line 16"/>
          <p:cNvSpPr>
            <a:spLocks noChangeShapeType="1"/>
          </p:cNvSpPr>
          <p:nvPr/>
        </p:nvSpPr>
        <p:spPr bwMode="auto">
          <a:xfrm flipH="1" flipV="1">
            <a:off x="6248400" y="525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41" name="Line 17"/>
          <p:cNvSpPr>
            <a:spLocks noChangeShapeType="1"/>
          </p:cNvSpPr>
          <p:nvPr/>
        </p:nvSpPr>
        <p:spPr bwMode="auto">
          <a:xfrm flipV="1">
            <a:off x="47244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42" name="Line 18"/>
          <p:cNvSpPr>
            <a:spLocks noChangeShapeType="1"/>
          </p:cNvSpPr>
          <p:nvPr/>
        </p:nvSpPr>
        <p:spPr bwMode="auto">
          <a:xfrm>
            <a:off x="609600" y="1143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7600950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/>
              <a:t>While data[too_big_index] &lt;= data[pivot]</a:t>
            </a:r>
          </a:p>
          <a:p>
            <a:pPr lvl="1"/>
            <a:r>
              <a:rPr lang="en-US" altLang="en-US"/>
              <a:t>	++too_big_index</a:t>
            </a:r>
          </a:p>
          <a:p>
            <a:pPr>
              <a:buFontTx/>
              <a:buAutoNum type="arabicPeriod"/>
            </a:pPr>
            <a:r>
              <a:rPr lang="en-US" altLang="en-US"/>
              <a:t>While data[too_small_index] &gt; data[pivot]</a:t>
            </a:r>
          </a:p>
          <a:p>
            <a:pPr lvl="1"/>
            <a:r>
              <a:rPr lang="en-US" altLang="en-US"/>
              <a:t>	--too_small_index</a:t>
            </a:r>
          </a:p>
          <a:p>
            <a:pPr>
              <a:buFontTx/>
              <a:buAutoNum type="arabicPeriod"/>
            </a:pPr>
            <a:r>
              <a:rPr lang="en-US" altLang="en-US"/>
              <a:t>If too_big_index &lt; too_small_index</a:t>
            </a:r>
          </a:p>
          <a:p>
            <a:pPr lvl="1"/>
            <a:r>
              <a:rPr lang="en-US" altLang="en-US"/>
              <a:t>	swap data[too_big_index] and data[too_small_index]</a:t>
            </a:r>
          </a:p>
          <a:p>
            <a:pPr>
              <a:buFontTx/>
              <a:buAutoNum type="arabicPeriod"/>
            </a:pPr>
            <a:r>
              <a:rPr lang="en-US" altLang="en-US"/>
              <a:t>While too_small_index &gt; too_big_index, go to 1.</a:t>
            </a:r>
          </a:p>
          <a:p>
            <a:endParaRPr lang="en-US" altLang="en-US"/>
          </a:p>
          <a:p>
            <a:pPr lvl="1">
              <a:buFontTx/>
              <a:buAutoNum type="arabicPeriod"/>
            </a:pPr>
            <a:endParaRPr lang="en-US" altLang="en-US"/>
          </a:p>
          <a:p>
            <a:endParaRPr lang="en-US" altLang="en-US"/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40</a:t>
            </a: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20</a:t>
            </a: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30</a:t>
            </a:r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7</a:t>
            </a:r>
          </a:p>
        </p:txBody>
      </p:sp>
      <p:sp>
        <p:nvSpPr>
          <p:cNvPr id="27656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50</a:t>
            </a:r>
          </a:p>
        </p:txBody>
      </p:sp>
      <p:sp>
        <p:nvSpPr>
          <p:cNvPr id="27657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/>
              <a:t>60</a:t>
            </a:r>
          </a:p>
        </p:txBody>
      </p:sp>
      <p:sp>
        <p:nvSpPr>
          <p:cNvPr id="27658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80</a:t>
            </a:r>
          </a:p>
        </p:txBody>
      </p:sp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100</a:t>
            </a:r>
          </a:p>
        </p:txBody>
      </p:sp>
      <p:sp>
        <p:nvSpPr>
          <p:cNvPr id="27660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27661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27662" name="Text Box 14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27663" name="Text Box 15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  <p:sp>
        <p:nvSpPr>
          <p:cNvPr id="27664" name="Line 16"/>
          <p:cNvSpPr>
            <a:spLocks noChangeShapeType="1"/>
          </p:cNvSpPr>
          <p:nvPr/>
        </p:nvSpPr>
        <p:spPr bwMode="auto">
          <a:xfrm flipH="1" flipV="1">
            <a:off x="6248400" y="525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5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6" name="Line 18"/>
          <p:cNvSpPr>
            <a:spLocks noChangeShapeType="1"/>
          </p:cNvSpPr>
          <p:nvPr/>
        </p:nvSpPr>
        <p:spPr bwMode="auto">
          <a:xfrm>
            <a:off x="609600" y="1143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7600950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/>
              <a:t>While data[too_big_index] &lt;= data[pivot]</a:t>
            </a:r>
          </a:p>
          <a:p>
            <a:pPr lvl="1"/>
            <a:r>
              <a:rPr lang="en-US" altLang="en-US"/>
              <a:t>	++too_big_index</a:t>
            </a:r>
          </a:p>
          <a:p>
            <a:pPr>
              <a:buFontTx/>
              <a:buAutoNum type="arabicPeriod"/>
            </a:pPr>
            <a:r>
              <a:rPr lang="en-US" altLang="en-US"/>
              <a:t>While data[too_small_index] &gt; data[pivot]</a:t>
            </a:r>
          </a:p>
          <a:p>
            <a:pPr lvl="1"/>
            <a:r>
              <a:rPr lang="en-US" altLang="en-US"/>
              <a:t>	--too_small_index</a:t>
            </a:r>
          </a:p>
          <a:p>
            <a:pPr>
              <a:buFontTx/>
              <a:buAutoNum type="arabicPeriod"/>
            </a:pPr>
            <a:r>
              <a:rPr lang="en-US" altLang="en-US"/>
              <a:t>If too_big_index &lt; too_small_index</a:t>
            </a:r>
          </a:p>
          <a:p>
            <a:pPr lvl="1"/>
            <a:r>
              <a:rPr lang="en-US" altLang="en-US"/>
              <a:t>	swap data[too_big_index] and data[too_small_index]</a:t>
            </a:r>
          </a:p>
          <a:p>
            <a:pPr>
              <a:buFontTx/>
              <a:buAutoNum type="arabicPeriod"/>
            </a:pPr>
            <a:r>
              <a:rPr lang="en-US" altLang="en-US"/>
              <a:t>While too_small_index &gt; too_big_index, go to 1.</a:t>
            </a:r>
          </a:p>
          <a:p>
            <a:endParaRPr lang="en-US" altLang="en-US"/>
          </a:p>
          <a:p>
            <a:pPr lvl="1">
              <a:buFontTx/>
              <a:buAutoNum type="arabicPeriod"/>
            </a:pPr>
            <a:endParaRPr lang="en-US" altLang="en-US"/>
          </a:p>
          <a:p>
            <a:endParaRPr lang="en-US" altLang="en-US"/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40</a:t>
            </a: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20</a:t>
            </a:r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30</a:t>
            </a:r>
          </a:p>
        </p:txBody>
      </p:sp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7</a:t>
            </a:r>
          </a:p>
        </p:txBody>
      </p:sp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29705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60</a:t>
            </a:r>
          </a:p>
        </p:txBody>
      </p:sp>
      <p:sp>
        <p:nvSpPr>
          <p:cNvPr id="29706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80</a:t>
            </a:r>
          </a:p>
        </p:txBody>
      </p:sp>
      <p:sp>
        <p:nvSpPr>
          <p:cNvPr id="29707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100</a:t>
            </a:r>
          </a:p>
        </p:txBody>
      </p:sp>
      <p:sp>
        <p:nvSpPr>
          <p:cNvPr id="29708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2970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29710" name="Text Box 14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29711" name="Text Box 15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  <p:sp>
        <p:nvSpPr>
          <p:cNvPr id="29712" name="Line 16"/>
          <p:cNvSpPr>
            <a:spLocks noChangeShapeType="1"/>
          </p:cNvSpPr>
          <p:nvPr/>
        </p:nvSpPr>
        <p:spPr bwMode="auto">
          <a:xfrm flipH="1" flipV="1">
            <a:off x="6248400" y="525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3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4" name="Line 18"/>
          <p:cNvSpPr>
            <a:spLocks noChangeShapeType="1"/>
          </p:cNvSpPr>
          <p:nvPr/>
        </p:nvSpPr>
        <p:spPr bwMode="auto">
          <a:xfrm>
            <a:off x="609600" y="1905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7600950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/>
              <a:t>While data[too_big_index] &lt;= data[pivot]</a:t>
            </a:r>
          </a:p>
          <a:p>
            <a:pPr lvl="1"/>
            <a:r>
              <a:rPr lang="en-US" altLang="en-US"/>
              <a:t>	++too_big_index</a:t>
            </a:r>
          </a:p>
          <a:p>
            <a:pPr>
              <a:buFontTx/>
              <a:buAutoNum type="arabicPeriod"/>
            </a:pPr>
            <a:r>
              <a:rPr lang="en-US" altLang="en-US"/>
              <a:t>While data[too_small_index] &gt; data[pivot]</a:t>
            </a:r>
          </a:p>
          <a:p>
            <a:pPr lvl="1"/>
            <a:r>
              <a:rPr lang="en-US" altLang="en-US"/>
              <a:t>	--too_small_index</a:t>
            </a:r>
          </a:p>
          <a:p>
            <a:pPr>
              <a:buFontTx/>
              <a:buAutoNum type="arabicPeriod"/>
            </a:pPr>
            <a:r>
              <a:rPr lang="en-US" altLang="en-US"/>
              <a:t>If too_big_index &lt; too_small_index</a:t>
            </a:r>
          </a:p>
          <a:p>
            <a:pPr lvl="1"/>
            <a:r>
              <a:rPr lang="en-US" altLang="en-US"/>
              <a:t>	swap data[too_big_index] and data[too_small_index]</a:t>
            </a:r>
          </a:p>
          <a:p>
            <a:pPr>
              <a:buFontTx/>
              <a:buAutoNum type="arabicPeriod"/>
            </a:pPr>
            <a:r>
              <a:rPr lang="en-US" altLang="en-US"/>
              <a:t>While too_small_index &gt; too_big_index, go to 1.</a:t>
            </a:r>
          </a:p>
          <a:p>
            <a:endParaRPr lang="en-US" altLang="en-US"/>
          </a:p>
          <a:p>
            <a:pPr lvl="1">
              <a:buFontTx/>
              <a:buAutoNum type="arabicPeriod"/>
            </a:pPr>
            <a:endParaRPr lang="en-US" altLang="en-US"/>
          </a:p>
          <a:p>
            <a:endParaRPr lang="en-US" altLang="en-US"/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40</a:t>
            </a: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20</a:t>
            </a: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30</a:t>
            </a:r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7</a:t>
            </a:r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50</a:t>
            </a:r>
          </a:p>
        </p:txBody>
      </p:sp>
      <p:sp>
        <p:nvSpPr>
          <p:cNvPr id="28681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60</a:t>
            </a:r>
          </a:p>
        </p:txBody>
      </p:sp>
      <p:sp>
        <p:nvSpPr>
          <p:cNvPr id="28682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80</a:t>
            </a:r>
          </a:p>
        </p:txBody>
      </p:sp>
      <p:sp>
        <p:nvSpPr>
          <p:cNvPr id="28683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100</a:t>
            </a:r>
          </a:p>
        </p:txBody>
      </p:sp>
      <p:sp>
        <p:nvSpPr>
          <p:cNvPr id="28684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28685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28686" name="Text Box 14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28687" name="Text Box 15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  <p:sp>
        <p:nvSpPr>
          <p:cNvPr id="28688" name="Line 16"/>
          <p:cNvSpPr>
            <a:spLocks noChangeShapeType="1"/>
          </p:cNvSpPr>
          <p:nvPr/>
        </p:nvSpPr>
        <p:spPr bwMode="auto">
          <a:xfrm flipH="1" flipV="1">
            <a:off x="5638800" y="5257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9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0" name="Line 18"/>
          <p:cNvSpPr>
            <a:spLocks noChangeShapeType="1"/>
          </p:cNvSpPr>
          <p:nvPr/>
        </p:nvSpPr>
        <p:spPr bwMode="auto">
          <a:xfrm>
            <a:off x="609600" y="1905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7600950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/>
              <a:t>While data[too_big_index] &lt;= data[pivot]</a:t>
            </a:r>
          </a:p>
          <a:p>
            <a:pPr lvl="1"/>
            <a:r>
              <a:rPr lang="en-US" altLang="en-US"/>
              <a:t>	++too_big_index</a:t>
            </a:r>
          </a:p>
          <a:p>
            <a:pPr>
              <a:buFontTx/>
              <a:buAutoNum type="arabicPeriod"/>
            </a:pPr>
            <a:r>
              <a:rPr lang="en-US" altLang="en-US"/>
              <a:t>While data[too_small_index] &gt; data[pivot]</a:t>
            </a:r>
          </a:p>
          <a:p>
            <a:pPr lvl="1"/>
            <a:r>
              <a:rPr lang="en-US" altLang="en-US"/>
              <a:t>	--too_small_index</a:t>
            </a:r>
          </a:p>
          <a:p>
            <a:pPr>
              <a:buFontTx/>
              <a:buAutoNum type="arabicPeriod"/>
            </a:pPr>
            <a:r>
              <a:rPr lang="en-US" altLang="en-US"/>
              <a:t>If too_big_index &lt; too_small_index</a:t>
            </a:r>
          </a:p>
          <a:p>
            <a:pPr lvl="1"/>
            <a:r>
              <a:rPr lang="en-US" altLang="en-US"/>
              <a:t>	swap data[too_big_index] and data[too_small_index]</a:t>
            </a:r>
          </a:p>
          <a:p>
            <a:pPr>
              <a:buFontTx/>
              <a:buAutoNum type="arabicPeriod"/>
            </a:pPr>
            <a:r>
              <a:rPr lang="en-US" altLang="en-US"/>
              <a:t>While too_small_index &gt; too_big_index, go to 1.</a:t>
            </a:r>
          </a:p>
          <a:p>
            <a:endParaRPr lang="en-US" altLang="en-US"/>
          </a:p>
          <a:p>
            <a:pPr lvl="1">
              <a:buFontTx/>
              <a:buAutoNum type="arabicPeriod"/>
            </a:pPr>
            <a:endParaRPr lang="en-US" altLang="en-US"/>
          </a:p>
          <a:p>
            <a:endParaRPr lang="en-US" altLang="en-US"/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40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20</a:t>
            </a:r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30</a:t>
            </a:r>
          </a:p>
        </p:txBody>
      </p:sp>
      <p:sp>
        <p:nvSpPr>
          <p:cNvPr id="30727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7</a:t>
            </a:r>
          </a:p>
        </p:txBody>
      </p:sp>
      <p:sp>
        <p:nvSpPr>
          <p:cNvPr id="30728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50</a:t>
            </a:r>
          </a:p>
        </p:txBody>
      </p:sp>
      <p:sp>
        <p:nvSpPr>
          <p:cNvPr id="30729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60</a:t>
            </a:r>
          </a:p>
        </p:txBody>
      </p:sp>
      <p:sp>
        <p:nvSpPr>
          <p:cNvPr id="30730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80</a:t>
            </a:r>
          </a:p>
        </p:txBody>
      </p:sp>
      <p:sp>
        <p:nvSpPr>
          <p:cNvPr id="30731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100</a:t>
            </a:r>
          </a:p>
        </p:txBody>
      </p:sp>
      <p:sp>
        <p:nvSpPr>
          <p:cNvPr id="30732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30733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30734" name="Text Box 14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30735" name="Text Box 15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  <p:sp>
        <p:nvSpPr>
          <p:cNvPr id="30736" name="Line 16"/>
          <p:cNvSpPr>
            <a:spLocks noChangeShapeType="1"/>
          </p:cNvSpPr>
          <p:nvPr/>
        </p:nvSpPr>
        <p:spPr bwMode="auto">
          <a:xfrm flipH="1" flipV="1">
            <a:off x="5029200" y="52578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7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8" name="Line 18"/>
          <p:cNvSpPr>
            <a:spLocks noChangeShapeType="1"/>
          </p:cNvSpPr>
          <p:nvPr/>
        </p:nvSpPr>
        <p:spPr bwMode="auto">
          <a:xfrm>
            <a:off x="609600" y="1905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7600950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/>
              <a:t>While data[too_big_index] &lt;= data[pivot]</a:t>
            </a:r>
          </a:p>
          <a:p>
            <a:pPr lvl="1"/>
            <a:r>
              <a:rPr lang="en-US" altLang="en-US"/>
              <a:t>	++too_big_index</a:t>
            </a:r>
          </a:p>
          <a:p>
            <a:pPr>
              <a:buFontTx/>
              <a:buAutoNum type="arabicPeriod"/>
            </a:pPr>
            <a:r>
              <a:rPr lang="en-US" altLang="en-US"/>
              <a:t>While data[too_small_index] &gt; data[pivot]</a:t>
            </a:r>
          </a:p>
          <a:p>
            <a:pPr lvl="1"/>
            <a:r>
              <a:rPr lang="en-US" altLang="en-US"/>
              <a:t>	--too_small_index</a:t>
            </a:r>
          </a:p>
          <a:p>
            <a:pPr>
              <a:buFontTx/>
              <a:buAutoNum type="arabicPeriod"/>
            </a:pPr>
            <a:r>
              <a:rPr lang="en-US" altLang="en-US"/>
              <a:t>If too_big_index &lt; too_small_index</a:t>
            </a:r>
          </a:p>
          <a:p>
            <a:pPr lvl="1"/>
            <a:r>
              <a:rPr lang="en-US" altLang="en-US"/>
              <a:t>	swap data[too_big_index] and data[too_small_index]</a:t>
            </a:r>
          </a:p>
          <a:p>
            <a:pPr>
              <a:buFontTx/>
              <a:buAutoNum type="arabicPeriod"/>
            </a:pPr>
            <a:r>
              <a:rPr lang="en-US" altLang="en-US"/>
              <a:t>While too_small_index &gt; too_big_index, go to 1.</a:t>
            </a:r>
          </a:p>
          <a:p>
            <a:endParaRPr lang="en-US" altLang="en-US"/>
          </a:p>
          <a:p>
            <a:pPr lvl="1">
              <a:buFontTx/>
              <a:buAutoNum type="arabicPeriod"/>
            </a:pPr>
            <a:endParaRPr lang="en-US" altLang="en-US"/>
          </a:p>
          <a:p>
            <a:endParaRPr lang="en-US" altLang="en-US"/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40</a:t>
            </a: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20</a:t>
            </a:r>
          </a:p>
        </p:txBody>
      </p:sp>
      <p:sp>
        <p:nvSpPr>
          <p:cNvPr id="31749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31750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30</a:t>
            </a:r>
          </a:p>
        </p:txBody>
      </p:sp>
      <p:sp>
        <p:nvSpPr>
          <p:cNvPr id="31751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/>
              <a:t>7</a:t>
            </a:r>
          </a:p>
        </p:txBody>
      </p:sp>
      <p:sp>
        <p:nvSpPr>
          <p:cNvPr id="31752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50</a:t>
            </a:r>
          </a:p>
        </p:txBody>
      </p:sp>
      <p:sp>
        <p:nvSpPr>
          <p:cNvPr id="31753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60</a:t>
            </a:r>
          </a:p>
        </p:txBody>
      </p:sp>
      <p:sp>
        <p:nvSpPr>
          <p:cNvPr id="31754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80</a:t>
            </a:r>
          </a:p>
        </p:txBody>
      </p:sp>
      <p:sp>
        <p:nvSpPr>
          <p:cNvPr id="31755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100</a:t>
            </a:r>
          </a:p>
        </p:txBody>
      </p:sp>
      <p:sp>
        <p:nvSpPr>
          <p:cNvPr id="31756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31757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31758" name="Text Box 14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31759" name="Text Box 15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  <p:sp>
        <p:nvSpPr>
          <p:cNvPr id="31760" name="Line 16"/>
          <p:cNvSpPr>
            <a:spLocks noChangeShapeType="1"/>
          </p:cNvSpPr>
          <p:nvPr/>
        </p:nvSpPr>
        <p:spPr bwMode="auto">
          <a:xfrm flipH="1" flipV="1">
            <a:off x="5029200" y="52578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1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2" name="Line 18"/>
          <p:cNvSpPr>
            <a:spLocks noChangeShapeType="1"/>
          </p:cNvSpPr>
          <p:nvPr/>
        </p:nvSpPr>
        <p:spPr bwMode="auto">
          <a:xfrm>
            <a:off x="609600" y="25908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7600950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/>
              <a:t>While data[too_big_index] &lt;= data[pivot]</a:t>
            </a:r>
          </a:p>
          <a:p>
            <a:pPr lvl="1"/>
            <a:r>
              <a:rPr lang="en-US" altLang="en-US"/>
              <a:t>	++too_big_index</a:t>
            </a:r>
          </a:p>
          <a:p>
            <a:pPr>
              <a:buFontTx/>
              <a:buAutoNum type="arabicPeriod"/>
            </a:pPr>
            <a:r>
              <a:rPr lang="en-US" altLang="en-US"/>
              <a:t>While data[too_small_index] &gt; data[pivot]</a:t>
            </a:r>
          </a:p>
          <a:p>
            <a:pPr lvl="1"/>
            <a:r>
              <a:rPr lang="en-US" altLang="en-US"/>
              <a:t>	--too_small_index</a:t>
            </a:r>
          </a:p>
          <a:p>
            <a:pPr>
              <a:buFontTx/>
              <a:buAutoNum type="arabicPeriod"/>
            </a:pPr>
            <a:r>
              <a:rPr lang="en-US" altLang="en-US"/>
              <a:t>If too_big_index &lt; too_small_index</a:t>
            </a:r>
          </a:p>
          <a:p>
            <a:pPr lvl="1"/>
            <a:r>
              <a:rPr lang="en-US" altLang="en-US"/>
              <a:t>	swap data[too_big_index] and data[too_small_index]</a:t>
            </a:r>
          </a:p>
          <a:p>
            <a:pPr>
              <a:buFontTx/>
              <a:buAutoNum type="arabicPeriod"/>
            </a:pPr>
            <a:r>
              <a:rPr lang="en-US" altLang="en-US"/>
              <a:t>While too_small_index &gt; too_big_index, go to 1.</a:t>
            </a:r>
          </a:p>
          <a:p>
            <a:endParaRPr lang="en-US" altLang="en-US"/>
          </a:p>
          <a:p>
            <a:pPr lvl="1">
              <a:buFontTx/>
              <a:buAutoNum type="arabicPeriod"/>
            </a:pPr>
            <a:endParaRPr lang="en-US" altLang="en-US"/>
          </a:p>
          <a:p>
            <a:endParaRPr lang="en-US" altLang="en-US"/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40</a:t>
            </a: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20</a:t>
            </a:r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30</a:t>
            </a:r>
          </a:p>
        </p:txBody>
      </p:sp>
      <p:sp>
        <p:nvSpPr>
          <p:cNvPr id="32775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/>
              <a:t>7</a:t>
            </a:r>
          </a:p>
        </p:txBody>
      </p:sp>
      <p:sp>
        <p:nvSpPr>
          <p:cNvPr id="32776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50</a:t>
            </a:r>
          </a:p>
        </p:txBody>
      </p:sp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60</a:t>
            </a:r>
          </a:p>
        </p:txBody>
      </p:sp>
      <p:sp>
        <p:nvSpPr>
          <p:cNvPr id="32778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80</a:t>
            </a:r>
          </a:p>
        </p:txBody>
      </p:sp>
      <p:sp>
        <p:nvSpPr>
          <p:cNvPr id="32779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100</a:t>
            </a:r>
          </a:p>
        </p:txBody>
      </p:sp>
      <p:sp>
        <p:nvSpPr>
          <p:cNvPr id="32780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32781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32782" name="Text Box 14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32783" name="Text Box 15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  <p:sp>
        <p:nvSpPr>
          <p:cNvPr id="32784" name="Line 16"/>
          <p:cNvSpPr>
            <a:spLocks noChangeShapeType="1"/>
          </p:cNvSpPr>
          <p:nvPr/>
        </p:nvSpPr>
        <p:spPr bwMode="auto">
          <a:xfrm flipH="1" flipV="1">
            <a:off x="5029200" y="52578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5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6" name="Line 18"/>
          <p:cNvSpPr>
            <a:spLocks noChangeShapeType="1"/>
          </p:cNvSpPr>
          <p:nvPr/>
        </p:nvSpPr>
        <p:spPr bwMode="auto">
          <a:xfrm>
            <a:off x="609600" y="33528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760095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/>
              <a:t>While data[too_big_index] &lt;= data[pivot]</a:t>
            </a:r>
          </a:p>
          <a:p>
            <a:pPr lvl="1"/>
            <a:r>
              <a:rPr lang="en-US" altLang="en-US"/>
              <a:t>	++too_big_index</a:t>
            </a:r>
          </a:p>
          <a:p>
            <a:pPr>
              <a:buFontTx/>
              <a:buAutoNum type="arabicPeriod"/>
            </a:pPr>
            <a:r>
              <a:rPr lang="en-US" altLang="en-US"/>
              <a:t>While data[too_small_index] &gt; data[pivot]</a:t>
            </a:r>
          </a:p>
          <a:p>
            <a:pPr lvl="1"/>
            <a:r>
              <a:rPr lang="en-US" altLang="en-US"/>
              <a:t>	--too_small_index</a:t>
            </a:r>
          </a:p>
          <a:p>
            <a:pPr>
              <a:buFontTx/>
              <a:buAutoNum type="arabicPeriod"/>
            </a:pPr>
            <a:r>
              <a:rPr lang="en-US" altLang="en-US"/>
              <a:t>If too_big_index &lt; too_small_index</a:t>
            </a:r>
          </a:p>
          <a:p>
            <a:pPr lvl="1"/>
            <a:r>
              <a:rPr lang="en-US" altLang="en-US"/>
              <a:t>	swap data[too_big_index] and data[too_small_index]</a:t>
            </a:r>
          </a:p>
          <a:p>
            <a:pPr>
              <a:buFontTx/>
              <a:buAutoNum type="arabicPeriod"/>
            </a:pPr>
            <a:r>
              <a:rPr lang="en-US" altLang="en-US"/>
              <a:t>While too_small_index &gt; too_big_index, go to 1.</a:t>
            </a:r>
          </a:p>
          <a:p>
            <a:pPr>
              <a:buFontTx/>
              <a:buAutoNum type="arabicPeriod"/>
            </a:pPr>
            <a:r>
              <a:rPr lang="en-US" altLang="en-US"/>
              <a:t>Swap data[too_small_index] and data[pivot_index]</a:t>
            </a:r>
          </a:p>
          <a:p>
            <a:endParaRPr lang="en-US" altLang="en-US"/>
          </a:p>
          <a:p>
            <a:pPr lvl="1">
              <a:buFontTx/>
              <a:buAutoNum type="arabicPeriod"/>
            </a:pPr>
            <a:endParaRPr lang="en-US" altLang="en-US"/>
          </a:p>
          <a:p>
            <a:endParaRPr lang="en-US" altLang="en-US"/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40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20</a:t>
            </a:r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30</a:t>
            </a:r>
          </a:p>
        </p:txBody>
      </p:sp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/>
              <a:t>7</a:t>
            </a:r>
          </a:p>
        </p:txBody>
      </p:sp>
      <p:sp>
        <p:nvSpPr>
          <p:cNvPr id="33800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50</a:t>
            </a:r>
          </a:p>
        </p:txBody>
      </p:sp>
      <p:sp>
        <p:nvSpPr>
          <p:cNvPr id="33801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60</a:t>
            </a:r>
          </a:p>
        </p:txBody>
      </p:sp>
      <p:sp>
        <p:nvSpPr>
          <p:cNvPr id="33802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80</a:t>
            </a:r>
          </a:p>
        </p:txBody>
      </p:sp>
      <p:sp>
        <p:nvSpPr>
          <p:cNvPr id="33803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100</a:t>
            </a:r>
          </a:p>
        </p:txBody>
      </p:sp>
      <p:sp>
        <p:nvSpPr>
          <p:cNvPr id="33804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33805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33806" name="Text Box 14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33807" name="Text Box 15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  <p:sp>
        <p:nvSpPr>
          <p:cNvPr id="33808" name="Line 16"/>
          <p:cNvSpPr>
            <a:spLocks noChangeShapeType="1"/>
          </p:cNvSpPr>
          <p:nvPr/>
        </p:nvSpPr>
        <p:spPr bwMode="auto">
          <a:xfrm flipH="1" flipV="1">
            <a:off x="5029200" y="52578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9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0" name="Line 18"/>
          <p:cNvSpPr>
            <a:spLocks noChangeShapeType="1"/>
          </p:cNvSpPr>
          <p:nvPr/>
        </p:nvSpPr>
        <p:spPr bwMode="auto">
          <a:xfrm>
            <a:off x="609600" y="37338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760095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/>
              <a:t>While data[too_big_index] &lt;= data[pivot]</a:t>
            </a:r>
          </a:p>
          <a:p>
            <a:pPr lvl="1"/>
            <a:r>
              <a:rPr lang="en-US" altLang="en-US"/>
              <a:t>	++too_big_index</a:t>
            </a:r>
          </a:p>
          <a:p>
            <a:pPr>
              <a:buFontTx/>
              <a:buAutoNum type="arabicPeriod"/>
            </a:pPr>
            <a:r>
              <a:rPr lang="en-US" altLang="en-US"/>
              <a:t>While data[too_small_index] &gt; data[pivot]</a:t>
            </a:r>
          </a:p>
          <a:p>
            <a:pPr lvl="1"/>
            <a:r>
              <a:rPr lang="en-US" altLang="en-US"/>
              <a:t>	--too_small_index</a:t>
            </a:r>
          </a:p>
          <a:p>
            <a:pPr>
              <a:buFontTx/>
              <a:buAutoNum type="arabicPeriod"/>
            </a:pPr>
            <a:r>
              <a:rPr lang="en-US" altLang="en-US"/>
              <a:t>If too_big_index &lt; too_small_index</a:t>
            </a:r>
          </a:p>
          <a:p>
            <a:pPr lvl="1"/>
            <a:r>
              <a:rPr lang="en-US" altLang="en-US"/>
              <a:t>	swap data[too_big_index] and data[too_small_index]</a:t>
            </a:r>
          </a:p>
          <a:p>
            <a:pPr>
              <a:buFontTx/>
              <a:buAutoNum type="arabicPeriod"/>
            </a:pPr>
            <a:r>
              <a:rPr lang="en-US" altLang="en-US"/>
              <a:t>While too_small_index &gt; too_big_index, go to 1.</a:t>
            </a:r>
          </a:p>
          <a:p>
            <a:pPr>
              <a:buFontTx/>
              <a:buAutoNum type="arabicPeriod"/>
            </a:pPr>
            <a:r>
              <a:rPr lang="en-US" altLang="en-US"/>
              <a:t>Swap data[too_small_index] and data[pivot_index]</a:t>
            </a:r>
          </a:p>
          <a:p>
            <a:endParaRPr lang="en-US" altLang="en-US"/>
          </a:p>
          <a:p>
            <a:pPr lvl="1">
              <a:buFontTx/>
              <a:buAutoNum type="arabicPeriod"/>
            </a:pPr>
            <a:endParaRPr lang="en-US" altLang="en-US"/>
          </a:p>
          <a:p>
            <a:endParaRPr lang="en-US" altLang="en-US"/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/>
              <a:t>7</a:t>
            </a:r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20</a:t>
            </a:r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30</a:t>
            </a:r>
          </a:p>
        </p:txBody>
      </p:sp>
      <p:sp>
        <p:nvSpPr>
          <p:cNvPr id="34823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40</a:t>
            </a:r>
          </a:p>
        </p:txBody>
      </p:sp>
      <p:sp>
        <p:nvSpPr>
          <p:cNvPr id="34824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50</a:t>
            </a:r>
          </a:p>
        </p:txBody>
      </p:sp>
      <p:sp>
        <p:nvSpPr>
          <p:cNvPr id="34825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60</a:t>
            </a:r>
          </a:p>
        </p:txBody>
      </p:sp>
      <p:sp>
        <p:nvSpPr>
          <p:cNvPr id="34826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80</a:t>
            </a:r>
          </a:p>
        </p:txBody>
      </p:sp>
      <p:sp>
        <p:nvSpPr>
          <p:cNvPr id="34827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100</a:t>
            </a:r>
          </a:p>
        </p:txBody>
      </p:sp>
      <p:sp>
        <p:nvSpPr>
          <p:cNvPr id="34828" name="Text Box 12"/>
          <p:cNvSpPr txBox="1">
            <a:spLocks noChangeArrowheads="1"/>
          </p:cNvSpPr>
          <p:nvPr/>
        </p:nvSpPr>
        <p:spPr bwMode="auto">
          <a:xfrm>
            <a:off x="381000" y="4343400"/>
            <a:ext cx="1643063" cy="376238"/>
          </a:xfrm>
          <a:prstGeom prst="rect">
            <a:avLst/>
          </a:prstGeom>
          <a:solidFill>
            <a:srgbClr val="FF3300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4</a:t>
            </a:r>
          </a:p>
        </p:txBody>
      </p:sp>
      <p:sp>
        <p:nvSpPr>
          <p:cNvPr id="3482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34830" name="Text Box 14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34831" name="Text Box 15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  <p:sp>
        <p:nvSpPr>
          <p:cNvPr id="34832" name="Line 16"/>
          <p:cNvSpPr>
            <a:spLocks noChangeShapeType="1"/>
          </p:cNvSpPr>
          <p:nvPr/>
        </p:nvSpPr>
        <p:spPr bwMode="auto">
          <a:xfrm flipH="1" flipV="1">
            <a:off x="5029200" y="52578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3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4" name="Line 18"/>
          <p:cNvSpPr>
            <a:spLocks noChangeShapeType="1"/>
          </p:cNvSpPr>
          <p:nvPr/>
        </p:nvSpPr>
        <p:spPr bwMode="auto">
          <a:xfrm>
            <a:off x="609600" y="37338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Partition Result</a:t>
            </a:r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18288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7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24384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20</a:t>
            </a:r>
          </a:p>
        </p:txBody>
      </p:sp>
      <p:sp>
        <p:nvSpPr>
          <p:cNvPr id="37893" name="Rectangle 5"/>
          <p:cNvSpPr>
            <a:spLocks noChangeArrowheads="1"/>
          </p:cNvSpPr>
          <p:nvPr/>
        </p:nvSpPr>
        <p:spPr bwMode="auto">
          <a:xfrm>
            <a:off x="30480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37894" name="Rectangle 6"/>
          <p:cNvSpPr>
            <a:spLocks noChangeArrowheads="1"/>
          </p:cNvSpPr>
          <p:nvPr/>
        </p:nvSpPr>
        <p:spPr bwMode="auto">
          <a:xfrm>
            <a:off x="36576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30</a:t>
            </a:r>
          </a:p>
        </p:txBody>
      </p:sp>
      <p:sp>
        <p:nvSpPr>
          <p:cNvPr id="37895" name="Rectangle 7"/>
          <p:cNvSpPr>
            <a:spLocks noChangeArrowheads="1"/>
          </p:cNvSpPr>
          <p:nvPr/>
        </p:nvSpPr>
        <p:spPr bwMode="auto">
          <a:xfrm>
            <a:off x="4267200" y="25908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40</a:t>
            </a:r>
          </a:p>
        </p:txBody>
      </p:sp>
      <p:sp>
        <p:nvSpPr>
          <p:cNvPr id="37896" name="Rectangle 8"/>
          <p:cNvSpPr>
            <a:spLocks noChangeArrowheads="1"/>
          </p:cNvSpPr>
          <p:nvPr/>
        </p:nvSpPr>
        <p:spPr bwMode="auto">
          <a:xfrm>
            <a:off x="48768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37897" name="Rectangle 9"/>
          <p:cNvSpPr>
            <a:spLocks noChangeArrowheads="1"/>
          </p:cNvSpPr>
          <p:nvPr/>
        </p:nvSpPr>
        <p:spPr bwMode="auto">
          <a:xfrm>
            <a:off x="54864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60</a:t>
            </a:r>
          </a:p>
        </p:txBody>
      </p:sp>
      <p:sp>
        <p:nvSpPr>
          <p:cNvPr id="37898" name="Rectangle 10"/>
          <p:cNvSpPr>
            <a:spLocks noChangeArrowheads="1"/>
          </p:cNvSpPr>
          <p:nvPr/>
        </p:nvSpPr>
        <p:spPr bwMode="auto">
          <a:xfrm>
            <a:off x="60960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80</a:t>
            </a:r>
          </a:p>
        </p:txBody>
      </p:sp>
      <p:sp>
        <p:nvSpPr>
          <p:cNvPr id="37899" name="Rectangle 11"/>
          <p:cNvSpPr>
            <a:spLocks noChangeArrowheads="1"/>
          </p:cNvSpPr>
          <p:nvPr/>
        </p:nvSpPr>
        <p:spPr bwMode="auto">
          <a:xfrm>
            <a:off x="67056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100</a:t>
            </a:r>
          </a:p>
        </p:txBody>
      </p:sp>
      <p:sp>
        <p:nvSpPr>
          <p:cNvPr id="37900" name="Text Box 12"/>
          <p:cNvSpPr txBox="1">
            <a:spLocks noChangeArrowheads="1"/>
          </p:cNvSpPr>
          <p:nvPr/>
        </p:nvSpPr>
        <p:spPr bwMode="auto">
          <a:xfrm>
            <a:off x="1873250" y="32004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37901" name="Line 13"/>
          <p:cNvSpPr>
            <a:spLocks noChangeShapeType="1"/>
          </p:cNvSpPr>
          <p:nvPr/>
        </p:nvSpPr>
        <p:spPr bwMode="auto">
          <a:xfrm>
            <a:off x="4267200" y="2590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2" name="Line 14"/>
          <p:cNvSpPr>
            <a:spLocks noChangeShapeType="1"/>
          </p:cNvSpPr>
          <p:nvPr/>
        </p:nvSpPr>
        <p:spPr bwMode="auto">
          <a:xfrm>
            <a:off x="4876800" y="2590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3" name="Line 15"/>
          <p:cNvSpPr>
            <a:spLocks noChangeShapeType="1"/>
          </p:cNvSpPr>
          <p:nvPr/>
        </p:nvSpPr>
        <p:spPr bwMode="auto">
          <a:xfrm flipH="1">
            <a:off x="2209800" y="4114800"/>
            <a:ext cx="1981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4" name="Line 16"/>
          <p:cNvSpPr>
            <a:spLocks noChangeShapeType="1"/>
          </p:cNvSpPr>
          <p:nvPr/>
        </p:nvSpPr>
        <p:spPr bwMode="auto">
          <a:xfrm>
            <a:off x="4953000" y="4114800"/>
            <a:ext cx="1752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5" name="Text Box 17"/>
          <p:cNvSpPr txBox="1">
            <a:spLocks noChangeArrowheads="1"/>
          </p:cNvSpPr>
          <p:nvPr/>
        </p:nvSpPr>
        <p:spPr bwMode="auto">
          <a:xfrm>
            <a:off x="2286000" y="4191000"/>
            <a:ext cx="1938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&lt;= data[pivot]</a:t>
            </a:r>
          </a:p>
        </p:txBody>
      </p:sp>
      <p:sp>
        <p:nvSpPr>
          <p:cNvPr id="37906" name="Text Box 18"/>
          <p:cNvSpPr txBox="1">
            <a:spLocks noChangeArrowheads="1"/>
          </p:cNvSpPr>
          <p:nvPr/>
        </p:nvSpPr>
        <p:spPr bwMode="auto">
          <a:xfrm>
            <a:off x="4953000" y="4191000"/>
            <a:ext cx="1766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&gt; data[pivot]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Recursion: Quicksort Sub-arrays</a:t>
            </a:r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18288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7</a:t>
            </a: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24384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20</a:t>
            </a: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30480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36576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30</a:t>
            </a:r>
          </a:p>
        </p:txBody>
      </p:sp>
      <p:sp>
        <p:nvSpPr>
          <p:cNvPr id="38919" name="Rectangle 7"/>
          <p:cNvSpPr>
            <a:spLocks noChangeArrowheads="1"/>
          </p:cNvSpPr>
          <p:nvPr/>
        </p:nvSpPr>
        <p:spPr bwMode="auto">
          <a:xfrm>
            <a:off x="4267200" y="25908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40</a:t>
            </a:r>
          </a:p>
        </p:txBody>
      </p:sp>
      <p:sp>
        <p:nvSpPr>
          <p:cNvPr id="38920" name="Rectangle 8"/>
          <p:cNvSpPr>
            <a:spLocks noChangeArrowheads="1"/>
          </p:cNvSpPr>
          <p:nvPr/>
        </p:nvSpPr>
        <p:spPr bwMode="auto">
          <a:xfrm>
            <a:off x="48768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38921" name="Rectangle 9"/>
          <p:cNvSpPr>
            <a:spLocks noChangeArrowheads="1"/>
          </p:cNvSpPr>
          <p:nvPr/>
        </p:nvSpPr>
        <p:spPr bwMode="auto">
          <a:xfrm>
            <a:off x="54864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60</a:t>
            </a:r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>
            <a:off x="60960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80</a:t>
            </a:r>
          </a:p>
        </p:txBody>
      </p:sp>
      <p:sp>
        <p:nvSpPr>
          <p:cNvPr id="38923" name="Rectangle 11"/>
          <p:cNvSpPr>
            <a:spLocks noChangeArrowheads="1"/>
          </p:cNvSpPr>
          <p:nvPr/>
        </p:nvSpPr>
        <p:spPr bwMode="auto">
          <a:xfrm>
            <a:off x="67056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100</a:t>
            </a:r>
          </a:p>
        </p:txBody>
      </p:sp>
      <p:sp>
        <p:nvSpPr>
          <p:cNvPr id="38924" name="Text Box 12"/>
          <p:cNvSpPr txBox="1">
            <a:spLocks noChangeArrowheads="1"/>
          </p:cNvSpPr>
          <p:nvPr/>
        </p:nvSpPr>
        <p:spPr bwMode="auto">
          <a:xfrm>
            <a:off x="1873250" y="32004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38925" name="Line 13"/>
          <p:cNvSpPr>
            <a:spLocks noChangeShapeType="1"/>
          </p:cNvSpPr>
          <p:nvPr/>
        </p:nvSpPr>
        <p:spPr bwMode="auto">
          <a:xfrm>
            <a:off x="4267200" y="2590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6" name="Line 14"/>
          <p:cNvSpPr>
            <a:spLocks noChangeShapeType="1"/>
          </p:cNvSpPr>
          <p:nvPr/>
        </p:nvSpPr>
        <p:spPr bwMode="auto">
          <a:xfrm>
            <a:off x="4876800" y="2590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7" name="Line 15"/>
          <p:cNvSpPr>
            <a:spLocks noChangeShapeType="1"/>
          </p:cNvSpPr>
          <p:nvPr/>
        </p:nvSpPr>
        <p:spPr bwMode="auto">
          <a:xfrm flipH="1">
            <a:off x="2209800" y="4114800"/>
            <a:ext cx="1981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8" name="Line 16"/>
          <p:cNvSpPr>
            <a:spLocks noChangeShapeType="1"/>
          </p:cNvSpPr>
          <p:nvPr/>
        </p:nvSpPr>
        <p:spPr bwMode="auto">
          <a:xfrm>
            <a:off x="4953000" y="4114800"/>
            <a:ext cx="1752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9" name="Text Box 17"/>
          <p:cNvSpPr txBox="1">
            <a:spLocks noChangeArrowheads="1"/>
          </p:cNvSpPr>
          <p:nvPr/>
        </p:nvSpPr>
        <p:spPr bwMode="auto">
          <a:xfrm>
            <a:off x="2286000" y="4191000"/>
            <a:ext cx="1938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&lt;= data[pivot]</a:t>
            </a:r>
          </a:p>
        </p:txBody>
      </p:sp>
      <p:sp>
        <p:nvSpPr>
          <p:cNvPr id="38930" name="Text Box 18"/>
          <p:cNvSpPr txBox="1">
            <a:spLocks noChangeArrowheads="1"/>
          </p:cNvSpPr>
          <p:nvPr/>
        </p:nvSpPr>
        <p:spPr bwMode="auto">
          <a:xfrm>
            <a:off x="4953000" y="4191000"/>
            <a:ext cx="1766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&gt; data[pivot]</a:t>
            </a:r>
          </a:p>
        </p:txBody>
      </p:sp>
      <p:sp>
        <p:nvSpPr>
          <p:cNvPr id="38933" name="AutoShape 21"/>
          <p:cNvSpPr>
            <a:spLocks/>
          </p:cNvSpPr>
          <p:nvPr/>
        </p:nvSpPr>
        <p:spPr bwMode="auto">
          <a:xfrm rot="5400000" flipV="1">
            <a:off x="3009900" y="1257300"/>
            <a:ext cx="152400" cy="2362200"/>
          </a:xfrm>
          <a:prstGeom prst="leftBrace">
            <a:avLst>
              <a:gd name="adj1" fmla="val 129167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34" name="AutoShape 22"/>
          <p:cNvSpPr>
            <a:spLocks/>
          </p:cNvSpPr>
          <p:nvPr/>
        </p:nvSpPr>
        <p:spPr bwMode="auto">
          <a:xfrm rot="5400000" flipV="1">
            <a:off x="6057900" y="1257300"/>
            <a:ext cx="152400" cy="2362200"/>
          </a:xfrm>
          <a:prstGeom prst="leftBrace">
            <a:avLst>
              <a:gd name="adj1" fmla="val 129167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Quicksort Analysis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altLang="en-US"/>
              <a:t>Assume that keys are random, uniformly distributed.</a:t>
            </a:r>
          </a:p>
          <a:p>
            <a:pPr marL="609600" indent="-609600"/>
            <a:r>
              <a:rPr lang="en-US" altLang="en-US"/>
              <a:t>What is best case running time?</a:t>
            </a:r>
          </a:p>
          <a:p>
            <a:pPr marL="990600" lvl="1" indent="-533400"/>
            <a:r>
              <a:rPr lang="en-US" altLang="en-US"/>
              <a:t>Recursion:</a:t>
            </a:r>
          </a:p>
          <a:p>
            <a:pPr marL="1371600" lvl="2" indent="-457200">
              <a:buFontTx/>
              <a:buAutoNum type="arabicPeriod"/>
            </a:pPr>
            <a:r>
              <a:rPr lang="en-US" altLang="en-US"/>
              <a:t>Partition splits array in two sub-arrays of size n/2 </a:t>
            </a:r>
          </a:p>
          <a:p>
            <a:pPr marL="1371600" lvl="2" indent="-457200">
              <a:buFontTx/>
              <a:buAutoNum type="arabicPeriod"/>
            </a:pPr>
            <a:r>
              <a:rPr lang="en-US" altLang="en-US"/>
              <a:t>Quicksort each sub-array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Quicksort Analysis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altLang="en-US"/>
              <a:t>Assume that keys are random, uniformly distributed.</a:t>
            </a:r>
          </a:p>
          <a:p>
            <a:pPr marL="609600" indent="-609600"/>
            <a:r>
              <a:rPr lang="en-US" altLang="en-US"/>
              <a:t>What is best case running time?</a:t>
            </a:r>
          </a:p>
          <a:p>
            <a:pPr marL="990600" lvl="1" indent="-533400"/>
            <a:r>
              <a:rPr lang="en-US" altLang="en-US"/>
              <a:t>Recursion:</a:t>
            </a:r>
          </a:p>
          <a:p>
            <a:pPr marL="1371600" lvl="2" indent="-457200">
              <a:buFontTx/>
              <a:buAutoNum type="arabicPeriod"/>
            </a:pPr>
            <a:r>
              <a:rPr lang="en-US" altLang="en-US"/>
              <a:t>Partition splits array in two sub-arrays of size n/2 </a:t>
            </a:r>
          </a:p>
          <a:p>
            <a:pPr marL="1371600" lvl="2" indent="-457200">
              <a:buFontTx/>
              <a:buAutoNum type="arabicPeriod"/>
            </a:pPr>
            <a:r>
              <a:rPr lang="en-US" altLang="en-US"/>
              <a:t>Quicksort each sub-array</a:t>
            </a:r>
          </a:p>
          <a:p>
            <a:pPr marL="990600" lvl="1" indent="-533400"/>
            <a:r>
              <a:rPr lang="en-US" altLang="en-US"/>
              <a:t>Depth of recursion tree? 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Quicksort Analysis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altLang="en-US"/>
              <a:t>Assume that keys are random, uniformly distributed.</a:t>
            </a:r>
          </a:p>
          <a:p>
            <a:pPr marL="609600" indent="-609600"/>
            <a:r>
              <a:rPr lang="en-US" altLang="en-US"/>
              <a:t>What is best case running time?</a:t>
            </a:r>
          </a:p>
          <a:p>
            <a:pPr marL="990600" lvl="1" indent="-533400"/>
            <a:r>
              <a:rPr lang="en-US" altLang="en-US"/>
              <a:t>Recursion:</a:t>
            </a:r>
          </a:p>
          <a:p>
            <a:pPr marL="1371600" lvl="2" indent="-457200">
              <a:buFontTx/>
              <a:buAutoNum type="arabicPeriod"/>
            </a:pPr>
            <a:r>
              <a:rPr lang="en-US" altLang="en-US"/>
              <a:t>Partition splits array in two sub-arrays of size n/2 </a:t>
            </a:r>
          </a:p>
          <a:p>
            <a:pPr marL="1371600" lvl="2" indent="-457200">
              <a:buFontTx/>
              <a:buAutoNum type="arabicPeriod"/>
            </a:pPr>
            <a:r>
              <a:rPr lang="en-US" altLang="en-US"/>
              <a:t>Quicksort each sub-array</a:t>
            </a:r>
          </a:p>
          <a:p>
            <a:pPr marL="990600" lvl="1" indent="-533400"/>
            <a:r>
              <a:rPr lang="en-US" altLang="en-US"/>
              <a:t>Depth of recursion tree? O(log</a:t>
            </a:r>
            <a:r>
              <a:rPr lang="en-US" altLang="en-US" baseline="-25000"/>
              <a:t>2</a:t>
            </a:r>
            <a:r>
              <a:rPr lang="en-US" altLang="en-US"/>
              <a:t>n)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Quicksort Analysis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altLang="en-US"/>
              <a:t>Assume that keys are random, uniformly distributed.</a:t>
            </a:r>
          </a:p>
          <a:p>
            <a:pPr marL="609600" indent="-609600"/>
            <a:r>
              <a:rPr lang="en-US" altLang="en-US"/>
              <a:t>What is best case running time?</a:t>
            </a:r>
          </a:p>
          <a:p>
            <a:pPr marL="990600" lvl="1" indent="-533400"/>
            <a:r>
              <a:rPr lang="en-US" altLang="en-US"/>
              <a:t>Recursion:</a:t>
            </a:r>
          </a:p>
          <a:p>
            <a:pPr marL="1371600" lvl="2" indent="-457200">
              <a:buFontTx/>
              <a:buAutoNum type="arabicPeriod"/>
            </a:pPr>
            <a:r>
              <a:rPr lang="en-US" altLang="en-US"/>
              <a:t>Partition splits array in two sub-arrays of size n/2 </a:t>
            </a:r>
          </a:p>
          <a:p>
            <a:pPr marL="1371600" lvl="2" indent="-457200">
              <a:buFontTx/>
              <a:buAutoNum type="arabicPeriod"/>
            </a:pPr>
            <a:r>
              <a:rPr lang="en-US" altLang="en-US"/>
              <a:t>Quicksort each sub-array</a:t>
            </a:r>
          </a:p>
          <a:p>
            <a:pPr marL="990600" lvl="1" indent="-533400"/>
            <a:r>
              <a:rPr lang="en-US" altLang="en-US"/>
              <a:t>Depth of recursion tree? O(log</a:t>
            </a:r>
            <a:r>
              <a:rPr lang="en-US" altLang="en-US" baseline="-25000"/>
              <a:t>2</a:t>
            </a:r>
            <a:r>
              <a:rPr lang="en-US" altLang="en-US"/>
              <a:t>n)</a:t>
            </a:r>
          </a:p>
          <a:p>
            <a:pPr marL="990600" lvl="1" indent="-533400"/>
            <a:r>
              <a:rPr lang="en-US" altLang="en-US"/>
              <a:t>Number of accesses in partition?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Quicksort Analysis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altLang="en-US"/>
              <a:t>Assume that keys are random, uniformly distributed.</a:t>
            </a:r>
          </a:p>
          <a:p>
            <a:pPr marL="609600" indent="-609600"/>
            <a:r>
              <a:rPr lang="en-US" altLang="en-US"/>
              <a:t>What is best case running time?</a:t>
            </a:r>
          </a:p>
          <a:p>
            <a:pPr marL="990600" lvl="1" indent="-533400"/>
            <a:r>
              <a:rPr lang="en-US" altLang="en-US"/>
              <a:t>Recursion:</a:t>
            </a:r>
          </a:p>
          <a:p>
            <a:pPr marL="1371600" lvl="2" indent="-457200">
              <a:buFontTx/>
              <a:buAutoNum type="arabicPeriod"/>
            </a:pPr>
            <a:r>
              <a:rPr lang="en-US" altLang="en-US"/>
              <a:t>Partition splits array in two sub-arrays of size n/2 </a:t>
            </a:r>
          </a:p>
          <a:p>
            <a:pPr marL="1371600" lvl="2" indent="-457200">
              <a:buFontTx/>
              <a:buAutoNum type="arabicPeriod"/>
            </a:pPr>
            <a:r>
              <a:rPr lang="en-US" altLang="en-US"/>
              <a:t>Quicksort each sub-array</a:t>
            </a:r>
          </a:p>
          <a:p>
            <a:pPr marL="990600" lvl="1" indent="-533400"/>
            <a:r>
              <a:rPr lang="en-US" altLang="en-US"/>
              <a:t>Depth of recursion tree? O(log</a:t>
            </a:r>
            <a:r>
              <a:rPr lang="en-US" altLang="en-US" baseline="-25000"/>
              <a:t>2</a:t>
            </a:r>
            <a:r>
              <a:rPr lang="en-US" altLang="en-US"/>
              <a:t>n)</a:t>
            </a:r>
          </a:p>
          <a:p>
            <a:pPr marL="990600" lvl="1" indent="-533400"/>
            <a:r>
              <a:rPr lang="en-US" altLang="en-US"/>
              <a:t>Number of accesses in partition? O(n)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Quick sort: Best case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best case of quicksort occurs when the pivot we pick happens to divide the array into </a:t>
            </a:r>
            <a:r>
              <a:rPr lang="en-US" dirty="0" smtClean="0"/>
              <a:t>two exactly </a:t>
            </a:r>
            <a:r>
              <a:rPr lang="en-US" dirty="0"/>
              <a:t>equal parts, in every step.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904583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4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343400"/>
            <a:ext cx="91440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442250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Quicksort Analysis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altLang="en-US"/>
              <a:t>Assume that keys are random, uniformly distributed.</a:t>
            </a:r>
          </a:p>
          <a:p>
            <a:pPr marL="609600" indent="-609600"/>
            <a:r>
              <a:rPr lang="en-US" altLang="en-US"/>
              <a:t>Best case running time: O(n log</a:t>
            </a:r>
            <a:r>
              <a:rPr lang="en-US" altLang="en-US" baseline="-25000"/>
              <a:t>2</a:t>
            </a:r>
            <a:r>
              <a:rPr lang="en-US" altLang="en-US"/>
              <a:t>n)</a:t>
            </a:r>
          </a:p>
          <a:p>
            <a:pPr marL="609600" indent="-609600"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Quicksort Analysis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altLang="en-US"/>
              <a:t>Assume that keys are random, uniformly distributed.</a:t>
            </a:r>
          </a:p>
          <a:p>
            <a:pPr marL="609600" indent="-609600"/>
            <a:r>
              <a:rPr lang="en-US" altLang="en-US"/>
              <a:t>Best case running time: O(n log</a:t>
            </a:r>
            <a:r>
              <a:rPr lang="en-US" altLang="en-US" baseline="-25000"/>
              <a:t>2</a:t>
            </a:r>
            <a:r>
              <a:rPr lang="en-US" altLang="en-US"/>
              <a:t>n)</a:t>
            </a:r>
          </a:p>
          <a:p>
            <a:pPr marL="609600" indent="-609600"/>
            <a:r>
              <a:rPr lang="en-US" altLang="en-US"/>
              <a:t>Worst case running time?</a:t>
            </a:r>
          </a:p>
          <a:p>
            <a:pPr marL="609600" indent="-609600"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Quicksort: Worst Case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Which </a:t>
            </a:r>
            <a:r>
              <a:rPr lang="en-US" dirty="0"/>
              <a:t>happens when the pivot we picked turns out to </a:t>
            </a:r>
            <a:r>
              <a:rPr lang="en-US" dirty="0" smtClean="0"/>
              <a:t>be the </a:t>
            </a:r>
            <a:r>
              <a:rPr lang="en-US" dirty="0">
                <a:solidFill>
                  <a:srgbClr val="FF0000"/>
                </a:solidFill>
              </a:rPr>
              <a:t>least</a:t>
            </a:r>
            <a:r>
              <a:rPr lang="en-US" dirty="0"/>
              <a:t> element of the array to be sorted, in every step (i.e. in every recursive call). </a:t>
            </a:r>
            <a:endParaRPr lang="en-US" dirty="0" smtClean="0"/>
          </a:p>
          <a:p>
            <a:r>
              <a:rPr lang="en-US" dirty="0" smtClean="0"/>
              <a:t>A similar situation </a:t>
            </a:r>
            <a:r>
              <a:rPr lang="en-US" dirty="0"/>
              <a:t>will also occur if the pivot happens to be the </a:t>
            </a:r>
            <a:r>
              <a:rPr lang="en-US" dirty="0">
                <a:solidFill>
                  <a:srgbClr val="FF0000"/>
                </a:solidFill>
              </a:rPr>
              <a:t>largest</a:t>
            </a:r>
            <a:r>
              <a:rPr lang="en-US" dirty="0"/>
              <a:t> element of the array to be sorted.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973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Quicksort: Worst Case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Assume first element is chosen as pivot.</a:t>
            </a:r>
          </a:p>
          <a:p>
            <a:r>
              <a:rPr lang="en-US" altLang="en-US"/>
              <a:t>Assume we get array that is already in order:</a:t>
            </a:r>
          </a:p>
          <a:p>
            <a:pPr>
              <a:buFontTx/>
              <a:buNone/>
            </a:pPr>
            <a:endParaRPr lang="en-US" altLang="en-US"/>
          </a:p>
        </p:txBody>
      </p:sp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2438400" y="35814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</a:t>
            </a:r>
          </a:p>
        </p:txBody>
      </p:sp>
      <p:sp>
        <p:nvSpPr>
          <p:cNvPr id="48133" name="Rectangle 5"/>
          <p:cNvSpPr>
            <a:spLocks noChangeArrowheads="1"/>
          </p:cNvSpPr>
          <p:nvPr/>
        </p:nvSpPr>
        <p:spPr bwMode="auto">
          <a:xfrm>
            <a:off x="3048000" y="35814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</a:t>
            </a:r>
          </a:p>
        </p:txBody>
      </p:sp>
      <p:sp>
        <p:nvSpPr>
          <p:cNvPr id="48134" name="Rectangle 6"/>
          <p:cNvSpPr>
            <a:spLocks noChangeArrowheads="1"/>
          </p:cNvSpPr>
          <p:nvPr/>
        </p:nvSpPr>
        <p:spPr bwMode="auto">
          <a:xfrm>
            <a:off x="3657600" y="35814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48135" name="Rectangle 7"/>
          <p:cNvSpPr>
            <a:spLocks noChangeArrowheads="1"/>
          </p:cNvSpPr>
          <p:nvPr/>
        </p:nvSpPr>
        <p:spPr bwMode="auto">
          <a:xfrm>
            <a:off x="4267200" y="35814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12</a:t>
            </a:r>
          </a:p>
        </p:txBody>
      </p:sp>
      <p:sp>
        <p:nvSpPr>
          <p:cNvPr id="48136" name="Rectangle 8"/>
          <p:cNvSpPr>
            <a:spLocks noChangeArrowheads="1"/>
          </p:cNvSpPr>
          <p:nvPr/>
        </p:nvSpPr>
        <p:spPr bwMode="auto">
          <a:xfrm>
            <a:off x="4876800" y="35814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13</a:t>
            </a:r>
          </a:p>
        </p:txBody>
      </p:sp>
      <p:sp>
        <p:nvSpPr>
          <p:cNvPr id="48137" name="Rectangle 9"/>
          <p:cNvSpPr>
            <a:spLocks noChangeArrowheads="1"/>
          </p:cNvSpPr>
          <p:nvPr/>
        </p:nvSpPr>
        <p:spPr bwMode="auto">
          <a:xfrm>
            <a:off x="5486400" y="35814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48138" name="Rectangle 10"/>
          <p:cNvSpPr>
            <a:spLocks noChangeArrowheads="1"/>
          </p:cNvSpPr>
          <p:nvPr/>
        </p:nvSpPr>
        <p:spPr bwMode="auto">
          <a:xfrm>
            <a:off x="6096000" y="35814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57</a:t>
            </a:r>
          </a:p>
        </p:txBody>
      </p:sp>
      <p:sp>
        <p:nvSpPr>
          <p:cNvPr id="48139" name="Rectangle 11"/>
          <p:cNvSpPr>
            <a:spLocks noChangeArrowheads="1"/>
          </p:cNvSpPr>
          <p:nvPr/>
        </p:nvSpPr>
        <p:spPr bwMode="auto">
          <a:xfrm>
            <a:off x="6705600" y="35814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63</a:t>
            </a:r>
          </a:p>
        </p:txBody>
      </p:sp>
      <p:sp>
        <p:nvSpPr>
          <p:cNvPr id="48140" name="Rectangle 12"/>
          <p:cNvSpPr>
            <a:spLocks noChangeArrowheads="1"/>
          </p:cNvSpPr>
          <p:nvPr/>
        </p:nvSpPr>
        <p:spPr bwMode="auto">
          <a:xfrm>
            <a:off x="7315200" y="35814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100</a:t>
            </a:r>
          </a:p>
        </p:txBody>
      </p:sp>
      <p:sp>
        <p:nvSpPr>
          <p:cNvPr id="48141" name="Text Box 13"/>
          <p:cNvSpPr txBox="1">
            <a:spLocks noChangeArrowheads="1"/>
          </p:cNvSpPr>
          <p:nvPr/>
        </p:nvSpPr>
        <p:spPr bwMode="auto">
          <a:xfrm>
            <a:off x="762000" y="36718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48142" name="Text Box 14"/>
          <p:cNvSpPr txBox="1">
            <a:spLocks noChangeArrowheads="1"/>
          </p:cNvSpPr>
          <p:nvPr/>
        </p:nvSpPr>
        <p:spPr bwMode="auto">
          <a:xfrm>
            <a:off x="2482850" y="41910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48143" name="Text Box 15"/>
          <p:cNvSpPr txBox="1">
            <a:spLocks noChangeArrowheads="1"/>
          </p:cNvSpPr>
          <p:nvPr/>
        </p:nvSpPr>
        <p:spPr bwMode="auto">
          <a:xfrm>
            <a:off x="2362200" y="49530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48144" name="Text Box 16"/>
          <p:cNvSpPr txBox="1">
            <a:spLocks noChangeArrowheads="1"/>
          </p:cNvSpPr>
          <p:nvPr/>
        </p:nvSpPr>
        <p:spPr bwMode="auto">
          <a:xfrm>
            <a:off x="6705600" y="4967288"/>
            <a:ext cx="213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  <p:sp>
        <p:nvSpPr>
          <p:cNvPr id="48145" name="Line 17"/>
          <p:cNvSpPr>
            <a:spLocks noChangeShapeType="1"/>
          </p:cNvSpPr>
          <p:nvPr/>
        </p:nvSpPr>
        <p:spPr bwMode="auto">
          <a:xfrm flipV="1">
            <a:off x="7391400" y="46482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46" name="Line 18"/>
          <p:cNvSpPr>
            <a:spLocks noChangeShapeType="1"/>
          </p:cNvSpPr>
          <p:nvPr/>
        </p:nvSpPr>
        <p:spPr bwMode="auto">
          <a:xfrm flipV="1">
            <a:off x="3124200" y="46482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760095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/>
              <a:t>While data[too_big_index] &lt;= data[pivot]</a:t>
            </a:r>
          </a:p>
          <a:p>
            <a:pPr lvl="1"/>
            <a:r>
              <a:rPr lang="en-US" altLang="en-US"/>
              <a:t>	++too_big_index</a:t>
            </a:r>
          </a:p>
          <a:p>
            <a:pPr>
              <a:buFontTx/>
              <a:buAutoNum type="arabicPeriod"/>
            </a:pPr>
            <a:r>
              <a:rPr lang="en-US" altLang="en-US"/>
              <a:t>While data[too_small_index] &gt; data[pivot]</a:t>
            </a:r>
          </a:p>
          <a:p>
            <a:pPr lvl="1"/>
            <a:r>
              <a:rPr lang="en-US" altLang="en-US"/>
              <a:t>	--too_small_index</a:t>
            </a:r>
          </a:p>
          <a:p>
            <a:pPr>
              <a:buFontTx/>
              <a:buAutoNum type="arabicPeriod"/>
            </a:pPr>
            <a:r>
              <a:rPr lang="en-US" altLang="en-US"/>
              <a:t>If too_big_index &lt; too_small_index</a:t>
            </a:r>
          </a:p>
          <a:p>
            <a:pPr lvl="1"/>
            <a:r>
              <a:rPr lang="en-US" altLang="en-US"/>
              <a:t>	swap data[too_big_index] and data[too_small_index]</a:t>
            </a:r>
          </a:p>
          <a:p>
            <a:pPr>
              <a:buFontTx/>
              <a:buAutoNum type="arabicPeriod"/>
            </a:pPr>
            <a:r>
              <a:rPr lang="en-US" altLang="en-US"/>
              <a:t>While too_small_index &gt; too_big_index, go to 1.</a:t>
            </a:r>
          </a:p>
          <a:p>
            <a:pPr>
              <a:buFontTx/>
              <a:buAutoNum type="arabicPeriod"/>
            </a:pPr>
            <a:r>
              <a:rPr lang="en-US" altLang="en-US"/>
              <a:t>Swap data[too_small_index] and data[pivot_index]</a:t>
            </a:r>
          </a:p>
          <a:p>
            <a:endParaRPr lang="en-US" altLang="en-US"/>
          </a:p>
          <a:p>
            <a:pPr lvl="1">
              <a:buFontTx/>
              <a:buAutoNum type="arabicPeriod"/>
            </a:pPr>
            <a:endParaRPr lang="en-US" altLang="en-US"/>
          </a:p>
          <a:p>
            <a:endParaRPr lang="en-US" altLang="en-US"/>
          </a:p>
        </p:txBody>
      </p:sp>
      <p:sp>
        <p:nvSpPr>
          <p:cNvPr id="49170" name="Line 18"/>
          <p:cNvSpPr>
            <a:spLocks noChangeShapeType="1"/>
          </p:cNvSpPr>
          <p:nvPr/>
        </p:nvSpPr>
        <p:spPr bwMode="auto">
          <a:xfrm>
            <a:off x="609600" y="1143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71" name="Rectangle 19"/>
          <p:cNvSpPr>
            <a:spLocks noChangeArrowheads="1"/>
          </p:cNvSpPr>
          <p:nvPr/>
        </p:nvSpPr>
        <p:spPr bwMode="auto">
          <a:xfrm>
            <a:off x="2438400" y="44196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</a:t>
            </a:r>
          </a:p>
        </p:txBody>
      </p:sp>
      <p:sp>
        <p:nvSpPr>
          <p:cNvPr id="49172" name="Rectangle 20"/>
          <p:cNvSpPr>
            <a:spLocks noChangeArrowheads="1"/>
          </p:cNvSpPr>
          <p:nvPr/>
        </p:nvSpPr>
        <p:spPr bwMode="auto">
          <a:xfrm>
            <a:off x="3048000" y="44196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/>
              <a:t>4</a:t>
            </a:r>
          </a:p>
        </p:txBody>
      </p:sp>
      <p:sp>
        <p:nvSpPr>
          <p:cNvPr id="49173" name="Rectangle 21"/>
          <p:cNvSpPr>
            <a:spLocks noChangeArrowheads="1"/>
          </p:cNvSpPr>
          <p:nvPr/>
        </p:nvSpPr>
        <p:spPr bwMode="auto">
          <a:xfrm>
            <a:off x="36576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49174" name="Rectangle 22"/>
          <p:cNvSpPr>
            <a:spLocks noChangeArrowheads="1"/>
          </p:cNvSpPr>
          <p:nvPr/>
        </p:nvSpPr>
        <p:spPr bwMode="auto">
          <a:xfrm>
            <a:off x="42672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12</a:t>
            </a:r>
          </a:p>
        </p:txBody>
      </p:sp>
      <p:sp>
        <p:nvSpPr>
          <p:cNvPr id="49175" name="Rectangle 23"/>
          <p:cNvSpPr>
            <a:spLocks noChangeArrowheads="1"/>
          </p:cNvSpPr>
          <p:nvPr/>
        </p:nvSpPr>
        <p:spPr bwMode="auto">
          <a:xfrm>
            <a:off x="48768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13</a:t>
            </a:r>
          </a:p>
        </p:txBody>
      </p:sp>
      <p:sp>
        <p:nvSpPr>
          <p:cNvPr id="49176" name="Rectangle 24"/>
          <p:cNvSpPr>
            <a:spLocks noChangeArrowheads="1"/>
          </p:cNvSpPr>
          <p:nvPr/>
        </p:nvSpPr>
        <p:spPr bwMode="auto">
          <a:xfrm>
            <a:off x="54864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49177" name="Rectangle 25"/>
          <p:cNvSpPr>
            <a:spLocks noChangeArrowheads="1"/>
          </p:cNvSpPr>
          <p:nvPr/>
        </p:nvSpPr>
        <p:spPr bwMode="auto">
          <a:xfrm>
            <a:off x="60960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57</a:t>
            </a:r>
          </a:p>
        </p:txBody>
      </p:sp>
      <p:sp>
        <p:nvSpPr>
          <p:cNvPr id="49178" name="Rectangle 26"/>
          <p:cNvSpPr>
            <a:spLocks noChangeArrowheads="1"/>
          </p:cNvSpPr>
          <p:nvPr/>
        </p:nvSpPr>
        <p:spPr bwMode="auto">
          <a:xfrm>
            <a:off x="67056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63</a:t>
            </a:r>
          </a:p>
        </p:txBody>
      </p:sp>
      <p:sp>
        <p:nvSpPr>
          <p:cNvPr id="49179" name="Rectangle 27"/>
          <p:cNvSpPr>
            <a:spLocks noChangeArrowheads="1"/>
          </p:cNvSpPr>
          <p:nvPr/>
        </p:nvSpPr>
        <p:spPr bwMode="auto">
          <a:xfrm>
            <a:off x="7315200" y="44196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100</a:t>
            </a:r>
          </a:p>
        </p:txBody>
      </p:sp>
      <p:sp>
        <p:nvSpPr>
          <p:cNvPr id="49180" name="Text Box 28"/>
          <p:cNvSpPr txBox="1">
            <a:spLocks noChangeArrowheads="1"/>
          </p:cNvSpPr>
          <p:nvPr/>
        </p:nvSpPr>
        <p:spPr bwMode="auto">
          <a:xfrm>
            <a:off x="762000" y="45100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49181" name="Text Box 29"/>
          <p:cNvSpPr txBox="1">
            <a:spLocks noChangeArrowheads="1"/>
          </p:cNvSpPr>
          <p:nvPr/>
        </p:nvSpPr>
        <p:spPr bwMode="auto">
          <a:xfrm>
            <a:off x="2482850" y="50292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49182" name="Text Box 30"/>
          <p:cNvSpPr txBox="1">
            <a:spLocks noChangeArrowheads="1"/>
          </p:cNvSpPr>
          <p:nvPr/>
        </p:nvSpPr>
        <p:spPr bwMode="auto">
          <a:xfrm>
            <a:off x="2362200" y="57912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49183" name="Line 31"/>
          <p:cNvSpPr>
            <a:spLocks noChangeShapeType="1"/>
          </p:cNvSpPr>
          <p:nvPr/>
        </p:nvSpPr>
        <p:spPr bwMode="auto">
          <a:xfrm flipV="1">
            <a:off x="7391400" y="5486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84" name="Line 32"/>
          <p:cNvSpPr>
            <a:spLocks noChangeShapeType="1"/>
          </p:cNvSpPr>
          <p:nvPr/>
        </p:nvSpPr>
        <p:spPr bwMode="auto">
          <a:xfrm flipV="1">
            <a:off x="3124200" y="5486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85" name="Text Box 33"/>
          <p:cNvSpPr txBox="1">
            <a:spLocks noChangeArrowheads="1"/>
          </p:cNvSpPr>
          <p:nvPr/>
        </p:nvSpPr>
        <p:spPr bwMode="auto">
          <a:xfrm>
            <a:off x="6629400" y="5791200"/>
            <a:ext cx="2133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760095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/>
              <a:t>While data[too_big_index] &lt;= data[pivot]</a:t>
            </a:r>
          </a:p>
          <a:p>
            <a:pPr lvl="1"/>
            <a:r>
              <a:rPr lang="en-US" altLang="en-US"/>
              <a:t>	++too_big_index</a:t>
            </a:r>
          </a:p>
          <a:p>
            <a:pPr>
              <a:buFontTx/>
              <a:buAutoNum type="arabicPeriod"/>
            </a:pPr>
            <a:r>
              <a:rPr lang="en-US" altLang="en-US"/>
              <a:t>While data[too_small_index] &gt; data[pivot]</a:t>
            </a:r>
          </a:p>
          <a:p>
            <a:pPr lvl="1"/>
            <a:r>
              <a:rPr lang="en-US" altLang="en-US"/>
              <a:t>	--too_small_index</a:t>
            </a:r>
          </a:p>
          <a:p>
            <a:pPr>
              <a:buFontTx/>
              <a:buAutoNum type="arabicPeriod"/>
            </a:pPr>
            <a:r>
              <a:rPr lang="en-US" altLang="en-US"/>
              <a:t>If too_big_index &lt; too_small_index</a:t>
            </a:r>
          </a:p>
          <a:p>
            <a:pPr lvl="1"/>
            <a:r>
              <a:rPr lang="en-US" altLang="en-US"/>
              <a:t>	swap data[too_big_index] and data[too_small_index]</a:t>
            </a:r>
          </a:p>
          <a:p>
            <a:pPr>
              <a:buFontTx/>
              <a:buAutoNum type="arabicPeriod"/>
            </a:pPr>
            <a:r>
              <a:rPr lang="en-US" altLang="en-US"/>
              <a:t>While too_small_index &gt; too_big_index, go to 1.</a:t>
            </a:r>
          </a:p>
          <a:p>
            <a:pPr>
              <a:buFontTx/>
              <a:buAutoNum type="arabicPeriod"/>
            </a:pPr>
            <a:r>
              <a:rPr lang="en-US" altLang="en-US"/>
              <a:t>Swap data[too_small_index] and data[pivot_index]</a:t>
            </a:r>
          </a:p>
          <a:p>
            <a:endParaRPr lang="en-US" altLang="en-US"/>
          </a:p>
          <a:p>
            <a:pPr lvl="1">
              <a:buFontTx/>
              <a:buAutoNum type="arabicPeriod"/>
            </a:pPr>
            <a:endParaRPr lang="en-US" altLang="en-US"/>
          </a:p>
          <a:p>
            <a:endParaRPr lang="en-US" altLang="en-US"/>
          </a:p>
        </p:txBody>
      </p:sp>
      <p:sp>
        <p:nvSpPr>
          <p:cNvPr id="50179" name="Line 3"/>
          <p:cNvSpPr>
            <a:spLocks noChangeShapeType="1"/>
          </p:cNvSpPr>
          <p:nvPr/>
        </p:nvSpPr>
        <p:spPr bwMode="auto">
          <a:xfrm>
            <a:off x="609600" y="1143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0" name="Rectangle 4"/>
          <p:cNvSpPr>
            <a:spLocks noChangeArrowheads="1"/>
          </p:cNvSpPr>
          <p:nvPr/>
        </p:nvSpPr>
        <p:spPr bwMode="auto">
          <a:xfrm>
            <a:off x="2438400" y="44196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</a:t>
            </a:r>
          </a:p>
        </p:txBody>
      </p:sp>
      <p:sp>
        <p:nvSpPr>
          <p:cNvPr id="50181" name="Rectangle 5"/>
          <p:cNvSpPr>
            <a:spLocks noChangeArrowheads="1"/>
          </p:cNvSpPr>
          <p:nvPr/>
        </p:nvSpPr>
        <p:spPr bwMode="auto">
          <a:xfrm>
            <a:off x="30480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</a:t>
            </a:r>
          </a:p>
        </p:txBody>
      </p:sp>
      <p:sp>
        <p:nvSpPr>
          <p:cNvPr id="50182" name="Rectangle 6"/>
          <p:cNvSpPr>
            <a:spLocks noChangeArrowheads="1"/>
          </p:cNvSpPr>
          <p:nvPr/>
        </p:nvSpPr>
        <p:spPr bwMode="auto">
          <a:xfrm>
            <a:off x="36576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50183" name="Rectangle 7"/>
          <p:cNvSpPr>
            <a:spLocks noChangeArrowheads="1"/>
          </p:cNvSpPr>
          <p:nvPr/>
        </p:nvSpPr>
        <p:spPr bwMode="auto">
          <a:xfrm>
            <a:off x="42672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12</a:t>
            </a:r>
          </a:p>
        </p:txBody>
      </p:sp>
      <p:sp>
        <p:nvSpPr>
          <p:cNvPr id="50184" name="Rectangle 8"/>
          <p:cNvSpPr>
            <a:spLocks noChangeArrowheads="1"/>
          </p:cNvSpPr>
          <p:nvPr/>
        </p:nvSpPr>
        <p:spPr bwMode="auto">
          <a:xfrm>
            <a:off x="48768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13</a:t>
            </a:r>
          </a:p>
        </p:txBody>
      </p:sp>
      <p:sp>
        <p:nvSpPr>
          <p:cNvPr id="50185" name="Rectangle 9"/>
          <p:cNvSpPr>
            <a:spLocks noChangeArrowheads="1"/>
          </p:cNvSpPr>
          <p:nvPr/>
        </p:nvSpPr>
        <p:spPr bwMode="auto">
          <a:xfrm>
            <a:off x="54864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50186" name="Rectangle 10"/>
          <p:cNvSpPr>
            <a:spLocks noChangeArrowheads="1"/>
          </p:cNvSpPr>
          <p:nvPr/>
        </p:nvSpPr>
        <p:spPr bwMode="auto">
          <a:xfrm>
            <a:off x="60960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57</a:t>
            </a:r>
          </a:p>
        </p:txBody>
      </p:sp>
      <p:sp>
        <p:nvSpPr>
          <p:cNvPr id="50187" name="Rectangle 11"/>
          <p:cNvSpPr>
            <a:spLocks noChangeArrowheads="1"/>
          </p:cNvSpPr>
          <p:nvPr/>
        </p:nvSpPr>
        <p:spPr bwMode="auto">
          <a:xfrm>
            <a:off x="67056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63</a:t>
            </a:r>
          </a:p>
        </p:txBody>
      </p:sp>
      <p:sp>
        <p:nvSpPr>
          <p:cNvPr id="50188" name="Rectangle 12"/>
          <p:cNvSpPr>
            <a:spLocks noChangeArrowheads="1"/>
          </p:cNvSpPr>
          <p:nvPr/>
        </p:nvSpPr>
        <p:spPr bwMode="auto">
          <a:xfrm>
            <a:off x="7315200" y="44196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/>
              <a:t>100</a:t>
            </a:r>
          </a:p>
        </p:txBody>
      </p:sp>
      <p:sp>
        <p:nvSpPr>
          <p:cNvPr id="50189" name="Text Box 13"/>
          <p:cNvSpPr txBox="1">
            <a:spLocks noChangeArrowheads="1"/>
          </p:cNvSpPr>
          <p:nvPr/>
        </p:nvSpPr>
        <p:spPr bwMode="auto">
          <a:xfrm>
            <a:off x="762000" y="45100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50190" name="Text Box 14"/>
          <p:cNvSpPr txBox="1">
            <a:spLocks noChangeArrowheads="1"/>
          </p:cNvSpPr>
          <p:nvPr/>
        </p:nvSpPr>
        <p:spPr bwMode="auto">
          <a:xfrm>
            <a:off x="2482850" y="50292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50191" name="Text Box 15"/>
          <p:cNvSpPr txBox="1">
            <a:spLocks noChangeArrowheads="1"/>
          </p:cNvSpPr>
          <p:nvPr/>
        </p:nvSpPr>
        <p:spPr bwMode="auto">
          <a:xfrm>
            <a:off x="2362200" y="57912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50192" name="Line 16"/>
          <p:cNvSpPr>
            <a:spLocks noChangeShapeType="1"/>
          </p:cNvSpPr>
          <p:nvPr/>
        </p:nvSpPr>
        <p:spPr bwMode="auto">
          <a:xfrm flipV="1">
            <a:off x="7391400" y="5486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3" name="Line 17"/>
          <p:cNvSpPr>
            <a:spLocks noChangeShapeType="1"/>
          </p:cNvSpPr>
          <p:nvPr/>
        </p:nvSpPr>
        <p:spPr bwMode="auto">
          <a:xfrm flipV="1">
            <a:off x="3124200" y="5486400"/>
            <a:ext cx="434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4" name="Text Box 18"/>
          <p:cNvSpPr txBox="1">
            <a:spLocks noChangeArrowheads="1"/>
          </p:cNvSpPr>
          <p:nvPr/>
        </p:nvSpPr>
        <p:spPr bwMode="auto">
          <a:xfrm>
            <a:off x="6629400" y="5791200"/>
            <a:ext cx="2133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760095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/>
              <a:t>While data[too_big_index] &lt;= data[pivot]</a:t>
            </a:r>
          </a:p>
          <a:p>
            <a:pPr lvl="1"/>
            <a:r>
              <a:rPr lang="en-US" altLang="en-US"/>
              <a:t>	++too_big_index</a:t>
            </a:r>
          </a:p>
          <a:p>
            <a:pPr>
              <a:buFontTx/>
              <a:buAutoNum type="arabicPeriod"/>
            </a:pPr>
            <a:r>
              <a:rPr lang="en-US" altLang="en-US"/>
              <a:t>While data[too_small_index] &gt; data[pivot]</a:t>
            </a:r>
          </a:p>
          <a:p>
            <a:pPr lvl="1"/>
            <a:r>
              <a:rPr lang="en-US" altLang="en-US"/>
              <a:t>	--too_small_index</a:t>
            </a:r>
          </a:p>
          <a:p>
            <a:pPr>
              <a:buFontTx/>
              <a:buAutoNum type="arabicPeriod"/>
            </a:pPr>
            <a:r>
              <a:rPr lang="en-US" altLang="en-US"/>
              <a:t>If too_big_index &lt; too_small_index</a:t>
            </a:r>
          </a:p>
          <a:p>
            <a:pPr lvl="1"/>
            <a:r>
              <a:rPr lang="en-US" altLang="en-US"/>
              <a:t>	swap data[too_big_index] and data[too_small_index]</a:t>
            </a:r>
          </a:p>
          <a:p>
            <a:pPr>
              <a:buFontTx/>
              <a:buAutoNum type="arabicPeriod"/>
            </a:pPr>
            <a:r>
              <a:rPr lang="en-US" altLang="en-US"/>
              <a:t>While too_small_index &gt; too_big_index, go to 1.</a:t>
            </a:r>
          </a:p>
          <a:p>
            <a:pPr>
              <a:buFontTx/>
              <a:buAutoNum type="arabicPeriod"/>
            </a:pPr>
            <a:r>
              <a:rPr lang="en-US" altLang="en-US"/>
              <a:t>Swap data[too_small_index] and data[pivot_index]</a:t>
            </a:r>
          </a:p>
          <a:p>
            <a:endParaRPr lang="en-US" altLang="en-US"/>
          </a:p>
          <a:p>
            <a:pPr lvl="1">
              <a:buFontTx/>
              <a:buAutoNum type="arabicPeriod"/>
            </a:pPr>
            <a:endParaRPr lang="en-US" altLang="en-US"/>
          </a:p>
          <a:p>
            <a:endParaRPr lang="en-US" altLang="en-US"/>
          </a:p>
        </p:txBody>
      </p:sp>
      <p:sp>
        <p:nvSpPr>
          <p:cNvPr id="51203" name="Line 3"/>
          <p:cNvSpPr>
            <a:spLocks noChangeShapeType="1"/>
          </p:cNvSpPr>
          <p:nvPr/>
        </p:nvSpPr>
        <p:spPr bwMode="auto">
          <a:xfrm>
            <a:off x="609600" y="1905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04" name="Rectangle 4"/>
          <p:cNvSpPr>
            <a:spLocks noChangeArrowheads="1"/>
          </p:cNvSpPr>
          <p:nvPr/>
        </p:nvSpPr>
        <p:spPr bwMode="auto">
          <a:xfrm>
            <a:off x="2438400" y="44196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</a:t>
            </a:r>
          </a:p>
        </p:txBody>
      </p:sp>
      <p:sp>
        <p:nvSpPr>
          <p:cNvPr id="51205" name="Rectangle 5"/>
          <p:cNvSpPr>
            <a:spLocks noChangeArrowheads="1"/>
          </p:cNvSpPr>
          <p:nvPr/>
        </p:nvSpPr>
        <p:spPr bwMode="auto">
          <a:xfrm>
            <a:off x="30480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</a:t>
            </a:r>
          </a:p>
        </p:txBody>
      </p:sp>
      <p:sp>
        <p:nvSpPr>
          <p:cNvPr id="51206" name="Rectangle 6"/>
          <p:cNvSpPr>
            <a:spLocks noChangeArrowheads="1"/>
          </p:cNvSpPr>
          <p:nvPr/>
        </p:nvSpPr>
        <p:spPr bwMode="auto">
          <a:xfrm>
            <a:off x="36576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51207" name="Rectangle 7"/>
          <p:cNvSpPr>
            <a:spLocks noChangeArrowheads="1"/>
          </p:cNvSpPr>
          <p:nvPr/>
        </p:nvSpPr>
        <p:spPr bwMode="auto">
          <a:xfrm>
            <a:off x="42672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12</a:t>
            </a:r>
          </a:p>
        </p:txBody>
      </p:sp>
      <p:sp>
        <p:nvSpPr>
          <p:cNvPr id="51208" name="Rectangle 8"/>
          <p:cNvSpPr>
            <a:spLocks noChangeArrowheads="1"/>
          </p:cNvSpPr>
          <p:nvPr/>
        </p:nvSpPr>
        <p:spPr bwMode="auto">
          <a:xfrm>
            <a:off x="48768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13</a:t>
            </a:r>
          </a:p>
        </p:txBody>
      </p:sp>
      <p:sp>
        <p:nvSpPr>
          <p:cNvPr id="51209" name="Rectangle 9"/>
          <p:cNvSpPr>
            <a:spLocks noChangeArrowheads="1"/>
          </p:cNvSpPr>
          <p:nvPr/>
        </p:nvSpPr>
        <p:spPr bwMode="auto">
          <a:xfrm>
            <a:off x="54864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51210" name="Rectangle 10"/>
          <p:cNvSpPr>
            <a:spLocks noChangeArrowheads="1"/>
          </p:cNvSpPr>
          <p:nvPr/>
        </p:nvSpPr>
        <p:spPr bwMode="auto">
          <a:xfrm>
            <a:off x="60960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57</a:t>
            </a:r>
          </a:p>
        </p:txBody>
      </p:sp>
      <p:sp>
        <p:nvSpPr>
          <p:cNvPr id="51211" name="Rectangle 11"/>
          <p:cNvSpPr>
            <a:spLocks noChangeArrowheads="1"/>
          </p:cNvSpPr>
          <p:nvPr/>
        </p:nvSpPr>
        <p:spPr bwMode="auto">
          <a:xfrm>
            <a:off x="67056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63</a:t>
            </a:r>
          </a:p>
        </p:txBody>
      </p:sp>
      <p:sp>
        <p:nvSpPr>
          <p:cNvPr id="51212" name="Rectangle 12"/>
          <p:cNvSpPr>
            <a:spLocks noChangeArrowheads="1"/>
          </p:cNvSpPr>
          <p:nvPr/>
        </p:nvSpPr>
        <p:spPr bwMode="auto">
          <a:xfrm>
            <a:off x="7315200" y="44196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100</a:t>
            </a:r>
          </a:p>
        </p:txBody>
      </p:sp>
      <p:sp>
        <p:nvSpPr>
          <p:cNvPr id="51213" name="Text Box 13"/>
          <p:cNvSpPr txBox="1">
            <a:spLocks noChangeArrowheads="1"/>
          </p:cNvSpPr>
          <p:nvPr/>
        </p:nvSpPr>
        <p:spPr bwMode="auto">
          <a:xfrm>
            <a:off x="762000" y="45100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51214" name="Text Box 14"/>
          <p:cNvSpPr txBox="1">
            <a:spLocks noChangeArrowheads="1"/>
          </p:cNvSpPr>
          <p:nvPr/>
        </p:nvSpPr>
        <p:spPr bwMode="auto">
          <a:xfrm>
            <a:off x="2482850" y="50292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51215" name="Text Box 15"/>
          <p:cNvSpPr txBox="1">
            <a:spLocks noChangeArrowheads="1"/>
          </p:cNvSpPr>
          <p:nvPr/>
        </p:nvSpPr>
        <p:spPr bwMode="auto">
          <a:xfrm>
            <a:off x="2362200" y="57912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51216" name="Line 16"/>
          <p:cNvSpPr>
            <a:spLocks noChangeShapeType="1"/>
          </p:cNvSpPr>
          <p:nvPr/>
        </p:nvSpPr>
        <p:spPr bwMode="auto">
          <a:xfrm flipH="1" flipV="1">
            <a:off x="2971800" y="5410200"/>
            <a:ext cx="441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7" name="Line 17"/>
          <p:cNvSpPr>
            <a:spLocks noChangeShapeType="1"/>
          </p:cNvSpPr>
          <p:nvPr/>
        </p:nvSpPr>
        <p:spPr bwMode="auto">
          <a:xfrm flipV="1">
            <a:off x="3124200" y="5486400"/>
            <a:ext cx="434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8" name="Text Box 18"/>
          <p:cNvSpPr txBox="1">
            <a:spLocks noChangeArrowheads="1"/>
          </p:cNvSpPr>
          <p:nvPr/>
        </p:nvSpPr>
        <p:spPr bwMode="auto">
          <a:xfrm>
            <a:off x="6629400" y="5791200"/>
            <a:ext cx="2133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760095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/>
              <a:t>While data[too_big_index] &lt;= data[pivot]</a:t>
            </a:r>
          </a:p>
          <a:p>
            <a:pPr lvl="1"/>
            <a:r>
              <a:rPr lang="en-US" altLang="en-US"/>
              <a:t>	++too_big_index</a:t>
            </a:r>
          </a:p>
          <a:p>
            <a:pPr>
              <a:buFontTx/>
              <a:buAutoNum type="arabicPeriod"/>
            </a:pPr>
            <a:r>
              <a:rPr lang="en-US" altLang="en-US"/>
              <a:t>While data[too_small_index] &gt; data[pivot]</a:t>
            </a:r>
          </a:p>
          <a:p>
            <a:pPr lvl="1"/>
            <a:r>
              <a:rPr lang="en-US" altLang="en-US"/>
              <a:t>	--too_small_index</a:t>
            </a:r>
          </a:p>
          <a:p>
            <a:pPr>
              <a:buFontTx/>
              <a:buAutoNum type="arabicPeriod"/>
            </a:pPr>
            <a:r>
              <a:rPr lang="en-US" altLang="en-US"/>
              <a:t>If too_big_index &lt; too_small_index</a:t>
            </a:r>
          </a:p>
          <a:p>
            <a:pPr lvl="1"/>
            <a:r>
              <a:rPr lang="en-US" altLang="en-US"/>
              <a:t>	swap data[too_big_index] and data[too_small_index]</a:t>
            </a:r>
          </a:p>
          <a:p>
            <a:pPr>
              <a:buFontTx/>
              <a:buAutoNum type="arabicPeriod"/>
            </a:pPr>
            <a:r>
              <a:rPr lang="en-US" altLang="en-US"/>
              <a:t>While too_small_index &gt; too_big_index, go to 1.</a:t>
            </a:r>
          </a:p>
          <a:p>
            <a:pPr>
              <a:buFontTx/>
              <a:buAutoNum type="arabicPeriod"/>
            </a:pPr>
            <a:r>
              <a:rPr lang="en-US" altLang="en-US"/>
              <a:t>Swap data[too_small_index] and data[pivot_index]</a:t>
            </a:r>
          </a:p>
          <a:p>
            <a:endParaRPr lang="en-US" altLang="en-US"/>
          </a:p>
          <a:p>
            <a:pPr lvl="1">
              <a:buFontTx/>
              <a:buAutoNum type="arabicPeriod"/>
            </a:pPr>
            <a:endParaRPr lang="en-US" altLang="en-US"/>
          </a:p>
          <a:p>
            <a:endParaRPr lang="en-US" altLang="en-US"/>
          </a:p>
        </p:txBody>
      </p:sp>
      <p:sp>
        <p:nvSpPr>
          <p:cNvPr id="52227" name="Line 3"/>
          <p:cNvSpPr>
            <a:spLocks noChangeShapeType="1"/>
          </p:cNvSpPr>
          <p:nvPr/>
        </p:nvSpPr>
        <p:spPr bwMode="auto">
          <a:xfrm>
            <a:off x="609600" y="25908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28" name="Rectangle 4"/>
          <p:cNvSpPr>
            <a:spLocks noChangeArrowheads="1"/>
          </p:cNvSpPr>
          <p:nvPr/>
        </p:nvSpPr>
        <p:spPr bwMode="auto">
          <a:xfrm>
            <a:off x="2438400" y="44196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</a:t>
            </a:r>
          </a:p>
        </p:txBody>
      </p:sp>
      <p:sp>
        <p:nvSpPr>
          <p:cNvPr id="52229" name="Rectangle 5"/>
          <p:cNvSpPr>
            <a:spLocks noChangeArrowheads="1"/>
          </p:cNvSpPr>
          <p:nvPr/>
        </p:nvSpPr>
        <p:spPr bwMode="auto">
          <a:xfrm>
            <a:off x="30480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</a:t>
            </a:r>
          </a:p>
        </p:txBody>
      </p:sp>
      <p:sp>
        <p:nvSpPr>
          <p:cNvPr id="52230" name="Rectangle 6"/>
          <p:cNvSpPr>
            <a:spLocks noChangeArrowheads="1"/>
          </p:cNvSpPr>
          <p:nvPr/>
        </p:nvSpPr>
        <p:spPr bwMode="auto">
          <a:xfrm>
            <a:off x="36576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52231" name="Rectangle 7"/>
          <p:cNvSpPr>
            <a:spLocks noChangeArrowheads="1"/>
          </p:cNvSpPr>
          <p:nvPr/>
        </p:nvSpPr>
        <p:spPr bwMode="auto">
          <a:xfrm>
            <a:off x="42672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12</a:t>
            </a:r>
          </a:p>
        </p:txBody>
      </p:sp>
      <p:sp>
        <p:nvSpPr>
          <p:cNvPr id="52232" name="Rectangle 8"/>
          <p:cNvSpPr>
            <a:spLocks noChangeArrowheads="1"/>
          </p:cNvSpPr>
          <p:nvPr/>
        </p:nvSpPr>
        <p:spPr bwMode="auto">
          <a:xfrm>
            <a:off x="48768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13</a:t>
            </a:r>
          </a:p>
        </p:txBody>
      </p:sp>
      <p:sp>
        <p:nvSpPr>
          <p:cNvPr id="52233" name="Rectangle 9"/>
          <p:cNvSpPr>
            <a:spLocks noChangeArrowheads="1"/>
          </p:cNvSpPr>
          <p:nvPr/>
        </p:nvSpPr>
        <p:spPr bwMode="auto">
          <a:xfrm>
            <a:off x="54864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52234" name="Rectangle 10"/>
          <p:cNvSpPr>
            <a:spLocks noChangeArrowheads="1"/>
          </p:cNvSpPr>
          <p:nvPr/>
        </p:nvSpPr>
        <p:spPr bwMode="auto">
          <a:xfrm>
            <a:off x="60960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57</a:t>
            </a:r>
          </a:p>
        </p:txBody>
      </p:sp>
      <p:sp>
        <p:nvSpPr>
          <p:cNvPr id="52235" name="Rectangle 11"/>
          <p:cNvSpPr>
            <a:spLocks noChangeArrowheads="1"/>
          </p:cNvSpPr>
          <p:nvPr/>
        </p:nvSpPr>
        <p:spPr bwMode="auto">
          <a:xfrm>
            <a:off x="67056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63</a:t>
            </a:r>
          </a:p>
        </p:txBody>
      </p:sp>
      <p:sp>
        <p:nvSpPr>
          <p:cNvPr id="52236" name="Rectangle 12"/>
          <p:cNvSpPr>
            <a:spLocks noChangeArrowheads="1"/>
          </p:cNvSpPr>
          <p:nvPr/>
        </p:nvSpPr>
        <p:spPr bwMode="auto">
          <a:xfrm>
            <a:off x="7315200" y="44196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100</a:t>
            </a:r>
          </a:p>
        </p:txBody>
      </p:sp>
      <p:sp>
        <p:nvSpPr>
          <p:cNvPr id="52237" name="Text Box 13"/>
          <p:cNvSpPr txBox="1">
            <a:spLocks noChangeArrowheads="1"/>
          </p:cNvSpPr>
          <p:nvPr/>
        </p:nvSpPr>
        <p:spPr bwMode="auto">
          <a:xfrm>
            <a:off x="762000" y="45100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52238" name="Text Box 14"/>
          <p:cNvSpPr txBox="1">
            <a:spLocks noChangeArrowheads="1"/>
          </p:cNvSpPr>
          <p:nvPr/>
        </p:nvSpPr>
        <p:spPr bwMode="auto">
          <a:xfrm>
            <a:off x="2482850" y="50292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52239" name="Text Box 15"/>
          <p:cNvSpPr txBox="1">
            <a:spLocks noChangeArrowheads="1"/>
          </p:cNvSpPr>
          <p:nvPr/>
        </p:nvSpPr>
        <p:spPr bwMode="auto">
          <a:xfrm>
            <a:off x="2362200" y="57912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52240" name="Line 16"/>
          <p:cNvSpPr>
            <a:spLocks noChangeShapeType="1"/>
          </p:cNvSpPr>
          <p:nvPr/>
        </p:nvSpPr>
        <p:spPr bwMode="auto">
          <a:xfrm flipH="1" flipV="1">
            <a:off x="2971800" y="5410200"/>
            <a:ext cx="441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41" name="Line 17"/>
          <p:cNvSpPr>
            <a:spLocks noChangeShapeType="1"/>
          </p:cNvSpPr>
          <p:nvPr/>
        </p:nvSpPr>
        <p:spPr bwMode="auto">
          <a:xfrm flipV="1">
            <a:off x="3124200" y="5486400"/>
            <a:ext cx="434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42" name="Text Box 18"/>
          <p:cNvSpPr txBox="1">
            <a:spLocks noChangeArrowheads="1"/>
          </p:cNvSpPr>
          <p:nvPr/>
        </p:nvSpPr>
        <p:spPr bwMode="auto">
          <a:xfrm>
            <a:off x="6629400" y="5791200"/>
            <a:ext cx="2133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760095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/>
              <a:t>While data[too_big_index] &lt;= data[pivot]</a:t>
            </a:r>
          </a:p>
          <a:p>
            <a:pPr lvl="1"/>
            <a:r>
              <a:rPr lang="en-US" altLang="en-US"/>
              <a:t>	++too_big_index</a:t>
            </a:r>
          </a:p>
          <a:p>
            <a:pPr>
              <a:buFontTx/>
              <a:buAutoNum type="arabicPeriod"/>
            </a:pPr>
            <a:r>
              <a:rPr lang="en-US" altLang="en-US"/>
              <a:t>While data[too_small_index] &gt; data[pivot]</a:t>
            </a:r>
          </a:p>
          <a:p>
            <a:pPr lvl="1"/>
            <a:r>
              <a:rPr lang="en-US" altLang="en-US"/>
              <a:t>	--too_small_index</a:t>
            </a:r>
          </a:p>
          <a:p>
            <a:pPr>
              <a:buFontTx/>
              <a:buAutoNum type="arabicPeriod"/>
            </a:pPr>
            <a:r>
              <a:rPr lang="en-US" altLang="en-US"/>
              <a:t>If too_big_index &lt; too_small_index</a:t>
            </a:r>
          </a:p>
          <a:p>
            <a:pPr lvl="1"/>
            <a:r>
              <a:rPr lang="en-US" altLang="en-US"/>
              <a:t>	swap data[too_big_index] and data[too_small_index]</a:t>
            </a:r>
          </a:p>
          <a:p>
            <a:pPr>
              <a:buFontTx/>
              <a:buAutoNum type="arabicPeriod"/>
            </a:pPr>
            <a:r>
              <a:rPr lang="en-US" altLang="en-US"/>
              <a:t>While too_small_index &gt; too_big_index, go to 1.</a:t>
            </a:r>
          </a:p>
          <a:p>
            <a:pPr>
              <a:buFontTx/>
              <a:buAutoNum type="arabicPeriod"/>
            </a:pPr>
            <a:r>
              <a:rPr lang="en-US" altLang="en-US"/>
              <a:t>Swap data[too_small_index] and data[pivot_index]</a:t>
            </a:r>
          </a:p>
          <a:p>
            <a:endParaRPr lang="en-US" altLang="en-US"/>
          </a:p>
          <a:p>
            <a:pPr lvl="1">
              <a:buFontTx/>
              <a:buAutoNum type="arabicPeriod"/>
            </a:pPr>
            <a:endParaRPr lang="en-US" altLang="en-US"/>
          </a:p>
          <a:p>
            <a:endParaRPr lang="en-US" altLang="en-US"/>
          </a:p>
        </p:txBody>
      </p:sp>
      <p:sp>
        <p:nvSpPr>
          <p:cNvPr id="53251" name="Line 3"/>
          <p:cNvSpPr>
            <a:spLocks noChangeShapeType="1"/>
          </p:cNvSpPr>
          <p:nvPr/>
        </p:nvSpPr>
        <p:spPr bwMode="auto">
          <a:xfrm>
            <a:off x="609600" y="33528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2438400" y="44196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</a:t>
            </a:r>
          </a:p>
        </p:txBody>
      </p:sp>
      <p:sp>
        <p:nvSpPr>
          <p:cNvPr id="53253" name="Rectangle 5"/>
          <p:cNvSpPr>
            <a:spLocks noChangeArrowheads="1"/>
          </p:cNvSpPr>
          <p:nvPr/>
        </p:nvSpPr>
        <p:spPr bwMode="auto">
          <a:xfrm>
            <a:off x="30480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</a:t>
            </a:r>
          </a:p>
        </p:txBody>
      </p:sp>
      <p:sp>
        <p:nvSpPr>
          <p:cNvPr id="53254" name="Rectangle 6"/>
          <p:cNvSpPr>
            <a:spLocks noChangeArrowheads="1"/>
          </p:cNvSpPr>
          <p:nvPr/>
        </p:nvSpPr>
        <p:spPr bwMode="auto">
          <a:xfrm>
            <a:off x="36576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53255" name="Rectangle 7"/>
          <p:cNvSpPr>
            <a:spLocks noChangeArrowheads="1"/>
          </p:cNvSpPr>
          <p:nvPr/>
        </p:nvSpPr>
        <p:spPr bwMode="auto">
          <a:xfrm>
            <a:off x="42672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12</a:t>
            </a:r>
          </a:p>
        </p:txBody>
      </p:sp>
      <p:sp>
        <p:nvSpPr>
          <p:cNvPr id="53256" name="Rectangle 8"/>
          <p:cNvSpPr>
            <a:spLocks noChangeArrowheads="1"/>
          </p:cNvSpPr>
          <p:nvPr/>
        </p:nvSpPr>
        <p:spPr bwMode="auto">
          <a:xfrm>
            <a:off x="48768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13</a:t>
            </a:r>
          </a:p>
        </p:txBody>
      </p:sp>
      <p:sp>
        <p:nvSpPr>
          <p:cNvPr id="53257" name="Rectangle 9"/>
          <p:cNvSpPr>
            <a:spLocks noChangeArrowheads="1"/>
          </p:cNvSpPr>
          <p:nvPr/>
        </p:nvSpPr>
        <p:spPr bwMode="auto">
          <a:xfrm>
            <a:off x="54864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53258" name="Rectangle 10"/>
          <p:cNvSpPr>
            <a:spLocks noChangeArrowheads="1"/>
          </p:cNvSpPr>
          <p:nvPr/>
        </p:nvSpPr>
        <p:spPr bwMode="auto">
          <a:xfrm>
            <a:off x="60960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57</a:t>
            </a:r>
          </a:p>
        </p:txBody>
      </p:sp>
      <p:sp>
        <p:nvSpPr>
          <p:cNvPr id="53259" name="Rectangle 11"/>
          <p:cNvSpPr>
            <a:spLocks noChangeArrowheads="1"/>
          </p:cNvSpPr>
          <p:nvPr/>
        </p:nvSpPr>
        <p:spPr bwMode="auto">
          <a:xfrm>
            <a:off x="67056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63</a:t>
            </a:r>
          </a:p>
        </p:txBody>
      </p:sp>
      <p:sp>
        <p:nvSpPr>
          <p:cNvPr id="53260" name="Rectangle 12"/>
          <p:cNvSpPr>
            <a:spLocks noChangeArrowheads="1"/>
          </p:cNvSpPr>
          <p:nvPr/>
        </p:nvSpPr>
        <p:spPr bwMode="auto">
          <a:xfrm>
            <a:off x="7315200" y="44196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/>
              <a:t>100</a:t>
            </a:r>
          </a:p>
        </p:txBody>
      </p:sp>
      <p:sp>
        <p:nvSpPr>
          <p:cNvPr id="53261" name="Text Box 13"/>
          <p:cNvSpPr txBox="1">
            <a:spLocks noChangeArrowheads="1"/>
          </p:cNvSpPr>
          <p:nvPr/>
        </p:nvSpPr>
        <p:spPr bwMode="auto">
          <a:xfrm>
            <a:off x="762000" y="45100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53262" name="Text Box 14"/>
          <p:cNvSpPr txBox="1">
            <a:spLocks noChangeArrowheads="1"/>
          </p:cNvSpPr>
          <p:nvPr/>
        </p:nvSpPr>
        <p:spPr bwMode="auto">
          <a:xfrm>
            <a:off x="2482850" y="50292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53263" name="Text Box 15"/>
          <p:cNvSpPr txBox="1">
            <a:spLocks noChangeArrowheads="1"/>
          </p:cNvSpPr>
          <p:nvPr/>
        </p:nvSpPr>
        <p:spPr bwMode="auto">
          <a:xfrm>
            <a:off x="2362200" y="57912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53264" name="Line 16"/>
          <p:cNvSpPr>
            <a:spLocks noChangeShapeType="1"/>
          </p:cNvSpPr>
          <p:nvPr/>
        </p:nvSpPr>
        <p:spPr bwMode="auto">
          <a:xfrm flipH="1" flipV="1">
            <a:off x="2971800" y="5410200"/>
            <a:ext cx="441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5" name="Line 17"/>
          <p:cNvSpPr>
            <a:spLocks noChangeShapeType="1"/>
          </p:cNvSpPr>
          <p:nvPr/>
        </p:nvSpPr>
        <p:spPr bwMode="auto">
          <a:xfrm flipV="1">
            <a:off x="3124200" y="5486400"/>
            <a:ext cx="434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6" name="Text Box 18"/>
          <p:cNvSpPr txBox="1">
            <a:spLocks noChangeArrowheads="1"/>
          </p:cNvSpPr>
          <p:nvPr/>
        </p:nvSpPr>
        <p:spPr bwMode="auto">
          <a:xfrm>
            <a:off x="6629400" y="5791200"/>
            <a:ext cx="2133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760095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/>
              <a:t>While data[too_big_index] &lt;= data[pivot]</a:t>
            </a:r>
          </a:p>
          <a:p>
            <a:pPr lvl="1"/>
            <a:r>
              <a:rPr lang="en-US" altLang="en-US"/>
              <a:t>	++too_big_index</a:t>
            </a:r>
          </a:p>
          <a:p>
            <a:pPr>
              <a:buFontTx/>
              <a:buAutoNum type="arabicPeriod"/>
            </a:pPr>
            <a:r>
              <a:rPr lang="en-US" altLang="en-US"/>
              <a:t>While data[too_small_index] &gt; data[pivot]</a:t>
            </a:r>
          </a:p>
          <a:p>
            <a:pPr lvl="1"/>
            <a:r>
              <a:rPr lang="en-US" altLang="en-US"/>
              <a:t>	--too_small_index</a:t>
            </a:r>
          </a:p>
          <a:p>
            <a:pPr>
              <a:buFontTx/>
              <a:buAutoNum type="arabicPeriod"/>
            </a:pPr>
            <a:r>
              <a:rPr lang="en-US" altLang="en-US"/>
              <a:t>If too_big_index &lt; too_small_index</a:t>
            </a:r>
          </a:p>
          <a:p>
            <a:pPr lvl="1"/>
            <a:r>
              <a:rPr lang="en-US" altLang="en-US"/>
              <a:t>	swap data[too_big_index] and data[too_small_index]</a:t>
            </a:r>
          </a:p>
          <a:p>
            <a:pPr>
              <a:buFontTx/>
              <a:buAutoNum type="arabicPeriod"/>
            </a:pPr>
            <a:r>
              <a:rPr lang="en-US" altLang="en-US"/>
              <a:t>While too_small_index &gt; too_big_index, go to 1.</a:t>
            </a:r>
          </a:p>
          <a:p>
            <a:pPr>
              <a:buFontTx/>
              <a:buAutoNum type="arabicPeriod"/>
            </a:pPr>
            <a:r>
              <a:rPr lang="en-US" altLang="en-US"/>
              <a:t>Swap data[too_small_index] and data[pivot_index]</a:t>
            </a:r>
          </a:p>
          <a:p>
            <a:endParaRPr lang="en-US" altLang="en-US"/>
          </a:p>
          <a:p>
            <a:pPr lvl="1">
              <a:buFontTx/>
              <a:buAutoNum type="arabicPeriod"/>
            </a:pPr>
            <a:endParaRPr lang="en-US" altLang="en-US"/>
          </a:p>
          <a:p>
            <a:endParaRPr lang="en-US" altLang="en-US"/>
          </a:p>
        </p:txBody>
      </p:sp>
      <p:sp>
        <p:nvSpPr>
          <p:cNvPr id="54275" name="Line 3"/>
          <p:cNvSpPr>
            <a:spLocks noChangeShapeType="1"/>
          </p:cNvSpPr>
          <p:nvPr/>
        </p:nvSpPr>
        <p:spPr bwMode="auto">
          <a:xfrm>
            <a:off x="609600" y="37338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2438400" y="44196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</a:t>
            </a:r>
          </a:p>
        </p:txBody>
      </p:sp>
      <p:sp>
        <p:nvSpPr>
          <p:cNvPr id="54277" name="Rectangle 5"/>
          <p:cNvSpPr>
            <a:spLocks noChangeArrowheads="1"/>
          </p:cNvSpPr>
          <p:nvPr/>
        </p:nvSpPr>
        <p:spPr bwMode="auto">
          <a:xfrm>
            <a:off x="30480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</a:t>
            </a:r>
          </a:p>
        </p:txBody>
      </p:sp>
      <p:sp>
        <p:nvSpPr>
          <p:cNvPr id="54278" name="Rectangle 6"/>
          <p:cNvSpPr>
            <a:spLocks noChangeArrowheads="1"/>
          </p:cNvSpPr>
          <p:nvPr/>
        </p:nvSpPr>
        <p:spPr bwMode="auto">
          <a:xfrm>
            <a:off x="36576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54279" name="Rectangle 7"/>
          <p:cNvSpPr>
            <a:spLocks noChangeArrowheads="1"/>
          </p:cNvSpPr>
          <p:nvPr/>
        </p:nvSpPr>
        <p:spPr bwMode="auto">
          <a:xfrm>
            <a:off x="42672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12</a:t>
            </a:r>
          </a:p>
        </p:txBody>
      </p:sp>
      <p:sp>
        <p:nvSpPr>
          <p:cNvPr id="54280" name="Rectangle 8"/>
          <p:cNvSpPr>
            <a:spLocks noChangeArrowheads="1"/>
          </p:cNvSpPr>
          <p:nvPr/>
        </p:nvSpPr>
        <p:spPr bwMode="auto">
          <a:xfrm>
            <a:off x="48768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13</a:t>
            </a:r>
          </a:p>
        </p:txBody>
      </p:sp>
      <p:sp>
        <p:nvSpPr>
          <p:cNvPr id="54281" name="Rectangle 9"/>
          <p:cNvSpPr>
            <a:spLocks noChangeArrowheads="1"/>
          </p:cNvSpPr>
          <p:nvPr/>
        </p:nvSpPr>
        <p:spPr bwMode="auto">
          <a:xfrm>
            <a:off x="54864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54282" name="Rectangle 10"/>
          <p:cNvSpPr>
            <a:spLocks noChangeArrowheads="1"/>
          </p:cNvSpPr>
          <p:nvPr/>
        </p:nvSpPr>
        <p:spPr bwMode="auto">
          <a:xfrm>
            <a:off x="60960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57</a:t>
            </a:r>
          </a:p>
        </p:txBody>
      </p:sp>
      <p:sp>
        <p:nvSpPr>
          <p:cNvPr id="54283" name="Rectangle 11"/>
          <p:cNvSpPr>
            <a:spLocks noChangeArrowheads="1"/>
          </p:cNvSpPr>
          <p:nvPr/>
        </p:nvSpPr>
        <p:spPr bwMode="auto">
          <a:xfrm>
            <a:off x="67056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63</a:t>
            </a:r>
          </a:p>
        </p:txBody>
      </p:sp>
      <p:sp>
        <p:nvSpPr>
          <p:cNvPr id="54284" name="Rectangle 12"/>
          <p:cNvSpPr>
            <a:spLocks noChangeArrowheads="1"/>
          </p:cNvSpPr>
          <p:nvPr/>
        </p:nvSpPr>
        <p:spPr bwMode="auto">
          <a:xfrm>
            <a:off x="7315200" y="44196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100</a:t>
            </a:r>
          </a:p>
        </p:txBody>
      </p:sp>
      <p:sp>
        <p:nvSpPr>
          <p:cNvPr id="54285" name="Text Box 13"/>
          <p:cNvSpPr txBox="1">
            <a:spLocks noChangeArrowheads="1"/>
          </p:cNvSpPr>
          <p:nvPr/>
        </p:nvSpPr>
        <p:spPr bwMode="auto">
          <a:xfrm>
            <a:off x="762000" y="45100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54286" name="Text Box 14"/>
          <p:cNvSpPr txBox="1">
            <a:spLocks noChangeArrowheads="1"/>
          </p:cNvSpPr>
          <p:nvPr/>
        </p:nvSpPr>
        <p:spPr bwMode="auto">
          <a:xfrm>
            <a:off x="2482850" y="50292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54287" name="Text Box 15"/>
          <p:cNvSpPr txBox="1">
            <a:spLocks noChangeArrowheads="1"/>
          </p:cNvSpPr>
          <p:nvPr/>
        </p:nvSpPr>
        <p:spPr bwMode="auto">
          <a:xfrm>
            <a:off x="2362200" y="57912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too_big_index</a:t>
            </a:r>
          </a:p>
        </p:txBody>
      </p:sp>
      <p:sp>
        <p:nvSpPr>
          <p:cNvPr id="54288" name="Line 16"/>
          <p:cNvSpPr>
            <a:spLocks noChangeShapeType="1"/>
          </p:cNvSpPr>
          <p:nvPr/>
        </p:nvSpPr>
        <p:spPr bwMode="auto">
          <a:xfrm flipH="1" flipV="1">
            <a:off x="2971800" y="5410200"/>
            <a:ext cx="441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9" name="Line 17"/>
          <p:cNvSpPr>
            <a:spLocks noChangeShapeType="1"/>
          </p:cNvSpPr>
          <p:nvPr/>
        </p:nvSpPr>
        <p:spPr bwMode="auto">
          <a:xfrm flipV="1">
            <a:off x="3124200" y="5486400"/>
            <a:ext cx="434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90" name="Text Box 18"/>
          <p:cNvSpPr txBox="1">
            <a:spLocks noChangeArrowheads="1"/>
          </p:cNvSpPr>
          <p:nvPr/>
        </p:nvSpPr>
        <p:spPr bwMode="auto">
          <a:xfrm>
            <a:off x="6629400" y="5791200"/>
            <a:ext cx="2133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800"/>
              <a:t>too_small_index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760095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 dirty="0"/>
              <a:t>While data[</a:t>
            </a:r>
            <a:r>
              <a:rPr lang="en-US" altLang="en-US" dirty="0" err="1"/>
              <a:t>too_big_index</a:t>
            </a:r>
            <a:r>
              <a:rPr lang="en-US" altLang="en-US" dirty="0"/>
              <a:t>] &lt;= data[pivot]</a:t>
            </a:r>
          </a:p>
          <a:p>
            <a:pPr lvl="1"/>
            <a:r>
              <a:rPr lang="en-US" altLang="en-US" dirty="0"/>
              <a:t>	++</a:t>
            </a:r>
            <a:r>
              <a:rPr lang="en-US" altLang="en-US" dirty="0" err="1"/>
              <a:t>too_big_index</a:t>
            </a:r>
            <a:endParaRPr lang="en-US" altLang="en-US" dirty="0"/>
          </a:p>
          <a:p>
            <a:pPr>
              <a:buFontTx/>
              <a:buAutoNum type="arabicPeriod"/>
            </a:pPr>
            <a:r>
              <a:rPr lang="en-US" altLang="en-US" dirty="0"/>
              <a:t>While data[</a:t>
            </a:r>
            <a:r>
              <a:rPr lang="en-US" altLang="en-US" dirty="0" err="1"/>
              <a:t>too_small_index</a:t>
            </a:r>
            <a:r>
              <a:rPr lang="en-US" altLang="en-US" dirty="0"/>
              <a:t>] &gt; data[pivot]</a:t>
            </a:r>
          </a:p>
          <a:p>
            <a:pPr lvl="1"/>
            <a:r>
              <a:rPr lang="en-US" altLang="en-US" dirty="0"/>
              <a:t>	--</a:t>
            </a:r>
            <a:r>
              <a:rPr lang="en-US" altLang="en-US" dirty="0" err="1"/>
              <a:t>too_small_index</a:t>
            </a:r>
            <a:endParaRPr lang="en-US" altLang="en-US" dirty="0"/>
          </a:p>
          <a:p>
            <a:pPr>
              <a:buFontTx/>
              <a:buAutoNum type="arabicPeriod"/>
            </a:pPr>
            <a:r>
              <a:rPr lang="en-US" altLang="en-US" dirty="0"/>
              <a:t>If </a:t>
            </a:r>
            <a:r>
              <a:rPr lang="en-US" altLang="en-US" dirty="0" err="1"/>
              <a:t>too_big_index</a:t>
            </a:r>
            <a:r>
              <a:rPr lang="en-US" altLang="en-US" dirty="0"/>
              <a:t> &lt; </a:t>
            </a:r>
            <a:r>
              <a:rPr lang="en-US" altLang="en-US" dirty="0" err="1"/>
              <a:t>too_small_index</a:t>
            </a:r>
            <a:endParaRPr lang="en-US" altLang="en-US" dirty="0"/>
          </a:p>
          <a:p>
            <a:pPr lvl="1"/>
            <a:r>
              <a:rPr lang="en-US" altLang="en-US" dirty="0"/>
              <a:t>	swap data[</a:t>
            </a:r>
            <a:r>
              <a:rPr lang="en-US" altLang="en-US" dirty="0" err="1"/>
              <a:t>too_big_index</a:t>
            </a:r>
            <a:r>
              <a:rPr lang="en-US" altLang="en-US" dirty="0"/>
              <a:t>] and data[</a:t>
            </a:r>
            <a:r>
              <a:rPr lang="en-US" altLang="en-US" dirty="0" err="1"/>
              <a:t>too_small_index</a:t>
            </a:r>
            <a:r>
              <a:rPr lang="en-US" altLang="en-US" dirty="0"/>
              <a:t>]</a:t>
            </a:r>
          </a:p>
          <a:p>
            <a:pPr>
              <a:buFontTx/>
              <a:buAutoNum type="arabicPeriod"/>
            </a:pPr>
            <a:r>
              <a:rPr lang="en-US" altLang="en-US" dirty="0"/>
              <a:t>While </a:t>
            </a:r>
            <a:r>
              <a:rPr lang="en-US" altLang="en-US" dirty="0" err="1"/>
              <a:t>too_small_index</a:t>
            </a:r>
            <a:r>
              <a:rPr lang="en-US" altLang="en-US" dirty="0"/>
              <a:t> &gt; </a:t>
            </a:r>
            <a:r>
              <a:rPr lang="en-US" altLang="en-US" dirty="0" err="1"/>
              <a:t>too_big_index</a:t>
            </a:r>
            <a:r>
              <a:rPr lang="en-US" altLang="en-US" dirty="0"/>
              <a:t>, go to 1.</a:t>
            </a:r>
          </a:p>
          <a:p>
            <a:pPr>
              <a:buFontTx/>
              <a:buAutoNum type="arabicPeriod"/>
            </a:pPr>
            <a:r>
              <a:rPr lang="en-US" altLang="en-US" dirty="0"/>
              <a:t>Swap data[</a:t>
            </a:r>
            <a:r>
              <a:rPr lang="en-US" altLang="en-US" dirty="0" err="1"/>
              <a:t>too_small_index</a:t>
            </a:r>
            <a:r>
              <a:rPr lang="en-US" altLang="en-US" dirty="0"/>
              <a:t>] and data[</a:t>
            </a:r>
            <a:r>
              <a:rPr lang="en-US" altLang="en-US" dirty="0" err="1"/>
              <a:t>pivot_index</a:t>
            </a:r>
            <a:r>
              <a:rPr lang="en-US" altLang="en-US" dirty="0"/>
              <a:t>]</a:t>
            </a:r>
          </a:p>
          <a:p>
            <a:endParaRPr lang="en-US" altLang="en-US" dirty="0"/>
          </a:p>
          <a:p>
            <a:pPr lvl="1">
              <a:buFontTx/>
              <a:buAutoNum type="arabicPeriod"/>
            </a:pPr>
            <a:endParaRPr lang="en-US" altLang="en-US" dirty="0"/>
          </a:p>
          <a:p>
            <a:endParaRPr lang="en-US" altLang="en-US" dirty="0"/>
          </a:p>
        </p:txBody>
      </p:sp>
      <p:sp>
        <p:nvSpPr>
          <p:cNvPr id="55299" name="Line 3"/>
          <p:cNvSpPr>
            <a:spLocks noChangeShapeType="1"/>
          </p:cNvSpPr>
          <p:nvPr/>
        </p:nvSpPr>
        <p:spPr bwMode="auto">
          <a:xfrm>
            <a:off x="609600" y="37338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2438400" y="44196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</a:t>
            </a:r>
          </a:p>
        </p:txBody>
      </p:sp>
      <p:sp>
        <p:nvSpPr>
          <p:cNvPr id="55301" name="Rectangle 5"/>
          <p:cNvSpPr>
            <a:spLocks noChangeArrowheads="1"/>
          </p:cNvSpPr>
          <p:nvPr/>
        </p:nvSpPr>
        <p:spPr bwMode="auto">
          <a:xfrm>
            <a:off x="30480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</a:t>
            </a:r>
          </a:p>
        </p:txBody>
      </p:sp>
      <p:sp>
        <p:nvSpPr>
          <p:cNvPr id="55302" name="Rectangle 6"/>
          <p:cNvSpPr>
            <a:spLocks noChangeArrowheads="1"/>
          </p:cNvSpPr>
          <p:nvPr/>
        </p:nvSpPr>
        <p:spPr bwMode="auto">
          <a:xfrm>
            <a:off x="36576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10</a:t>
            </a:r>
          </a:p>
        </p:txBody>
      </p:sp>
      <p:sp>
        <p:nvSpPr>
          <p:cNvPr id="55303" name="Rectangle 7"/>
          <p:cNvSpPr>
            <a:spLocks noChangeArrowheads="1"/>
          </p:cNvSpPr>
          <p:nvPr/>
        </p:nvSpPr>
        <p:spPr bwMode="auto">
          <a:xfrm>
            <a:off x="42672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12</a:t>
            </a:r>
          </a:p>
        </p:txBody>
      </p:sp>
      <p:sp>
        <p:nvSpPr>
          <p:cNvPr id="55304" name="Rectangle 8"/>
          <p:cNvSpPr>
            <a:spLocks noChangeArrowheads="1"/>
          </p:cNvSpPr>
          <p:nvPr/>
        </p:nvSpPr>
        <p:spPr bwMode="auto">
          <a:xfrm>
            <a:off x="48768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13</a:t>
            </a:r>
          </a:p>
        </p:txBody>
      </p:sp>
      <p:sp>
        <p:nvSpPr>
          <p:cNvPr id="55305" name="Rectangle 9"/>
          <p:cNvSpPr>
            <a:spLocks noChangeArrowheads="1"/>
          </p:cNvSpPr>
          <p:nvPr/>
        </p:nvSpPr>
        <p:spPr bwMode="auto">
          <a:xfrm>
            <a:off x="54864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50</a:t>
            </a:r>
          </a:p>
        </p:txBody>
      </p:sp>
      <p:sp>
        <p:nvSpPr>
          <p:cNvPr id="55306" name="Rectangle 10"/>
          <p:cNvSpPr>
            <a:spLocks noChangeArrowheads="1"/>
          </p:cNvSpPr>
          <p:nvPr/>
        </p:nvSpPr>
        <p:spPr bwMode="auto">
          <a:xfrm>
            <a:off x="60960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57</a:t>
            </a:r>
          </a:p>
        </p:txBody>
      </p:sp>
      <p:sp>
        <p:nvSpPr>
          <p:cNvPr id="55307" name="Rectangle 11"/>
          <p:cNvSpPr>
            <a:spLocks noChangeArrowheads="1"/>
          </p:cNvSpPr>
          <p:nvPr/>
        </p:nvSpPr>
        <p:spPr bwMode="auto">
          <a:xfrm>
            <a:off x="6705600" y="44196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63</a:t>
            </a:r>
          </a:p>
        </p:txBody>
      </p:sp>
      <p:sp>
        <p:nvSpPr>
          <p:cNvPr id="55308" name="Rectangle 12"/>
          <p:cNvSpPr>
            <a:spLocks noChangeArrowheads="1"/>
          </p:cNvSpPr>
          <p:nvPr/>
        </p:nvSpPr>
        <p:spPr bwMode="auto">
          <a:xfrm>
            <a:off x="7315200" y="4419600"/>
            <a:ext cx="6096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100</a:t>
            </a:r>
          </a:p>
        </p:txBody>
      </p:sp>
      <p:sp>
        <p:nvSpPr>
          <p:cNvPr id="55309" name="Text Box 13"/>
          <p:cNvSpPr txBox="1">
            <a:spLocks noChangeArrowheads="1"/>
          </p:cNvSpPr>
          <p:nvPr/>
        </p:nvSpPr>
        <p:spPr bwMode="auto">
          <a:xfrm>
            <a:off x="762000" y="4510088"/>
            <a:ext cx="1633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pivot_index = 0</a:t>
            </a:r>
          </a:p>
        </p:txBody>
      </p:sp>
      <p:sp>
        <p:nvSpPr>
          <p:cNvPr id="55310" name="Text Box 14"/>
          <p:cNvSpPr txBox="1">
            <a:spLocks noChangeArrowheads="1"/>
          </p:cNvSpPr>
          <p:nvPr/>
        </p:nvSpPr>
        <p:spPr bwMode="auto">
          <a:xfrm>
            <a:off x="2482850" y="50292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[0]    [1]   [2]    [3]   [4]   [5]    [6]   [7]   [8]</a:t>
            </a:r>
          </a:p>
        </p:txBody>
      </p:sp>
      <p:sp>
        <p:nvSpPr>
          <p:cNvPr id="55316" name="AutoShape 20"/>
          <p:cNvSpPr>
            <a:spLocks/>
          </p:cNvSpPr>
          <p:nvPr/>
        </p:nvSpPr>
        <p:spPr bwMode="auto">
          <a:xfrm rot="5400000" flipV="1">
            <a:off x="5410200" y="1828800"/>
            <a:ext cx="152400" cy="4876800"/>
          </a:xfrm>
          <a:prstGeom prst="leftBrace">
            <a:avLst>
              <a:gd name="adj1" fmla="val 266667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17" name="Line 21"/>
          <p:cNvSpPr>
            <a:spLocks noChangeShapeType="1"/>
          </p:cNvSpPr>
          <p:nvPr/>
        </p:nvSpPr>
        <p:spPr bwMode="auto">
          <a:xfrm>
            <a:off x="3048000" y="44196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18" name="Line 22"/>
          <p:cNvSpPr>
            <a:spLocks noChangeShapeType="1"/>
          </p:cNvSpPr>
          <p:nvPr/>
        </p:nvSpPr>
        <p:spPr bwMode="auto">
          <a:xfrm>
            <a:off x="3124200" y="5943600"/>
            <a:ext cx="1752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19" name="Text Box 23"/>
          <p:cNvSpPr txBox="1">
            <a:spLocks noChangeArrowheads="1"/>
          </p:cNvSpPr>
          <p:nvPr/>
        </p:nvSpPr>
        <p:spPr bwMode="auto">
          <a:xfrm>
            <a:off x="3124200" y="6019800"/>
            <a:ext cx="1766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&gt; data[pivot]</a:t>
            </a:r>
          </a:p>
        </p:txBody>
      </p:sp>
      <p:sp>
        <p:nvSpPr>
          <p:cNvPr id="55320" name="Line 24"/>
          <p:cNvSpPr>
            <a:spLocks noChangeShapeType="1"/>
          </p:cNvSpPr>
          <p:nvPr/>
        </p:nvSpPr>
        <p:spPr bwMode="auto">
          <a:xfrm>
            <a:off x="2438400" y="44196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21" name="Line 25"/>
          <p:cNvSpPr>
            <a:spLocks noChangeShapeType="1"/>
          </p:cNvSpPr>
          <p:nvPr/>
        </p:nvSpPr>
        <p:spPr bwMode="auto">
          <a:xfrm flipH="1">
            <a:off x="381000" y="5943600"/>
            <a:ext cx="1981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22" name="Text Box 26"/>
          <p:cNvSpPr txBox="1">
            <a:spLocks noChangeArrowheads="1"/>
          </p:cNvSpPr>
          <p:nvPr/>
        </p:nvSpPr>
        <p:spPr bwMode="auto">
          <a:xfrm>
            <a:off x="457200" y="6019800"/>
            <a:ext cx="1938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&lt;= data[pivot]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Quicksort Analysis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lnSpc>
                <a:spcPct val="90000"/>
              </a:lnSpc>
            </a:pPr>
            <a:r>
              <a:rPr lang="en-US" altLang="en-US" sz="2800"/>
              <a:t>Assume that keys are random, uniformly distributed.</a:t>
            </a:r>
          </a:p>
          <a:p>
            <a:pPr marL="609600" indent="-609600">
              <a:lnSpc>
                <a:spcPct val="90000"/>
              </a:lnSpc>
            </a:pPr>
            <a:r>
              <a:rPr lang="en-US" altLang="en-US" sz="2800"/>
              <a:t>Best case running time: O(n log</a:t>
            </a:r>
            <a:r>
              <a:rPr lang="en-US" altLang="en-US" sz="2800" baseline="-25000"/>
              <a:t>2</a:t>
            </a:r>
            <a:r>
              <a:rPr lang="en-US" altLang="en-US" sz="2800"/>
              <a:t>n)</a:t>
            </a:r>
          </a:p>
          <a:p>
            <a:pPr marL="609600" indent="-609600">
              <a:lnSpc>
                <a:spcPct val="90000"/>
              </a:lnSpc>
            </a:pPr>
            <a:r>
              <a:rPr lang="en-US" altLang="en-US" sz="2800"/>
              <a:t>Worst case running time?</a:t>
            </a:r>
          </a:p>
          <a:p>
            <a:pPr marL="990600" lvl="1" indent="-533400">
              <a:lnSpc>
                <a:spcPct val="90000"/>
              </a:lnSpc>
            </a:pPr>
            <a:r>
              <a:rPr lang="en-US" altLang="en-US" sz="2400"/>
              <a:t>Recursion:</a:t>
            </a:r>
          </a:p>
          <a:p>
            <a:pPr marL="1371600" lvl="2" indent="-457200">
              <a:lnSpc>
                <a:spcPct val="90000"/>
              </a:lnSpc>
              <a:buFontTx/>
              <a:buAutoNum type="arabicPeriod"/>
            </a:pPr>
            <a:r>
              <a:rPr lang="en-US" altLang="en-US" sz="2000"/>
              <a:t>Partition splits array in two sub-arrays:</a:t>
            </a:r>
          </a:p>
          <a:p>
            <a:pPr marL="1752600" lvl="3" indent="-381000">
              <a:lnSpc>
                <a:spcPct val="90000"/>
              </a:lnSpc>
              <a:buFontTx/>
              <a:buChar char="•"/>
            </a:pPr>
            <a:r>
              <a:rPr lang="en-US" altLang="en-US" sz="1800"/>
              <a:t>one sub-array of size 0</a:t>
            </a:r>
          </a:p>
          <a:p>
            <a:pPr marL="1752600" lvl="3" indent="-381000">
              <a:lnSpc>
                <a:spcPct val="90000"/>
              </a:lnSpc>
              <a:buFontTx/>
              <a:buChar char="•"/>
            </a:pPr>
            <a:r>
              <a:rPr lang="en-US" altLang="en-US" sz="1800"/>
              <a:t>the other sub-array of size n-1</a:t>
            </a:r>
          </a:p>
          <a:p>
            <a:pPr marL="1371600" lvl="2" indent="-457200">
              <a:lnSpc>
                <a:spcPct val="90000"/>
              </a:lnSpc>
              <a:buFontTx/>
              <a:buAutoNum type="arabicPeriod"/>
            </a:pPr>
            <a:r>
              <a:rPr lang="en-US" altLang="en-US" sz="2000"/>
              <a:t>Quicksort each sub-array</a:t>
            </a:r>
          </a:p>
          <a:p>
            <a:pPr marL="990600" lvl="1" indent="-533400">
              <a:lnSpc>
                <a:spcPct val="90000"/>
              </a:lnSpc>
            </a:pPr>
            <a:r>
              <a:rPr lang="en-US" altLang="en-US" sz="2400"/>
              <a:t>Depth of recursion tree? </a:t>
            </a:r>
          </a:p>
          <a:p>
            <a:pPr marL="990600" lvl="1" indent="-533400">
              <a:lnSpc>
                <a:spcPct val="90000"/>
              </a:lnSpc>
            </a:pPr>
            <a:endParaRPr lang="en-US" altLang="en-US" sz="2400"/>
          </a:p>
          <a:p>
            <a:pPr marL="990600" lvl="1" indent="-533400">
              <a:lnSpc>
                <a:spcPct val="90000"/>
              </a:lnSpc>
            </a:pPr>
            <a:endParaRPr lang="en-US" altLang="en-US" sz="2400"/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en-US" altLang="en-US" sz="28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Quicksort Analysis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lnSpc>
                <a:spcPct val="90000"/>
              </a:lnSpc>
            </a:pPr>
            <a:r>
              <a:rPr lang="en-US" altLang="en-US" sz="2800"/>
              <a:t>Assume that keys are random, uniformly distributed.</a:t>
            </a:r>
          </a:p>
          <a:p>
            <a:pPr marL="609600" indent="-609600">
              <a:lnSpc>
                <a:spcPct val="90000"/>
              </a:lnSpc>
            </a:pPr>
            <a:r>
              <a:rPr lang="en-US" altLang="en-US" sz="2800"/>
              <a:t>Best case running time: O(n log</a:t>
            </a:r>
            <a:r>
              <a:rPr lang="en-US" altLang="en-US" sz="2800" baseline="-25000"/>
              <a:t>2</a:t>
            </a:r>
            <a:r>
              <a:rPr lang="en-US" altLang="en-US" sz="2800"/>
              <a:t>n)</a:t>
            </a:r>
          </a:p>
          <a:p>
            <a:pPr marL="609600" indent="-609600">
              <a:lnSpc>
                <a:spcPct val="90000"/>
              </a:lnSpc>
            </a:pPr>
            <a:r>
              <a:rPr lang="en-US" altLang="en-US" sz="2800"/>
              <a:t>Worst case running time?</a:t>
            </a:r>
          </a:p>
          <a:p>
            <a:pPr marL="990600" lvl="1" indent="-533400">
              <a:lnSpc>
                <a:spcPct val="90000"/>
              </a:lnSpc>
            </a:pPr>
            <a:r>
              <a:rPr lang="en-US" altLang="en-US" sz="2400"/>
              <a:t>Recursion:</a:t>
            </a:r>
          </a:p>
          <a:p>
            <a:pPr marL="1371600" lvl="2" indent="-457200">
              <a:lnSpc>
                <a:spcPct val="90000"/>
              </a:lnSpc>
              <a:buFontTx/>
              <a:buAutoNum type="arabicPeriod"/>
            </a:pPr>
            <a:r>
              <a:rPr lang="en-US" altLang="en-US" sz="2000"/>
              <a:t>Partition splits array in two sub-arrays:</a:t>
            </a:r>
          </a:p>
          <a:p>
            <a:pPr marL="1752600" lvl="3" indent="-381000">
              <a:lnSpc>
                <a:spcPct val="90000"/>
              </a:lnSpc>
              <a:buFontTx/>
              <a:buChar char="•"/>
            </a:pPr>
            <a:r>
              <a:rPr lang="en-US" altLang="en-US" sz="1800"/>
              <a:t>one sub-array of size 0</a:t>
            </a:r>
          </a:p>
          <a:p>
            <a:pPr marL="1752600" lvl="3" indent="-381000">
              <a:lnSpc>
                <a:spcPct val="90000"/>
              </a:lnSpc>
              <a:buFontTx/>
              <a:buChar char="•"/>
            </a:pPr>
            <a:r>
              <a:rPr lang="en-US" altLang="en-US" sz="1800"/>
              <a:t>the other sub-array of size n-1</a:t>
            </a:r>
          </a:p>
          <a:p>
            <a:pPr marL="1371600" lvl="2" indent="-457200">
              <a:lnSpc>
                <a:spcPct val="90000"/>
              </a:lnSpc>
              <a:buFontTx/>
              <a:buAutoNum type="arabicPeriod"/>
            </a:pPr>
            <a:r>
              <a:rPr lang="en-US" altLang="en-US" sz="2000"/>
              <a:t>Quicksort each sub-array</a:t>
            </a:r>
          </a:p>
          <a:p>
            <a:pPr marL="990600" lvl="1" indent="-533400">
              <a:lnSpc>
                <a:spcPct val="90000"/>
              </a:lnSpc>
            </a:pPr>
            <a:r>
              <a:rPr lang="en-US" altLang="en-US" sz="2400"/>
              <a:t>Depth of recursion tree? O(n)</a:t>
            </a:r>
          </a:p>
          <a:p>
            <a:pPr marL="990600" lvl="1" indent="-533400">
              <a:lnSpc>
                <a:spcPct val="90000"/>
              </a:lnSpc>
            </a:pPr>
            <a:endParaRPr lang="en-US" altLang="en-US" sz="2400"/>
          </a:p>
          <a:p>
            <a:pPr marL="990600" lvl="1" indent="-533400">
              <a:lnSpc>
                <a:spcPct val="90000"/>
              </a:lnSpc>
            </a:pPr>
            <a:endParaRPr lang="en-US" altLang="en-US" sz="2400"/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en-US" altLang="en-US" sz="28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Quicksort Analysis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lnSpc>
                <a:spcPct val="90000"/>
              </a:lnSpc>
            </a:pPr>
            <a:r>
              <a:rPr lang="en-US" altLang="en-US" sz="2800"/>
              <a:t>Assume that keys are random, uniformly distributed.</a:t>
            </a:r>
          </a:p>
          <a:p>
            <a:pPr marL="609600" indent="-609600">
              <a:lnSpc>
                <a:spcPct val="90000"/>
              </a:lnSpc>
            </a:pPr>
            <a:r>
              <a:rPr lang="en-US" altLang="en-US" sz="2800"/>
              <a:t>Best case running time: O(n log</a:t>
            </a:r>
            <a:r>
              <a:rPr lang="en-US" altLang="en-US" sz="2800" baseline="-25000"/>
              <a:t>2</a:t>
            </a:r>
            <a:r>
              <a:rPr lang="en-US" altLang="en-US" sz="2800"/>
              <a:t>n)</a:t>
            </a:r>
          </a:p>
          <a:p>
            <a:pPr marL="609600" indent="-609600">
              <a:lnSpc>
                <a:spcPct val="90000"/>
              </a:lnSpc>
            </a:pPr>
            <a:r>
              <a:rPr lang="en-US" altLang="en-US" sz="2800"/>
              <a:t>Worst case running time?</a:t>
            </a:r>
          </a:p>
          <a:p>
            <a:pPr marL="990600" lvl="1" indent="-533400">
              <a:lnSpc>
                <a:spcPct val="90000"/>
              </a:lnSpc>
            </a:pPr>
            <a:r>
              <a:rPr lang="en-US" altLang="en-US" sz="2400"/>
              <a:t>Recursion:</a:t>
            </a:r>
          </a:p>
          <a:p>
            <a:pPr marL="1371600" lvl="2" indent="-457200">
              <a:lnSpc>
                <a:spcPct val="90000"/>
              </a:lnSpc>
              <a:buFontTx/>
              <a:buAutoNum type="arabicPeriod"/>
            </a:pPr>
            <a:r>
              <a:rPr lang="en-US" altLang="en-US" sz="2000"/>
              <a:t>Partition splits array in two sub-arrays:</a:t>
            </a:r>
          </a:p>
          <a:p>
            <a:pPr marL="1752600" lvl="3" indent="-381000">
              <a:lnSpc>
                <a:spcPct val="90000"/>
              </a:lnSpc>
              <a:buFontTx/>
              <a:buChar char="•"/>
            </a:pPr>
            <a:r>
              <a:rPr lang="en-US" altLang="en-US" sz="1800"/>
              <a:t>one sub-array of size 0</a:t>
            </a:r>
          </a:p>
          <a:p>
            <a:pPr marL="1752600" lvl="3" indent="-381000">
              <a:lnSpc>
                <a:spcPct val="90000"/>
              </a:lnSpc>
              <a:buFontTx/>
              <a:buChar char="•"/>
            </a:pPr>
            <a:r>
              <a:rPr lang="en-US" altLang="en-US" sz="1800"/>
              <a:t>the other sub-array of size n-1</a:t>
            </a:r>
          </a:p>
          <a:p>
            <a:pPr marL="1371600" lvl="2" indent="-457200">
              <a:lnSpc>
                <a:spcPct val="90000"/>
              </a:lnSpc>
              <a:buFontTx/>
              <a:buAutoNum type="arabicPeriod"/>
            </a:pPr>
            <a:r>
              <a:rPr lang="en-US" altLang="en-US" sz="2000"/>
              <a:t>Quicksort each sub-array</a:t>
            </a:r>
          </a:p>
          <a:p>
            <a:pPr marL="990600" lvl="1" indent="-533400">
              <a:lnSpc>
                <a:spcPct val="90000"/>
              </a:lnSpc>
            </a:pPr>
            <a:r>
              <a:rPr lang="en-US" altLang="en-US" sz="2400"/>
              <a:t>Depth of recursion tree? O(n)</a:t>
            </a:r>
          </a:p>
          <a:p>
            <a:pPr marL="990600" lvl="1" indent="-533400">
              <a:lnSpc>
                <a:spcPct val="90000"/>
              </a:lnSpc>
            </a:pPr>
            <a:r>
              <a:rPr lang="en-US" altLang="en-US" sz="2400"/>
              <a:t>Number of accesses per partition? </a:t>
            </a:r>
          </a:p>
          <a:p>
            <a:pPr marL="990600" lvl="1" indent="-533400">
              <a:lnSpc>
                <a:spcPct val="90000"/>
              </a:lnSpc>
            </a:pPr>
            <a:endParaRPr lang="en-US" altLang="en-US" sz="2400"/>
          </a:p>
          <a:p>
            <a:pPr marL="990600" lvl="1" indent="-533400">
              <a:lnSpc>
                <a:spcPct val="90000"/>
              </a:lnSpc>
            </a:pPr>
            <a:endParaRPr lang="en-US" altLang="en-US" sz="2400"/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en-US" altLang="en-US" sz="28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Quicksort Analysis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lnSpc>
                <a:spcPct val="90000"/>
              </a:lnSpc>
            </a:pPr>
            <a:r>
              <a:rPr lang="en-US" altLang="en-US" sz="2800"/>
              <a:t>Assume that keys are random, uniformly distributed.</a:t>
            </a:r>
          </a:p>
          <a:p>
            <a:pPr marL="609600" indent="-609600">
              <a:lnSpc>
                <a:spcPct val="90000"/>
              </a:lnSpc>
            </a:pPr>
            <a:r>
              <a:rPr lang="en-US" altLang="en-US" sz="2800"/>
              <a:t>Best case running time: O(n log</a:t>
            </a:r>
            <a:r>
              <a:rPr lang="en-US" altLang="en-US" sz="2800" baseline="-25000"/>
              <a:t>2</a:t>
            </a:r>
            <a:r>
              <a:rPr lang="en-US" altLang="en-US" sz="2800"/>
              <a:t>n)</a:t>
            </a:r>
          </a:p>
          <a:p>
            <a:pPr marL="609600" indent="-609600">
              <a:lnSpc>
                <a:spcPct val="90000"/>
              </a:lnSpc>
            </a:pPr>
            <a:r>
              <a:rPr lang="en-US" altLang="en-US" sz="2800"/>
              <a:t>Worst case running time?</a:t>
            </a:r>
          </a:p>
          <a:p>
            <a:pPr marL="990600" lvl="1" indent="-533400">
              <a:lnSpc>
                <a:spcPct val="90000"/>
              </a:lnSpc>
            </a:pPr>
            <a:r>
              <a:rPr lang="en-US" altLang="en-US" sz="2400"/>
              <a:t>Recursion:</a:t>
            </a:r>
          </a:p>
          <a:p>
            <a:pPr marL="1371600" lvl="2" indent="-457200">
              <a:lnSpc>
                <a:spcPct val="90000"/>
              </a:lnSpc>
              <a:buFontTx/>
              <a:buAutoNum type="arabicPeriod"/>
            </a:pPr>
            <a:r>
              <a:rPr lang="en-US" altLang="en-US" sz="2000"/>
              <a:t>Partition splits array in two sub-arrays:</a:t>
            </a:r>
          </a:p>
          <a:p>
            <a:pPr marL="1752600" lvl="3" indent="-381000">
              <a:lnSpc>
                <a:spcPct val="90000"/>
              </a:lnSpc>
              <a:buFontTx/>
              <a:buChar char="•"/>
            </a:pPr>
            <a:r>
              <a:rPr lang="en-US" altLang="en-US" sz="1800"/>
              <a:t>one sub-array of size 0</a:t>
            </a:r>
          </a:p>
          <a:p>
            <a:pPr marL="1752600" lvl="3" indent="-381000">
              <a:lnSpc>
                <a:spcPct val="90000"/>
              </a:lnSpc>
              <a:buFontTx/>
              <a:buChar char="•"/>
            </a:pPr>
            <a:r>
              <a:rPr lang="en-US" altLang="en-US" sz="1800"/>
              <a:t>the other sub-array of size n-1</a:t>
            </a:r>
          </a:p>
          <a:p>
            <a:pPr marL="1371600" lvl="2" indent="-457200">
              <a:lnSpc>
                <a:spcPct val="90000"/>
              </a:lnSpc>
              <a:buFontTx/>
              <a:buAutoNum type="arabicPeriod"/>
            </a:pPr>
            <a:r>
              <a:rPr lang="en-US" altLang="en-US" sz="2000"/>
              <a:t>Quicksort each sub-array</a:t>
            </a:r>
          </a:p>
          <a:p>
            <a:pPr marL="990600" lvl="1" indent="-533400">
              <a:lnSpc>
                <a:spcPct val="90000"/>
              </a:lnSpc>
            </a:pPr>
            <a:r>
              <a:rPr lang="en-US" altLang="en-US" sz="2400"/>
              <a:t>Depth of recursion tree? O(n)</a:t>
            </a:r>
          </a:p>
          <a:p>
            <a:pPr marL="990600" lvl="1" indent="-533400">
              <a:lnSpc>
                <a:spcPct val="90000"/>
              </a:lnSpc>
            </a:pPr>
            <a:r>
              <a:rPr lang="en-US" altLang="en-US" sz="2400"/>
              <a:t>Number of accesses per partition? O(n)</a:t>
            </a:r>
          </a:p>
          <a:p>
            <a:pPr marL="990600" lvl="1" indent="-533400">
              <a:lnSpc>
                <a:spcPct val="90000"/>
              </a:lnSpc>
            </a:pPr>
            <a:endParaRPr lang="en-US" altLang="en-US" sz="2400"/>
          </a:p>
          <a:p>
            <a:pPr marL="990600" lvl="1" indent="-533400">
              <a:lnSpc>
                <a:spcPct val="90000"/>
              </a:lnSpc>
            </a:pPr>
            <a:endParaRPr lang="en-US" altLang="en-US" sz="2400"/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en-US" altLang="en-US" sz="28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82697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Quicksort Analysis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altLang="en-US" sz="2800"/>
              <a:t>Assume that keys are random, uniformly distributed.</a:t>
            </a:r>
          </a:p>
          <a:p>
            <a:pPr marL="609600" indent="-609600"/>
            <a:r>
              <a:rPr lang="en-US" altLang="en-US" sz="2800"/>
              <a:t>Best case running time: O(n log</a:t>
            </a:r>
            <a:r>
              <a:rPr lang="en-US" altLang="en-US" sz="2800" baseline="-25000"/>
              <a:t>2</a:t>
            </a:r>
            <a:r>
              <a:rPr lang="en-US" altLang="en-US" sz="2800"/>
              <a:t>n)</a:t>
            </a:r>
          </a:p>
          <a:p>
            <a:pPr marL="609600" indent="-609600"/>
            <a:r>
              <a:rPr lang="en-US" altLang="en-US" sz="2800"/>
              <a:t>Worst case running time: O(n</a:t>
            </a:r>
            <a:r>
              <a:rPr lang="en-US" altLang="en-US" sz="2800" baseline="30000"/>
              <a:t>2</a:t>
            </a:r>
            <a:r>
              <a:rPr lang="en-US" altLang="en-US" sz="2800"/>
              <a:t>)!!!</a:t>
            </a:r>
          </a:p>
          <a:p>
            <a:pPr marL="990600" lvl="1" indent="-533400"/>
            <a:endParaRPr lang="en-US" altLang="en-US"/>
          </a:p>
          <a:p>
            <a:pPr marL="609600" indent="-609600">
              <a:buFontTx/>
              <a:buNone/>
            </a:pPr>
            <a:endParaRPr lang="en-US" altLang="en-US" sz="28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Quicksort Analysis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altLang="en-US" sz="2800"/>
              <a:t>Assume that keys are random, uniformly distributed.</a:t>
            </a:r>
          </a:p>
          <a:p>
            <a:pPr marL="609600" indent="-609600"/>
            <a:r>
              <a:rPr lang="en-US" altLang="en-US" sz="2800"/>
              <a:t>Best case running time: O(n log</a:t>
            </a:r>
            <a:r>
              <a:rPr lang="en-US" altLang="en-US" sz="2800" baseline="-25000"/>
              <a:t>2</a:t>
            </a:r>
            <a:r>
              <a:rPr lang="en-US" altLang="en-US" sz="2800"/>
              <a:t>n)</a:t>
            </a:r>
          </a:p>
          <a:p>
            <a:pPr marL="609600" indent="-609600"/>
            <a:r>
              <a:rPr lang="en-US" altLang="en-US" sz="2800"/>
              <a:t>Worst case running time: O(n</a:t>
            </a:r>
            <a:r>
              <a:rPr lang="en-US" altLang="en-US" sz="2800" baseline="30000"/>
              <a:t>2</a:t>
            </a:r>
            <a:r>
              <a:rPr lang="en-US" altLang="en-US" sz="2800"/>
              <a:t>)!!!</a:t>
            </a:r>
          </a:p>
          <a:p>
            <a:pPr marL="609600" indent="-609600"/>
            <a:r>
              <a:rPr lang="en-US" altLang="en-US" sz="2800"/>
              <a:t>What can we do to avoid worst case?</a:t>
            </a:r>
          </a:p>
          <a:p>
            <a:pPr marL="990600" lvl="1" indent="-533400"/>
            <a:endParaRPr lang="en-US" altLang="en-US"/>
          </a:p>
          <a:p>
            <a:pPr marL="609600" indent="-609600">
              <a:buFontTx/>
              <a:buNone/>
            </a:pPr>
            <a:endParaRPr lang="en-US" altLang="en-US" sz="28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Improved Pivot Selection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Tx/>
              <a:buNone/>
            </a:pPr>
            <a:r>
              <a:rPr lang="en-US" altLang="en-US" sz="2800"/>
              <a:t>Pick median value of three elements from data array:</a:t>
            </a:r>
          </a:p>
          <a:p>
            <a:pPr marL="609600" indent="-609600">
              <a:buFontTx/>
              <a:buNone/>
            </a:pPr>
            <a:r>
              <a:rPr lang="en-US" altLang="en-US" sz="2800"/>
              <a:t>	data[0], data[n/2], and data[n-1].</a:t>
            </a:r>
          </a:p>
          <a:p>
            <a:pPr marL="609600" indent="-609600">
              <a:buFontTx/>
              <a:buNone/>
            </a:pPr>
            <a:endParaRPr lang="en-US" altLang="en-US" sz="2800"/>
          </a:p>
          <a:p>
            <a:pPr marL="609600" indent="-609600">
              <a:buFontTx/>
              <a:buNone/>
            </a:pPr>
            <a:r>
              <a:rPr lang="en-US" altLang="en-US" sz="2800"/>
              <a:t>Use this median value as pivot.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Improving Performance of Quicksort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Improved selection of pivot.</a:t>
            </a:r>
          </a:p>
          <a:p>
            <a:r>
              <a:rPr lang="en-US" altLang="en-US"/>
              <a:t>For sub-arrays of size 3 or less, apply brute force search:</a:t>
            </a:r>
          </a:p>
          <a:p>
            <a:pPr lvl="1"/>
            <a:r>
              <a:rPr lang="en-US" altLang="en-US"/>
              <a:t>Sub-array of size 1: trivial</a:t>
            </a:r>
          </a:p>
          <a:p>
            <a:pPr lvl="1"/>
            <a:r>
              <a:rPr lang="en-US" altLang="en-US"/>
              <a:t>Sub-array of size 2:</a:t>
            </a:r>
          </a:p>
          <a:p>
            <a:pPr lvl="2"/>
            <a:r>
              <a:rPr lang="en-US" altLang="en-US"/>
              <a:t>if(data[first] &gt; data[second]) swap them</a:t>
            </a:r>
          </a:p>
          <a:p>
            <a:pPr lvl="1"/>
            <a:r>
              <a:rPr lang="en-US" altLang="en-US"/>
              <a:t>Sub-array of size 3: left as an exercise.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FF"/>
      </a:dk2>
      <a:lt2>
        <a:srgbClr val="FFFF00"/>
      </a:lt2>
      <a:accent1>
        <a:srgbClr val="FF9900"/>
      </a:accent1>
      <a:accent2>
        <a:srgbClr val="00FFFF"/>
      </a:accent2>
      <a:accent3>
        <a:srgbClr val="AAAAFF"/>
      </a:accent3>
      <a:accent4>
        <a:srgbClr val="DADADA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3843</Words>
  <Application>Microsoft Office PowerPoint</Application>
  <PresentationFormat>On-screen Show (4:3)</PresentationFormat>
  <Paragraphs>1032</Paragraphs>
  <Slides>83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9" baseType="lpstr">
      <vt:lpstr>Cambria Math</vt:lpstr>
      <vt:lpstr>Courier New</vt:lpstr>
      <vt:lpstr>Symbol</vt:lpstr>
      <vt:lpstr>Times New Roman</vt:lpstr>
      <vt:lpstr>Default Design</vt:lpstr>
      <vt:lpstr>Equation</vt:lpstr>
      <vt:lpstr>Divide and conquer</vt:lpstr>
      <vt:lpstr>Contents </vt:lpstr>
      <vt:lpstr>General Method</vt:lpstr>
      <vt:lpstr>Real-time problems</vt:lpstr>
      <vt:lpstr>Advantages Vs disadvantages</vt:lpstr>
      <vt:lpstr>Binary Search </vt:lpstr>
      <vt:lpstr>Example </vt:lpstr>
      <vt:lpstr>Binary search analysis</vt:lpstr>
      <vt:lpstr>Analysis of Binary Search </vt:lpstr>
      <vt:lpstr> Analysis of Binary Search </vt:lpstr>
      <vt:lpstr> Analysis of Binary Search </vt:lpstr>
      <vt:lpstr>Binary search – Best case</vt:lpstr>
      <vt:lpstr>Binary search – worst case</vt:lpstr>
      <vt:lpstr>Binary search – average case</vt:lpstr>
      <vt:lpstr>Note </vt:lpstr>
      <vt:lpstr>Binary search space complexity </vt:lpstr>
      <vt:lpstr>Merge Sort</vt:lpstr>
      <vt:lpstr>Partitioning - Choice 1</vt:lpstr>
      <vt:lpstr>Partitioning - Choice 2</vt:lpstr>
      <vt:lpstr>Partitioning - Choice 3</vt:lpstr>
      <vt:lpstr>Example</vt:lpstr>
      <vt:lpstr>Example Cont’d</vt:lpstr>
      <vt:lpstr>Static Method mergeSort()</vt:lpstr>
      <vt:lpstr>Evaluation</vt:lpstr>
      <vt:lpstr>Solution</vt:lpstr>
      <vt:lpstr>Quicksort Algorithm</vt:lpstr>
      <vt:lpstr>Example</vt:lpstr>
      <vt:lpstr>Pick Pivot Element</vt:lpstr>
      <vt:lpstr>Partitioning Array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Partition Result</vt:lpstr>
      <vt:lpstr>Recursion: Quicksort Sub-arrays</vt:lpstr>
      <vt:lpstr>Quicksort Analysis</vt:lpstr>
      <vt:lpstr>Quicksort Analysis</vt:lpstr>
      <vt:lpstr>Quicksort Analysis</vt:lpstr>
      <vt:lpstr>Quicksort Analysis</vt:lpstr>
      <vt:lpstr>Quicksort Analysis</vt:lpstr>
      <vt:lpstr>Quick sort: Best case</vt:lpstr>
      <vt:lpstr>PowerPoint Presentation</vt:lpstr>
      <vt:lpstr>Quicksort Analysis</vt:lpstr>
      <vt:lpstr>Quicksort Analysis</vt:lpstr>
      <vt:lpstr>Quicksort: Worst Case</vt:lpstr>
      <vt:lpstr>Quicksort: Worst Case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Quicksort Analysis</vt:lpstr>
      <vt:lpstr>Quicksort Analysis</vt:lpstr>
      <vt:lpstr>Quicksort Analysis</vt:lpstr>
      <vt:lpstr>Quicksort Analysis</vt:lpstr>
      <vt:lpstr>PowerPoint Presentation</vt:lpstr>
      <vt:lpstr>Quicksort Analysis</vt:lpstr>
      <vt:lpstr>Quicksort Analysis</vt:lpstr>
      <vt:lpstr>Improved Pivot Selection</vt:lpstr>
      <vt:lpstr>Improving Performance of Quicksort</vt:lpstr>
    </vt:vector>
  </TitlesOfParts>
  <Company>Boston 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Quicksort</dc:title>
  <dc:creator>Stan Sclaroff</dc:creator>
  <cp:lastModifiedBy>BVR</cp:lastModifiedBy>
  <cp:revision>37</cp:revision>
  <dcterms:created xsi:type="dcterms:W3CDTF">2000-04-20T12:19:24Z</dcterms:created>
  <dcterms:modified xsi:type="dcterms:W3CDTF">2026-01-23T05:46:41Z</dcterms:modified>
</cp:coreProperties>
</file>