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6"/>
  </p:notesMasterIdLst>
  <p:sldIdLst>
    <p:sldId id="256" r:id="rId2"/>
    <p:sldId id="259" r:id="rId3"/>
    <p:sldId id="260" r:id="rId4"/>
    <p:sldId id="263" r:id="rId5"/>
    <p:sldId id="261" r:id="rId6"/>
    <p:sldId id="262" r:id="rId7"/>
    <p:sldId id="266" r:id="rId8"/>
    <p:sldId id="265" r:id="rId9"/>
    <p:sldId id="279" r:id="rId10"/>
    <p:sldId id="335" r:id="rId11"/>
    <p:sldId id="336" r:id="rId12"/>
    <p:sldId id="264" r:id="rId13"/>
    <p:sldId id="267" r:id="rId14"/>
    <p:sldId id="268" r:id="rId15"/>
    <p:sldId id="272" r:id="rId16"/>
    <p:sldId id="273" r:id="rId17"/>
    <p:sldId id="274" r:id="rId18"/>
    <p:sldId id="300" r:id="rId19"/>
    <p:sldId id="277" r:id="rId20"/>
    <p:sldId id="278" r:id="rId21"/>
    <p:sldId id="280" r:id="rId22"/>
    <p:sldId id="281" r:id="rId23"/>
    <p:sldId id="283" r:id="rId24"/>
    <p:sldId id="284" r:id="rId25"/>
    <p:sldId id="286" r:id="rId26"/>
    <p:sldId id="287" r:id="rId27"/>
    <p:sldId id="288" r:id="rId28"/>
    <p:sldId id="289" r:id="rId29"/>
    <p:sldId id="290" r:id="rId30"/>
    <p:sldId id="291" r:id="rId31"/>
    <p:sldId id="292" r:id="rId32"/>
    <p:sldId id="293" r:id="rId33"/>
    <p:sldId id="294" r:id="rId34"/>
    <p:sldId id="295" r:id="rId35"/>
    <p:sldId id="296" r:id="rId36"/>
    <p:sldId id="297" r:id="rId37"/>
    <p:sldId id="298" r:id="rId38"/>
    <p:sldId id="282" r:id="rId39"/>
    <p:sldId id="299" r:id="rId40"/>
    <p:sldId id="301" r:id="rId41"/>
    <p:sldId id="303" r:id="rId42"/>
    <p:sldId id="304" r:id="rId43"/>
    <p:sldId id="337" r:id="rId44"/>
    <p:sldId id="305" r:id="rId45"/>
    <p:sldId id="306" r:id="rId46"/>
    <p:sldId id="307" r:id="rId47"/>
    <p:sldId id="308" r:id="rId48"/>
    <p:sldId id="309" r:id="rId49"/>
    <p:sldId id="310" r:id="rId50"/>
    <p:sldId id="311" r:id="rId51"/>
    <p:sldId id="312" r:id="rId52"/>
    <p:sldId id="313" r:id="rId53"/>
    <p:sldId id="314" r:id="rId54"/>
    <p:sldId id="315" r:id="rId55"/>
    <p:sldId id="316" r:id="rId56"/>
    <p:sldId id="317" r:id="rId57"/>
    <p:sldId id="318" r:id="rId58"/>
    <p:sldId id="319" r:id="rId59"/>
    <p:sldId id="320" r:id="rId60"/>
    <p:sldId id="330" r:id="rId61"/>
    <p:sldId id="338" r:id="rId62"/>
    <p:sldId id="321" r:id="rId63"/>
    <p:sldId id="323" r:id="rId64"/>
    <p:sldId id="324" r:id="rId65"/>
    <p:sldId id="331" r:id="rId66"/>
    <p:sldId id="325" r:id="rId67"/>
    <p:sldId id="332" r:id="rId68"/>
    <p:sldId id="326" r:id="rId69"/>
    <p:sldId id="327" r:id="rId70"/>
    <p:sldId id="328" r:id="rId71"/>
    <p:sldId id="329" r:id="rId72"/>
    <p:sldId id="334" r:id="rId73"/>
    <p:sldId id="333" r:id="rId74"/>
    <p:sldId id="339" r:id="rId7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1704" y="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423AD1-BF8C-4C80-936C-88BE7FD4AE1E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8CE59A-7589-4AC9-9FA6-73EC7E5D2F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27050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8CE59A-7589-4AC9-9FA6-73EC7E5D2F9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93009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108" eaLnBrk="0" hangingPunct="0">
              <a:defRPr sz="16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31286" indent="-281264" defTabSz="914108" eaLnBrk="0" hangingPunct="0">
              <a:defRPr sz="16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25055" indent="-225011" defTabSz="914108" eaLnBrk="0" hangingPunct="0">
              <a:defRPr sz="16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575077" indent="-225011" defTabSz="914108" eaLnBrk="0" hangingPunct="0">
              <a:defRPr sz="16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25099" indent="-225011" defTabSz="914108" eaLnBrk="0" hangingPunct="0">
              <a:defRPr sz="16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475121" indent="-225011" defTabSz="91410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25143" indent="-225011" defTabSz="91410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375165" indent="-225011" defTabSz="91410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25187" indent="-225011" defTabSz="91410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fld id="{985932A1-76BB-412A-85D7-DB6CD4255C4E}" type="slidenum">
              <a:rPr lang="zh-CN" altLang="en-US" sz="1200" b="0">
                <a:latin typeface="Times New Roman" pitchFamily="18" charset="0"/>
                <a:ea typeface="SimSun" pitchFamily="2" charset="-122"/>
              </a:rPr>
              <a:pPr/>
              <a:t>15</a:t>
            </a:fld>
            <a:endParaRPr lang="en-US" altLang="zh-CN" sz="1200" b="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60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mtClean="0">
              <a:ea typeface="SimSun" pitchFamily="2" charset="-122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108" eaLnBrk="0" hangingPunct="0">
              <a:defRPr sz="16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31286" indent="-281264" defTabSz="914108" eaLnBrk="0" hangingPunct="0">
              <a:defRPr sz="16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25055" indent="-225011" defTabSz="914108" eaLnBrk="0" hangingPunct="0">
              <a:defRPr sz="16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575077" indent="-225011" defTabSz="914108" eaLnBrk="0" hangingPunct="0">
              <a:defRPr sz="16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25099" indent="-225011" defTabSz="914108" eaLnBrk="0" hangingPunct="0">
              <a:defRPr sz="16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475121" indent="-225011" defTabSz="91410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25143" indent="-225011" defTabSz="91410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375165" indent="-225011" defTabSz="91410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25187" indent="-225011" defTabSz="91410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fld id="{8DAE2323-7481-41BF-BCE2-869BF7F46246}" type="slidenum">
              <a:rPr lang="zh-CN" altLang="en-US" sz="1200" b="0">
                <a:latin typeface="Times New Roman" pitchFamily="18" charset="0"/>
                <a:ea typeface="SimSun" pitchFamily="2" charset="-122"/>
              </a:rPr>
              <a:pPr/>
              <a:t>16</a:t>
            </a:fld>
            <a:endParaRPr lang="en-US" altLang="zh-CN" sz="1200" b="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61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 smtClean="0">
              <a:ea typeface="SimSun" pitchFamily="2" charset="-122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108" eaLnBrk="0" hangingPunct="0">
              <a:defRPr sz="16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31286" indent="-281264" defTabSz="914108" eaLnBrk="0" hangingPunct="0">
              <a:defRPr sz="16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25055" indent="-225011" defTabSz="914108" eaLnBrk="0" hangingPunct="0">
              <a:defRPr sz="16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575077" indent="-225011" defTabSz="914108" eaLnBrk="0" hangingPunct="0">
              <a:defRPr sz="16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25099" indent="-225011" defTabSz="914108" eaLnBrk="0" hangingPunct="0">
              <a:defRPr sz="16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475121" indent="-225011" defTabSz="91410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25143" indent="-225011" defTabSz="91410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375165" indent="-225011" defTabSz="91410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25187" indent="-225011" defTabSz="91410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fld id="{8D175799-6B8B-4C90-B365-0BD6D609F44A}" type="slidenum">
              <a:rPr lang="zh-CN" altLang="en-US" sz="1200" b="0">
                <a:latin typeface="Times New Roman" pitchFamily="18" charset="0"/>
                <a:ea typeface="SimSun" pitchFamily="2" charset="-122"/>
              </a:rPr>
              <a:pPr/>
              <a:t>17</a:t>
            </a:fld>
            <a:endParaRPr lang="en-US" altLang="zh-CN" sz="1200" b="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62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mtClean="0">
              <a:ea typeface="SimSun" pitchFamily="2" charset="-122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15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2150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8E0E66CA-9064-436C-83D1-736574842BC9}" type="slidenum">
              <a:rPr lang="en-US" altLang="en-US" sz="1200"/>
              <a:pPr eaLnBrk="1" hangingPunct="1"/>
              <a:t>41</a:t>
            </a:fld>
            <a:endParaRPr lang="en-US" altLang="en-US" sz="120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2253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B0C93569-68F7-49CB-915B-B88102B7C2CA}" type="slidenum">
              <a:rPr lang="en-US" altLang="en-US" sz="1200"/>
              <a:pPr eaLnBrk="1" hangingPunct="1"/>
              <a:t>42</a:t>
            </a:fld>
            <a:endParaRPr lang="en-US" altLang="en-US" sz="120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355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2355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6F826BA1-144E-474B-A61D-233D049FA3EE}" type="slidenum">
              <a:rPr lang="en-US" altLang="en-US" sz="1200"/>
              <a:pPr eaLnBrk="1" hangingPunct="1"/>
              <a:t>44</a:t>
            </a:fld>
            <a:endParaRPr lang="en-US" altLang="en-US" sz="120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57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2458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C61F76FD-5D27-44B3-80A2-6986134A0751}" type="slidenum">
              <a:rPr lang="en-US" altLang="en-US" sz="1200"/>
              <a:pPr eaLnBrk="1" hangingPunct="1"/>
              <a:t>45</a:t>
            </a:fld>
            <a:endParaRPr lang="en-US" altLang="en-US" sz="120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2560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C7666513-E9E7-4FD4-853D-3AEF0131B1D6}" type="slidenum">
              <a:rPr lang="en-US" altLang="en-US" sz="1200"/>
              <a:pPr eaLnBrk="1" hangingPunct="1"/>
              <a:t>46</a:t>
            </a:fld>
            <a:endParaRPr lang="en-US" altLang="en-US" sz="120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662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2662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108550FD-9F75-4544-9D70-74719EA86167}" type="slidenum">
              <a:rPr lang="en-US" altLang="en-US" sz="1200"/>
              <a:pPr eaLnBrk="1" hangingPunct="1"/>
              <a:t>47</a:t>
            </a:fld>
            <a:endParaRPr lang="en-US" altLang="en-US" sz="120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765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2765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0B1586F6-A4E5-4641-AC2F-9472C57B3AD4}" type="slidenum">
              <a:rPr lang="en-US" altLang="en-US" sz="1200"/>
              <a:pPr eaLnBrk="1" hangingPunct="1"/>
              <a:t>48</a:t>
            </a:fld>
            <a:endParaRPr lang="en-US" altLang="en-US" sz="120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867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2867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6095E783-4229-453B-9BFC-3B7E5BA73CEC}" type="slidenum">
              <a:rPr lang="en-US" altLang="en-US" sz="1200"/>
              <a:pPr eaLnBrk="1" hangingPunct="1"/>
              <a:t>49</a:t>
            </a:fld>
            <a:endParaRPr lang="en-US" altLang="en-US" sz="120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969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2970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B3559EB1-FF07-4D40-945A-6AD27E8DF94C}" type="slidenum">
              <a:rPr lang="en-US" altLang="en-US" sz="1200"/>
              <a:pPr eaLnBrk="1" hangingPunct="1"/>
              <a:t>50</a:t>
            </a:fld>
            <a:endParaRPr lang="en-US" altLang="en-US" sz="120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3072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5630B854-0D05-4270-AB40-93846BD5A6F1}" type="slidenum">
              <a:rPr lang="en-US" altLang="en-US" sz="1200"/>
              <a:pPr eaLnBrk="1" hangingPunct="1"/>
              <a:t>51</a:t>
            </a:fld>
            <a:endParaRPr lang="en-US" altLang="en-US" sz="120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174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3174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14FC8C7E-6A77-4FF2-82A8-0147D44F68FD}" type="slidenum">
              <a:rPr lang="en-US" altLang="en-US" sz="1200"/>
              <a:pPr eaLnBrk="1" hangingPunct="1"/>
              <a:t>52</a:t>
            </a:fld>
            <a:endParaRPr lang="en-US" altLang="en-US" sz="120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277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3277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5F771762-0B18-47E5-9E20-E9A966D761F6}" type="slidenum">
              <a:rPr lang="en-US" altLang="en-US" sz="1200"/>
              <a:pPr eaLnBrk="1" hangingPunct="1"/>
              <a:t>53</a:t>
            </a:fld>
            <a:endParaRPr lang="en-US" altLang="en-US" sz="120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379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3379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B6982F17-9566-4E89-8365-0C65DC6D04A8}" type="slidenum">
              <a:rPr lang="en-US" altLang="en-US" sz="1200"/>
              <a:pPr eaLnBrk="1" hangingPunct="1"/>
              <a:t>54</a:t>
            </a:fld>
            <a:endParaRPr lang="en-US" altLang="en-US" sz="120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3482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E7989249-7D99-4932-A2D8-6A6928B577C5}" type="slidenum">
              <a:rPr lang="en-US" altLang="en-US" sz="1200"/>
              <a:pPr eaLnBrk="1" hangingPunct="1"/>
              <a:t>55</a:t>
            </a:fld>
            <a:endParaRPr lang="en-US" altLang="en-US" sz="120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584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3584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42E4FE14-8ED2-40AF-BF06-1ECE34690341}" type="slidenum">
              <a:rPr lang="en-US" altLang="en-US" sz="1200"/>
              <a:pPr eaLnBrk="1" hangingPunct="1"/>
              <a:t>56</a:t>
            </a:fld>
            <a:endParaRPr lang="en-US" altLang="en-US" sz="120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686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3686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03F48E70-2829-40AC-B9DA-BA764F57EB60}" type="slidenum">
              <a:rPr lang="en-US" altLang="en-US" sz="1200"/>
              <a:pPr eaLnBrk="1" hangingPunct="1"/>
              <a:t>57</a:t>
            </a:fld>
            <a:endParaRPr lang="en-US" altLang="en-US" sz="120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789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3789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3119ED9E-858E-47D6-8274-FDA6ABD0F2A3}" type="slidenum">
              <a:rPr lang="en-US" altLang="en-US" sz="1200"/>
              <a:pPr eaLnBrk="1" hangingPunct="1"/>
              <a:t>58</a:t>
            </a:fld>
            <a:endParaRPr lang="en-US" altLang="en-US" sz="120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891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3891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E84EE14A-6761-4D9D-B154-B4F855B4F1F7}" type="slidenum">
              <a:rPr lang="en-US" altLang="en-US" sz="1200"/>
              <a:pPr eaLnBrk="1" hangingPunct="1"/>
              <a:t>59</a:t>
            </a:fld>
            <a:endParaRPr lang="en-US" altLang="en-US" sz="120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277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3277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455B16C4-BA18-4CF1-92EA-2EC8E1BC2BA4}" type="slidenum">
              <a:rPr lang="en-US" altLang="en-US" sz="1200"/>
              <a:pPr eaLnBrk="1" hangingPunct="1"/>
              <a:t>69</a:t>
            </a:fld>
            <a:endParaRPr lang="en-US" altLang="en-US" sz="120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3B95F8-AB01-48F0-B79C-3B602A45075C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18047-F1A9-4E61-9105-B5D158CDFC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33237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3B95F8-AB01-48F0-B79C-3B602A45075C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18047-F1A9-4E61-9105-B5D158CDFC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03183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3B95F8-AB01-48F0-B79C-3B602A45075C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18047-F1A9-4E61-9105-B5D158CDFC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82731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3B95F8-AB01-48F0-B79C-3B602A45075C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18047-F1A9-4E61-9105-B5D158CDFC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66448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3B95F8-AB01-48F0-B79C-3B602A45075C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18047-F1A9-4E61-9105-B5D158CDFC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27035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3B95F8-AB01-48F0-B79C-3B602A45075C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18047-F1A9-4E61-9105-B5D158CDFC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55353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3B95F8-AB01-48F0-B79C-3B602A45075C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18047-F1A9-4E61-9105-B5D158CDFC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69794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3B95F8-AB01-48F0-B79C-3B602A45075C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18047-F1A9-4E61-9105-B5D158CDFC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36693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3B95F8-AB01-48F0-B79C-3B602A45075C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18047-F1A9-4E61-9105-B5D158CDFC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47373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3B95F8-AB01-48F0-B79C-3B602A45075C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18047-F1A9-4E61-9105-B5D158CDFC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74004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3B95F8-AB01-48F0-B79C-3B602A45075C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18047-F1A9-4E61-9105-B5D158CDFC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58336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3B95F8-AB01-48F0-B79C-3B602A45075C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218047-F1A9-4E61-9105-B5D158CDFC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706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7" Type="http://schemas.openxmlformats.org/officeDocument/2006/relationships/image" Target="../media/image16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jpeg"/><Relationship Id="rId5" Type="http://schemas.openxmlformats.org/officeDocument/2006/relationships/image" Target="../media/image14.jpeg"/><Relationship Id="rId4" Type="http://schemas.openxmlformats.org/officeDocument/2006/relationships/image" Target="../media/image13.jpe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Greedy Method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Unit 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30726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Greedy </a:t>
            </a:r>
            <a:r>
              <a:rPr lang="en-US" dirty="0"/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 greedy algorithm is a mathematical process that </a:t>
            </a:r>
            <a:r>
              <a:rPr lang="en-US" dirty="0" smtClean="0">
                <a:solidFill>
                  <a:srgbClr val="FF0000"/>
                </a:solidFill>
              </a:rPr>
              <a:t>looks for simple, easy-to-implement solutions</a:t>
            </a:r>
            <a:r>
              <a:rPr lang="en-US" dirty="0" smtClean="0"/>
              <a:t> to </a:t>
            </a:r>
            <a:r>
              <a:rPr lang="en-US" dirty="0" smtClean="0">
                <a:solidFill>
                  <a:srgbClr val="FF0000"/>
                </a:solidFill>
              </a:rPr>
              <a:t>complex, multi-step problems </a:t>
            </a:r>
            <a:r>
              <a:rPr lang="en-US" dirty="0" smtClean="0"/>
              <a:t>by deciding which next step will provide the most obvious benefit.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1724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 they are greedy 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458200" cy="4525963"/>
          </a:xfrm>
        </p:spPr>
        <p:txBody>
          <a:bodyPr>
            <a:normAutofit fontScale="92500"/>
          </a:bodyPr>
          <a:lstStyle/>
          <a:p>
            <a:r>
              <a:rPr lang="en-US" dirty="0" smtClean="0"/>
              <a:t>Such algorithms are called greedy because while </a:t>
            </a:r>
            <a:r>
              <a:rPr lang="en-US" dirty="0" smtClean="0">
                <a:solidFill>
                  <a:srgbClr val="FF0000"/>
                </a:solidFill>
              </a:rPr>
              <a:t>the optimal solution to each smaller instance will provide an immediate output</a:t>
            </a:r>
          </a:p>
          <a:p>
            <a:r>
              <a:rPr lang="en-US" dirty="0" smtClean="0"/>
              <a:t>The algorithm doesn’t consider the larger problem as a whole. </a:t>
            </a:r>
          </a:p>
          <a:p>
            <a:r>
              <a:rPr lang="en-US" dirty="0" smtClean="0"/>
              <a:t>Once a decision has been made, it is never reconsidered.</a:t>
            </a:r>
          </a:p>
          <a:p>
            <a:r>
              <a:rPr lang="en-US" dirty="0" smtClean="0"/>
              <a:t>The greedy choice property brings efficiency in solving the problem with the help of subproblems.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28180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it works 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600200"/>
            <a:ext cx="8763000" cy="4525963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It  </a:t>
            </a:r>
            <a:r>
              <a:rPr lang="en-US" dirty="0"/>
              <a:t>work by </a:t>
            </a:r>
            <a:r>
              <a:rPr lang="en-US" dirty="0">
                <a:solidFill>
                  <a:srgbClr val="FF0000"/>
                </a:solidFill>
              </a:rPr>
              <a:t>recursively</a:t>
            </a:r>
            <a:r>
              <a:rPr lang="en-US" dirty="0"/>
              <a:t> constructing a set of objects from the smallest possible constituent parts. </a:t>
            </a:r>
          </a:p>
          <a:p>
            <a:pPr lvl="1"/>
            <a:r>
              <a:rPr lang="en-US" dirty="0"/>
              <a:t>It works in stages.</a:t>
            </a:r>
          </a:p>
          <a:p>
            <a:pPr lvl="1"/>
            <a:r>
              <a:rPr lang="en-US" dirty="0" smtClean="0"/>
              <a:t>Selects some solution from input domain.</a:t>
            </a:r>
          </a:p>
          <a:p>
            <a:pPr lvl="1"/>
            <a:r>
              <a:rPr lang="en-US" dirty="0"/>
              <a:t>Only one input is considered at each time.</a:t>
            </a:r>
          </a:p>
          <a:p>
            <a:pPr lvl="1"/>
            <a:r>
              <a:rPr lang="en-US" dirty="0" smtClean="0"/>
              <a:t>Checks whether the solution is feasible or not.</a:t>
            </a:r>
          </a:p>
          <a:p>
            <a:pPr lvl="1"/>
            <a:r>
              <a:rPr lang="en-US" dirty="0" smtClean="0"/>
              <a:t>From the set of feasible solutions selects optimal solutions.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30629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Advantage of greedy method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 smtClean="0"/>
          </a:p>
          <a:p>
            <a:endParaRPr lang="en-US" dirty="0" smtClean="0"/>
          </a:p>
          <a:p>
            <a:pPr marL="0" indent="0">
              <a:buNone/>
            </a:pPr>
            <a:r>
              <a:rPr lang="en-US" sz="3600" dirty="0" smtClean="0"/>
              <a:t>solutions to smaller instances of the problem can be straightforward and easy to understand. 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9874843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Where will u apply?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Greedy algorithms are often used in </a:t>
            </a:r>
            <a:r>
              <a:rPr lang="en-US" dirty="0" smtClean="0">
                <a:solidFill>
                  <a:srgbClr val="FF0000"/>
                </a:solidFill>
              </a:rPr>
              <a:t>ad hoc mobile networking </a:t>
            </a:r>
            <a:r>
              <a:rPr lang="en-US" dirty="0" smtClean="0"/>
              <a:t>to efficiently route packets with the fewest number of hops and the shortest delay possible. </a:t>
            </a:r>
          </a:p>
          <a:p>
            <a:r>
              <a:rPr lang="en-US" dirty="0" smtClean="0"/>
              <a:t>They are also used in machine learning (ML), business intelligence (BI), artificial intelligence (AI) and programming.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12914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Various other applications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Job sequencing with deadline</a:t>
            </a:r>
          </a:p>
          <a:p>
            <a:r>
              <a:rPr lang="en-US" dirty="0" smtClean="0"/>
              <a:t>Knapsack problem</a:t>
            </a:r>
          </a:p>
          <a:p>
            <a:r>
              <a:rPr lang="en-US" dirty="0" smtClean="0"/>
              <a:t>Minimum spanning tree</a:t>
            </a:r>
          </a:p>
          <a:p>
            <a:r>
              <a:rPr lang="en-US" dirty="0" smtClean="0"/>
              <a:t>Single source shortest path</a:t>
            </a:r>
          </a:p>
          <a:p>
            <a:r>
              <a:rPr lang="en-US" dirty="0" smtClean="0"/>
              <a:t>Optimal merge pattern</a:t>
            </a:r>
          </a:p>
          <a:p>
            <a:r>
              <a:rPr lang="en-US" dirty="0" smtClean="0"/>
              <a:t>Container loading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51965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Comparison 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Divide and conquer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 smtClean="0"/>
              <a:t>Used to obtain solution to a given problem</a:t>
            </a:r>
          </a:p>
          <a:p>
            <a:r>
              <a:rPr lang="en-US" dirty="0" smtClean="0"/>
              <a:t>Problem is divided into sub problems	</a:t>
            </a:r>
          </a:p>
          <a:p>
            <a:r>
              <a:rPr lang="en-US" dirty="0" smtClean="0"/>
              <a:t>Duplications in subsolutions are neglected.</a:t>
            </a:r>
          </a:p>
          <a:p>
            <a:r>
              <a:rPr lang="en-US" dirty="0" smtClean="0"/>
              <a:t>Examples: quick sort, binary search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 smtClean="0"/>
              <a:t>Greedy method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Used to obtain optimum solution</a:t>
            </a:r>
          </a:p>
          <a:p>
            <a:r>
              <a:rPr lang="en-US" dirty="0" smtClean="0"/>
              <a:t>Optimum solution is picked up from a set of feasible solutions.</a:t>
            </a:r>
          </a:p>
          <a:p>
            <a:r>
              <a:rPr lang="en-US" dirty="0" smtClean="0"/>
              <a:t>Optimum selection is without revising the previously generated solutions.</a:t>
            </a:r>
          </a:p>
          <a:p>
            <a:r>
              <a:rPr lang="en-US" dirty="0" smtClean="0"/>
              <a:t>Examples: Knapsack problem.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17833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Some greedy methods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With examples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86042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Job sequencing with deadlines -1</a:t>
            </a:r>
            <a:endParaRPr lang="en-IN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1673508"/>
              </p:ext>
            </p:extLst>
          </p:nvPr>
        </p:nvGraphicFramePr>
        <p:xfrm>
          <a:off x="838200" y="1676400"/>
          <a:ext cx="8229600" cy="256032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3741533446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23607248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39207349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/>
                      <a:r>
                        <a:rPr lang="en-IN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Job</a:t>
                      </a:r>
                      <a:endParaRPr lang="en-IN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Deadline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Profit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576475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/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J1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2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dirty="0" smtClean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54</a:t>
                      </a:r>
                      <a:endParaRPr lang="en-IN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435046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/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J2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dirty="0" smtClean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18</a:t>
                      </a:r>
                      <a:endParaRPr lang="en-IN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586166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/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J3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2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dirty="0" smtClean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29</a:t>
                      </a:r>
                      <a:endParaRPr lang="en-IN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390648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/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J4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dirty="0" smtClean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23</a:t>
                      </a:r>
                      <a:endParaRPr lang="en-IN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645428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/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J5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3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dirty="0" smtClean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14</a:t>
                      </a:r>
                      <a:endParaRPr lang="en-IN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302324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144820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Job sequencing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sz="2000" b="1" dirty="0" smtClean="0"/>
          </a:p>
          <a:p>
            <a:endParaRPr lang="en-US" sz="2000" b="1" dirty="0"/>
          </a:p>
          <a:p>
            <a:endParaRPr lang="en-US" sz="2000" b="1" dirty="0" smtClean="0"/>
          </a:p>
          <a:p>
            <a:endParaRPr lang="en-US" sz="2000" b="1" dirty="0"/>
          </a:p>
          <a:p>
            <a:endParaRPr lang="en-US" sz="2000" b="1" dirty="0" smtClean="0"/>
          </a:p>
          <a:p>
            <a:endParaRPr lang="en-US" sz="2000" b="1" dirty="0"/>
          </a:p>
          <a:p>
            <a:endParaRPr lang="en-US" sz="2000" b="1" dirty="0" smtClean="0"/>
          </a:p>
          <a:p>
            <a:r>
              <a:rPr lang="en-US" sz="2000" b="1" dirty="0" smtClean="0"/>
              <a:t>The </a:t>
            </a:r>
            <a:r>
              <a:rPr lang="en-US" sz="2000" b="1" dirty="0"/>
              <a:t>"Deadline" Rule</a:t>
            </a:r>
          </a:p>
          <a:p>
            <a:pPr lvl="1"/>
            <a:r>
              <a:rPr lang="en-US" sz="1600" dirty="0"/>
              <a:t>If a job has a </a:t>
            </a:r>
            <a:r>
              <a:rPr lang="en-US" sz="1600" b="1" dirty="0"/>
              <a:t>Deadline of 2</a:t>
            </a:r>
            <a:r>
              <a:rPr lang="en-US" sz="1600" dirty="0"/>
              <a:t>, you can do it in </a:t>
            </a:r>
            <a:r>
              <a:rPr lang="en-US" sz="1600" b="1" dirty="0"/>
              <a:t>Slot 1</a:t>
            </a:r>
            <a:r>
              <a:rPr lang="en-US" sz="1600" dirty="0"/>
              <a:t> OR </a:t>
            </a:r>
            <a:r>
              <a:rPr lang="en-US" sz="1600" b="1" dirty="0"/>
              <a:t>Slot 2</a:t>
            </a:r>
            <a:r>
              <a:rPr lang="en-US" sz="1600" dirty="0"/>
              <a:t>.</a:t>
            </a:r>
          </a:p>
          <a:p>
            <a:pPr lvl="1"/>
            <a:r>
              <a:rPr lang="en-US" sz="1600" dirty="0"/>
              <a:t>If a job has a </a:t>
            </a:r>
            <a:r>
              <a:rPr lang="en-US" sz="1600" b="1" dirty="0"/>
              <a:t>Deadline of 1</a:t>
            </a:r>
            <a:r>
              <a:rPr lang="en-US" sz="1600" dirty="0"/>
              <a:t>, you </a:t>
            </a:r>
            <a:r>
              <a:rPr lang="en-US" sz="1600" b="1" dirty="0"/>
              <a:t>must</a:t>
            </a:r>
            <a:r>
              <a:rPr lang="en-US" sz="1600" dirty="0"/>
              <a:t> do it in </a:t>
            </a:r>
            <a:r>
              <a:rPr lang="en-US" sz="1600" b="1" dirty="0"/>
              <a:t>Slot 1</a:t>
            </a:r>
            <a:r>
              <a:rPr lang="en-US" sz="1600" dirty="0"/>
              <a:t>. You cannot do it later because you'd finish it at 2:00, which is past its 1:00 deadline.</a:t>
            </a:r>
          </a:p>
          <a:p>
            <a:endParaRPr lang="en-IN" sz="2000" dirty="0"/>
          </a:p>
        </p:txBody>
      </p:sp>
      <p:sp>
        <p:nvSpPr>
          <p:cNvPr id="4" name="TextBox 3"/>
          <p:cNvSpPr txBox="1"/>
          <p:nvPr/>
        </p:nvSpPr>
        <p:spPr>
          <a:xfrm>
            <a:off x="426128" y="1531923"/>
            <a:ext cx="80010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The Problem Logic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Given a </a:t>
            </a:r>
            <a:r>
              <a:rPr lang="en-US" dirty="0"/>
              <a:t>set of jobs, each with a </a:t>
            </a:r>
            <a:r>
              <a:rPr lang="en-US" b="1" dirty="0"/>
              <a:t>deadline</a:t>
            </a:r>
            <a:r>
              <a:rPr lang="en-US" dirty="0"/>
              <a:t> and a </a:t>
            </a:r>
            <a:r>
              <a:rPr lang="en-US" b="1" dirty="0"/>
              <a:t>profit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Each job takes exactly </a:t>
            </a:r>
            <a:r>
              <a:rPr lang="en-US" b="1" dirty="0"/>
              <a:t>1 unit of time</a:t>
            </a:r>
            <a:r>
              <a:rPr lang="en-US" dirty="0"/>
              <a:t> to complete.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Can </a:t>
            </a:r>
            <a:r>
              <a:rPr lang="en-US" dirty="0"/>
              <a:t>only work on </a:t>
            </a:r>
            <a:r>
              <a:rPr lang="en-US" b="1" dirty="0"/>
              <a:t>one job at a time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Only </a:t>
            </a:r>
            <a:r>
              <a:rPr lang="en-US" dirty="0"/>
              <a:t>get paid if the job is finished </a:t>
            </a:r>
            <a:r>
              <a:rPr lang="en-US" b="1" dirty="0"/>
              <a:t>on or before</a:t>
            </a:r>
            <a:r>
              <a:rPr lang="en-US" dirty="0"/>
              <a:t> its deadline</a:t>
            </a:r>
            <a:r>
              <a:rPr lang="en-US" dirty="0" smtClean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b="1" dirty="0"/>
              <a:t>The Greedy Rule:</a:t>
            </a:r>
            <a:r>
              <a:rPr lang="en-US" dirty="0"/>
              <a:t> Sort jobs by profit in descending order. For each job, try to schedule it at the </a:t>
            </a:r>
            <a:r>
              <a:rPr lang="en-US" b="1" dirty="0" smtClean="0"/>
              <a:t>latest(last) </a:t>
            </a:r>
            <a:r>
              <a:rPr lang="en-US" b="1" dirty="0"/>
              <a:t>possible available slot</a:t>
            </a:r>
            <a:r>
              <a:rPr lang="en-US" dirty="0"/>
              <a:t> before its </a:t>
            </a:r>
            <a:r>
              <a:rPr lang="en-US" dirty="0" smtClean="0"/>
              <a:t>deadline (</a:t>
            </a:r>
            <a:r>
              <a:rPr lang="en-US" dirty="0" smtClean="0">
                <a:solidFill>
                  <a:srgbClr val="FF0000"/>
                </a:solidFill>
              </a:rPr>
              <a:t>greediness</a:t>
            </a:r>
            <a:r>
              <a:rPr lang="en-US" dirty="0" smtClean="0"/>
              <a:t>).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983320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Job sequencing with deadlines</a:t>
            </a:r>
            <a:r>
              <a:rPr lang="en-US" dirty="0" smtClean="0"/>
              <a:t> -1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534400" cy="4525963"/>
          </a:xfrm>
        </p:spPr>
        <p:txBody>
          <a:bodyPr>
            <a:normAutofit fontScale="92500" lnSpcReduction="10000"/>
          </a:bodyPr>
          <a:lstStyle/>
          <a:p>
            <a:pPr lvl="1"/>
            <a:r>
              <a:rPr lang="en-US" dirty="0" smtClean="0"/>
              <a:t>Number of jobs- N</a:t>
            </a:r>
          </a:p>
          <a:p>
            <a:pPr lvl="1"/>
            <a:r>
              <a:rPr lang="en-US" dirty="0" smtClean="0"/>
              <a:t>Profit after completing the job before deadline</a:t>
            </a:r>
          </a:p>
          <a:p>
            <a:pPr lvl="1"/>
            <a:r>
              <a:rPr lang="en-US" dirty="0" smtClean="0"/>
              <a:t>Time to complete the job (deadline)</a:t>
            </a:r>
          </a:p>
          <a:p>
            <a:pPr lvl="1"/>
            <a:r>
              <a:rPr lang="en-US" dirty="0" smtClean="0"/>
              <a:t>Time complexity is </a:t>
            </a:r>
            <a:r>
              <a:rPr lang="en-US" dirty="0">
                <a:solidFill>
                  <a:srgbClr val="FF0000"/>
                </a:solidFill>
              </a:rPr>
              <a:t>O(n</a:t>
            </a:r>
            <a:r>
              <a:rPr lang="en-US" baseline="30000" dirty="0">
                <a:solidFill>
                  <a:srgbClr val="FF0000"/>
                </a:solidFill>
              </a:rPr>
              <a:t>2</a:t>
            </a:r>
            <a:r>
              <a:rPr lang="en-US" dirty="0" smtClean="0">
                <a:solidFill>
                  <a:srgbClr val="FF0000"/>
                </a:solidFill>
              </a:rPr>
              <a:t>)</a:t>
            </a:r>
          </a:p>
          <a:p>
            <a:r>
              <a:rPr lang="en-US" dirty="0" smtClean="0"/>
              <a:t>Rules:</a:t>
            </a:r>
          </a:p>
          <a:p>
            <a:pPr lvl="1"/>
            <a:r>
              <a:rPr lang="en-US" dirty="0" smtClean="0"/>
              <a:t>Each job takes one unit of time</a:t>
            </a:r>
          </a:p>
          <a:p>
            <a:pPr lvl="1"/>
            <a:r>
              <a:rPr lang="en-US" dirty="0" smtClean="0"/>
              <a:t>Job should be completed to get profit</a:t>
            </a:r>
          </a:p>
          <a:p>
            <a:pPr lvl="1"/>
            <a:r>
              <a:rPr lang="en-US" dirty="0" smtClean="0"/>
              <a:t>Goal is to schedule jobs to maximize the total profit </a:t>
            </a:r>
          </a:p>
          <a:p>
            <a:pPr lvl="1"/>
            <a:r>
              <a:rPr lang="en-US" dirty="0" smtClean="0"/>
              <a:t>Conceder all possible schedules and compute the total</a:t>
            </a:r>
          </a:p>
          <a:p>
            <a:pPr lvl="3"/>
            <a:r>
              <a:rPr lang="en-US" dirty="0" smtClean="0">
                <a:solidFill>
                  <a:srgbClr val="FF0000"/>
                </a:solidFill>
              </a:rPr>
              <a:t>For n jobs, need to search for the free slot (n-1) times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03054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2786" y="34636"/>
            <a:ext cx="8229600" cy="6858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Example </a:t>
            </a:r>
            <a:r>
              <a:rPr lang="en-US" sz="2800" dirty="0" smtClean="0"/>
              <a:t>cont..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382000" cy="5943600"/>
          </a:xfrm>
        </p:spPr>
        <p:txBody>
          <a:bodyPr/>
          <a:lstStyle/>
          <a:p>
            <a:pPr marL="457200" lvl="1" indent="0" algn="r">
              <a:buNone/>
            </a:pPr>
            <a:r>
              <a:rPr lang="en-US" dirty="0" smtClean="0"/>
              <a:t>The feasible solutions are:</a:t>
            </a: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5385459"/>
              </p:ext>
            </p:extLst>
          </p:nvPr>
        </p:nvGraphicFramePr>
        <p:xfrm>
          <a:off x="609600" y="853439"/>
          <a:ext cx="1143000" cy="5699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7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5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2729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N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Pi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2729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70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2729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2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12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2729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3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18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2729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4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35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2729"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solidFill>
                            <a:schemeClr val="tx1"/>
                          </a:solidFill>
                        </a:rPr>
                        <a:t>1,2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solidFill>
                            <a:schemeClr val="tx1"/>
                          </a:solidFill>
                        </a:rPr>
                        <a:t>82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2729"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solidFill>
                            <a:schemeClr val="tx1"/>
                          </a:solidFill>
                        </a:rPr>
                        <a:t>2,1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solidFill>
                            <a:schemeClr val="tx1"/>
                          </a:solidFill>
                        </a:rPr>
                        <a:t>82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2729"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solidFill>
                            <a:schemeClr val="tx1"/>
                          </a:solidFill>
                        </a:rPr>
                        <a:t>1,3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solidFill>
                            <a:schemeClr val="tx1"/>
                          </a:solidFill>
                        </a:rPr>
                        <a:t>88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2729"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solidFill>
                            <a:schemeClr val="tx1"/>
                          </a:solidFill>
                        </a:rPr>
                        <a:t>3,1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solidFill>
                            <a:schemeClr val="tx1"/>
                          </a:solidFill>
                        </a:rPr>
                        <a:t>88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2729"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solidFill>
                            <a:schemeClr val="tx1"/>
                          </a:solidFill>
                        </a:rPr>
                        <a:t>1,4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solidFill>
                            <a:schemeClr val="tx1"/>
                          </a:solidFill>
                        </a:rPr>
                        <a:t>105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2729"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solidFill>
                            <a:schemeClr val="tx1"/>
                          </a:solidFill>
                        </a:rPr>
                        <a:t>4,1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solidFill>
                            <a:schemeClr val="tx1"/>
                          </a:solidFill>
                        </a:rPr>
                        <a:t>105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2729"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solidFill>
                            <a:schemeClr val="tx1"/>
                          </a:solidFill>
                        </a:rPr>
                        <a:t>2,3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solidFill>
                            <a:schemeClr val="tx1"/>
                          </a:solidFill>
                        </a:rPr>
                        <a:t>30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22729"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solidFill>
                            <a:schemeClr val="tx1"/>
                          </a:solidFill>
                        </a:rPr>
                        <a:t>3,2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solidFill>
                            <a:schemeClr val="tx1"/>
                          </a:solidFill>
                        </a:rPr>
                        <a:t>30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22729"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solidFill>
                            <a:srgbClr val="FF0000"/>
                          </a:solidFill>
                        </a:rPr>
                        <a:t>2,4</a:t>
                      </a:r>
                      <a:endParaRPr lang="en-US" sz="16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solidFill>
                            <a:srgbClr val="FF0000"/>
                          </a:solidFill>
                        </a:rPr>
                        <a:t>47</a:t>
                      </a:r>
                      <a:endParaRPr lang="en-US" sz="16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22729"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solidFill>
                            <a:srgbClr val="FF0000"/>
                          </a:solidFill>
                        </a:rPr>
                        <a:t>4,2</a:t>
                      </a:r>
                      <a:endParaRPr lang="en-US" sz="16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solidFill>
                            <a:srgbClr val="FF0000"/>
                          </a:solidFill>
                        </a:rPr>
                        <a:t>47</a:t>
                      </a:r>
                      <a:endParaRPr lang="en-US" sz="16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22729"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solidFill>
                            <a:schemeClr val="tx1"/>
                          </a:solidFill>
                        </a:rPr>
                        <a:t>3,4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solidFill>
                            <a:schemeClr val="tx1"/>
                          </a:solidFill>
                        </a:rPr>
                        <a:t>53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22729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4,3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53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3040346"/>
              </p:ext>
            </p:extLst>
          </p:nvPr>
        </p:nvGraphicFramePr>
        <p:xfrm>
          <a:off x="6477000" y="2057400"/>
          <a:ext cx="1108710" cy="42887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29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9890">
                <a:tc>
                  <a:txBody>
                    <a:bodyPr/>
                    <a:lstStyle/>
                    <a:p>
                      <a:r>
                        <a:rPr lang="en-US" dirty="0" smtClean="0"/>
                        <a:t>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Pi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9890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9890"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12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9890"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18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9890"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35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9890">
                <a:tc>
                  <a:txBody>
                    <a:bodyPr/>
                    <a:lstStyle/>
                    <a:p>
                      <a:r>
                        <a:rPr lang="en-US" dirty="0" smtClean="0"/>
                        <a:t>1,3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88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9890">
                <a:tc>
                  <a:txBody>
                    <a:bodyPr/>
                    <a:lstStyle/>
                    <a:p>
                      <a:r>
                        <a:rPr lang="en-US" dirty="0" smtClean="0"/>
                        <a:t>2,1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82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9890">
                <a:tc>
                  <a:txBody>
                    <a:bodyPr/>
                    <a:lstStyle/>
                    <a:p>
                      <a:r>
                        <a:rPr lang="en-US" dirty="0" smtClean="0"/>
                        <a:t>2,3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9890">
                <a:tc>
                  <a:txBody>
                    <a:bodyPr/>
                    <a:lstStyle/>
                    <a:p>
                      <a:r>
                        <a:rPr lang="en-US" dirty="0" smtClean="0"/>
                        <a:t>3,1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88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9890"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rgbClr val="00B050"/>
                          </a:solidFill>
                        </a:rPr>
                        <a:t>4,1</a:t>
                      </a:r>
                      <a:endParaRPr lang="en-US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rgbClr val="00B050"/>
                          </a:solidFill>
                        </a:rPr>
                        <a:t>105</a:t>
                      </a:r>
                      <a:endParaRPr lang="en-US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9890">
                <a:tc>
                  <a:txBody>
                    <a:bodyPr/>
                    <a:lstStyle/>
                    <a:p>
                      <a:r>
                        <a:rPr lang="en-US" dirty="0" smtClean="0"/>
                        <a:t>4,3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53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971800" y="4278868"/>
            <a:ext cx="25506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0       1       2                     </a:t>
            </a:r>
            <a:endParaRPr lang="en-US" dirty="0"/>
          </a:p>
        </p:txBody>
      </p:sp>
      <p:cxnSp>
        <p:nvCxnSpPr>
          <p:cNvPr id="11" name="Straight Arrow Connector 10"/>
          <p:cNvCxnSpPr>
            <a:endCxn id="9" idx="2"/>
          </p:cNvCxnSpPr>
          <p:nvPr/>
        </p:nvCxnSpPr>
        <p:spPr>
          <a:xfrm>
            <a:off x="3048000" y="4648200"/>
            <a:ext cx="1199149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113677" y="4761390"/>
            <a:ext cx="10677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Time line</a:t>
            </a:r>
            <a:endParaRPr lang="en-US" dirty="0"/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6187367"/>
              </p:ext>
            </p:extLst>
          </p:nvPr>
        </p:nvGraphicFramePr>
        <p:xfrm>
          <a:off x="2439569" y="1828800"/>
          <a:ext cx="25146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8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Pi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Di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2602830" y="5533293"/>
            <a:ext cx="2890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00B050"/>
                </a:solidFill>
              </a:rPr>
              <a:t>*</a:t>
            </a:r>
            <a:r>
              <a:rPr lang="en-US" dirty="0" smtClean="0"/>
              <a:t> As the highest deadline is 2</a:t>
            </a:r>
            <a:endParaRPr lang="en-US" dirty="0"/>
          </a:p>
        </p:txBody>
      </p:sp>
      <p:sp>
        <p:nvSpPr>
          <p:cNvPr id="8" name="Cloud 7"/>
          <p:cNvSpPr/>
          <p:nvPr/>
        </p:nvSpPr>
        <p:spPr>
          <a:xfrm>
            <a:off x="7786255" y="5072950"/>
            <a:ext cx="1295400" cy="1087582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optimum</a:t>
            </a:r>
            <a:endParaRPr lang="en-US" sz="1200" dirty="0"/>
          </a:p>
        </p:txBody>
      </p:sp>
      <p:cxnSp>
        <p:nvCxnSpPr>
          <p:cNvPr id="15" name="Straight Arrow Connector 14"/>
          <p:cNvCxnSpPr>
            <a:stCxn id="8" idx="3"/>
          </p:cNvCxnSpPr>
          <p:nvPr/>
        </p:nvCxnSpPr>
        <p:spPr>
          <a:xfrm flipH="1">
            <a:off x="7467600" y="5135134"/>
            <a:ext cx="966355" cy="65606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632699" y="5161002"/>
            <a:ext cx="34189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00B050"/>
                </a:solidFill>
              </a:rPr>
              <a:t>*</a:t>
            </a:r>
            <a:r>
              <a:rPr lang="en-US" dirty="0" smtClean="0"/>
              <a:t>Available Time Slots: 0-1 and 1-2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21234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Exercise -1	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Find the optimum schedule for the following jobs with n = 7.</a:t>
            </a:r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1862516"/>
              </p:ext>
            </p:extLst>
          </p:nvPr>
        </p:nvGraphicFramePr>
        <p:xfrm>
          <a:off x="3810001" y="2667000"/>
          <a:ext cx="1304727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51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86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9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3850">
                <a:tc>
                  <a:txBody>
                    <a:bodyPr/>
                    <a:lstStyle/>
                    <a:p>
                      <a:r>
                        <a:rPr lang="en-US" dirty="0" smtClean="0"/>
                        <a:t>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Pi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Di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r>
                        <a:rPr lang="en-US" dirty="0" smtClean="0"/>
                        <a:t>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r>
                        <a:rPr lang="en-US" dirty="0" smtClean="0"/>
                        <a:t>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r>
                        <a:rPr lang="en-US" dirty="0" smtClean="0"/>
                        <a:t>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r>
                        <a:rPr lang="en-US" dirty="0" smtClean="0"/>
                        <a:t>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89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r>
                        <a:rPr lang="en-US" dirty="0" smtClean="0"/>
                        <a:t>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r>
                        <a:rPr lang="en-US" dirty="0" smtClean="0"/>
                        <a:t>F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r>
                        <a:rPr lang="en-US" dirty="0" smtClean="0"/>
                        <a:t>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984819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ext Box 3"/>
          <p:cNvSpPr txBox="1">
            <a:spLocks noChangeArrowheads="1"/>
          </p:cNvSpPr>
          <p:nvPr/>
        </p:nvSpPr>
        <p:spPr bwMode="auto">
          <a:xfrm>
            <a:off x="304800" y="1687513"/>
            <a:ext cx="5029200" cy="52629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eaLnBrk="0" hangingPunct="0">
              <a:defRPr sz="16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zh-CN" sz="2400" b="0" dirty="0">
                <a:latin typeface="Times New Roman" pitchFamily="18" charset="0"/>
                <a:ea typeface="SimSun" pitchFamily="2" charset="-122"/>
              </a:rPr>
              <a:t>Given some </a:t>
            </a:r>
            <a:r>
              <a:rPr lang="en-US" altLang="zh-CN" sz="2400" b="0" dirty="0" smtClean="0">
                <a:latin typeface="Times New Roman" pitchFamily="18" charset="0"/>
                <a:ea typeface="SimSun" pitchFamily="2" charset="-122"/>
              </a:rPr>
              <a:t>items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zh-CN" sz="2400" b="0" dirty="0" smtClean="0">
                <a:latin typeface="Times New Roman" pitchFamily="18" charset="0"/>
                <a:ea typeface="SimSun" pitchFamily="2" charset="-122"/>
              </a:rPr>
              <a:t>pack </a:t>
            </a:r>
            <a:r>
              <a:rPr lang="en-US" altLang="zh-CN" sz="2400" b="0" dirty="0">
                <a:latin typeface="Times New Roman" pitchFamily="18" charset="0"/>
                <a:ea typeface="SimSun" pitchFamily="2" charset="-122"/>
              </a:rPr>
              <a:t>the knapsack to get </a:t>
            </a:r>
            <a:r>
              <a:rPr lang="en-US" altLang="zh-CN" sz="2400" b="0" dirty="0" smtClean="0">
                <a:latin typeface="Times New Roman" pitchFamily="18" charset="0"/>
                <a:ea typeface="SimSun" pitchFamily="2" charset="-122"/>
              </a:rPr>
              <a:t>the </a:t>
            </a:r>
            <a:r>
              <a:rPr lang="en-US" altLang="zh-CN" sz="2400" b="0" dirty="0">
                <a:latin typeface="Times New Roman" pitchFamily="18" charset="0"/>
                <a:ea typeface="SimSun" pitchFamily="2" charset="-122"/>
              </a:rPr>
              <a:t>maximum total value. </a:t>
            </a:r>
            <a:endParaRPr lang="en-US" altLang="zh-CN" sz="2400" b="0" dirty="0" smtClean="0">
              <a:latin typeface="Times New Roman" pitchFamily="18" charset="0"/>
              <a:ea typeface="SimSun" pitchFamily="2" charset="-122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zh-CN" sz="2400" b="0" dirty="0" smtClean="0">
                <a:latin typeface="Times New Roman" pitchFamily="18" charset="0"/>
                <a:ea typeface="SimSun" pitchFamily="2" charset="-122"/>
              </a:rPr>
              <a:t>Each </a:t>
            </a:r>
            <a:r>
              <a:rPr lang="en-US" altLang="zh-CN" sz="2400" b="0" dirty="0">
                <a:latin typeface="Times New Roman" pitchFamily="18" charset="0"/>
                <a:ea typeface="SimSun" pitchFamily="2" charset="-122"/>
              </a:rPr>
              <a:t>item has some </a:t>
            </a:r>
            <a:r>
              <a:rPr lang="en-US" altLang="zh-CN" sz="2400" b="0" dirty="0" smtClean="0">
                <a:latin typeface="Times New Roman" pitchFamily="18" charset="0"/>
                <a:ea typeface="SimSun" pitchFamily="2" charset="-122"/>
              </a:rPr>
              <a:t>weight </a:t>
            </a:r>
            <a:r>
              <a:rPr lang="en-US" altLang="zh-CN" sz="2400" b="0" dirty="0">
                <a:latin typeface="Times New Roman" pitchFamily="18" charset="0"/>
                <a:ea typeface="SimSun" pitchFamily="2" charset="-122"/>
              </a:rPr>
              <a:t>and some value. </a:t>
            </a:r>
            <a:endParaRPr lang="en-US" altLang="zh-CN" sz="2400" b="0" dirty="0" smtClean="0">
              <a:latin typeface="Times New Roman" pitchFamily="18" charset="0"/>
              <a:ea typeface="SimSun" pitchFamily="2" charset="-122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zh-CN" sz="2400" b="0" dirty="0" smtClean="0">
                <a:latin typeface="Times New Roman" pitchFamily="18" charset="0"/>
                <a:ea typeface="SimSun" pitchFamily="2" charset="-122"/>
              </a:rPr>
              <a:t>Total </a:t>
            </a:r>
            <a:r>
              <a:rPr lang="en-US" altLang="zh-CN" sz="2400" b="0" dirty="0">
                <a:latin typeface="Times New Roman" pitchFamily="18" charset="0"/>
                <a:ea typeface="SimSun" pitchFamily="2" charset="-122"/>
              </a:rPr>
              <a:t>weight that we can </a:t>
            </a:r>
            <a:r>
              <a:rPr lang="en-US" altLang="zh-CN" sz="2400" b="0" dirty="0" smtClean="0">
                <a:latin typeface="Times New Roman" pitchFamily="18" charset="0"/>
                <a:ea typeface="SimSun" pitchFamily="2" charset="-122"/>
              </a:rPr>
              <a:t>carry </a:t>
            </a:r>
            <a:r>
              <a:rPr lang="en-US" altLang="zh-CN" sz="2400" b="0" dirty="0">
                <a:latin typeface="Times New Roman" pitchFamily="18" charset="0"/>
                <a:ea typeface="SimSun" pitchFamily="2" charset="-122"/>
              </a:rPr>
              <a:t>is no more than some fixed number W.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zh-CN" sz="2400" b="0" dirty="0">
                <a:latin typeface="Times New Roman" pitchFamily="18" charset="0"/>
                <a:ea typeface="SimSun" pitchFamily="2" charset="-122"/>
              </a:rPr>
              <a:t>So we must consider weights of items as well as </a:t>
            </a:r>
            <a:r>
              <a:rPr lang="en-US" altLang="zh-CN" sz="2400" b="0" dirty="0" smtClean="0">
                <a:latin typeface="Times New Roman" pitchFamily="18" charset="0"/>
                <a:ea typeface="SimSun" pitchFamily="2" charset="-122"/>
              </a:rPr>
              <a:t>their </a:t>
            </a:r>
            <a:r>
              <a:rPr lang="en-US" altLang="zh-CN" sz="2400" b="0" dirty="0">
                <a:latin typeface="Times New Roman" pitchFamily="18" charset="0"/>
                <a:ea typeface="SimSun" pitchFamily="2" charset="-122"/>
              </a:rPr>
              <a:t>values.</a:t>
            </a:r>
          </a:p>
          <a:p>
            <a:pPr lvl="3" algn="just"/>
            <a:endParaRPr lang="en-US" altLang="zh-CN" sz="2400" b="0" dirty="0" smtClean="0">
              <a:latin typeface="Times New Roman" pitchFamily="18" charset="0"/>
              <a:ea typeface="SimSun" pitchFamily="2" charset="-122"/>
            </a:endParaRPr>
          </a:p>
          <a:p>
            <a:pPr lvl="3" algn="just"/>
            <a:r>
              <a:rPr lang="en-US" altLang="zh-CN" sz="2400" b="0" dirty="0" smtClean="0">
                <a:latin typeface="Times New Roman" pitchFamily="18" charset="0"/>
                <a:ea typeface="SimSun" pitchFamily="2" charset="-122"/>
              </a:rPr>
              <a:t>Item </a:t>
            </a:r>
            <a:r>
              <a:rPr lang="en-US" altLang="zh-CN" sz="2400" b="0" dirty="0">
                <a:latin typeface="Times New Roman" pitchFamily="18" charset="0"/>
                <a:ea typeface="SimSun" pitchFamily="2" charset="-122"/>
              </a:rPr>
              <a:t>#        Weight    Value</a:t>
            </a:r>
          </a:p>
          <a:p>
            <a:pPr lvl="3" algn="just"/>
            <a:r>
              <a:rPr lang="en-US" altLang="zh-CN" sz="2400" b="0" dirty="0">
                <a:latin typeface="Times New Roman" pitchFamily="18" charset="0"/>
                <a:ea typeface="SimSun" pitchFamily="2" charset="-122"/>
              </a:rPr>
              <a:t>  1                 1            8</a:t>
            </a:r>
          </a:p>
          <a:p>
            <a:pPr lvl="3" algn="just"/>
            <a:r>
              <a:rPr lang="en-US" altLang="zh-CN" sz="2400" b="0" dirty="0">
                <a:latin typeface="Times New Roman" pitchFamily="18" charset="0"/>
                <a:ea typeface="SimSun" pitchFamily="2" charset="-122"/>
              </a:rPr>
              <a:t>  2                 3            6</a:t>
            </a:r>
          </a:p>
          <a:p>
            <a:pPr lvl="3" algn="just"/>
            <a:r>
              <a:rPr lang="en-US" altLang="zh-CN" sz="2400" b="0" dirty="0">
                <a:latin typeface="Times New Roman" pitchFamily="18" charset="0"/>
                <a:ea typeface="SimSun" pitchFamily="2" charset="-122"/>
              </a:rPr>
              <a:t>  3                 5            5</a:t>
            </a:r>
            <a:endParaRPr lang="en-US" altLang="zh-CN" sz="1800" b="0" dirty="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4099" name="Rectangle 4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r>
              <a:rPr lang="en-US" altLang="zh-CN" dirty="0" smtClean="0">
                <a:ea typeface="SimSun" pitchFamily="2" charset="-122"/>
              </a:rPr>
              <a:t>Knapsack problem - 2 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0" y="1687512"/>
            <a:ext cx="3048000" cy="4484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0" y="1143000"/>
            <a:ext cx="9372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The </a:t>
            </a:r>
            <a:r>
              <a:rPr lang="en-US" sz="2000" dirty="0">
                <a:solidFill>
                  <a:srgbClr val="FF0000"/>
                </a:solidFill>
              </a:rPr>
              <a:t>knapsack</a:t>
            </a:r>
            <a:r>
              <a:rPr lang="en-US" sz="2000" dirty="0"/>
              <a:t> problem or </a:t>
            </a:r>
            <a:r>
              <a:rPr lang="en-US" sz="2000" dirty="0">
                <a:solidFill>
                  <a:srgbClr val="FF0000"/>
                </a:solidFill>
              </a:rPr>
              <a:t>rucksack</a:t>
            </a:r>
            <a:r>
              <a:rPr lang="en-US" sz="2000" dirty="0"/>
              <a:t> problem is a problem in combinatorial optimization.</a:t>
            </a:r>
          </a:p>
        </p:txBody>
      </p:sp>
    </p:spTree>
    <p:extLst>
      <p:ext uri="{BB962C8B-B14F-4D97-AF65-F5344CB8AC3E}">
        <p14:creationId xmlns:p14="http://schemas.microsoft.com/office/powerpoint/2010/main" val="28268372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SimSun" pitchFamily="2" charset="-122"/>
              </a:rPr>
              <a:t>Knapsack problem</a:t>
            </a:r>
          </a:p>
        </p:txBody>
      </p:sp>
      <p:sp>
        <p:nvSpPr>
          <p:cNvPr id="1904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676400"/>
            <a:ext cx="8077200" cy="4724400"/>
          </a:xfrm>
        </p:spPr>
        <p:txBody>
          <a:bodyPr/>
          <a:lstStyle/>
          <a:p>
            <a:pPr marL="609600" indent="-609600">
              <a:buFont typeface="Monotype Sorts" pitchFamily="80" charset="2"/>
              <a:buNone/>
            </a:pPr>
            <a:endParaRPr lang="en-US" altLang="zh-CN" sz="3000" dirty="0" smtClean="0">
              <a:ea typeface="SimSun" pitchFamily="2" charset="-122"/>
            </a:endParaRPr>
          </a:p>
          <a:p>
            <a:pPr marL="609600" indent="-609600">
              <a:buFont typeface="Monotype Sorts" pitchFamily="80" charset="2"/>
              <a:buNone/>
            </a:pPr>
            <a:r>
              <a:rPr lang="en-US" altLang="zh-CN" sz="3000" dirty="0" smtClean="0">
                <a:ea typeface="SimSun" pitchFamily="2" charset="-122"/>
              </a:rPr>
              <a:t>There are two versions of the problem:</a:t>
            </a:r>
          </a:p>
          <a:p>
            <a:pPr marL="990600" lvl="1" indent="-533400">
              <a:spcBef>
                <a:spcPct val="0"/>
              </a:spcBef>
              <a:buFontTx/>
              <a:buAutoNum type="arabicPeriod"/>
            </a:pPr>
            <a:r>
              <a:rPr lang="en-US" altLang="zh-CN" sz="2600" dirty="0" smtClean="0">
                <a:ea typeface="SimSun" pitchFamily="2" charset="-122"/>
              </a:rPr>
              <a:t>“0-1 knapsack problem”</a:t>
            </a:r>
          </a:p>
          <a:p>
            <a:pPr marL="1200150" lvl="2" indent="-342900">
              <a:spcBef>
                <a:spcPct val="0"/>
              </a:spcBef>
              <a:buClrTx/>
              <a:buSzTx/>
            </a:pPr>
            <a:r>
              <a:rPr lang="en-US" altLang="zh-CN" sz="2200" dirty="0" smtClean="0">
                <a:ea typeface="SimSun" pitchFamily="2" charset="-122"/>
              </a:rPr>
              <a:t>Items are </a:t>
            </a:r>
            <a:r>
              <a:rPr lang="en-US" altLang="zh-CN" sz="2200" dirty="0" smtClean="0">
                <a:solidFill>
                  <a:srgbClr val="FF0000"/>
                </a:solidFill>
                <a:ea typeface="SimSun" pitchFamily="2" charset="-122"/>
              </a:rPr>
              <a:t>indivisible</a:t>
            </a:r>
            <a:r>
              <a:rPr lang="en-US" altLang="zh-CN" sz="2200" dirty="0" smtClean="0">
                <a:ea typeface="SimSun" pitchFamily="2" charset="-122"/>
              </a:rPr>
              <a:t>; </a:t>
            </a:r>
          </a:p>
          <a:p>
            <a:pPr marL="1200150" lvl="2" indent="-342900">
              <a:spcBef>
                <a:spcPct val="0"/>
              </a:spcBef>
              <a:buClrTx/>
              <a:buSzTx/>
            </a:pPr>
            <a:r>
              <a:rPr lang="en-US" altLang="zh-CN" sz="2200" dirty="0" smtClean="0">
                <a:ea typeface="SimSun" pitchFamily="2" charset="-122"/>
              </a:rPr>
              <a:t>you either take an item or not. </a:t>
            </a:r>
          </a:p>
          <a:p>
            <a:pPr marL="1200150" lvl="2" indent="-342900">
              <a:spcBef>
                <a:spcPct val="0"/>
              </a:spcBef>
              <a:buClrTx/>
              <a:buSzTx/>
            </a:pPr>
            <a:r>
              <a:rPr lang="en-US" altLang="zh-CN" sz="2200" dirty="0" smtClean="0">
                <a:ea typeface="SimSun" pitchFamily="2" charset="-122"/>
              </a:rPr>
              <a:t>Some special instances can be solved with </a:t>
            </a:r>
            <a:r>
              <a:rPr lang="en-US" altLang="zh-CN" sz="2200" i="1" dirty="0" smtClean="0">
                <a:solidFill>
                  <a:schemeClr val="hlink"/>
                </a:solidFill>
                <a:ea typeface="SimSun" pitchFamily="2" charset="-122"/>
              </a:rPr>
              <a:t>dynamic programming</a:t>
            </a:r>
          </a:p>
          <a:p>
            <a:pPr marL="990600" lvl="1" indent="-533400">
              <a:spcBef>
                <a:spcPct val="0"/>
              </a:spcBef>
              <a:buFontTx/>
              <a:buAutoNum type="arabicPeriod"/>
            </a:pPr>
            <a:r>
              <a:rPr lang="en-US" altLang="zh-CN" sz="2600" dirty="0" smtClean="0">
                <a:ea typeface="SimSun" pitchFamily="2" charset="-122"/>
              </a:rPr>
              <a:t>“Fractional knapsack problem”</a:t>
            </a:r>
          </a:p>
          <a:p>
            <a:pPr marL="1200150" lvl="2" indent="-342900">
              <a:spcBef>
                <a:spcPct val="0"/>
              </a:spcBef>
            </a:pPr>
            <a:r>
              <a:rPr lang="en-US" altLang="zh-CN" sz="2200" dirty="0" smtClean="0">
                <a:ea typeface="SimSun" pitchFamily="2" charset="-122"/>
              </a:rPr>
              <a:t>Items are </a:t>
            </a:r>
            <a:r>
              <a:rPr lang="en-US" altLang="zh-CN" sz="2200" dirty="0" smtClean="0">
                <a:solidFill>
                  <a:srgbClr val="FF0000"/>
                </a:solidFill>
                <a:ea typeface="SimSun" pitchFamily="2" charset="-122"/>
              </a:rPr>
              <a:t>divisible</a:t>
            </a:r>
            <a:r>
              <a:rPr lang="en-US" altLang="zh-CN" sz="2200" dirty="0" smtClean="0">
                <a:ea typeface="SimSun" pitchFamily="2" charset="-122"/>
              </a:rPr>
              <a:t>: you can take any fraction of an item </a:t>
            </a:r>
          </a:p>
          <a:p>
            <a:pPr marL="990600" lvl="1" indent="-533400">
              <a:spcBef>
                <a:spcPct val="0"/>
              </a:spcBef>
              <a:buFontTx/>
              <a:buAutoNum type="arabicPeriod"/>
            </a:pPr>
            <a:endParaRPr lang="en-US" altLang="zh-CN" sz="2400" dirty="0" smtClean="0">
              <a:ea typeface="SimSun" pitchFamily="2" charset="-122"/>
            </a:endParaRPr>
          </a:p>
          <a:p>
            <a:pPr marL="990600" lvl="1" indent="-533400">
              <a:spcBef>
                <a:spcPct val="0"/>
              </a:spcBef>
              <a:buFontTx/>
              <a:buAutoNum type="arabicPeriod"/>
            </a:pPr>
            <a:r>
              <a:rPr lang="en-US" altLang="zh-CN" sz="2400" dirty="0" smtClean="0">
                <a:ea typeface="SimSun" pitchFamily="2" charset="-122"/>
              </a:rPr>
              <a:t>Time </a:t>
            </a:r>
            <a:r>
              <a:rPr lang="en-US" altLang="zh-CN" sz="2400" dirty="0">
                <a:ea typeface="SimSun" pitchFamily="2" charset="-122"/>
              </a:rPr>
              <a:t>complexity is O(n</a:t>
            </a:r>
            <a:r>
              <a:rPr lang="en-US" altLang="zh-CN" sz="2400" dirty="0" smtClean="0">
                <a:ea typeface="SimSun" pitchFamily="2" charset="-122"/>
              </a:rPr>
              <a:t>)</a:t>
            </a:r>
          </a:p>
          <a:p>
            <a:pPr marL="609600" indent="-609600">
              <a:spcBef>
                <a:spcPct val="0"/>
              </a:spcBef>
              <a:buClrTx/>
              <a:buSzTx/>
              <a:buFontTx/>
              <a:buNone/>
            </a:pPr>
            <a:endParaRPr lang="en-US" altLang="zh-CN" sz="2400" dirty="0" smtClean="0">
              <a:ea typeface="SimSun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24195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04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04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04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04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04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04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04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046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0467" grpId="0" build="p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447800"/>
            <a:ext cx="8229600" cy="5257800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altLang="zh-CN" dirty="0" smtClean="0">
                <a:ea typeface="SimSun" pitchFamily="2" charset="-122"/>
              </a:rPr>
              <a:t>Given a knapsack with maximum capacity </a:t>
            </a:r>
            <a:r>
              <a:rPr lang="en-US" altLang="zh-CN" i="1" dirty="0" smtClean="0">
                <a:ea typeface="SimSun" pitchFamily="2" charset="-122"/>
              </a:rPr>
              <a:t>W</a:t>
            </a:r>
            <a:r>
              <a:rPr lang="en-US" altLang="zh-CN" dirty="0" smtClean="0">
                <a:ea typeface="SimSun" pitchFamily="2" charset="-122"/>
              </a:rPr>
              <a:t>, and a set </a:t>
            </a:r>
            <a:r>
              <a:rPr lang="en-US" altLang="zh-CN" i="1" dirty="0" smtClean="0">
                <a:ea typeface="SimSun" pitchFamily="2" charset="-122"/>
              </a:rPr>
              <a:t>S</a:t>
            </a:r>
            <a:r>
              <a:rPr lang="en-US" altLang="zh-CN" dirty="0" smtClean="0">
                <a:ea typeface="SimSun" pitchFamily="2" charset="-122"/>
              </a:rPr>
              <a:t> consisting of </a:t>
            </a:r>
            <a:r>
              <a:rPr lang="en-US" altLang="zh-CN" i="1" dirty="0" smtClean="0">
                <a:ea typeface="SimSun" pitchFamily="2" charset="-122"/>
              </a:rPr>
              <a:t>n</a:t>
            </a:r>
            <a:r>
              <a:rPr lang="en-US" altLang="zh-CN" dirty="0" smtClean="0">
                <a:ea typeface="SimSun" pitchFamily="2" charset="-122"/>
              </a:rPr>
              <a:t> items</a:t>
            </a:r>
          </a:p>
          <a:p>
            <a:pPr>
              <a:lnSpc>
                <a:spcPct val="110000"/>
              </a:lnSpc>
            </a:pPr>
            <a:r>
              <a:rPr lang="en-US" altLang="zh-CN" dirty="0" smtClean="0">
                <a:ea typeface="SimSun" pitchFamily="2" charset="-122"/>
              </a:rPr>
              <a:t>Each item </a:t>
            </a:r>
            <a:r>
              <a:rPr lang="en-US" altLang="zh-CN" i="1" dirty="0" err="1" smtClean="0">
                <a:ea typeface="SimSun" pitchFamily="2" charset="-122"/>
              </a:rPr>
              <a:t>i</a:t>
            </a:r>
            <a:r>
              <a:rPr lang="en-US" altLang="zh-CN" dirty="0" smtClean="0">
                <a:ea typeface="SimSun" pitchFamily="2" charset="-122"/>
              </a:rPr>
              <a:t> has some weight </a:t>
            </a:r>
            <a:r>
              <a:rPr lang="en-US" altLang="zh-CN" i="1" dirty="0" err="1" smtClean="0">
                <a:ea typeface="SimSun" pitchFamily="2" charset="-122"/>
              </a:rPr>
              <a:t>w</a:t>
            </a:r>
            <a:r>
              <a:rPr lang="en-US" altLang="zh-CN" i="1" baseline="-25000" dirty="0" err="1" smtClean="0">
                <a:ea typeface="SimSun" pitchFamily="2" charset="-122"/>
              </a:rPr>
              <a:t>i</a:t>
            </a:r>
            <a:r>
              <a:rPr lang="en-US" altLang="zh-CN" dirty="0" smtClean="0">
                <a:ea typeface="SimSun" pitchFamily="2" charset="-122"/>
              </a:rPr>
              <a:t> and benefit value </a:t>
            </a:r>
            <a:r>
              <a:rPr lang="en-US" altLang="zh-CN" i="1" dirty="0" smtClean="0">
                <a:ea typeface="SimSun" pitchFamily="2" charset="-122"/>
              </a:rPr>
              <a:t>b</a:t>
            </a:r>
            <a:r>
              <a:rPr lang="en-US" altLang="zh-CN" i="1" baseline="-25000" dirty="0" smtClean="0">
                <a:ea typeface="SimSun" pitchFamily="2" charset="-122"/>
              </a:rPr>
              <a:t>i</a:t>
            </a:r>
            <a:r>
              <a:rPr lang="en-US" altLang="zh-CN" baseline="-25000" dirty="0" smtClean="0">
                <a:ea typeface="SimSun" pitchFamily="2" charset="-122"/>
              </a:rPr>
              <a:t>  </a:t>
            </a:r>
            <a:r>
              <a:rPr lang="en-US" altLang="zh-CN" dirty="0" smtClean="0">
                <a:ea typeface="SimSun" pitchFamily="2" charset="-122"/>
              </a:rPr>
              <a:t>(</a:t>
            </a:r>
            <a:r>
              <a:rPr lang="en-US" altLang="zh-CN" dirty="0" smtClean="0">
                <a:solidFill>
                  <a:srgbClr val="FF0000"/>
                </a:solidFill>
                <a:ea typeface="SimSun" pitchFamily="2" charset="-122"/>
              </a:rPr>
              <a:t>all </a:t>
            </a:r>
            <a:r>
              <a:rPr lang="en-US" altLang="zh-CN" i="1" dirty="0" err="1" smtClean="0">
                <a:solidFill>
                  <a:srgbClr val="FF0000"/>
                </a:solidFill>
                <a:ea typeface="SimSun" pitchFamily="2" charset="-122"/>
              </a:rPr>
              <a:t>w</a:t>
            </a:r>
            <a:r>
              <a:rPr lang="en-US" altLang="zh-CN" i="1" baseline="-25000" dirty="0" err="1" smtClean="0">
                <a:solidFill>
                  <a:srgbClr val="FF0000"/>
                </a:solidFill>
                <a:ea typeface="SimSun" pitchFamily="2" charset="-122"/>
              </a:rPr>
              <a:t>i</a:t>
            </a:r>
            <a:r>
              <a:rPr lang="en-US" altLang="zh-CN" i="1" dirty="0" smtClean="0">
                <a:solidFill>
                  <a:srgbClr val="FF0000"/>
                </a:solidFill>
                <a:ea typeface="SimSun" pitchFamily="2" charset="-122"/>
              </a:rPr>
              <a:t> </a:t>
            </a:r>
            <a:r>
              <a:rPr lang="en-US" altLang="zh-CN" baseline="-25000" dirty="0" smtClean="0">
                <a:solidFill>
                  <a:srgbClr val="FF0000"/>
                </a:solidFill>
                <a:ea typeface="SimSun" pitchFamily="2" charset="-122"/>
              </a:rPr>
              <a:t> </a:t>
            </a:r>
            <a:r>
              <a:rPr lang="en-US" altLang="zh-CN" dirty="0" smtClean="0">
                <a:solidFill>
                  <a:srgbClr val="FF0000"/>
                </a:solidFill>
                <a:ea typeface="SimSun" pitchFamily="2" charset="-122"/>
              </a:rPr>
              <a:t>and </a:t>
            </a:r>
            <a:r>
              <a:rPr lang="en-US" altLang="zh-CN" i="1" dirty="0" smtClean="0">
                <a:solidFill>
                  <a:srgbClr val="FF0000"/>
                </a:solidFill>
                <a:ea typeface="SimSun" pitchFamily="2" charset="-122"/>
              </a:rPr>
              <a:t>W</a:t>
            </a:r>
            <a:r>
              <a:rPr lang="en-US" altLang="zh-CN" dirty="0" smtClean="0">
                <a:solidFill>
                  <a:srgbClr val="FF0000"/>
                </a:solidFill>
                <a:ea typeface="SimSun" pitchFamily="2" charset="-122"/>
              </a:rPr>
              <a:t> are integer values</a:t>
            </a:r>
            <a:r>
              <a:rPr lang="en-US" altLang="zh-CN" dirty="0" smtClean="0">
                <a:ea typeface="SimSun" pitchFamily="2" charset="-122"/>
              </a:rPr>
              <a:t>)</a:t>
            </a:r>
          </a:p>
          <a:p>
            <a:pPr>
              <a:lnSpc>
                <a:spcPct val="110000"/>
              </a:lnSpc>
            </a:pPr>
            <a:r>
              <a:rPr lang="en-US" altLang="zh-CN" u="sng" dirty="0" smtClean="0">
                <a:ea typeface="SimSun" pitchFamily="2" charset="-122"/>
              </a:rPr>
              <a:t>Problem</a:t>
            </a:r>
            <a:r>
              <a:rPr lang="en-US" altLang="zh-CN" dirty="0" smtClean="0">
                <a:ea typeface="SimSun" pitchFamily="2" charset="-122"/>
              </a:rPr>
              <a:t>: How to pack the knapsack to achieve maximum total value of packed items?</a:t>
            </a:r>
          </a:p>
          <a:p>
            <a:pPr>
              <a:lnSpc>
                <a:spcPct val="110000"/>
              </a:lnSpc>
            </a:pPr>
            <a:r>
              <a:rPr lang="en-US" altLang="zh-CN" dirty="0">
                <a:latin typeface="Times New Roman" pitchFamily="18" charset="0"/>
                <a:ea typeface="SimSun" pitchFamily="2" charset="-122"/>
              </a:rPr>
              <a:t>The problem is called a “</a:t>
            </a:r>
            <a:r>
              <a:rPr lang="en-US" altLang="zh-CN" i="1" dirty="0">
                <a:latin typeface="Times New Roman" pitchFamily="18" charset="0"/>
                <a:ea typeface="SimSun" pitchFamily="2" charset="-122"/>
              </a:rPr>
              <a:t>0-1</a:t>
            </a:r>
            <a:r>
              <a:rPr lang="en-US" altLang="zh-CN" dirty="0">
                <a:latin typeface="Times New Roman" pitchFamily="18" charset="0"/>
                <a:ea typeface="SimSun" pitchFamily="2" charset="-122"/>
              </a:rPr>
              <a:t>” problem, because each item must be entirely accepted or rejected.</a:t>
            </a:r>
          </a:p>
          <a:p>
            <a:pPr>
              <a:lnSpc>
                <a:spcPct val="110000"/>
              </a:lnSpc>
            </a:pPr>
            <a:endParaRPr lang="en-US" altLang="zh-CN" dirty="0" smtClean="0">
              <a:ea typeface="SimSun" pitchFamily="2" charset="-122"/>
            </a:endParaRPr>
          </a:p>
        </p:txBody>
      </p:sp>
      <p:sp>
        <p:nvSpPr>
          <p:cNvPr id="6147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ea typeface="SimSun" pitchFamily="2" charset="-122"/>
              </a:rPr>
              <a:t>0-1 Knapsack problem</a:t>
            </a:r>
          </a:p>
        </p:txBody>
      </p:sp>
    </p:spTree>
    <p:extLst>
      <p:ext uri="{BB962C8B-B14F-4D97-AF65-F5344CB8AC3E}">
        <p14:creationId xmlns:p14="http://schemas.microsoft.com/office/powerpoint/2010/main" val="16644594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ea typeface="SimSun" pitchFamily="2" charset="-122"/>
              </a:rPr>
              <a:t>Fractional Knapsack </a:t>
            </a:r>
            <a:r>
              <a:rPr lang="en-US" altLang="zh-CN" dirty="0">
                <a:ea typeface="SimSun" pitchFamily="2" charset="-122"/>
              </a:rPr>
              <a:t>problem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Choose only those objects that give maximum profit.</a:t>
            </a:r>
          </a:p>
          <a:p>
            <a:r>
              <a:rPr lang="en-US" dirty="0" smtClean="0"/>
              <a:t>The total weight of selected items &lt;= W</a:t>
            </a:r>
          </a:p>
          <a:p>
            <a:r>
              <a:rPr lang="en-US" dirty="0" smtClean="0"/>
              <a:t>Generate set of feasible solutions</a:t>
            </a:r>
          </a:p>
          <a:p>
            <a:r>
              <a:rPr lang="en-US" dirty="0" smtClean="0"/>
              <a:t>Sum of   p</a:t>
            </a:r>
            <a:r>
              <a:rPr lang="en-US" baseline="-25000" dirty="0" smtClean="0"/>
              <a:t>i</a:t>
            </a:r>
            <a:r>
              <a:rPr lang="en-US" dirty="0" smtClean="0"/>
              <a:t> x</a:t>
            </a:r>
            <a:r>
              <a:rPr lang="en-US" baseline="-25000" dirty="0" smtClean="0"/>
              <a:t>i </a:t>
            </a:r>
            <a:r>
              <a:rPr lang="en-US" dirty="0" smtClean="0"/>
              <a:t> subject to sum of </a:t>
            </a:r>
            <a:r>
              <a:rPr lang="en-US" dirty="0" err="1" smtClean="0"/>
              <a:t>w</a:t>
            </a:r>
            <a:r>
              <a:rPr lang="en-US" baseline="-25000" dirty="0" err="1" smtClean="0"/>
              <a:t>i</a:t>
            </a:r>
            <a:r>
              <a:rPr lang="en-US" baseline="-25000" dirty="0" smtClean="0"/>
              <a:t> </a:t>
            </a:r>
            <a:r>
              <a:rPr lang="en-US" dirty="0" smtClean="0"/>
              <a:t>x</a:t>
            </a:r>
            <a:r>
              <a:rPr lang="en-US" baseline="-25000" dirty="0" smtClean="0"/>
              <a:t>i</a:t>
            </a:r>
            <a:r>
              <a:rPr lang="en-US" dirty="0" smtClean="0"/>
              <a:t> &lt;= W</a:t>
            </a:r>
          </a:p>
          <a:p>
            <a:pPr marL="0" indent="0">
              <a:buNone/>
            </a:pPr>
            <a:endParaRPr lang="en-US" baseline="-25000" dirty="0"/>
          </a:p>
        </p:txBody>
      </p:sp>
    </p:spTree>
    <p:extLst>
      <p:ext uri="{BB962C8B-B14F-4D97-AF65-F5344CB8AC3E}">
        <p14:creationId xmlns:p14="http://schemas.microsoft.com/office/powerpoint/2010/main" val="13458284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Exercise -2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00600"/>
          </a:xfrm>
        </p:spPr>
        <p:txBody>
          <a:bodyPr/>
          <a:lstStyle/>
          <a:p>
            <a:r>
              <a:rPr lang="en-US" dirty="0" smtClean="0"/>
              <a:t>Find the optimal solution of the 0-1 Knapsack instance W = 10;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6899694"/>
              </p:ext>
            </p:extLst>
          </p:nvPr>
        </p:nvGraphicFramePr>
        <p:xfrm>
          <a:off x="4495800" y="2895600"/>
          <a:ext cx="1325563" cy="243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43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80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32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7680">
                <a:tc>
                  <a:txBody>
                    <a:bodyPr/>
                    <a:lstStyle/>
                    <a:p>
                      <a:r>
                        <a:rPr lang="en-US" dirty="0" smtClean="0"/>
                        <a:t>I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Wi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Pi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622559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Minimum cost spanning tree-3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53000"/>
          </a:xfrm>
        </p:spPr>
        <p:txBody>
          <a:bodyPr/>
          <a:lstStyle/>
          <a:p>
            <a:r>
              <a:rPr lang="en-US" dirty="0" smtClean="0"/>
              <a:t>Spanning tree: is a sub graph of a graph which is a tree and it contains all the vertices of the graph with no circuits.</a:t>
            </a:r>
          </a:p>
          <a:p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3429000"/>
            <a:ext cx="6019800" cy="289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960055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Minimum spanning tree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Minimum spanning tree:  a min spanning tree of a waited connected graph is a spanning tree with minimum or smallest weight.</a:t>
            </a:r>
          </a:p>
          <a:p>
            <a:endParaRPr lang="en-US" dirty="0"/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3276601"/>
            <a:ext cx="7772399" cy="30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262810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Applications of spanning tree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Weight of the graph: the sum of weights of all its edges.</a:t>
            </a:r>
          </a:p>
          <a:p>
            <a:r>
              <a:rPr lang="en-US" dirty="0" smtClean="0"/>
              <a:t>Used in designing efficient routing algorithms</a:t>
            </a:r>
          </a:p>
          <a:p>
            <a:r>
              <a:rPr lang="en-US" dirty="0" smtClean="0"/>
              <a:t>Network design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07636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ChangeArrowheads="1"/>
          </p:cNvSpPr>
          <p:nvPr/>
        </p:nvSpPr>
        <p:spPr bwMode="auto">
          <a:xfrm>
            <a:off x="762000" y="457200"/>
            <a:ext cx="7599363" cy="963613"/>
          </a:xfrm>
          <a:prstGeom prst="rect">
            <a:avLst/>
          </a:prstGeom>
          <a:noFill/>
          <a:ln w="57150" cmpd="thickThin">
            <a:solidFill>
              <a:srgbClr val="3333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5793" tIns="47896" rIns="95793" bIns="47896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GB" altLang="en-US" b="1">
                <a:solidFill>
                  <a:schemeClr val="tx2"/>
                </a:solidFill>
                <a:latin typeface="Verdana" charset="0"/>
              </a:rPr>
              <a:t>Minimum Connector Algorithms</a:t>
            </a:r>
          </a:p>
        </p:txBody>
      </p:sp>
      <p:sp>
        <p:nvSpPr>
          <p:cNvPr id="22531" name="Text Box 3"/>
          <p:cNvSpPr txBox="1">
            <a:spLocks noChangeArrowheads="1"/>
          </p:cNvSpPr>
          <p:nvPr/>
        </p:nvSpPr>
        <p:spPr bwMode="auto">
          <a:xfrm>
            <a:off x="304800" y="1752600"/>
            <a:ext cx="4122738" cy="4629150"/>
          </a:xfrm>
          <a:prstGeom prst="rect">
            <a:avLst/>
          </a:prstGeom>
          <a:noFill/>
          <a:ln w="19050">
            <a:solidFill>
              <a:srgbClr val="3333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4284" tIns="37714" rIns="94284" bIns="37714"/>
          <a:lstStyle>
            <a:lvl1pPr marL="479425" indent="-479425" defTabSz="957263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1pPr>
            <a:lvl2pPr marL="37931725" indent="-37474525" defTabSz="957263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algn="ctr"/>
            <a:r>
              <a:rPr lang="en-US" altLang="en-US" sz="1800" b="1" dirty="0">
                <a:latin typeface="Arial" charset="0"/>
              </a:rPr>
              <a:t>Kruskal’s algorithm</a:t>
            </a:r>
          </a:p>
          <a:p>
            <a:endParaRPr lang="en-US" altLang="en-US" sz="1800" b="1" dirty="0">
              <a:latin typeface="Arial" charset="0"/>
            </a:endParaRPr>
          </a:p>
          <a:p>
            <a:pPr>
              <a:buFont typeface="Verdana" charset="0"/>
              <a:buAutoNum type="arabicPeriod"/>
            </a:pPr>
            <a:r>
              <a:rPr lang="en-US" altLang="en-US" sz="2000" dirty="0">
                <a:latin typeface="Arial" charset="0"/>
              </a:rPr>
              <a:t>Select the shortest edge in a network</a:t>
            </a:r>
          </a:p>
          <a:p>
            <a:pPr>
              <a:buFont typeface="Verdana" charset="0"/>
              <a:buAutoNum type="arabicPeriod"/>
            </a:pPr>
            <a:endParaRPr lang="en-US" altLang="en-US" sz="2000" dirty="0">
              <a:latin typeface="Arial" charset="0"/>
            </a:endParaRPr>
          </a:p>
          <a:p>
            <a:pPr>
              <a:buFont typeface="Verdana" charset="0"/>
              <a:buAutoNum type="arabicPeriod"/>
            </a:pPr>
            <a:r>
              <a:rPr lang="en-US" altLang="en-US" sz="2000" dirty="0">
                <a:latin typeface="Arial" charset="0"/>
              </a:rPr>
              <a:t>Select the next shortest edge which does not create a cycle</a:t>
            </a:r>
          </a:p>
          <a:p>
            <a:pPr>
              <a:buFont typeface="Verdana" charset="0"/>
              <a:buAutoNum type="arabicPeriod"/>
            </a:pPr>
            <a:endParaRPr lang="en-US" altLang="en-US" sz="2000" dirty="0">
              <a:latin typeface="Arial" charset="0"/>
            </a:endParaRPr>
          </a:p>
          <a:p>
            <a:pPr>
              <a:buFont typeface="Times New Roman" charset="0"/>
              <a:buAutoNum type="arabicPeriod"/>
            </a:pPr>
            <a:r>
              <a:rPr lang="en-US" altLang="en-US" sz="2000" dirty="0">
                <a:latin typeface="Arial" charset="0"/>
              </a:rPr>
              <a:t>Repeat step 2 until all vertices have been </a:t>
            </a:r>
            <a:r>
              <a:rPr lang="en-US" altLang="en-US" sz="2000" dirty="0" smtClean="0">
                <a:latin typeface="Arial" charset="0"/>
              </a:rPr>
              <a:t>connected</a:t>
            </a:r>
          </a:p>
          <a:p>
            <a:pPr>
              <a:buFont typeface="Times New Roman" charset="0"/>
              <a:buAutoNum type="arabicPeriod"/>
            </a:pPr>
            <a:r>
              <a:rPr lang="en-US" altLang="en-US" sz="2000" dirty="0" smtClean="0">
                <a:latin typeface="Arial" charset="0"/>
              </a:rPr>
              <a:t>Time complexity is O(</a:t>
            </a:r>
            <a:r>
              <a:rPr lang="en-US" altLang="en-US" sz="2000" dirty="0" err="1" smtClean="0">
                <a:latin typeface="Arial" charset="0"/>
              </a:rPr>
              <a:t>ElogV</a:t>
            </a:r>
            <a:r>
              <a:rPr lang="en-US" altLang="en-US" sz="2000" dirty="0" smtClean="0">
                <a:latin typeface="Arial" charset="0"/>
              </a:rPr>
              <a:t>)</a:t>
            </a:r>
          </a:p>
          <a:p>
            <a:pPr marL="0" indent="0"/>
            <a:endParaRPr lang="en-US" altLang="en-US" sz="2000" dirty="0">
              <a:latin typeface="Arial" charset="0"/>
            </a:endParaRPr>
          </a:p>
          <a:p>
            <a:pPr marL="0" indent="0"/>
            <a:r>
              <a:rPr lang="en-US" altLang="en-US" sz="2000" dirty="0" smtClean="0">
                <a:latin typeface="Arial" charset="0"/>
              </a:rPr>
              <a:t>E – total number of edges</a:t>
            </a:r>
          </a:p>
          <a:p>
            <a:pPr marL="0" indent="0"/>
            <a:r>
              <a:rPr lang="en-US" altLang="en-US" sz="2000" dirty="0" smtClean="0">
                <a:latin typeface="Arial" charset="0"/>
              </a:rPr>
              <a:t>V- total number of vertices</a:t>
            </a:r>
            <a:endParaRPr lang="en-US" altLang="en-US" sz="2000" dirty="0">
              <a:latin typeface="Arial" charset="0"/>
            </a:endParaRPr>
          </a:p>
        </p:txBody>
      </p:sp>
      <p:sp>
        <p:nvSpPr>
          <p:cNvPr id="22532" name="Text Box 4"/>
          <p:cNvSpPr txBox="1">
            <a:spLocks noChangeArrowheads="1"/>
          </p:cNvSpPr>
          <p:nvPr/>
        </p:nvSpPr>
        <p:spPr bwMode="auto">
          <a:xfrm>
            <a:off x="4572000" y="1752600"/>
            <a:ext cx="4019550" cy="4629150"/>
          </a:xfrm>
          <a:prstGeom prst="rect">
            <a:avLst/>
          </a:prstGeom>
          <a:noFill/>
          <a:ln w="19050">
            <a:solidFill>
              <a:srgbClr val="3333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4284" tIns="37714" rIns="94284" bIns="37714"/>
          <a:lstStyle>
            <a:lvl1pPr marL="479425" indent="-479425" defTabSz="957263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1pPr>
            <a:lvl2pPr marL="37931725" indent="-37474525" defTabSz="957263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algn="ctr"/>
            <a:r>
              <a:rPr lang="en-US" altLang="en-US" sz="1800" b="1" dirty="0">
                <a:latin typeface="Arial" charset="0"/>
              </a:rPr>
              <a:t>Prim’s algorithm</a:t>
            </a:r>
          </a:p>
          <a:p>
            <a:endParaRPr lang="en-US" altLang="en-US" sz="1800" b="1" dirty="0">
              <a:latin typeface="Arial" charset="0"/>
            </a:endParaRPr>
          </a:p>
          <a:p>
            <a:pPr>
              <a:buFont typeface="Verdana" charset="0"/>
              <a:buAutoNum type="arabicPeriod"/>
            </a:pPr>
            <a:r>
              <a:rPr lang="en-US" altLang="en-US" sz="2000" dirty="0">
                <a:latin typeface="Arial" charset="0"/>
              </a:rPr>
              <a:t>Select any vertex</a:t>
            </a:r>
          </a:p>
          <a:p>
            <a:pPr>
              <a:buFont typeface="Verdana" charset="0"/>
              <a:buAutoNum type="arabicPeriod"/>
            </a:pPr>
            <a:endParaRPr lang="en-US" altLang="en-US" sz="2000" dirty="0">
              <a:latin typeface="Arial" charset="0"/>
            </a:endParaRPr>
          </a:p>
          <a:p>
            <a:pPr>
              <a:buFont typeface="Verdana" charset="0"/>
              <a:buAutoNum type="arabicPeriod"/>
            </a:pPr>
            <a:r>
              <a:rPr lang="en-US" altLang="en-US" sz="2000" dirty="0">
                <a:latin typeface="Arial" charset="0"/>
              </a:rPr>
              <a:t>Select the shortest edge connected to that vertex</a:t>
            </a:r>
          </a:p>
          <a:p>
            <a:pPr>
              <a:buFont typeface="Verdana" charset="0"/>
              <a:buAutoNum type="arabicPeriod"/>
            </a:pPr>
            <a:endParaRPr lang="en-US" altLang="en-US" sz="2000" dirty="0">
              <a:latin typeface="Arial" charset="0"/>
            </a:endParaRPr>
          </a:p>
          <a:p>
            <a:pPr>
              <a:buFont typeface="Verdana" charset="0"/>
              <a:buAutoNum type="arabicPeriod"/>
            </a:pPr>
            <a:r>
              <a:rPr lang="en-US" altLang="en-US" sz="2000" dirty="0">
                <a:latin typeface="Arial" charset="0"/>
              </a:rPr>
              <a:t>Select the shortest edge connected to any vertex already connected</a:t>
            </a:r>
          </a:p>
          <a:p>
            <a:pPr>
              <a:buFont typeface="Verdana" charset="0"/>
              <a:buAutoNum type="arabicPeriod"/>
            </a:pPr>
            <a:endParaRPr lang="en-US" altLang="en-US" sz="2000" dirty="0">
              <a:latin typeface="Arial" charset="0"/>
            </a:endParaRPr>
          </a:p>
          <a:p>
            <a:pPr>
              <a:buFont typeface="Verdana" charset="0"/>
              <a:buAutoNum type="arabicPeriod"/>
            </a:pPr>
            <a:r>
              <a:rPr lang="en-US" altLang="en-US" sz="2000" dirty="0">
                <a:latin typeface="Arial" charset="0"/>
              </a:rPr>
              <a:t>Repeat step 3 until all vertices have been </a:t>
            </a:r>
            <a:r>
              <a:rPr lang="en-US" altLang="en-US" sz="2000" dirty="0" smtClean="0">
                <a:latin typeface="Arial" charset="0"/>
              </a:rPr>
              <a:t>connected</a:t>
            </a:r>
          </a:p>
          <a:p>
            <a:pPr>
              <a:buFont typeface="Verdana" charset="0"/>
              <a:buAutoNum type="arabicPeriod"/>
            </a:pPr>
            <a:r>
              <a:rPr lang="en-US" altLang="en-US" sz="2000" dirty="0" smtClean="0">
                <a:latin typeface="Arial" charset="0"/>
              </a:rPr>
              <a:t>Time complexity is O(v</a:t>
            </a:r>
            <a:r>
              <a:rPr lang="en-US" altLang="en-US" sz="2000" baseline="30000" dirty="0" smtClean="0">
                <a:latin typeface="Arial" charset="0"/>
              </a:rPr>
              <a:t>2</a:t>
            </a:r>
            <a:r>
              <a:rPr lang="en-US" altLang="en-US" sz="2000" dirty="0" smtClean="0">
                <a:latin typeface="Arial" charset="0"/>
              </a:rPr>
              <a:t>)</a:t>
            </a:r>
            <a:endParaRPr lang="en-US" altLang="en-US" sz="2000" dirty="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47417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225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225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2000" fill="hold"/>
                                        <p:tgtEl>
                                          <p:spTgt spid="225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2000" fill="hold"/>
                                        <p:tgtEl>
                                          <p:spTgt spid="225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1" grpId="0" animBg="1" autoUpdateAnimBg="0"/>
      <p:bldP spid="22532" grpId="0" animBg="1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765175"/>
            <a:ext cx="7772400" cy="1143000"/>
          </a:xfrm>
        </p:spPr>
        <p:txBody>
          <a:bodyPr/>
          <a:lstStyle/>
          <a:p>
            <a:pPr algn="l" eaLnBrk="1" hangingPunct="1"/>
            <a:r>
              <a:rPr lang="en-GB" altLang="en-US" sz="2000" dirty="0" smtClean="0">
                <a:latin typeface="+mn-lt"/>
              </a:rPr>
              <a:t>A cable company want to connect five villages to their network     which currently extends to the market town of </a:t>
            </a:r>
            <a:r>
              <a:rPr lang="en-GB" altLang="en-US" sz="2000" dirty="0" smtClean="0">
                <a:solidFill>
                  <a:srgbClr val="FF0000"/>
                </a:solidFill>
                <a:latin typeface="+mn-lt"/>
              </a:rPr>
              <a:t>A</a:t>
            </a:r>
            <a:r>
              <a:rPr lang="en-GB" altLang="en-US" sz="2000" dirty="0" smtClean="0">
                <a:latin typeface="+mn-lt"/>
              </a:rPr>
              <a:t>. What is the minimum length of cable needed?</a:t>
            </a:r>
            <a:endParaRPr lang="en-US" altLang="en-US" sz="2000" dirty="0" smtClean="0">
              <a:latin typeface="+mn-lt"/>
            </a:endParaRP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GB" altLang="en-US" dirty="0" smtClean="0"/>
          </a:p>
          <a:p>
            <a:pPr eaLnBrk="1" hangingPunct="1"/>
            <a:endParaRPr lang="en-GB" altLang="en-US" dirty="0" smtClean="0"/>
          </a:p>
          <a:p>
            <a:pPr eaLnBrk="1" hangingPunct="1"/>
            <a:endParaRPr lang="en-GB" altLang="en-US" dirty="0" smtClean="0"/>
          </a:p>
          <a:p>
            <a:pPr eaLnBrk="1" hangingPunct="1"/>
            <a:endParaRPr lang="en-GB" altLang="en-US" dirty="0" smtClean="0"/>
          </a:p>
          <a:p>
            <a:pPr eaLnBrk="1" hangingPunct="1"/>
            <a:endParaRPr lang="en-GB" altLang="en-US" dirty="0" smtClean="0"/>
          </a:p>
          <a:p>
            <a:pPr eaLnBrk="1" hangingPunct="1"/>
            <a:endParaRPr lang="en-US" altLang="en-US" dirty="0" smtClean="0"/>
          </a:p>
        </p:txBody>
      </p:sp>
      <p:grpSp>
        <p:nvGrpSpPr>
          <p:cNvPr id="2" name="Group 32"/>
          <p:cNvGrpSpPr>
            <a:grpSpLocks/>
          </p:cNvGrpSpPr>
          <p:nvPr/>
        </p:nvGrpSpPr>
        <p:grpSpPr bwMode="auto">
          <a:xfrm>
            <a:off x="1114426" y="2054225"/>
            <a:ext cx="6492875" cy="4587875"/>
            <a:chOff x="702" y="1253"/>
            <a:chExt cx="4090" cy="2890"/>
          </a:xfrm>
        </p:grpSpPr>
        <p:sp>
          <p:nvSpPr>
            <p:cNvPr id="16390" name="Line 5"/>
            <p:cNvSpPr>
              <a:spLocks noChangeShapeType="1"/>
            </p:cNvSpPr>
            <p:nvPr/>
          </p:nvSpPr>
          <p:spPr bwMode="auto">
            <a:xfrm flipV="1">
              <a:off x="1081" y="1541"/>
              <a:ext cx="816" cy="11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391" name="Line 6"/>
            <p:cNvSpPr>
              <a:spLocks noChangeShapeType="1"/>
            </p:cNvSpPr>
            <p:nvPr/>
          </p:nvSpPr>
          <p:spPr bwMode="auto">
            <a:xfrm>
              <a:off x="1897" y="1541"/>
              <a:ext cx="13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392" name="Line 7"/>
            <p:cNvSpPr>
              <a:spLocks noChangeShapeType="1"/>
            </p:cNvSpPr>
            <p:nvPr/>
          </p:nvSpPr>
          <p:spPr bwMode="auto">
            <a:xfrm>
              <a:off x="3241" y="1541"/>
              <a:ext cx="720" cy="11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393" name="Line 8"/>
            <p:cNvSpPr>
              <a:spLocks noChangeShapeType="1"/>
            </p:cNvSpPr>
            <p:nvPr/>
          </p:nvSpPr>
          <p:spPr bwMode="auto">
            <a:xfrm>
              <a:off x="1081" y="2645"/>
              <a:ext cx="15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394" name="Line 9"/>
            <p:cNvSpPr>
              <a:spLocks noChangeShapeType="1"/>
            </p:cNvSpPr>
            <p:nvPr/>
          </p:nvSpPr>
          <p:spPr bwMode="auto">
            <a:xfrm>
              <a:off x="2617" y="2645"/>
              <a:ext cx="13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395" name="Line 10"/>
            <p:cNvSpPr>
              <a:spLocks noChangeShapeType="1"/>
            </p:cNvSpPr>
            <p:nvPr/>
          </p:nvSpPr>
          <p:spPr bwMode="auto">
            <a:xfrm>
              <a:off x="1897" y="1541"/>
              <a:ext cx="720" cy="11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396" name="Line 11"/>
            <p:cNvSpPr>
              <a:spLocks noChangeShapeType="1"/>
            </p:cNvSpPr>
            <p:nvPr/>
          </p:nvSpPr>
          <p:spPr bwMode="auto">
            <a:xfrm flipV="1">
              <a:off x="2617" y="1541"/>
              <a:ext cx="624" cy="11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397" name="Line 12"/>
            <p:cNvSpPr>
              <a:spLocks noChangeShapeType="1"/>
            </p:cNvSpPr>
            <p:nvPr/>
          </p:nvSpPr>
          <p:spPr bwMode="auto">
            <a:xfrm>
              <a:off x="1081" y="2645"/>
              <a:ext cx="1344" cy="1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398" name="Line 13"/>
            <p:cNvSpPr>
              <a:spLocks noChangeShapeType="1"/>
            </p:cNvSpPr>
            <p:nvPr/>
          </p:nvSpPr>
          <p:spPr bwMode="auto">
            <a:xfrm flipV="1">
              <a:off x="2425" y="2645"/>
              <a:ext cx="192" cy="1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399" name="Line 14"/>
            <p:cNvSpPr>
              <a:spLocks noChangeShapeType="1"/>
            </p:cNvSpPr>
            <p:nvPr/>
          </p:nvSpPr>
          <p:spPr bwMode="auto">
            <a:xfrm flipV="1">
              <a:off x="2425" y="2645"/>
              <a:ext cx="1536" cy="1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00" name="Text Box 15"/>
            <p:cNvSpPr txBox="1">
              <a:spLocks noChangeArrowheads="1"/>
            </p:cNvSpPr>
            <p:nvPr/>
          </p:nvSpPr>
          <p:spPr bwMode="auto">
            <a:xfrm>
              <a:off x="702" y="2568"/>
              <a:ext cx="50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GB" altLang="en-US" sz="2000" dirty="0">
                <a:solidFill>
                  <a:srgbClr val="FF0000"/>
                </a:solidFill>
                <a:latin typeface="Arial" charset="0"/>
              </a:endParaRPr>
            </a:p>
          </p:txBody>
        </p:sp>
        <p:sp>
          <p:nvSpPr>
            <p:cNvPr id="16401" name="Text Box 16"/>
            <p:cNvSpPr txBox="1">
              <a:spLocks noChangeArrowheads="1"/>
            </p:cNvSpPr>
            <p:nvPr/>
          </p:nvSpPr>
          <p:spPr bwMode="auto">
            <a:xfrm>
              <a:off x="2562" y="2614"/>
              <a:ext cx="671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 sz="2000" dirty="0" smtClean="0">
                  <a:solidFill>
                    <a:srgbClr val="FF0000"/>
                  </a:solidFill>
                  <a:latin typeface="Arial" charset="0"/>
                </a:rPr>
                <a:t>F</a:t>
              </a:r>
              <a:endParaRPr lang="en-GB" altLang="en-US" sz="2000" dirty="0">
                <a:solidFill>
                  <a:srgbClr val="FF0000"/>
                </a:solidFill>
                <a:latin typeface="Arial" charset="0"/>
              </a:endParaRPr>
            </a:p>
          </p:txBody>
        </p:sp>
        <p:sp>
          <p:nvSpPr>
            <p:cNvPr id="16402" name="Text Box 17"/>
            <p:cNvSpPr txBox="1">
              <a:spLocks noChangeArrowheads="1"/>
            </p:cNvSpPr>
            <p:nvPr/>
          </p:nvSpPr>
          <p:spPr bwMode="auto">
            <a:xfrm>
              <a:off x="1705" y="1298"/>
              <a:ext cx="24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 sz="2000" dirty="0" smtClean="0">
                  <a:solidFill>
                    <a:srgbClr val="FF0000"/>
                  </a:solidFill>
                  <a:latin typeface="Arial" charset="0"/>
                </a:rPr>
                <a:t>B</a:t>
              </a:r>
              <a:endParaRPr lang="en-GB" altLang="en-US" sz="2000" dirty="0">
                <a:solidFill>
                  <a:srgbClr val="FF0000"/>
                </a:solidFill>
                <a:latin typeface="Arial" charset="0"/>
              </a:endParaRPr>
            </a:p>
          </p:txBody>
        </p:sp>
        <p:sp>
          <p:nvSpPr>
            <p:cNvPr id="16403" name="Text Box 18"/>
            <p:cNvSpPr txBox="1">
              <a:spLocks noChangeArrowheads="1"/>
            </p:cNvSpPr>
            <p:nvPr/>
          </p:nvSpPr>
          <p:spPr bwMode="auto">
            <a:xfrm>
              <a:off x="3198" y="1344"/>
              <a:ext cx="81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 sz="2000" dirty="0" smtClean="0">
                  <a:solidFill>
                    <a:srgbClr val="FF0000"/>
                  </a:solidFill>
                  <a:latin typeface="Arial" charset="0"/>
                </a:rPr>
                <a:t>C</a:t>
              </a:r>
              <a:endParaRPr lang="en-GB" altLang="en-US" sz="2000" dirty="0">
                <a:solidFill>
                  <a:srgbClr val="FF0000"/>
                </a:solidFill>
                <a:latin typeface="Arial" charset="0"/>
              </a:endParaRPr>
            </a:p>
          </p:txBody>
        </p:sp>
        <p:sp>
          <p:nvSpPr>
            <p:cNvPr id="16404" name="Text Box 19"/>
            <p:cNvSpPr txBox="1">
              <a:spLocks noChangeArrowheads="1"/>
            </p:cNvSpPr>
            <p:nvPr/>
          </p:nvSpPr>
          <p:spPr bwMode="auto">
            <a:xfrm>
              <a:off x="4016" y="2568"/>
              <a:ext cx="77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 sz="2000" dirty="0" smtClean="0">
                  <a:solidFill>
                    <a:srgbClr val="FF0000"/>
                  </a:solidFill>
                  <a:latin typeface="Arial" charset="0"/>
                </a:rPr>
                <a:t>D</a:t>
              </a:r>
              <a:endParaRPr lang="en-GB" altLang="en-US" sz="2000" dirty="0">
                <a:solidFill>
                  <a:srgbClr val="FF0000"/>
                </a:solidFill>
                <a:latin typeface="Arial" charset="0"/>
              </a:endParaRPr>
            </a:p>
          </p:txBody>
        </p:sp>
        <p:sp>
          <p:nvSpPr>
            <p:cNvPr id="16405" name="Text Box 20"/>
            <p:cNvSpPr txBox="1">
              <a:spLocks noChangeArrowheads="1"/>
            </p:cNvSpPr>
            <p:nvPr/>
          </p:nvSpPr>
          <p:spPr bwMode="auto">
            <a:xfrm>
              <a:off x="2281" y="3893"/>
              <a:ext cx="59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 sz="2000" dirty="0" smtClean="0">
                  <a:solidFill>
                    <a:srgbClr val="FF0000"/>
                  </a:solidFill>
                  <a:latin typeface="Arial" charset="0"/>
                </a:rPr>
                <a:t>E</a:t>
              </a:r>
              <a:endParaRPr lang="en-GB" altLang="en-US" sz="2000" dirty="0">
                <a:solidFill>
                  <a:srgbClr val="FF0000"/>
                </a:solidFill>
                <a:latin typeface="Arial" charset="0"/>
              </a:endParaRPr>
            </a:p>
          </p:txBody>
        </p:sp>
        <p:sp>
          <p:nvSpPr>
            <p:cNvPr id="16406" name="Text Box 21"/>
            <p:cNvSpPr txBox="1">
              <a:spLocks noChangeArrowheads="1"/>
            </p:cNvSpPr>
            <p:nvPr/>
          </p:nvSpPr>
          <p:spPr bwMode="auto">
            <a:xfrm>
              <a:off x="3097" y="3317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/>
                <a:t>2</a:t>
              </a:r>
            </a:p>
          </p:txBody>
        </p:sp>
        <p:sp>
          <p:nvSpPr>
            <p:cNvPr id="16407" name="Text Box 22"/>
            <p:cNvSpPr txBox="1">
              <a:spLocks noChangeArrowheads="1"/>
            </p:cNvSpPr>
            <p:nvPr/>
          </p:nvSpPr>
          <p:spPr bwMode="auto">
            <a:xfrm>
              <a:off x="1705" y="2693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/>
                <a:t>7</a:t>
              </a:r>
            </a:p>
          </p:txBody>
        </p:sp>
        <p:sp>
          <p:nvSpPr>
            <p:cNvPr id="16408" name="Text Box 23"/>
            <p:cNvSpPr txBox="1">
              <a:spLocks noChangeArrowheads="1"/>
            </p:cNvSpPr>
            <p:nvPr/>
          </p:nvSpPr>
          <p:spPr bwMode="auto">
            <a:xfrm>
              <a:off x="1465" y="3221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/>
                <a:t>4</a:t>
              </a:r>
            </a:p>
          </p:txBody>
        </p:sp>
        <p:sp>
          <p:nvSpPr>
            <p:cNvPr id="16409" name="Text Box 24"/>
            <p:cNvSpPr txBox="1">
              <a:spLocks noChangeArrowheads="1"/>
            </p:cNvSpPr>
            <p:nvPr/>
          </p:nvSpPr>
          <p:spPr bwMode="auto">
            <a:xfrm>
              <a:off x="2521" y="3029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/>
                <a:t>5</a:t>
              </a:r>
            </a:p>
          </p:txBody>
        </p:sp>
        <p:sp>
          <p:nvSpPr>
            <p:cNvPr id="16410" name="Text Box 25"/>
            <p:cNvSpPr txBox="1">
              <a:spLocks noChangeArrowheads="1"/>
            </p:cNvSpPr>
            <p:nvPr/>
          </p:nvSpPr>
          <p:spPr bwMode="auto">
            <a:xfrm>
              <a:off x="1993" y="2021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/>
                <a:t>8</a:t>
              </a:r>
            </a:p>
          </p:txBody>
        </p:sp>
        <p:sp>
          <p:nvSpPr>
            <p:cNvPr id="16411" name="Text Box 26"/>
            <p:cNvSpPr txBox="1">
              <a:spLocks noChangeArrowheads="1"/>
            </p:cNvSpPr>
            <p:nvPr/>
          </p:nvSpPr>
          <p:spPr bwMode="auto">
            <a:xfrm>
              <a:off x="2953" y="1973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/>
                <a:t>6</a:t>
              </a:r>
            </a:p>
          </p:txBody>
        </p:sp>
        <p:sp>
          <p:nvSpPr>
            <p:cNvPr id="16412" name="Text Box 27"/>
            <p:cNvSpPr txBox="1">
              <a:spLocks noChangeArrowheads="1"/>
            </p:cNvSpPr>
            <p:nvPr/>
          </p:nvSpPr>
          <p:spPr bwMode="auto">
            <a:xfrm>
              <a:off x="3577" y="1877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 dirty="0"/>
                <a:t>4</a:t>
              </a:r>
            </a:p>
          </p:txBody>
        </p:sp>
        <p:sp>
          <p:nvSpPr>
            <p:cNvPr id="16413" name="Text Box 28"/>
            <p:cNvSpPr txBox="1">
              <a:spLocks noChangeArrowheads="1"/>
            </p:cNvSpPr>
            <p:nvPr/>
          </p:nvSpPr>
          <p:spPr bwMode="auto">
            <a:xfrm>
              <a:off x="2425" y="1253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/>
                <a:t>5</a:t>
              </a:r>
            </a:p>
          </p:txBody>
        </p:sp>
        <p:sp>
          <p:nvSpPr>
            <p:cNvPr id="16414" name="Text Box 29"/>
            <p:cNvSpPr txBox="1">
              <a:spLocks noChangeArrowheads="1"/>
            </p:cNvSpPr>
            <p:nvPr/>
          </p:nvSpPr>
          <p:spPr bwMode="auto">
            <a:xfrm>
              <a:off x="1321" y="1733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/>
                <a:t>3</a:t>
              </a:r>
            </a:p>
          </p:txBody>
        </p:sp>
        <p:sp>
          <p:nvSpPr>
            <p:cNvPr id="16415" name="Text Box 30"/>
            <p:cNvSpPr txBox="1">
              <a:spLocks noChangeArrowheads="1"/>
            </p:cNvSpPr>
            <p:nvPr/>
          </p:nvSpPr>
          <p:spPr bwMode="auto">
            <a:xfrm>
              <a:off x="3049" y="2357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/>
                <a:t>8</a:t>
              </a:r>
            </a:p>
          </p:txBody>
        </p:sp>
      </p:grpSp>
      <p:sp>
        <p:nvSpPr>
          <p:cNvPr id="16389" name="Rectangle 31"/>
          <p:cNvSpPr>
            <a:spLocks noChangeArrowheads="1"/>
          </p:cNvSpPr>
          <p:nvPr/>
        </p:nvSpPr>
        <p:spPr bwMode="auto">
          <a:xfrm>
            <a:off x="395288" y="331788"/>
            <a:ext cx="14382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eaLnBrk="1" hangingPunct="1"/>
            <a:r>
              <a:rPr lang="en-GB" altLang="en-US" b="1">
                <a:solidFill>
                  <a:schemeClr val="tx2"/>
                </a:solidFill>
                <a:latin typeface="Arial" charset="0"/>
              </a:rPr>
              <a:t>Example</a:t>
            </a:r>
            <a:endParaRPr lang="en-US" altLang="en-US" b="1">
              <a:solidFill>
                <a:schemeClr val="tx2"/>
              </a:solidFill>
              <a:latin typeface="Arial" charset="0"/>
            </a:endParaRPr>
          </a:p>
        </p:txBody>
      </p:sp>
      <p:sp>
        <p:nvSpPr>
          <p:cNvPr id="3" name="Oval 2"/>
          <p:cNvSpPr/>
          <p:nvPr/>
        </p:nvSpPr>
        <p:spPr>
          <a:xfrm>
            <a:off x="1295400" y="4141788"/>
            <a:ext cx="420689" cy="39687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FF0000"/>
                </a:solidFill>
              </a:rPr>
              <a:t>A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23865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3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4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30"/>
          <p:cNvGrpSpPr>
            <a:grpSpLocks/>
          </p:cNvGrpSpPr>
          <p:nvPr/>
        </p:nvGrpSpPr>
        <p:grpSpPr bwMode="auto">
          <a:xfrm>
            <a:off x="468313" y="1700213"/>
            <a:ext cx="5486400" cy="4648200"/>
            <a:chOff x="864" y="576"/>
            <a:chExt cx="3456" cy="2928"/>
          </a:xfrm>
        </p:grpSpPr>
        <p:sp>
          <p:nvSpPr>
            <p:cNvPr id="18437" name="Line 2"/>
            <p:cNvSpPr>
              <a:spLocks noChangeShapeType="1"/>
            </p:cNvSpPr>
            <p:nvPr/>
          </p:nvSpPr>
          <p:spPr bwMode="auto">
            <a:xfrm flipV="1">
              <a:off x="1152" y="864"/>
              <a:ext cx="816" cy="11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38" name="Line 3"/>
            <p:cNvSpPr>
              <a:spLocks noChangeShapeType="1"/>
            </p:cNvSpPr>
            <p:nvPr/>
          </p:nvSpPr>
          <p:spPr bwMode="auto">
            <a:xfrm>
              <a:off x="1968" y="864"/>
              <a:ext cx="13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39" name="Line 4"/>
            <p:cNvSpPr>
              <a:spLocks noChangeShapeType="1"/>
            </p:cNvSpPr>
            <p:nvPr/>
          </p:nvSpPr>
          <p:spPr bwMode="auto">
            <a:xfrm>
              <a:off x="3312" y="864"/>
              <a:ext cx="720" cy="11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40" name="Line 5"/>
            <p:cNvSpPr>
              <a:spLocks noChangeShapeType="1"/>
            </p:cNvSpPr>
            <p:nvPr/>
          </p:nvSpPr>
          <p:spPr bwMode="auto">
            <a:xfrm>
              <a:off x="1152" y="1968"/>
              <a:ext cx="15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41" name="Line 6"/>
            <p:cNvSpPr>
              <a:spLocks noChangeShapeType="1"/>
            </p:cNvSpPr>
            <p:nvPr/>
          </p:nvSpPr>
          <p:spPr bwMode="auto">
            <a:xfrm>
              <a:off x="2688" y="1968"/>
              <a:ext cx="13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42" name="Line 7"/>
            <p:cNvSpPr>
              <a:spLocks noChangeShapeType="1"/>
            </p:cNvSpPr>
            <p:nvPr/>
          </p:nvSpPr>
          <p:spPr bwMode="auto">
            <a:xfrm>
              <a:off x="1968" y="864"/>
              <a:ext cx="720" cy="11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43" name="Line 8"/>
            <p:cNvSpPr>
              <a:spLocks noChangeShapeType="1"/>
            </p:cNvSpPr>
            <p:nvPr/>
          </p:nvSpPr>
          <p:spPr bwMode="auto">
            <a:xfrm flipV="1">
              <a:off x="2688" y="864"/>
              <a:ext cx="624" cy="11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44" name="Line 9"/>
            <p:cNvSpPr>
              <a:spLocks noChangeShapeType="1"/>
            </p:cNvSpPr>
            <p:nvPr/>
          </p:nvSpPr>
          <p:spPr bwMode="auto">
            <a:xfrm>
              <a:off x="1152" y="1968"/>
              <a:ext cx="1344" cy="1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45" name="Line 10"/>
            <p:cNvSpPr>
              <a:spLocks noChangeShapeType="1"/>
            </p:cNvSpPr>
            <p:nvPr/>
          </p:nvSpPr>
          <p:spPr bwMode="auto">
            <a:xfrm flipV="1">
              <a:off x="2496" y="1968"/>
              <a:ext cx="192" cy="1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46" name="Line 11"/>
            <p:cNvSpPr>
              <a:spLocks noChangeShapeType="1"/>
            </p:cNvSpPr>
            <p:nvPr/>
          </p:nvSpPr>
          <p:spPr bwMode="auto">
            <a:xfrm flipV="1">
              <a:off x="2496" y="1968"/>
              <a:ext cx="1536" cy="1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47" name="Text Box 12"/>
            <p:cNvSpPr txBox="1">
              <a:spLocks noChangeArrowheads="1"/>
            </p:cNvSpPr>
            <p:nvPr/>
          </p:nvSpPr>
          <p:spPr bwMode="auto">
            <a:xfrm>
              <a:off x="864" y="1872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/>
                <a:t>A</a:t>
              </a:r>
            </a:p>
          </p:txBody>
        </p:sp>
        <p:sp>
          <p:nvSpPr>
            <p:cNvPr id="18448" name="Text Box 13"/>
            <p:cNvSpPr txBox="1">
              <a:spLocks noChangeArrowheads="1"/>
            </p:cNvSpPr>
            <p:nvPr/>
          </p:nvSpPr>
          <p:spPr bwMode="auto">
            <a:xfrm>
              <a:off x="2688" y="1968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/>
                <a:t>F</a:t>
              </a:r>
            </a:p>
          </p:txBody>
        </p:sp>
        <p:sp>
          <p:nvSpPr>
            <p:cNvPr id="18449" name="Text Box 14"/>
            <p:cNvSpPr txBox="1">
              <a:spLocks noChangeArrowheads="1"/>
            </p:cNvSpPr>
            <p:nvPr/>
          </p:nvSpPr>
          <p:spPr bwMode="auto">
            <a:xfrm>
              <a:off x="1728" y="576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/>
                <a:t>B</a:t>
              </a:r>
            </a:p>
          </p:txBody>
        </p:sp>
        <p:sp>
          <p:nvSpPr>
            <p:cNvPr id="18450" name="Text Box 15"/>
            <p:cNvSpPr txBox="1">
              <a:spLocks noChangeArrowheads="1"/>
            </p:cNvSpPr>
            <p:nvPr/>
          </p:nvSpPr>
          <p:spPr bwMode="auto">
            <a:xfrm>
              <a:off x="3312" y="672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/>
                <a:t>C</a:t>
              </a:r>
            </a:p>
          </p:txBody>
        </p:sp>
        <p:sp>
          <p:nvSpPr>
            <p:cNvPr id="18451" name="Text Box 16"/>
            <p:cNvSpPr txBox="1">
              <a:spLocks noChangeArrowheads="1"/>
            </p:cNvSpPr>
            <p:nvPr/>
          </p:nvSpPr>
          <p:spPr bwMode="auto">
            <a:xfrm>
              <a:off x="4032" y="1920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/>
                <a:t>D</a:t>
              </a:r>
            </a:p>
          </p:txBody>
        </p:sp>
        <p:sp>
          <p:nvSpPr>
            <p:cNvPr id="18452" name="Text Box 17"/>
            <p:cNvSpPr txBox="1">
              <a:spLocks noChangeArrowheads="1"/>
            </p:cNvSpPr>
            <p:nvPr/>
          </p:nvSpPr>
          <p:spPr bwMode="auto">
            <a:xfrm>
              <a:off x="2352" y="3216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/>
                <a:t>E</a:t>
              </a:r>
            </a:p>
          </p:txBody>
        </p:sp>
        <p:sp>
          <p:nvSpPr>
            <p:cNvPr id="18453" name="Text Box 18"/>
            <p:cNvSpPr txBox="1">
              <a:spLocks noChangeArrowheads="1"/>
            </p:cNvSpPr>
            <p:nvPr/>
          </p:nvSpPr>
          <p:spPr bwMode="auto">
            <a:xfrm>
              <a:off x="3168" y="2640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/>
                <a:t>2</a:t>
              </a:r>
            </a:p>
          </p:txBody>
        </p:sp>
        <p:sp>
          <p:nvSpPr>
            <p:cNvPr id="18454" name="Text Box 20"/>
            <p:cNvSpPr txBox="1">
              <a:spLocks noChangeArrowheads="1"/>
            </p:cNvSpPr>
            <p:nvPr/>
          </p:nvSpPr>
          <p:spPr bwMode="auto">
            <a:xfrm>
              <a:off x="1776" y="2016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/>
                <a:t>7</a:t>
              </a:r>
            </a:p>
          </p:txBody>
        </p:sp>
        <p:sp>
          <p:nvSpPr>
            <p:cNvPr id="18455" name="Text Box 21"/>
            <p:cNvSpPr txBox="1">
              <a:spLocks noChangeArrowheads="1"/>
            </p:cNvSpPr>
            <p:nvPr/>
          </p:nvSpPr>
          <p:spPr bwMode="auto">
            <a:xfrm>
              <a:off x="1536" y="2544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/>
                <a:t>4</a:t>
              </a:r>
            </a:p>
          </p:txBody>
        </p:sp>
        <p:sp>
          <p:nvSpPr>
            <p:cNvPr id="18456" name="Text Box 22"/>
            <p:cNvSpPr txBox="1">
              <a:spLocks noChangeArrowheads="1"/>
            </p:cNvSpPr>
            <p:nvPr/>
          </p:nvSpPr>
          <p:spPr bwMode="auto">
            <a:xfrm>
              <a:off x="2592" y="2352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/>
                <a:t>5</a:t>
              </a:r>
            </a:p>
          </p:txBody>
        </p:sp>
        <p:sp>
          <p:nvSpPr>
            <p:cNvPr id="18457" name="Text Box 23"/>
            <p:cNvSpPr txBox="1">
              <a:spLocks noChangeArrowheads="1"/>
            </p:cNvSpPr>
            <p:nvPr/>
          </p:nvSpPr>
          <p:spPr bwMode="auto">
            <a:xfrm>
              <a:off x="2064" y="1344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/>
                <a:t>8</a:t>
              </a:r>
            </a:p>
          </p:txBody>
        </p:sp>
        <p:sp>
          <p:nvSpPr>
            <p:cNvPr id="18458" name="Text Box 24"/>
            <p:cNvSpPr txBox="1">
              <a:spLocks noChangeArrowheads="1"/>
            </p:cNvSpPr>
            <p:nvPr/>
          </p:nvSpPr>
          <p:spPr bwMode="auto">
            <a:xfrm>
              <a:off x="3024" y="1296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/>
                <a:t>6</a:t>
              </a:r>
            </a:p>
          </p:txBody>
        </p:sp>
        <p:sp>
          <p:nvSpPr>
            <p:cNvPr id="18459" name="Text Box 25"/>
            <p:cNvSpPr txBox="1">
              <a:spLocks noChangeArrowheads="1"/>
            </p:cNvSpPr>
            <p:nvPr/>
          </p:nvSpPr>
          <p:spPr bwMode="auto">
            <a:xfrm>
              <a:off x="3648" y="1200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/>
                <a:t>4</a:t>
              </a:r>
            </a:p>
          </p:txBody>
        </p:sp>
        <p:sp>
          <p:nvSpPr>
            <p:cNvPr id="18460" name="Text Box 26"/>
            <p:cNvSpPr txBox="1">
              <a:spLocks noChangeArrowheads="1"/>
            </p:cNvSpPr>
            <p:nvPr/>
          </p:nvSpPr>
          <p:spPr bwMode="auto">
            <a:xfrm>
              <a:off x="2496" y="576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/>
                <a:t>5</a:t>
              </a:r>
            </a:p>
          </p:txBody>
        </p:sp>
        <p:sp>
          <p:nvSpPr>
            <p:cNvPr id="18461" name="Text Box 27"/>
            <p:cNvSpPr txBox="1">
              <a:spLocks noChangeArrowheads="1"/>
            </p:cNvSpPr>
            <p:nvPr/>
          </p:nvSpPr>
          <p:spPr bwMode="auto">
            <a:xfrm>
              <a:off x="1392" y="1056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/>
                <a:t>3</a:t>
              </a:r>
            </a:p>
          </p:txBody>
        </p:sp>
        <p:sp>
          <p:nvSpPr>
            <p:cNvPr id="18462" name="Text Box 28"/>
            <p:cNvSpPr txBox="1">
              <a:spLocks noChangeArrowheads="1"/>
            </p:cNvSpPr>
            <p:nvPr/>
          </p:nvSpPr>
          <p:spPr bwMode="auto">
            <a:xfrm>
              <a:off x="3120" y="1680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/>
                <a:t>8</a:t>
              </a:r>
            </a:p>
          </p:txBody>
        </p:sp>
      </p:grpSp>
      <p:sp>
        <p:nvSpPr>
          <p:cNvPr id="4127" name="Text Box 31"/>
          <p:cNvSpPr txBox="1">
            <a:spLocks noChangeArrowheads="1"/>
          </p:cNvSpPr>
          <p:nvPr/>
        </p:nvSpPr>
        <p:spPr bwMode="auto">
          <a:xfrm>
            <a:off x="6011863" y="1125538"/>
            <a:ext cx="2665412" cy="435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eaLnBrk="1" hangingPunct="1"/>
            <a:r>
              <a:rPr lang="en-GB" altLang="en-US" sz="2000">
                <a:latin typeface="Arial" charset="0"/>
              </a:rPr>
              <a:t>List the edges in order of size:</a:t>
            </a:r>
          </a:p>
          <a:p>
            <a:pPr eaLnBrk="1" hangingPunct="1"/>
            <a:endParaRPr lang="en-GB" altLang="en-US" sz="2000">
              <a:latin typeface="Arial" charset="0"/>
            </a:endParaRPr>
          </a:p>
          <a:p>
            <a:pPr eaLnBrk="1" hangingPunct="1"/>
            <a:r>
              <a:rPr lang="en-GB" altLang="en-US" sz="2000">
                <a:latin typeface="Arial" charset="0"/>
              </a:rPr>
              <a:t>ED  2</a:t>
            </a:r>
          </a:p>
          <a:p>
            <a:pPr eaLnBrk="1" hangingPunct="1"/>
            <a:r>
              <a:rPr lang="en-GB" altLang="en-US" sz="2000">
                <a:latin typeface="Arial" charset="0"/>
              </a:rPr>
              <a:t>AB  3</a:t>
            </a:r>
          </a:p>
          <a:p>
            <a:pPr eaLnBrk="1" hangingPunct="1"/>
            <a:r>
              <a:rPr lang="en-GB" altLang="en-US" sz="2000">
                <a:latin typeface="Arial" charset="0"/>
              </a:rPr>
              <a:t>AE  4</a:t>
            </a:r>
          </a:p>
          <a:p>
            <a:pPr eaLnBrk="1" hangingPunct="1"/>
            <a:r>
              <a:rPr lang="en-GB" altLang="en-US" sz="2000">
                <a:latin typeface="Arial" charset="0"/>
              </a:rPr>
              <a:t>CD  4</a:t>
            </a:r>
          </a:p>
          <a:p>
            <a:pPr eaLnBrk="1" hangingPunct="1"/>
            <a:r>
              <a:rPr lang="en-GB" altLang="en-US" sz="2000">
                <a:latin typeface="Arial" charset="0"/>
              </a:rPr>
              <a:t>BC  5</a:t>
            </a:r>
          </a:p>
          <a:p>
            <a:pPr eaLnBrk="1" hangingPunct="1"/>
            <a:r>
              <a:rPr lang="en-GB" altLang="en-US" sz="2000">
                <a:latin typeface="Arial" charset="0"/>
              </a:rPr>
              <a:t>EF  5</a:t>
            </a:r>
          </a:p>
          <a:p>
            <a:pPr eaLnBrk="1" hangingPunct="1"/>
            <a:r>
              <a:rPr lang="en-GB" altLang="en-US" sz="2000">
                <a:latin typeface="Arial" charset="0"/>
              </a:rPr>
              <a:t>CF  6</a:t>
            </a:r>
          </a:p>
          <a:p>
            <a:pPr eaLnBrk="1" hangingPunct="1"/>
            <a:r>
              <a:rPr lang="en-GB" altLang="en-US" sz="2000">
                <a:latin typeface="Arial" charset="0"/>
              </a:rPr>
              <a:t>AF  7</a:t>
            </a:r>
          </a:p>
          <a:p>
            <a:pPr eaLnBrk="1" hangingPunct="1"/>
            <a:r>
              <a:rPr lang="en-GB" altLang="en-US" sz="2000">
                <a:latin typeface="Arial" charset="0"/>
              </a:rPr>
              <a:t>BF  8</a:t>
            </a:r>
          </a:p>
          <a:p>
            <a:pPr eaLnBrk="1" hangingPunct="1"/>
            <a:r>
              <a:rPr lang="en-GB" altLang="en-US" sz="2000">
                <a:latin typeface="Arial" charset="0"/>
              </a:rPr>
              <a:t>CF  8</a:t>
            </a:r>
          </a:p>
          <a:p>
            <a:pPr eaLnBrk="1" hangingPunct="1"/>
            <a:endParaRPr lang="en-US" altLang="en-US" sz="2000">
              <a:latin typeface="Arial" charset="0"/>
            </a:endParaRPr>
          </a:p>
        </p:txBody>
      </p:sp>
      <p:sp>
        <p:nvSpPr>
          <p:cNvPr id="4128" name="Text Box 32"/>
          <p:cNvSpPr txBox="1">
            <a:spLocks noChangeArrowheads="1"/>
          </p:cNvSpPr>
          <p:nvPr/>
        </p:nvSpPr>
        <p:spPr bwMode="auto">
          <a:xfrm>
            <a:off x="827088" y="476250"/>
            <a:ext cx="72009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GB" altLang="en-US" b="1">
                <a:latin typeface="Arial" charset="0"/>
              </a:rPr>
              <a:t>Kruskal’s Algorithm</a:t>
            </a:r>
            <a:endParaRPr lang="en-US" altLang="en-US" b="1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31920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27" grpId="0"/>
      <p:bldP spid="4128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ext Box 2"/>
          <p:cNvSpPr txBox="1">
            <a:spLocks noChangeArrowheads="1"/>
          </p:cNvSpPr>
          <p:nvPr/>
        </p:nvSpPr>
        <p:spPr bwMode="auto">
          <a:xfrm>
            <a:off x="6011863" y="1125538"/>
            <a:ext cx="2881312" cy="2041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>
              <a:buFont typeface="Verdana" charset="0"/>
              <a:buNone/>
            </a:pPr>
            <a:r>
              <a:rPr lang="en-US" altLang="en-US">
                <a:latin typeface="Arial" charset="0"/>
              </a:rPr>
              <a:t>Select the shortest</a:t>
            </a:r>
          </a:p>
          <a:p>
            <a:pPr>
              <a:buFont typeface="Verdana" charset="0"/>
              <a:buNone/>
            </a:pPr>
            <a:r>
              <a:rPr lang="en-US" altLang="en-US">
                <a:latin typeface="Arial" charset="0"/>
              </a:rPr>
              <a:t>edge in the network</a:t>
            </a:r>
          </a:p>
          <a:p>
            <a:pPr eaLnBrk="1" hangingPunct="1"/>
            <a:endParaRPr lang="en-GB" altLang="en-US" sz="2000">
              <a:latin typeface="Arial" charset="0"/>
            </a:endParaRPr>
          </a:p>
          <a:p>
            <a:pPr eaLnBrk="1" hangingPunct="1"/>
            <a:r>
              <a:rPr lang="en-GB" altLang="en-US" sz="2000" b="1">
                <a:solidFill>
                  <a:srgbClr val="FF0000"/>
                </a:solidFill>
                <a:latin typeface="Arial" charset="0"/>
              </a:rPr>
              <a:t>ED  2</a:t>
            </a:r>
          </a:p>
          <a:p>
            <a:pPr eaLnBrk="1" hangingPunct="1"/>
            <a:endParaRPr lang="en-GB" altLang="en-US" sz="2000">
              <a:latin typeface="Arial" charset="0"/>
            </a:endParaRPr>
          </a:p>
          <a:p>
            <a:pPr eaLnBrk="1" hangingPunct="1"/>
            <a:endParaRPr lang="en-US" altLang="en-US" sz="2000">
              <a:latin typeface="Arial" charset="0"/>
            </a:endParaRPr>
          </a:p>
        </p:txBody>
      </p:sp>
      <p:sp>
        <p:nvSpPr>
          <p:cNvPr id="19459" name="Text Box 3"/>
          <p:cNvSpPr txBox="1">
            <a:spLocks noChangeArrowheads="1"/>
          </p:cNvSpPr>
          <p:nvPr/>
        </p:nvSpPr>
        <p:spPr bwMode="auto">
          <a:xfrm>
            <a:off x="827088" y="476250"/>
            <a:ext cx="72009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GB" altLang="en-US" b="1">
                <a:latin typeface="Arial" charset="0"/>
              </a:rPr>
              <a:t>Kruskal’s Algorithm</a:t>
            </a:r>
            <a:endParaRPr lang="en-US" altLang="en-US" b="1">
              <a:latin typeface="Arial" charset="0"/>
            </a:endParaRPr>
          </a:p>
        </p:txBody>
      </p:sp>
      <p:grpSp>
        <p:nvGrpSpPr>
          <p:cNvPr id="19460" name="Group 5"/>
          <p:cNvGrpSpPr>
            <a:grpSpLocks/>
          </p:cNvGrpSpPr>
          <p:nvPr/>
        </p:nvGrpSpPr>
        <p:grpSpPr bwMode="auto">
          <a:xfrm>
            <a:off x="468313" y="1700213"/>
            <a:ext cx="5486400" cy="4648200"/>
            <a:chOff x="864" y="576"/>
            <a:chExt cx="3456" cy="2928"/>
          </a:xfrm>
        </p:grpSpPr>
        <p:sp>
          <p:nvSpPr>
            <p:cNvPr id="19462" name="Line 6"/>
            <p:cNvSpPr>
              <a:spLocks noChangeShapeType="1"/>
            </p:cNvSpPr>
            <p:nvPr/>
          </p:nvSpPr>
          <p:spPr bwMode="auto">
            <a:xfrm flipV="1">
              <a:off x="1152" y="864"/>
              <a:ext cx="816" cy="11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63" name="Line 7"/>
            <p:cNvSpPr>
              <a:spLocks noChangeShapeType="1"/>
            </p:cNvSpPr>
            <p:nvPr/>
          </p:nvSpPr>
          <p:spPr bwMode="auto">
            <a:xfrm>
              <a:off x="1968" y="864"/>
              <a:ext cx="13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64" name="Line 8"/>
            <p:cNvSpPr>
              <a:spLocks noChangeShapeType="1"/>
            </p:cNvSpPr>
            <p:nvPr/>
          </p:nvSpPr>
          <p:spPr bwMode="auto">
            <a:xfrm>
              <a:off x="3312" y="864"/>
              <a:ext cx="720" cy="11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65" name="Line 9"/>
            <p:cNvSpPr>
              <a:spLocks noChangeShapeType="1"/>
            </p:cNvSpPr>
            <p:nvPr/>
          </p:nvSpPr>
          <p:spPr bwMode="auto">
            <a:xfrm>
              <a:off x="1152" y="1968"/>
              <a:ext cx="15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66" name="Line 10"/>
            <p:cNvSpPr>
              <a:spLocks noChangeShapeType="1"/>
            </p:cNvSpPr>
            <p:nvPr/>
          </p:nvSpPr>
          <p:spPr bwMode="auto">
            <a:xfrm>
              <a:off x="2688" y="1968"/>
              <a:ext cx="13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67" name="Line 11"/>
            <p:cNvSpPr>
              <a:spLocks noChangeShapeType="1"/>
            </p:cNvSpPr>
            <p:nvPr/>
          </p:nvSpPr>
          <p:spPr bwMode="auto">
            <a:xfrm>
              <a:off x="1968" y="864"/>
              <a:ext cx="720" cy="11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68" name="Line 12"/>
            <p:cNvSpPr>
              <a:spLocks noChangeShapeType="1"/>
            </p:cNvSpPr>
            <p:nvPr/>
          </p:nvSpPr>
          <p:spPr bwMode="auto">
            <a:xfrm flipV="1">
              <a:off x="2688" y="864"/>
              <a:ext cx="624" cy="11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69" name="Line 13"/>
            <p:cNvSpPr>
              <a:spLocks noChangeShapeType="1"/>
            </p:cNvSpPr>
            <p:nvPr/>
          </p:nvSpPr>
          <p:spPr bwMode="auto">
            <a:xfrm>
              <a:off x="1152" y="1968"/>
              <a:ext cx="1344" cy="1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70" name="Line 14"/>
            <p:cNvSpPr>
              <a:spLocks noChangeShapeType="1"/>
            </p:cNvSpPr>
            <p:nvPr/>
          </p:nvSpPr>
          <p:spPr bwMode="auto">
            <a:xfrm flipV="1">
              <a:off x="2496" y="1968"/>
              <a:ext cx="192" cy="1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71" name="Line 15"/>
            <p:cNvSpPr>
              <a:spLocks noChangeShapeType="1"/>
            </p:cNvSpPr>
            <p:nvPr/>
          </p:nvSpPr>
          <p:spPr bwMode="auto">
            <a:xfrm flipV="1">
              <a:off x="2496" y="1968"/>
              <a:ext cx="1536" cy="1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72" name="Text Box 16"/>
            <p:cNvSpPr txBox="1">
              <a:spLocks noChangeArrowheads="1"/>
            </p:cNvSpPr>
            <p:nvPr/>
          </p:nvSpPr>
          <p:spPr bwMode="auto">
            <a:xfrm>
              <a:off x="864" y="1872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/>
                <a:t>A</a:t>
              </a:r>
            </a:p>
          </p:txBody>
        </p:sp>
        <p:sp>
          <p:nvSpPr>
            <p:cNvPr id="19473" name="Text Box 17"/>
            <p:cNvSpPr txBox="1">
              <a:spLocks noChangeArrowheads="1"/>
            </p:cNvSpPr>
            <p:nvPr/>
          </p:nvSpPr>
          <p:spPr bwMode="auto">
            <a:xfrm>
              <a:off x="2688" y="1968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/>
                <a:t>F</a:t>
              </a:r>
            </a:p>
          </p:txBody>
        </p:sp>
        <p:sp>
          <p:nvSpPr>
            <p:cNvPr id="19474" name="Text Box 18"/>
            <p:cNvSpPr txBox="1">
              <a:spLocks noChangeArrowheads="1"/>
            </p:cNvSpPr>
            <p:nvPr/>
          </p:nvSpPr>
          <p:spPr bwMode="auto">
            <a:xfrm>
              <a:off x="1728" y="576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/>
                <a:t>B</a:t>
              </a:r>
            </a:p>
          </p:txBody>
        </p:sp>
        <p:sp>
          <p:nvSpPr>
            <p:cNvPr id="19475" name="Text Box 19"/>
            <p:cNvSpPr txBox="1">
              <a:spLocks noChangeArrowheads="1"/>
            </p:cNvSpPr>
            <p:nvPr/>
          </p:nvSpPr>
          <p:spPr bwMode="auto">
            <a:xfrm>
              <a:off x="3312" y="672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/>
                <a:t>C</a:t>
              </a:r>
            </a:p>
          </p:txBody>
        </p:sp>
        <p:sp>
          <p:nvSpPr>
            <p:cNvPr id="19476" name="Text Box 20"/>
            <p:cNvSpPr txBox="1">
              <a:spLocks noChangeArrowheads="1"/>
            </p:cNvSpPr>
            <p:nvPr/>
          </p:nvSpPr>
          <p:spPr bwMode="auto">
            <a:xfrm>
              <a:off x="4032" y="1920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/>
                <a:t>D</a:t>
              </a:r>
            </a:p>
          </p:txBody>
        </p:sp>
        <p:sp>
          <p:nvSpPr>
            <p:cNvPr id="19477" name="Text Box 21"/>
            <p:cNvSpPr txBox="1">
              <a:spLocks noChangeArrowheads="1"/>
            </p:cNvSpPr>
            <p:nvPr/>
          </p:nvSpPr>
          <p:spPr bwMode="auto">
            <a:xfrm>
              <a:off x="2352" y="3216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/>
                <a:t>E</a:t>
              </a:r>
            </a:p>
          </p:txBody>
        </p:sp>
        <p:sp>
          <p:nvSpPr>
            <p:cNvPr id="19478" name="Text Box 22"/>
            <p:cNvSpPr txBox="1">
              <a:spLocks noChangeArrowheads="1"/>
            </p:cNvSpPr>
            <p:nvPr/>
          </p:nvSpPr>
          <p:spPr bwMode="auto">
            <a:xfrm>
              <a:off x="3168" y="2640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/>
                <a:t>2</a:t>
              </a:r>
            </a:p>
          </p:txBody>
        </p:sp>
        <p:sp>
          <p:nvSpPr>
            <p:cNvPr id="19479" name="Text Box 23"/>
            <p:cNvSpPr txBox="1">
              <a:spLocks noChangeArrowheads="1"/>
            </p:cNvSpPr>
            <p:nvPr/>
          </p:nvSpPr>
          <p:spPr bwMode="auto">
            <a:xfrm>
              <a:off x="1776" y="2016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/>
                <a:t>7</a:t>
              </a:r>
            </a:p>
          </p:txBody>
        </p:sp>
        <p:sp>
          <p:nvSpPr>
            <p:cNvPr id="19480" name="Text Box 24"/>
            <p:cNvSpPr txBox="1">
              <a:spLocks noChangeArrowheads="1"/>
            </p:cNvSpPr>
            <p:nvPr/>
          </p:nvSpPr>
          <p:spPr bwMode="auto">
            <a:xfrm>
              <a:off x="1536" y="2544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/>
                <a:t>4</a:t>
              </a:r>
            </a:p>
          </p:txBody>
        </p:sp>
        <p:sp>
          <p:nvSpPr>
            <p:cNvPr id="19481" name="Text Box 25"/>
            <p:cNvSpPr txBox="1">
              <a:spLocks noChangeArrowheads="1"/>
            </p:cNvSpPr>
            <p:nvPr/>
          </p:nvSpPr>
          <p:spPr bwMode="auto">
            <a:xfrm>
              <a:off x="2592" y="2352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/>
                <a:t>5</a:t>
              </a:r>
            </a:p>
          </p:txBody>
        </p:sp>
        <p:sp>
          <p:nvSpPr>
            <p:cNvPr id="19482" name="Text Box 26"/>
            <p:cNvSpPr txBox="1">
              <a:spLocks noChangeArrowheads="1"/>
            </p:cNvSpPr>
            <p:nvPr/>
          </p:nvSpPr>
          <p:spPr bwMode="auto">
            <a:xfrm>
              <a:off x="2064" y="1344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/>
                <a:t>8</a:t>
              </a:r>
            </a:p>
          </p:txBody>
        </p:sp>
        <p:sp>
          <p:nvSpPr>
            <p:cNvPr id="19483" name="Text Box 27"/>
            <p:cNvSpPr txBox="1">
              <a:spLocks noChangeArrowheads="1"/>
            </p:cNvSpPr>
            <p:nvPr/>
          </p:nvSpPr>
          <p:spPr bwMode="auto">
            <a:xfrm>
              <a:off x="3024" y="1296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/>
                <a:t>6</a:t>
              </a:r>
            </a:p>
          </p:txBody>
        </p:sp>
        <p:sp>
          <p:nvSpPr>
            <p:cNvPr id="19484" name="Text Box 28"/>
            <p:cNvSpPr txBox="1">
              <a:spLocks noChangeArrowheads="1"/>
            </p:cNvSpPr>
            <p:nvPr/>
          </p:nvSpPr>
          <p:spPr bwMode="auto">
            <a:xfrm>
              <a:off x="3648" y="1200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/>
                <a:t>4</a:t>
              </a:r>
            </a:p>
          </p:txBody>
        </p:sp>
        <p:sp>
          <p:nvSpPr>
            <p:cNvPr id="19485" name="Text Box 29"/>
            <p:cNvSpPr txBox="1">
              <a:spLocks noChangeArrowheads="1"/>
            </p:cNvSpPr>
            <p:nvPr/>
          </p:nvSpPr>
          <p:spPr bwMode="auto">
            <a:xfrm>
              <a:off x="2496" y="576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/>
                <a:t>5</a:t>
              </a:r>
            </a:p>
          </p:txBody>
        </p:sp>
        <p:sp>
          <p:nvSpPr>
            <p:cNvPr id="19486" name="Text Box 30"/>
            <p:cNvSpPr txBox="1">
              <a:spLocks noChangeArrowheads="1"/>
            </p:cNvSpPr>
            <p:nvPr/>
          </p:nvSpPr>
          <p:spPr bwMode="auto">
            <a:xfrm>
              <a:off x="1392" y="1056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/>
                <a:t>3</a:t>
              </a:r>
            </a:p>
          </p:txBody>
        </p:sp>
        <p:sp>
          <p:nvSpPr>
            <p:cNvPr id="19487" name="Text Box 31"/>
            <p:cNvSpPr txBox="1">
              <a:spLocks noChangeArrowheads="1"/>
            </p:cNvSpPr>
            <p:nvPr/>
          </p:nvSpPr>
          <p:spPr bwMode="auto">
            <a:xfrm>
              <a:off x="3120" y="1680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/>
                <a:t>8</a:t>
              </a:r>
            </a:p>
          </p:txBody>
        </p:sp>
      </p:grpSp>
      <p:sp>
        <p:nvSpPr>
          <p:cNvPr id="28704" name="Line 32"/>
          <p:cNvSpPr>
            <a:spLocks noChangeShapeType="1"/>
          </p:cNvSpPr>
          <p:nvPr/>
        </p:nvSpPr>
        <p:spPr bwMode="auto">
          <a:xfrm flipV="1">
            <a:off x="3059113" y="3933825"/>
            <a:ext cx="2438400" cy="19050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21215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4" grpId="0"/>
      <p:bldP spid="28704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77" name="Text Box 29"/>
          <p:cNvSpPr txBox="1">
            <a:spLocks noChangeArrowheads="1"/>
          </p:cNvSpPr>
          <p:nvPr/>
        </p:nvSpPr>
        <p:spPr bwMode="auto">
          <a:xfrm>
            <a:off x="6011863" y="1125538"/>
            <a:ext cx="2881312" cy="2835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>
              <a:buFont typeface="Verdana" charset="0"/>
              <a:buNone/>
            </a:pPr>
            <a:r>
              <a:rPr lang="en-US" altLang="en-US" sz="2000">
                <a:latin typeface="Arial" charset="0"/>
              </a:rPr>
              <a:t>Select the next shortest</a:t>
            </a:r>
          </a:p>
          <a:p>
            <a:pPr>
              <a:buFont typeface="Verdana" charset="0"/>
              <a:buNone/>
            </a:pPr>
            <a:r>
              <a:rPr lang="en-US" altLang="en-US" sz="2000">
                <a:latin typeface="Arial" charset="0"/>
              </a:rPr>
              <a:t>edge which does not</a:t>
            </a:r>
          </a:p>
          <a:p>
            <a:pPr>
              <a:buFont typeface="Verdana" charset="0"/>
              <a:buNone/>
            </a:pPr>
            <a:r>
              <a:rPr lang="en-US" altLang="en-US" sz="2000">
                <a:latin typeface="Arial" charset="0"/>
              </a:rPr>
              <a:t>create a cycle</a:t>
            </a:r>
          </a:p>
          <a:p>
            <a:pPr eaLnBrk="1" hangingPunct="1"/>
            <a:endParaRPr lang="en-GB" altLang="en-US" sz="2000">
              <a:latin typeface="Arial" charset="0"/>
            </a:endParaRPr>
          </a:p>
          <a:p>
            <a:pPr eaLnBrk="1" hangingPunct="1"/>
            <a:r>
              <a:rPr lang="en-GB" altLang="en-US" sz="2000" b="1">
                <a:latin typeface="Arial" charset="0"/>
              </a:rPr>
              <a:t>ED  2</a:t>
            </a:r>
          </a:p>
          <a:p>
            <a:pPr eaLnBrk="1" hangingPunct="1"/>
            <a:r>
              <a:rPr lang="en-GB" altLang="en-US" sz="2000" b="1">
                <a:solidFill>
                  <a:srgbClr val="FF0000"/>
                </a:solidFill>
                <a:latin typeface="Arial" charset="0"/>
              </a:rPr>
              <a:t>AB  3</a:t>
            </a:r>
          </a:p>
          <a:p>
            <a:pPr eaLnBrk="1" hangingPunct="1"/>
            <a:endParaRPr lang="en-GB" altLang="en-US" sz="2000" b="1">
              <a:latin typeface="Arial" charset="0"/>
            </a:endParaRPr>
          </a:p>
          <a:p>
            <a:pPr eaLnBrk="1" hangingPunct="1"/>
            <a:endParaRPr lang="en-GB" altLang="en-US" sz="2000">
              <a:latin typeface="Arial" charset="0"/>
            </a:endParaRPr>
          </a:p>
          <a:p>
            <a:pPr eaLnBrk="1" hangingPunct="1"/>
            <a:endParaRPr lang="en-US" altLang="en-US" sz="2000">
              <a:latin typeface="Arial" charset="0"/>
            </a:endParaRPr>
          </a:p>
        </p:txBody>
      </p:sp>
      <p:sp>
        <p:nvSpPr>
          <p:cNvPr id="20483" name="Text Box 30"/>
          <p:cNvSpPr txBox="1">
            <a:spLocks noChangeArrowheads="1"/>
          </p:cNvSpPr>
          <p:nvPr/>
        </p:nvSpPr>
        <p:spPr bwMode="auto">
          <a:xfrm>
            <a:off x="827088" y="476250"/>
            <a:ext cx="72009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GB" altLang="en-US" b="1">
                <a:latin typeface="Arial" charset="0"/>
              </a:rPr>
              <a:t>Kruskal’s Algorithm</a:t>
            </a:r>
            <a:endParaRPr lang="en-US" altLang="en-US" b="1">
              <a:latin typeface="Arial" charset="0"/>
            </a:endParaRPr>
          </a:p>
        </p:txBody>
      </p:sp>
      <p:grpSp>
        <p:nvGrpSpPr>
          <p:cNvPr id="20484" name="Group 39"/>
          <p:cNvGrpSpPr>
            <a:grpSpLocks/>
          </p:cNvGrpSpPr>
          <p:nvPr/>
        </p:nvGrpSpPr>
        <p:grpSpPr bwMode="auto">
          <a:xfrm>
            <a:off x="468313" y="1700213"/>
            <a:ext cx="5486400" cy="4648200"/>
            <a:chOff x="295" y="1071"/>
            <a:chExt cx="3456" cy="2928"/>
          </a:xfrm>
        </p:grpSpPr>
        <p:grpSp>
          <p:nvGrpSpPr>
            <p:cNvPr id="20486" name="Group 38"/>
            <p:cNvGrpSpPr>
              <a:grpSpLocks/>
            </p:cNvGrpSpPr>
            <p:nvPr/>
          </p:nvGrpSpPr>
          <p:grpSpPr bwMode="auto">
            <a:xfrm>
              <a:off x="295" y="1071"/>
              <a:ext cx="3456" cy="2928"/>
              <a:chOff x="295" y="1071"/>
              <a:chExt cx="3456" cy="2928"/>
            </a:xfrm>
          </p:grpSpPr>
          <p:sp>
            <p:nvSpPr>
              <p:cNvPr id="20488" name="Line 3"/>
              <p:cNvSpPr>
                <a:spLocks noChangeShapeType="1"/>
              </p:cNvSpPr>
              <p:nvPr/>
            </p:nvSpPr>
            <p:spPr bwMode="auto">
              <a:xfrm flipV="1">
                <a:off x="583" y="1359"/>
                <a:ext cx="816" cy="110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489" name="Line 4"/>
              <p:cNvSpPr>
                <a:spLocks noChangeShapeType="1"/>
              </p:cNvSpPr>
              <p:nvPr/>
            </p:nvSpPr>
            <p:spPr bwMode="auto">
              <a:xfrm>
                <a:off x="1399" y="1359"/>
                <a:ext cx="134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490" name="Line 5"/>
              <p:cNvSpPr>
                <a:spLocks noChangeShapeType="1"/>
              </p:cNvSpPr>
              <p:nvPr/>
            </p:nvSpPr>
            <p:spPr bwMode="auto">
              <a:xfrm>
                <a:off x="2743" y="1359"/>
                <a:ext cx="720" cy="110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491" name="Line 6"/>
              <p:cNvSpPr>
                <a:spLocks noChangeShapeType="1"/>
              </p:cNvSpPr>
              <p:nvPr/>
            </p:nvSpPr>
            <p:spPr bwMode="auto">
              <a:xfrm>
                <a:off x="583" y="2463"/>
                <a:ext cx="153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492" name="Line 7"/>
              <p:cNvSpPr>
                <a:spLocks noChangeShapeType="1"/>
              </p:cNvSpPr>
              <p:nvPr/>
            </p:nvSpPr>
            <p:spPr bwMode="auto">
              <a:xfrm>
                <a:off x="2119" y="2463"/>
                <a:ext cx="134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493" name="Line 8"/>
              <p:cNvSpPr>
                <a:spLocks noChangeShapeType="1"/>
              </p:cNvSpPr>
              <p:nvPr/>
            </p:nvSpPr>
            <p:spPr bwMode="auto">
              <a:xfrm>
                <a:off x="1399" y="1359"/>
                <a:ext cx="720" cy="110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494" name="Line 9"/>
              <p:cNvSpPr>
                <a:spLocks noChangeShapeType="1"/>
              </p:cNvSpPr>
              <p:nvPr/>
            </p:nvSpPr>
            <p:spPr bwMode="auto">
              <a:xfrm flipV="1">
                <a:off x="2119" y="1359"/>
                <a:ext cx="624" cy="110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495" name="Line 10"/>
              <p:cNvSpPr>
                <a:spLocks noChangeShapeType="1"/>
              </p:cNvSpPr>
              <p:nvPr/>
            </p:nvSpPr>
            <p:spPr bwMode="auto">
              <a:xfrm>
                <a:off x="583" y="2463"/>
                <a:ext cx="1344" cy="12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496" name="Line 11"/>
              <p:cNvSpPr>
                <a:spLocks noChangeShapeType="1"/>
              </p:cNvSpPr>
              <p:nvPr/>
            </p:nvSpPr>
            <p:spPr bwMode="auto">
              <a:xfrm flipV="1">
                <a:off x="1927" y="2463"/>
                <a:ext cx="192" cy="12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497" name="Line 12"/>
              <p:cNvSpPr>
                <a:spLocks noChangeShapeType="1"/>
              </p:cNvSpPr>
              <p:nvPr/>
            </p:nvSpPr>
            <p:spPr bwMode="auto">
              <a:xfrm flipV="1">
                <a:off x="1927" y="2463"/>
                <a:ext cx="1536" cy="12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498" name="Text Box 13"/>
              <p:cNvSpPr txBox="1">
                <a:spLocks noChangeArrowheads="1"/>
              </p:cNvSpPr>
              <p:nvPr/>
            </p:nvSpPr>
            <p:spPr bwMode="auto">
              <a:xfrm>
                <a:off x="295" y="2367"/>
                <a:ext cx="28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1pPr>
                <a:lvl2pPr marL="37931725" indent="-37474525" eaLnBrk="0" hangingPunct="0"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2pPr>
                <a:lvl3pPr eaLnBrk="0" hangingPunct="0"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3pPr>
                <a:lvl4pPr eaLnBrk="0" hangingPunct="0"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eaLnBrk="0" hangingPunct="0"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GB" altLang="en-US"/>
                  <a:t>A</a:t>
                </a:r>
              </a:p>
            </p:txBody>
          </p:sp>
          <p:sp>
            <p:nvSpPr>
              <p:cNvPr id="20499" name="Text Box 14"/>
              <p:cNvSpPr txBox="1">
                <a:spLocks noChangeArrowheads="1"/>
              </p:cNvSpPr>
              <p:nvPr/>
            </p:nvSpPr>
            <p:spPr bwMode="auto">
              <a:xfrm>
                <a:off x="2119" y="2463"/>
                <a:ext cx="28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1pPr>
                <a:lvl2pPr marL="37931725" indent="-37474525" eaLnBrk="0" hangingPunct="0"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2pPr>
                <a:lvl3pPr eaLnBrk="0" hangingPunct="0"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3pPr>
                <a:lvl4pPr eaLnBrk="0" hangingPunct="0"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eaLnBrk="0" hangingPunct="0"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GB" altLang="en-US"/>
                  <a:t>F</a:t>
                </a:r>
              </a:p>
            </p:txBody>
          </p:sp>
          <p:sp>
            <p:nvSpPr>
              <p:cNvPr id="20500" name="Text Box 15"/>
              <p:cNvSpPr txBox="1">
                <a:spLocks noChangeArrowheads="1"/>
              </p:cNvSpPr>
              <p:nvPr/>
            </p:nvSpPr>
            <p:spPr bwMode="auto">
              <a:xfrm>
                <a:off x="1159" y="1071"/>
                <a:ext cx="28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1pPr>
                <a:lvl2pPr marL="37931725" indent="-37474525" eaLnBrk="0" hangingPunct="0"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2pPr>
                <a:lvl3pPr eaLnBrk="0" hangingPunct="0"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3pPr>
                <a:lvl4pPr eaLnBrk="0" hangingPunct="0"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eaLnBrk="0" hangingPunct="0"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GB" altLang="en-US"/>
                  <a:t>B</a:t>
                </a:r>
              </a:p>
            </p:txBody>
          </p:sp>
          <p:sp>
            <p:nvSpPr>
              <p:cNvPr id="20501" name="Text Box 16"/>
              <p:cNvSpPr txBox="1">
                <a:spLocks noChangeArrowheads="1"/>
              </p:cNvSpPr>
              <p:nvPr/>
            </p:nvSpPr>
            <p:spPr bwMode="auto">
              <a:xfrm>
                <a:off x="2743" y="1167"/>
                <a:ext cx="28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1pPr>
                <a:lvl2pPr marL="37931725" indent="-37474525" eaLnBrk="0" hangingPunct="0"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2pPr>
                <a:lvl3pPr eaLnBrk="0" hangingPunct="0"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3pPr>
                <a:lvl4pPr eaLnBrk="0" hangingPunct="0"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eaLnBrk="0" hangingPunct="0"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GB" altLang="en-US"/>
                  <a:t>C</a:t>
                </a:r>
              </a:p>
            </p:txBody>
          </p:sp>
          <p:sp>
            <p:nvSpPr>
              <p:cNvPr id="20502" name="Text Box 17"/>
              <p:cNvSpPr txBox="1">
                <a:spLocks noChangeArrowheads="1"/>
              </p:cNvSpPr>
              <p:nvPr/>
            </p:nvSpPr>
            <p:spPr bwMode="auto">
              <a:xfrm>
                <a:off x="3463" y="2415"/>
                <a:ext cx="28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1pPr>
                <a:lvl2pPr marL="37931725" indent="-37474525" eaLnBrk="0" hangingPunct="0"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2pPr>
                <a:lvl3pPr eaLnBrk="0" hangingPunct="0"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3pPr>
                <a:lvl4pPr eaLnBrk="0" hangingPunct="0"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eaLnBrk="0" hangingPunct="0"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GB" altLang="en-US"/>
                  <a:t>D</a:t>
                </a:r>
              </a:p>
            </p:txBody>
          </p:sp>
          <p:sp>
            <p:nvSpPr>
              <p:cNvPr id="20503" name="Text Box 18"/>
              <p:cNvSpPr txBox="1">
                <a:spLocks noChangeArrowheads="1"/>
              </p:cNvSpPr>
              <p:nvPr/>
            </p:nvSpPr>
            <p:spPr bwMode="auto">
              <a:xfrm>
                <a:off x="1783" y="3711"/>
                <a:ext cx="28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1pPr>
                <a:lvl2pPr marL="37931725" indent="-37474525" eaLnBrk="0" hangingPunct="0"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2pPr>
                <a:lvl3pPr eaLnBrk="0" hangingPunct="0"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3pPr>
                <a:lvl4pPr eaLnBrk="0" hangingPunct="0"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eaLnBrk="0" hangingPunct="0"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GB" altLang="en-US"/>
                  <a:t>E</a:t>
                </a:r>
              </a:p>
            </p:txBody>
          </p:sp>
          <p:sp>
            <p:nvSpPr>
              <p:cNvPr id="20504" name="Text Box 19"/>
              <p:cNvSpPr txBox="1">
                <a:spLocks noChangeArrowheads="1"/>
              </p:cNvSpPr>
              <p:nvPr/>
            </p:nvSpPr>
            <p:spPr bwMode="auto">
              <a:xfrm>
                <a:off x="2599" y="3135"/>
                <a:ext cx="28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1pPr>
                <a:lvl2pPr marL="37931725" indent="-37474525" eaLnBrk="0" hangingPunct="0"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2pPr>
                <a:lvl3pPr eaLnBrk="0" hangingPunct="0"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3pPr>
                <a:lvl4pPr eaLnBrk="0" hangingPunct="0"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eaLnBrk="0" hangingPunct="0"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GB" altLang="en-US"/>
                  <a:t>2</a:t>
                </a:r>
              </a:p>
            </p:txBody>
          </p:sp>
          <p:sp>
            <p:nvSpPr>
              <p:cNvPr id="20505" name="Text Box 20"/>
              <p:cNvSpPr txBox="1">
                <a:spLocks noChangeArrowheads="1"/>
              </p:cNvSpPr>
              <p:nvPr/>
            </p:nvSpPr>
            <p:spPr bwMode="auto">
              <a:xfrm>
                <a:off x="1207" y="2511"/>
                <a:ext cx="28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1pPr>
                <a:lvl2pPr marL="37931725" indent="-37474525" eaLnBrk="0" hangingPunct="0"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2pPr>
                <a:lvl3pPr eaLnBrk="0" hangingPunct="0"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3pPr>
                <a:lvl4pPr eaLnBrk="0" hangingPunct="0"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eaLnBrk="0" hangingPunct="0"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GB" altLang="en-US"/>
                  <a:t>7</a:t>
                </a:r>
              </a:p>
            </p:txBody>
          </p:sp>
          <p:sp>
            <p:nvSpPr>
              <p:cNvPr id="20506" name="Text Box 21"/>
              <p:cNvSpPr txBox="1">
                <a:spLocks noChangeArrowheads="1"/>
              </p:cNvSpPr>
              <p:nvPr/>
            </p:nvSpPr>
            <p:spPr bwMode="auto">
              <a:xfrm>
                <a:off x="967" y="3039"/>
                <a:ext cx="28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1pPr>
                <a:lvl2pPr marL="37931725" indent="-37474525" eaLnBrk="0" hangingPunct="0"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2pPr>
                <a:lvl3pPr eaLnBrk="0" hangingPunct="0"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3pPr>
                <a:lvl4pPr eaLnBrk="0" hangingPunct="0"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eaLnBrk="0" hangingPunct="0"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GB" altLang="en-US"/>
                  <a:t>4</a:t>
                </a:r>
              </a:p>
            </p:txBody>
          </p:sp>
          <p:sp>
            <p:nvSpPr>
              <p:cNvPr id="20507" name="Text Box 22"/>
              <p:cNvSpPr txBox="1">
                <a:spLocks noChangeArrowheads="1"/>
              </p:cNvSpPr>
              <p:nvPr/>
            </p:nvSpPr>
            <p:spPr bwMode="auto">
              <a:xfrm>
                <a:off x="2023" y="2847"/>
                <a:ext cx="28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1pPr>
                <a:lvl2pPr marL="37931725" indent="-37474525" eaLnBrk="0" hangingPunct="0"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2pPr>
                <a:lvl3pPr eaLnBrk="0" hangingPunct="0"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3pPr>
                <a:lvl4pPr eaLnBrk="0" hangingPunct="0"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eaLnBrk="0" hangingPunct="0"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GB" altLang="en-US"/>
                  <a:t>5</a:t>
                </a:r>
              </a:p>
            </p:txBody>
          </p:sp>
          <p:sp>
            <p:nvSpPr>
              <p:cNvPr id="20508" name="Text Box 23"/>
              <p:cNvSpPr txBox="1">
                <a:spLocks noChangeArrowheads="1"/>
              </p:cNvSpPr>
              <p:nvPr/>
            </p:nvSpPr>
            <p:spPr bwMode="auto">
              <a:xfrm>
                <a:off x="1495" y="1839"/>
                <a:ext cx="28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1pPr>
                <a:lvl2pPr marL="37931725" indent="-37474525" eaLnBrk="0" hangingPunct="0"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2pPr>
                <a:lvl3pPr eaLnBrk="0" hangingPunct="0"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3pPr>
                <a:lvl4pPr eaLnBrk="0" hangingPunct="0"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eaLnBrk="0" hangingPunct="0"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GB" altLang="en-US"/>
                  <a:t>8</a:t>
                </a:r>
              </a:p>
            </p:txBody>
          </p:sp>
          <p:sp>
            <p:nvSpPr>
              <p:cNvPr id="20509" name="Text Box 24"/>
              <p:cNvSpPr txBox="1">
                <a:spLocks noChangeArrowheads="1"/>
              </p:cNvSpPr>
              <p:nvPr/>
            </p:nvSpPr>
            <p:spPr bwMode="auto">
              <a:xfrm>
                <a:off x="2455" y="1791"/>
                <a:ext cx="28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1pPr>
                <a:lvl2pPr marL="37931725" indent="-37474525" eaLnBrk="0" hangingPunct="0"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2pPr>
                <a:lvl3pPr eaLnBrk="0" hangingPunct="0"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3pPr>
                <a:lvl4pPr eaLnBrk="0" hangingPunct="0"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eaLnBrk="0" hangingPunct="0"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GB" altLang="en-US"/>
                  <a:t>6</a:t>
                </a:r>
              </a:p>
            </p:txBody>
          </p:sp>
          <p:sp>
            <p:nvSpPr>
              <p:cNvPr id="20510" name="Text Box 25"/>
              <p:cNvSpPr txBox="1">
                <a:spLocks noChangeArrowheads="1"/>
              </p:cNvSpPr>
              <p:nvPr/>
            </p:nvSpPr>
            <p:spPr bwMode="auto">
              <a:xfrm>
                <a:off x="3079" y="1695"/>
                <a:ext cx="28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1pPr>
                <a:lvl2pPr marL="37931725" indent="-37474525" eaLnBrk="0" hangingPunct="0"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2pPr>
                <a:lvl3pPr eaLnBrk="0" hangingPunct="0"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3pPr>
                <a:lvl4pPr eaLnBrk="0" hangingPunct="0"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eaLnBrk="0" hangingPunct="0"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GB" altLang="en-US"/>
                  <a:t>4</a:t>
                </a:r>
              </a:p>
            </p:txBody>
          </p:sp>
          <p:sp>
            <p:nvSpPr>
              <p:cNvPr id="20511" name="Text Box 26"/>
              <p:cNvSpPr txBox="1">
                <a:spLocks noChangeArrowheads="1"/>
              </p:cNvSpPr>
              <p:nvPr/>
            </p:nvSpPr>
            <p:spPr bwMode="auto">
              <a:xfrm>
                <a:off x="1927" y="1071"/>
                <a:ext cx="28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1pPr>
                <a:lvl2pPr marL="37931725" indent="-37474525" eaLnBrk="0" hangingPunct="0"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2pPr>
                <a:lvl3pPr eaLnBrk="0" hangingPunct="0"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3pPr>
                <a:lvl4pPr eaLnBrk="0" hangingPunct="0"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eaLnBrk="0" hangingPunct="0"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GB" altLang="en-US"/>
                  <a:t>5</a:t>
                </a:r>
              </a:p>
            </p:txBody>
          </p:sp>
          <p:sp>
            <p:nvSpPr>
              <p:cNvPr id="20512" name="Text Box 27"/>
              <p:cNvSpPr txBox="1">
                <a:spLocks noChangeArrowheads="1"/>
              </p:cNvSpPr>
              <p:nvPr/>
            </p:nvSpPr>
            <p:spPr bwMode="auto">
              <a:xfrm>
                <a:off x="823" y="1551"/>
                <a:ext cx="28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1pPr>
                <a:lvl2pPr marL="37931725" indent="-37474525" eaLnBrk="0" hangingPunct="0"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2pPr>
                <a:lvl3pPr eaLnBrk="0" hangingPunct="0"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3pPr>
                <a:lvl4pPr eaLnBrk="0" hangingPunct="0"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eaLnBrk="0" hangingPunct="0"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GB" altLang="en-US"/>
                  <a:t>3</a:t>
                </a:r>
              </a:p>
            </p:txBody>
          </p:sp>
          <p:sp>
            <p:nvSpPr>
              <p:cNvPr id="20513" name="Text Box 28"/>
              <p:cNvSpPr txBox="1">
                <a:spLocks noChangeArrowheads="1"/>
              </p:cNvSpPr>
              <p:nvPr/>
            </p:nvSpPr>
            <p:spPr bwMode="auto">
              <a:xfrm>
                <a:off x="2551" y="2175"/>
                <a:ext cx="28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1pPr>
                <a:lvl2pPr marL="37931725" indent="-37474525" eaLnBrk="0" hangingPunct="0"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2pPr>
                <a:lvl3pPr eaLnBrk="0" hangingPunct="0"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3pPr>
                <a:lvl4pPr eaLnBrk="0" hangingPunct="0"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eaLnBrk="0" hangingPunct="0"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GB" altLang="en-US"/>
                  <a:t>8</a:t>
                </a:r>
              </a:p>
            </p:txBody>
          </p:sp>
        </p:grpSp>
        <p:sp>
          <p:nvSpPr>
            <p:cNvPr id="20487" name="Line 33"/>
            <p:cNvSpPr>
              <a:spLocks noChangeShapeType="1"/>
            </p:cNvSpPr>
            <p:nvPr/>
          </p:nvSpPr>
          <p:spPr bwMode="auto">
            <a:xfrm flipV="1">
              <a:off x="1927" y="2478"/>
              <a:ext cx="1536" cy="12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7679" name="Line 31"/>
          <p:cNvSpPr>
            <a:spLocks noChangeShapeType="1"/>
          </p:cNvSpPr>
          <p:nvPr/>
        </p:nvSpPr>
        <p:spPr bwMode="auto">
          <a:xfrm flipV="1">
            <a:off x="908050" y="2146300"/>
            <a:ext cx="1312863" cy="1774825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7970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77" grpId="0"/>
      <p:bldP spid="27679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ext Box 2"/>
          <p:cNvSpPr txBox="1">
            <a:spLocks noChangeArrowheads="1"/>
          </p:cNvSpPr>
          <p:nvPr/>
        </p:nvSpPr>
        <p:spPr bwMode="auto">
          <a:xfrm>
            <a:off x="6011863" y="1125538"/>
            <a:ext cx="2881312" cy="314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>
              <a:buFont typeface="Verdana" charset="0"/>
              <a:buNone/>
            </a:pPr>
            <a:r>
              <a:rPr lang="en-US" altLang="en-US" sz="2000">
                <a:latin typeface="Arial" charset="0"/>
              </a:rPr>
              <a:t>Select the next shortest</a:t>
            </a:r>
          </a:p>
          <a:p>
            <a:pPr>
              <a:buFont typeface="Verdana" charset="0"/>
              <a:buNone/>
            </a:pPr>
            <a:r>
              <a:rPr lang="en-US" altLang="en-US" sz="2000">
                <a:latin typeface="Arial" charset="0"/>
              </a:rPr>
              <a:t>edge which does not</a:t>
            </a:r>
          </a:p>
          <a:p>
            <a:pPr>
              <a:buFont typeface="Verdana" charset="0"/>
              <a:buNone/>
            </a:pPr>
            <a:r>
              <a:rPr lang="en-US" altLang="en-US" sz="2000">
                <a:latin typeface="Arial" charset="0"/>
              </a:rPr>
              <a:t>create a cycle</a:t>
            </a:r>
          </a:p>
          <a:p>
            <a:pPr eaLnBrk="1" hangingPunct="1"/>
            <a:endParaRPr lang="en-GB" altLang="en-US" sz="2000">
              <a:latin typeface="Arial" charset="0"/>
            </a:endParaRPr>
          </a:p>
          <a:p>
            <a:pPr eaLnBrk="1" hangingPunct="1"/>
            <a:r>
              <a:rPr lang="en-GB" altLang="en-US" sz="2000" b="1">
                <a:latin typeface="Arial" charset="0"/>
              </a:rPr>
              <a:t>ED  2</a:t>
            </a:r>
          </a:p>
          <a:p>
            <a:pPr eaLnBrk="1" hangingPunct="1"/>
            <a:r>
              <a:rPr lang="en-GB" altLang="en-US" sz="2000" b="1">
                <a:latin typeface="Arial" charset="0"/>
              </a:rPr>
              <a:t>AB  3</a:t>
            </a:r>
          </a:p>
          <a:p>
            <a:pPr eaLnBrk="1" hangingPunct="1"/>
            <a:r>
              <a:rPr lang="en-GB" altLang="en-US" sz="2000" b="1">
                <a:solidFill>
                  <a:srgbClr val="FF0000"/>
                </a:solidFill>
                <a:latin typeface="Arial" charset="0"/>
              </a:rPr>
              <a:t>CD  4</a:t>
            </a:r>
            <a:r>
              <a:rPr lang="en-GB" altLang="en-US" sz="2000" b="1">
                <a:latin typeface="Arial" charset="0"/>
              </a:rPr>
              <a:t> (or AE  4)</a:t>
            </a:r>
          </a:p>
          <a:p>
            <a:pPr eaLnBrk="1" hangingPunct="1"/>
            <a:endParaRPr lang="en-GB" altLang="en-US" sz="2000" b="1">
              <a:latin typeface="Arial" charset="0"/>
            </a:endParaRPr>
          </a:p>
          <a:p>
            <a:pPr eaLnBrk="1" hangingPunct="1"/>
            <a:endParaRPr lang="en-GB" altLang="en-US" sz="2000">
              <a:latin typeface="Arial" charset="0"/>
            </a:endParaRPr>
          </a:p>
          <a:p>
            <a:pPr eaLnBrk="1" hangingPunct="1"/>
            <a:endParaRPr lang="en-US" altLang="en-US" sz="2000">
              <a:latin typeface="Arial" charset="0"/>
            </a:endParaRPr>
          </a:p>
        </p:txBody>
      </p:sp>
      <p:sp>
        <p:nvSpPr>
          <p:cNvPr id="21507" name="Text Box 3"/>
          <p:cNvSpPr txBox="1">
            <a:spLocks noChangeArrowheads="1"/>
          </p:cNvSpPr>
          <p:nvPr/>
        </p:nvSpPr>
        <p:spPr bwMode="auto">
          <a:xfrm>
            <a:off x="827088" y="476250"/>
            <a:ext cx="72009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GB" altLang="en-US" b="1">
                <a:latin typeface="Arial" charset="0"/>
              </a:rPr>
              <a:t>Kruskal’s Algorithm</a:t>
            </a:r>
            <a:endParaRPr lang="en-US" altLang="en-US" b="1">
              <a:latin typeface="Arial" charset="0"/>
            </a:endParaRPr>
          </a:p>
        </p:txBody>
      </p:sp>
      <p:grpSp>
        <p:nvGrpSpPr>
          <p:cNvPr id="21508" name="Group 35"/>
          <p:cNvGrpSpPr>
            <a:grpSpLocks/>
          </p:cNvGrpSpPr>
          <p:nvPr/>
        </p:nvGrpSpPr>
        <p:grpSpPr bwMode="auto">
          <a:xfrm>
            <a:off x="468313" y="1700213"/>
            <a:ext cx="5486400" cy="4648200"/>
            <a:chOff x="295" y="1071"/>
            <a:chExt cx="3456" cy="2928"/>
          </a:xfrm>
        </p:grpSpPr>
        <p:sp>
          <p:nvSpPr>
            <p:cNvPr id="21510" name="Line 4"/>
            <p:cNvSpPr>
              <a:spLocks noChangeShapeType="1"/>
            </p:cNvSpPr>
            <p:nvPr/>
          </p:nvSpPr>
          <p:spPr bwMode="auto">
            <a:xfrm flipV="1">
              <a:off x="567" y="1344"/>
              <a:ext cx="816" cy="1109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21511" name="Group 34"/>
            <p:cNvGrpSpPr>
              <a:grpSpLocks/>
            </p:cNvGrpSpPr>
            <p:nvPr/>
          </p:nvGrpSpPr>
          <p:grpSpPr bwMode="auto">
            <a:xfrm>
              <a:off x="295" y="1071"/>
              <a:ext cx="3456" cy="2928"/>
              <a:chOff x="295" y="1071"/>
              <a:chExt cx="3456" cy="2928"/>
            </a:xfrm>
          </p:grpSpPr>
          <p:sp>
            <p:nvSpPr>
              <p:cNvPr id="21513" name="Line 8"/>
              <p:cNvSpPr>
                <a:spLocks noChangeShapeType="1"/>
              </p:cNvSpPr>
              <p:nvPr/>
            </p:nvSpPr>
            <p:spPr bwMode="auto">
              <a:xfrm>
                <a:off x="1399" y="1359"/>
                <a:ext cx="134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514" name="Line 9"/>
              <p:cNvSpPr>
                <a:spLocks noChangeShapeType="1"/>
              </p:cNvSpPr>
              <p:nvPr/>
            </p:nvSpPr>
            <p:spPr bwMode="auto">
              <a:xfrm>
                <a:off x="2743" y="1359"/>
                <a:ext cx="720" cy="110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515" name="Line 10"/>
              <p:cNvSpPr>
                <a:spLocks noChangeShapeType="1"/>
              </p:cNvSpPr>
              <p:nvPr/>
            </p:nvSpPr>
            <p:spPr bwMode="auto">
              <a:xfrm>
                <a:off x="583" y="2463"/>
                <a:ext cx="153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516" name="Line 11"/>
              <p:cNvSpPr>
                <a:spLocks noChangeShapeType="1"/>
              </p:cNvSpPr>
              <p:nvPr/>
            </p:nvSpPr>
            <p:spPr bwMode="auto">
              <a:xfrm>
                <a:off x="2119" y="2463"/>
                <a:ext cx="134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517" name="Line 12"/>
              <p:cNvSpPr>
                <a:spLocks noChangeShapeType="1"/>
              </p:cNvSpPr>
              <p:nvPr/>
            </p:nvSpPr>
            <p:spPr bwMode="auto">
              <a:xfrm>
                <a:off x="1399" y="1359"/>
                <a:ext cx="720" cy="110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518" name="Line 13"/>
              <p:cNvSpPr>
                <a:spLocks noChangeShapeType="1"/>
              </p:cNvSpPr>
              <p:nvPr/>
            </p:nvSpPr>
            <p:spPr bwMode="auto">
              <a:xfrm flipV="1">
                <a:off x="2119" y="1359"/>
                <a:ext cx="624" cy="110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519" name="Line 14"/>
              <p:cNvSpPr>
                <a:spLocks noChangeShapeType="1"/>
              </p:cNvSpPr>
              <p:nvPr/>
            </p:nvSpPr>
            <p:spPr bwMode="auto">
              <a:xfrm>
                <a:off x="583" y="2463"/>
                <a:ext cx="1344" cy="12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520" name="Line 15"/>
              <p:cNvSpPr>
                <a:spLocks noChangeShapeType="1"/>
              </p:cNvSpPr>
              <p:nvPr/>
            </p:nvSpPr>
            <p:spPr bwMode="auto">
              <a:xfrm flipV="1">
                <a:off x="1927" y="2463"/>
                <a:ext cx="192" cy="12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521" name="Line 16"/>
              <p:cNvSpPr>
                <a:spLocks noChangeShapeType="1"/>
              </p:cNvSpPr>
              <p:nvPr/>
            </p:nvSpPr>
            <p:spPr bwMode="auto">
              <a:xfrm flipV="1">
                <a:off x="1927" y="2463"/>
                <a:ext cx="1536" cy="12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522" name="Text Box 17"/>
              <p:cNvSpPr txBox="1">
                <a:spLocks noChangeArrowheads="1"/>
              </p:cNvSpPr>
              <p:nvPr/>
            </p:nvSpPr>
            <p:spPr bwMode="auto">
              <a:xfrm>
                <a:off x="295" y="2367"/>
                <a:ext cx="28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1pPr>
                <a:lvl2pPr marL="37931725" indent="-37474525" eaLnBrk="0" hangingPunct="0"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2pPr>
                <a:lvl3pPr eaLnBrk="0" hangingPunct="0"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3pPr>
                <a:lvl4pPr eaLnBrk="0" hangingPunct="0"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eaLnBrk="0" hangingPunct="0"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GB" altLang="en-US"/>
                  <a:t>A</a:t>
                </a:r>
              </a:p>
            </p:txBody>
          </p:sp>
          <p:sp>
            <p:nvSpPr>
              <p:cNvPr id="21523" name="Text Box 18"/>
              <p:cNvSpPr txBox="1">
                <a:spLocks noChangeArrowheads="1"/>
              </p:cNvSpPr>
              <p:nvPr/>
            </p:nvSpPr>
            <p:spPr bwMode="auto">
              <a:xfrm>
                <a:off x="2119" y="2463"/>
                <a:ext cx="28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1pPr>
                <a:lvl2pPr marL="37931725" indent="-37474525" eaLnBrk="0" hangingPunct="0"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2pPr>
                <a:lvl3pPr eaLnBrk="0" hangingPunct="0"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3pPr>
                <a:lvl4pPr eaLnBrk="0" hangingPunct="0"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eaLnBrk="0" hangingPunct="0"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GB" altLang="en-US"/>
                  <a:t>F</a:t>
                </a:r>
              </a:p>
            </p:txBody>
          </p:sp>
          <p:sp>
            <p:nvSpPr>
              <p:cNvPr id="21524" name="Text Box 19"/>
              <p:cNvSpPr txBox="1">
                <a:spLocks noChangeArrowheads="1"/>
              </p:cNvSpPr>
              <p:nvPr/>
            </p:nvSpPr>
            <p:spPr bwMode="auto">
              <a:xfrm>
                <a:off x="1159" y="1071"/>
                <a:ext cx="28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1pPr>
                <a:lvl2pPr marL="37931725" indent="-37474525" eaLnBrk="0" hangingPunct="0"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2pPr>
                <a:lvl3pPr eaLnBrk="0" hangingPunct="0"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3pPr>
                <a:lvl4pPr eaLnBrk="0" hangingPunct="0"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eaLnBrk="0" hangingPunct="0"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GB" altLang="en-US"/>
                  <a:t>B</a:t>
                </a:r>
              </a:p>
            </p:txBody>
          </p:sp>
          <p:sp>
            <p:nvSpPr>
              <p:cNvPr id="21525" name="Text Box 20"/>
              <p:cNvSpPr txBox="1">
                <a:spLocks noChangeArrowheads="1"/>
              </p:cNvSpPr>
              <p:nvPr/>
            </p:nvSpPr>
            <p:spPr bwMode="auto">
              <a:xfrm>
                <a:off x="2743" y="1167"/>
                <a:ext cx="28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1pPr>
                <a:lvl2pPr marL="37931725" indent="-37474525" eaLnBrk="0" hangingPunct="0"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2pPr>
                <a:lvl3pPr eaLnBrk="0" hangingPunct="0"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3pPr>
                <a:lvl4pPr eaLnBrk="0" hangingPunct="0"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eaLnBrk="0" hangingPunct="0"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GB" altLang="en-US"/>
                  <a:t>C</a:t>
                </a:r>
              </a:p>
            </p:txBody>
          </p:sp>
          <p:sp>
            <p:nvSpPr>
              <p:cNvPr id="21526" name="Text Box 21"/>
              <p:cNvSpPr txBox="1">
                <a:spLocks noChangeArrowheads="1"/>
              </p:cNvSpPr>
              <p:nvPr/>
            </p:nvSpPr>
            <p:spPr bwMode="auto">
              <a:xfrm>
                <a:off x="3463" y="2415"/>
                <a:ext cx="28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1pPr>
                <a:lvl2pPr marL="37931725" indent="-37474525" eaLnBrk="0" hangingPunct="0"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2pPr>
                <a:lvl3pPr eaLnBrk="0" hangingPunct="0"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3pPr>
                <a:lvl4pPr eaLnBrk="0" hangingPunct="0"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eaLnBrk="0" hangingPunct="0"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GB" altLang="en-US"/>
                  <a:t>D</a:t>
                </a:r>
              </a:p>
            </p:txBody>
          </p:sp>
          <p:sp>
            <p:nvSpPr>
              <p:cNvPr id="21527" name="Text Box 22"/>
              <p:cNvSpPr txBox="1">
                <a:spLocks noChangeArrowheads="1"/>
              </p:cNvSpPr>
              <p:nvPr/>
            </p:nvSpPr>
            <p:spPr bwMode="auto">
              <a:xfrm>
                <a:off x="1783" y="3711"/>
                <a:ext cx="28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1pPr>
                <a:lvl2pPr marL="37931725" indent="-37474525" eaLnBrk="0" hangingPunct="0"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2pPr>
                <a:lvl3pPr eaLnBrk="0" hangingPunct="0"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3pPr>
                <a:lvl4pPr eaLnBrk="0" hangingPunct="0"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eaLnBrk="0" hangingPunct="0"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GB" altLang="en-US"/>
                  <a:t>E</a:t>
                </a:r>
              </a:p>
            </p:txBody>
          </p:sp>
          <p:sp>
            <p:nvSpPr>
              <p:cNvPr id="21528" name="Text Box 23"/>
              <p:cNvSpPr txBox="1">
                <a:spLocks noChangeArrowheads="1"/>
              </p:cNvSpPr>
              <p:nvPr/>
            </p:nvSpPr>
            <p:spPr bwMode="auto">
              <a:xfrm>
                <a:off x="2599" y="3135"/>
                <a:ext cx="28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1pPr>
                <a:lvl2pPr marL="37931725" indent="-37474525" eaLnBrk="0" hangingPunct="0"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2pPr>
                <a:lvl3pPr eaLnBrk="0" hangingPunct="0"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3pPr>
                <a:lvl4pPr eaLnBrk="0" hangingPunct="0"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eaLnBrk="0" hangingPunct="0"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GB" altLang="en-US"/>
                  <a:t>2</a:t>
                </a:r>
              </a:p>
            </p:txBody>
          </p:sp>
          <p:sp>
            <p:nvSpPr>
              <p:cNvPr id="21529" name="Text Box 24"/>
              <p:cNvSpPr txBox="1">
                <a:spLocks noChangeArrowheads="1"/>
              </p:cNvSpPr>
              <p:nvPr/>
            </p:nvSpPr>
            <p:spPr bwMode="auto">
              <a:xfrm>
                <a:off x="1207" y="2511"/>
                <a:ext cx="28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1pPr>
                <a:lvl2pPr marL="37931725" indent="-37474525" eaLnBrk="0" hangingPunct="0"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2pPr>
                <a:lvl3pPr eaLnBrk="0" hangingPunct="0"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3pPr>
                <a:lvl4pPr eaLnBrk="0" hangingPunct="0"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eaLnBrk="0" hangingPunct="0"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GB" altLang="en-US"/>
                  <a:t>7</a:t>
                </a:r>
              </a:p>
            </p:txBody>
          </p:sp>
          <p:sp>
            <p:nvSpPr>
              <p:cNvPr id="21530" name="Text Box 25"/>
              <p:cNvSpPr txBox="1">
                <a:spLocks noChangeArrowheads="1"/>
              </p:cNvSpPr>
              <p:nvPr/>
            </p:nvSpPr>
            <p:spPr bwMode="auto">
              <a:xfrm>
                <a:off x="967" y="3039"/>
                <a:ext cx="28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1pPr>
                <a:lvl2pPr marL="37931725" indent="-37474525" eaLnBrk="0" hangingPunct="0"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2pPr>
                <a:lvl3pPr eaLnBrk="0" hangingPunct="0"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3pPr>
                <a:lvl4pPr eaLnBrk="0" hangingPunct="0"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eaLnBrk="0" hangingPunct="0"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GB" altLang="en-US"/>
                  <a:t>4</a:t>
                </a:r>
              </a:p>
            </p:txBody>
          </p:sp>
          <p:sp>
            <p:nvSpPr>
              <p:cNvPr id="21531" name="Text Box 26"/>
              <p:cNvSpPr txBox="1">
                <a:spLocks noChangeArrowheads="1"/>
              </p:cNvSpPr>
              <p:nvPr/>
            </p:nvSpPr>
            <p:spPr bwMode="auto">
              <a:xfrm>
                <a:off x="2023" y="2847"/>
                <a:ext cx="28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1pPr>
                <a:lvl2pPr marL="37931725" indent="-37474525" eaLnBrk="0" hangingPunct="0"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2pPr>
                <a:lvl3pPr eaLnBrk="0" hangingPunct="0"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3pPr>
                <a:lvl4pPr eaLnBrk="0" hangingPunct="0"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eaLnBrk="0" hangingPunct="0"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GB" altLang="en-US"/>
                  <a:t>5</a:t>
                </a:r>
              </a:p>
            </p:txBody>
          </p:sp>
          <p:sp>
            <p:nvSpPr>
              <p:cNvPr id="21532" name="Text Box 27"/>
              <p:cNvSpPr txBox="1">
                <a:spLocks noChangeArrowheads="1"/>
              </p:cNvSpPr>
              <p:nvPr/>
            </p:nvSpPr>
            <p:spPr bwMode="auto">
              <a:xfrm>
                <a:off x="1495" y="1839"/>
                <a:ext cx="28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1pPr>
                <a:lvl2pPr marL="37931725" indent="-37474525" eaLnBrk="0" hangingPunct="0"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2pPr>
                <a:lvl3pPr eaLnBrk="0" hangingPunct="0"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3pPr>
                <a:lvl4pPr eaLnBrk="0" hangingPunct="0"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eaLnBrk="0" hangingPunct="0"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GB" altLang="en-US"/>
                  <a:t>8</a:t>
                </a:r>
              </a:p>
            </p:txBody>
          </p:sp>
          <p:sp>
            <p:nvSpPr>
              <p:cNvPr id="21533" name="Text Box 28"/>
              <p:cNvSpPr txBox="1">
                <a:spLocks noChangeArrowheads="1"/>
              </p:cNvSpPr>
              <p:nvPr/>
            </p:nvSpPr>
            <p:spPr bwMode="auto">
              <a:xfrm>
                <a:off x="2455" y="1791"/>
                <a:ext cx="28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1pPr>
                <a:lvl2pPr marL="37931725" indent="-37474525" eaLnBrk="0" hangingPunct="0"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2pPr>
                <a:lvl3pPr eaLnBrk="0" hangingPunct="0"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3pPr>
                <a:lvl4pPr eaLnBrk="0" hangingPunct="0"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eaLnBrk="0" hangingPunct="0"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GB" altLang="en-US"/>
                  <a:t>6</a:t>
                </a:r>
              </a:p>
            </p:txBody>
          </p:sp>
          <p:sp>
            <p:nvSpPr>
              <p:cNvPr id="21534" name="Text Box 29"/>
              <p:cNvSpPr txBox="1">
                <a:spLocks noChangeArrowheads="1"/>
              </p:cNvSpPr>
              <p:nvPr/>
            </p:nvSpPr>
            <p:spPr bwMode="auto">
              <a:xfrm>
                <a:off x="3079" y="1695"/>
                <a:ext cx="28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1pPr>
                <a:lvl2pPr marL="37931725" indent="-37474525" eaLnBrk="0" hangingPunct="0"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2pPr>
                <a:lvl3pPr eaLnBrk="0" hangingPunct="0"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3pPr>
                <a:lvl4pPr eaLnBrk="0" hangingPunct="0"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eaLnBrk="0" hangingPunct="0"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GB" altLang="en-US"/>
                  <a:t>4</a:t>
                </a:r>
              </a:p>
            </p:txBody>
          </p:sp>
          <p:sp>
            <p:nvSpPr>
              <p:cNvPr id="21535" name="Text Box 30"/>
              <p:cNvSpPr txBox="1">
                <a:spLocks noChangeArrowheads="1"/>
              </p:cNvSpPr>
              <p:nvPr/>
            </p:nvSpPr>
            <p:spPr bwMode="auto">
              <a:xfrm>
                <a:off x="1927" y="1071"/>
                <a:ext cx="28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1pPr>
                <a:lvl2pPr marL="37931725" indent="-37474525" eaLnBrk="0" hangingPunct="0"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2pPr>
                <a:lvl3pPr eaLnBrk="0" hangingPunct="0"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3pPr>
                <a:lvl4pPr eaLnBrk="0" hangingPunct="0"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eaLnBrk="0" hangingPunct="0"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GB" altLang="en-US"/>
                  <a:t>5</a:t>
                </a:r>
              </a:p>
            </p:txBody>
          </p:sp>
          <p:sp>
            <p:nvSpPr>
              <p:cNvPr id="21536" name="Text Box 31"/>
              <p:cNvSpPr txBox="1">
                <a:spLocks noChangeArrowheads="1"/>
              </p:cNvSpPr>
              <p:nvPr/>
            </p:nvSpPr>
            <p:spPr bwMode="auto">
              <a:xfrm>
                <a:off x="839" y="1570"/>
                <a:ext cx="28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1pPr>
                <a:lvl2pPr marL="37931725" indent="-37474525" eaLnBrk="0" hangingPunct="0"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2pPr>
                <a:lvl3pPr eaLnBrk="0" hangingPunct="0"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3pPr>
                <a:lvl4pPr eaLnBrk="0" hangingPunct="0"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eaLnBrk="0" hangingPunct="0"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GB" altLang="en-US"/>
                  <a:t>3</a:t>
                </a:r>
              </a:p>
            </p:txBody>
          </p:sp>
          <p:sp>
            <p:nvSpPr>
              <p:cNvPr id="21537" name="Text Box 32"/>
              <p:cNvSpPr txBox="1">
                <a:spLocks noChangeArrowheads="1"/>
              </p:cNvSpPr>
              <p:nvPr/>
            </p:nvSpPr>
            <p:spPr bwMode="auto">
              <a:xfrm>
                <a:off x="2551" y="2175"/>
                <a:ext cx="28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1pPr>
                <a:lvl2pPr marL="37931725" indent="-37474525" eaLnBrk="0" hangingPunct="0"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2pPr>
                <a:lvl3pPr eaLnBrk="0" hangingPunct="0"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3pPr>
                <a:lvl4pPr eaLnBrk="0" hangingPunct="0"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eaLnBrk="0" hangingPunct="0"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GB" altLang="en-US"/>
                  <a:t>8</a:t>
                </a:r>
              </a:p>
            </p:txBody>
          </p:sp>
        </p:grpSp>
        <p:sp>
          <p:nvSpPr>
            <p:cNvPr id="21512" name="Line 33"/>
            <p:cNvSpPr>
              <a:spLocks noChangeShapeType="1"/>
            </p:cNvSpPr>
            <p:nvPr/>
          </p:nvSpPr>
          <p:spPr bwMode="auto">
            <a:xfrm flipV="1">
              <a:off x="1927" y="2478"/>
              <a:ext cx="1536" cy="12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9732" name="Line 36"/>
          <p:cNvSpPr>
            <a:spLocks noChangeShapeType="1"/>
          </p:cNvSpPr>
          <p:nvPr/>
        </p:nvSpPr>
        <p:spPr bwMode="auto">
          <a:xfrm>
            <a:off x="4356100" y="2133600"/>
            <a:ext cx="1152525" cy="1800225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553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698" grpId="0"/>
      <p:bldP spid="29732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ext Box 2"/>
          <p:cNvSpPr txBox="1">
            <a:spLocks noChangeArrowheads="1"/>
          </p:cNvSpPr>
          <p:nvPr/>
        </p:nvSpPr>
        <p:spPr bwMode="auto">
          <a:xfrm>
            <a:off x="6011863" y="1125538"/>
            <a:ext cx="2881312" cy="3444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>
              <a:buFont typeface="Verdana" charset="0"/>
              <a:buNone/>
            </a:pPr>
            <a:r>
              <a:rPr lang="en-US" altLang="en-US" sz="2000">
                <a:latin typeface="Arial" charset="0"/>
              </a:rPr>
              <a:t>Select the next shortest</a:t>
            </a:r>
          </a:p>
          <a:p>
            <a:pPr>
              <a:buFont typeface="Verdana" charset="0"/>
              <a:buNone/>
            </a:pPr>
            <a:r>
              <a:rPr lang="en-US" altLang="en-US" sz="2000">
                <a:latin typeface="Arial" charset="0"/>
              </a:rPr>
              <a:t>edge which does not</a:t>
            </a:r>
          </a:p>
          <a:p>
            <a:pPr>
              <a:buFont typeface="Verdana" charset="0"/>
              <a:buNone/>
            </a:pPr>
            <a:r>
              <a:rPr lang="en-US" altLang="en-US" sz="2000">
                <a:latin typeface="Arial" charset="0"/>
              </a:rPr>
              <a:t>create a cycle</a:t>
            </a:r>
          </a:p>
          <a:p>
            <a:pPr eaLnBrk="1" hangingPunct="1"/>
            <a:endParaRPr lang="en-GB" altLang="en-US" sz="2000">
              <a:latin typeface="Arial" charset="0"/>
            </a:endParaRPr>
          </a:p>
          <a:p>
            <a:pPr eaLnBrk="1" hangingPunct="1"/>
            <a:r>
              <a:rPr lang="en-GB" altLang="en-US" sz="2000" b="1">
                <a:latin typeface="Arial" charset="0"/>
              </a:rPr>
              <a:t>ED  2</a:t>
            </a:r>
          </a:p>
          <a:p>
            <a:pPr eaLnBrk="1" hangingPunct="1"/>
            <a:r>
              <a:rPr lang="en-GB" altLang="en-US" sz="2000" b="1">
                <a:latin typeface="Arial" charset="0"/>
              </a:rPr>
              <a:t>AB  3</a:t>
            </a:r>
          </a:p>
          <a:p>
            <a:pPr eaLnBrk="1" hangingPunct="1"/>
            <a:r>
              <a:rPr lang="en-GB" altLang="en-US" sz="2000" b="1">
                <a:latin typeface="Arial" charset="0"/>
              </a:rPr>
              <a:t>CD  4 </a:t>
            </a:r>
          </a:p>
          <a:p>
            <a:pPr eaLnBrk="1" hangingPunct="1"/>
            <a:r>
              <a:rPr lang="en-GB" altLang="en-US" sz="2000" b="1">
                <a:solidFill>
                  <a:srgbClr val="FF0000"/>
                </a:solidFill>
                <a:latin typeface="Arial" charset="0"/>
              </a:rPr>
              <a:t>AE  4</a:t>
            </a:r>
          </a:p>
          <a:p>
            <a:pPr eaLnBrk="1" hangingPunct="1"/>
            <a:endParaRPr lang="en-GB" altLang="en-US" sz="2000" b="1">
              <a:latin typeface="Arial" charset="0"/>
            </a:endParaRPr>
          </a:p>
          <a:p>
            <a:pPr eaLnBrk="1" hangingPunct="1"/>
            <a:endParaRPr lang="en-GB" altLang="en-US" sz="2000">
              <a:latin typeface="Arial" charset="0"/>
            </a:endParaRPr>
          </a:p>
          <a:p>
            <a:pPr eaLnBrk="1" hangingPunct="1"/>
            <a:endParaRPr lang="en-US" altLang="en-US" sz="2000">
              <a:latin typeface="Arial" charset="0"/>
            </a:endParaRPr>
          </a:p>
        </p:txBody>
      </p:sp>
      <p:sp>
        <p:nvSpPr>
          <p:cNvPr id="22531" name="Text Box 3"/>
          <p:cNvSpPr txBox="1">
            <a:spLocks noChangeArrowheads="1"/>
          </p:cNvSpPr>
          <p:nvPr/>
        </p:nvSpPr>
        <p:spPr bwMode="auto">
          <a:xfrm>
            <a:off x="827088" y="476250"/>
            <a:ext cx="72009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GB" altLang="en-US" b="1">
                <a:latin typeface="Arial" charset="0"/>
              </a:rPr>
              <a:t>Kruskal’s Algorithm</a:t>
            </a:r>
            <a:endParaRPr lang="en-US" altLang="en-US" b="1">
              <a:latin typeface="Arial" charset="0"/>
            </a:endParaRPr>
          </a:p>
        </p:txBody>
      </p:sp>
      <p:grpSp>
        <p:nvGrpSpPr>
          <p:cNvPr id="22532" name="Group 34"/>
          <p:cNvGrpSpPr>
            <a:grpSpLocks/>
          </p:cNvGrpSpPr>
          <p:nvPr/>
        </p:nvGrpSpPr>
        <p:grpSpPr bwMode="auto">
          <a:xfrm>
            <a:off x="468313" y="1700213"/>
            <a:ext cx="5486400" cy="4648200"/>
            <a:chOff x="295" y="1071"/>
            <a:chExt cx="3456" cy="2928"/>
          </a:xfrm>
        </p:grpSpPr>
        <p:grpSp>
          <p:nvGrpSpPr>
            <p:cNvPr id="22534" name="Group 4"/>
            <p:cNvGrpSpPr>
              <a:grpSpLocks/>
            </p:cNvGrpSpPr>
            <p:nvPr/>
          </p:nvGrpSpPr>
          <p:grpSpPr bwMode="auto">
            <a:xfrm>
              <a:off x="295" y="1071"/>
              <a:ext cx="3456" cy="2928"/>
              <a:chOff x="295" y="1071"/>
              <a:chExt cx="3456" cy="2928"/>
            </a:xfrm>
          </p:grpSpPr>
          <p:sp>
            <p:nvSpPr>
              <p:cNvPr id="22536" name="Line 5"/>
              <p:cNvSpPr>
                <a:spLocks noChangeShapeType="1"/>
              </p:cNvSpPr>
              <p:nvPr/>
            </p:nvSpPr>
            <p:spPr bwMode="auto">
              <a:xfrm flipV="1">
                <a:off x="567" y="1344"/>
                <a:ext cx="816" cy="1109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22537" name="Group 6"/>
              <p:cNvGrpSpPr>
                <a:grpSpLocks/>
              </p:cNvGrpSpPr>
              <p:nvPr/>
            </p:nvGrpSpPr>
            <p:grpSpPr bwMode="auto">
              <a:xfrm>
                <a:off x="295" y="1071"/>
                <a:ext cx="3456" cy="2928"/>
                <a:chOff x="295" y="1071"/>
                <a:chExt cx="3456" cy="2928"/>
              </a:xfrm>
            </p:grpSpPr>
            <p:sp>
              <p:nvSpPr>
                <p:cNvPr id="22539" name="Line 7"/>
                <p:cNvSpPr>
                  <a:spLocks noChangeShapeType="1"/>
                </p:cNvSpPr>
                <p:nvPr/>
              </p:nvSpPr>
              <p:spPr bwMode="auto">
                <a:xfrm>
                  <a:off x="1399" y="1359"/>
                  <a:ext cx="1344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540" name="Line 8"/>
                <p:cNvSpPr>
                  <a:spLocks noChangeShapeType="1"/>
                </p:cNvSpPr>
                <p:nvPr/>
              </p:nvSpPr>
              <p:spPr bwMode="auto">
                <a:xfrm>
                  <a:off x="2743" y="1359"/>
                  <a:ext cx="720" cy="110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541" name="Line 9"/>
                <p:cNvSpPr>
                  <a:spLocks noChangeShapeType="1"/>
                </p:cNvSpPr>
                <p:nvPr/>
              </p:nvSpPr>
              <p:spPr bwMode="auto">
                <a:xfrm>
                  <a:off x="583" y="2463"/>
                  <a:ext cx="153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542" name="Line 10"/>
                <p:cNvSpPr>
                  <a:spLocks noChangeShapeType="1"/>
                </p:cNvSpPr>
                <p:nvPr/>
              </p:nvSpPr>
              <p:spPr bwMode="auto">
                <a:xfrm>
                  <a:off x="2119" y="2463"/>
                  <a:ext cx="1344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543" name="Line 11"/>
                <p:cNvSpPr>
                  <a:spLocks noChangeShapeType="1"/>
                </p:cNvSpPr>
                <p:nvPr/>
              </p:nvSpPr>
              <p:spPr bwMode="auto">
                <a:xfrm>
                  <a:off x="1399" y="1359"/>
                  <a:ext cx="720" cy="110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544" name="Line 12"/>
                <p:cNvSpPr>
                  <a:spLocks noChangeShapeType="1"/>
                </p:cNvSpPr>
                <p:nvPr/>
              </p:nvSpPr>
              <p:spPr bwMode="auto">
                <a:xfrm flipV="1">
                  <a:off x="2119" y="1359"/>
                  <a:ext cx="624" cy="110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545" name="Line 13"/>
                <p:cNvSpPr>
                  <a:spLocks noChangeShapeType="1"/>
                </p:cNvSpPr>
                <p:nvPr/>
              </p:nvSpPr>
              <p:spPr bwMode="auto">
                <a:xfrm>
                  <a:off x="583" y="2463"/>
                  <a:ext cx="1344" cy="120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546" name="Line 14"/>
                <p:cNvSpPr>
                  <a:spLocks noChangeShapeType="1"/>
                </p:cNvSpPr>
                <p:nvPr/>
              </p:nvSpPr>
              <p:spPr bwMode="auto">
                <a:xfrm flipV="1">
                  <a:off x="1927" y="2463"/>
                  <a:ext cx="192" cy="120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547" name="Line 15"/>
                <p:cNvSpPr>
                  <a:spLocks noChangeShapeType="1"/>
                </p:cNvSpPr>
                <p:nvPr/>
              </p:nvSpPr>
              <p:spPr bwMode="auto">
                <a:xfrm flipV="1">
                  <a:off x="1927" y="2463"/>
                  <a:ext cx="1536" cy="120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548" name="Text Box 16"/>
                <p:cNvSpPr txBox="1">
                  <a:spLocks noChangeArrowheads="1"/>
                </p:cNvSpPr>
                <p:nvPr/>
              </p:nvSpPr>
              <p:spPr bwMode="auto">
                <a:xfrm>
                  <a:off x="295" y="2367"/>
                  <a:ext cx="288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1pPr>
                  <a:lvl2pPr marL="37931725" indent="-37474525" eaLnBrk="0" hangingPunct="0">
                    <a:defRPr sz="24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2pPr>
                  <a:lvl3pPr eaLnBrk="0" hangingPunct="0">
                    <a:defRPr sz="24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3pPr>
                  <a:lvl4pPr eaLnBrk="0" hangingPunct="0">
                    <a:defRPr sz="24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4pPr>
                  <a:lvl5pPr eaLnBrk="0" hangingPunct="0">
                    <a:defRPr sz="24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5pPr>
                  <a:lvl6pPr marL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6pPr>
                  <a:lvl7pPr marL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7pPr>
                  <a:lvl8pPr marL="1371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8pPr>
                  <a:lvl9pPr marL="1828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r>
                    <a:rPr lang="en-GB" altLang="en-US"/>
                    <a:t>A</a:t>
                  </a:r>
                </a:p>
              </p:txBody>
            </p:sp>
            <p:sp>
              <p:nvSpPr>
                <p:cNvPr id="22549" name="Text Box 17"/>
                <p:cNvSpPr txBox="1">
                  <a:spLocks noChangeArrowheads="1"/>
                </p:cNvSpPr>
                <p:nvPr/>
              </p:nvSpPr>
              <p:spPr bwMode="auto">
                <a:xfrm>
                  <a:off x="2119" y="2463"/>
                  <a:ext cx="288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1pPr>
                  <a:lvl2pPr marL="37931725" indent="-37474525" eaLnBrk="0" hangingPunct="0">
                    <a:defRPr sz="24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2pPr>
                  <a:lvl3pPr eaLnBrk="0" hangingPunct="0">
                    <a:defRPr sz="24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3pPr>
                  <a:lvl4pPr eaLnBrk="0" hangingPunct="0">
                    <a:defRPr sz="24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4pPr>
                  <a:lvl5pPr eaLnBrk="0" hangingPunct="0">
                    <a:defRPr sz="24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5pPr>
                  <a:lvl6pPr marL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6pPr>
                  <a:lvl7pPr marL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7pPr>
                  <a:lvl8pPr marL="1371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8pPr>
                  <a:lvl9pPr marL="1828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r>
                    <a:rPr lang="en-GB" altLang="en-US"/>
                    <a:t>F</a:t>
                  </a:r>
                </a:p>
              </p:txBody>
            </p:sp>
            <p:sp>
              <p:nvSpPr>
                <p:cNvPr id="22550" name="Text Box 18"/>
                <p:cNvSpPr txBox="1">
                  <a:spLocks noChangeArrowheads="1"/>
                </p:cNvSpPr>
                <p:nvPr/>
              </p:nvSpPr>
              <p:spPr bwMode="auto">
                <a:xfrm>
                  <a:off x="1159" y="1071"/>
                  <a:ext cx="288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1pPr>
                  <a:lvl2pPr marL="37931725" indent="-37474525" eaLnBrk="0" hangingPunct="0">
                    <a:defRPr sz="24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2pPr>
                  <a:lvl3pPr eaLnBrk="0" hangingPunct="0">
                    <a:defRPr sz="24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3pPr>
                  <a:lvl4pPr eaLnBrk="0" hangingPunct="0">
                    <a:defRPr sz="24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4pPr>
                  <a:lvl5pPr eaLnBrk="0" hangingPunct="0">
                    <a:defRPr sz="24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5pPr>
                  <a:lvl6pPr marL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6pPr>
                  <a:lvl7pPr marL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7pPr>
                  <a:lvl8pPr marL="1371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8pPr>
                  <a:lvl9pPr marL="1828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r>
                    <a:rPr lang="en-GB" altLang="en-US"/>
                    <a:t>B</a:t>
                  </a:r>
                </a:p>
              </p:txBody>
            </p:sp>
            <p:sp>
              <p:nvSpPr>
                <p:cNvPr id="22551" name="Text Box 19"/>
                <p:cNvSpPr txBox="1">
                  <a:spLocks noChangeArrowheads="1"/>
                </p:cNvSpPr>
                <p:nvPr/>
              </p:nvSpPr>
              <p:spPr bwMode="auto">
                <a:xfrm>
                  <a:off x="2743" y="1167"/>
                  <a:ext cx="288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1pPr>
                  <a:lvl2pPr marL="37931725" indent="-37474525" eaLnBrk="0" hangingPunct="0">
                    <a:defRPr sz="24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2pPr>
                  <a:lvl3pPr eaLnBrk="0" hangingPunct="0">
                    <a:defRPr sz="24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3pPr>
                  <a:lvl4pPr eaLnBrk="0" hangingPunct="0">
                    <a:defRPr sz="24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4pPr>
                  <a:lvl5pPr eaLnBrk="0" hangingPunct="0">
                    <a:defRPr sz="24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5pPr>
                  <a:lvl6pPr marL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6pPr>
                  <a:lvl7pPr marL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7pPr>
                  <a:lvl8pPr marL="1371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8pPr>
                  <a:lvl9pPr marL="1828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r>
                    <a:rPr lang="en-GB" altLang="en-US"/>
                    <a:t>C</a:t>
                  </a:r>
                </a:p>
              </p:txBody>
            </p:sp>
            <p:sp>
              <p:nvSpPr>
                <p:cNvPr id="22552" name="Text Box 20"/>
                <p:cNvSpPr txBox="1">
                  <a:spLocks noChangeArrowheads="1"/>
                </p:cNvSpPr>
                <p:nvPr/>
              </p:nvSpPr>
              <p:spPr bwMode="auto">
                <a:xfrm>
                  <a:off x="3463" y="2415"/>
                  <a:ext cx="288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1pPr>
                  <a:lvl2pPr marL="37931725" indent="-37474525" eaLnBrk="0" hangingPunct="0">
                    <a:defRPr sz="24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2pPr>
                  <a:lvl3pPr eaLnBrk="0" hangingPunct="0">
                    <a:defRPr sz="24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3pPr>
                  <a:lvl4pPr eaLnBrk="0" hangingPunct="0">
                    <a:defRPr sz="24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4pPr>
                  <a:lvl5pPr eaLnBrk="0" hangingPunct="0">
                    <a:defRPr sz="24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5pPr>
                  <a:lvl6pPr marL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6pPr>
                  <a:lvl7pPr marL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7pPr>
                  <a:lvl8pPr marL="1371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8pPr>
                  <a:lvl9pPr marL="1828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r>
                    <a:rPr lang="en-GB" altLang="en-US"/>
                    <a:t>D</a:t>
                  </a:r>
                </a:p>
              </p:txBody>
            </p:sp>
            <p:sp>
              <p:nvSpPr>
                <p:cNvPr id="22553" name="Text Box 21"/>
                <p:cNvSpPr txBox="1">
                  <a:spLocks noChangeArrowheads="1"/>
                </p:cNvSpPr>
                <p:nvPr/>
              </p:nvSpPr>
              <p:spPr bwMode="auto">
                <a:xfrm>
                  <a:off x="1783" y="3711"/>
                  <a:ext cx="288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1pPr>
                  <a:lvl2pPr marL="37931725" indent="-37474525" eaLnBrk="0" hangingPunct="0">
                    <a:defRPr sz="24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2pPr>
                  <a:lvl3pPr eaLnBrk="0" hangingPunct="0">
                    <a:defRPr sz="24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3pPr>
                  <a:lvl4pPr eaLnBrk="0" hangingPunct="0">
                    <a:defRPr sz="24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4pPr>
                  <a:lvl5pPr eaLnBrk="0" hangingPunct="0">
                    <a:defRPr sz="24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5pPr>
                  <a:lvl6pPr marL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6pPr>
                  <a:lvl7pPr marL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7pPr>
                  <a:lvl8pPr marL="1371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8pPr>
                  <a:lvl9pPr marL="1828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r>
                    <a:rPr lang="en-GB" altLang="en-US"/>
                    <a:t>E</a:t>
                  </a:r>
                </a:p>
              </p:txBody>
            </p:sp>
            <p:sp>
              <p:nvSpPr>
                <p:cNvPr id="22554" name="Text Box 22"/>
                <p:cNvSpPr txBox="1">
                  <a:spLocks noChangeArrowheads="1"/>
                </p:cNvSpPr>
                <p:nvPr/>
              </p:nvSpPr>
              <p:spPr bwMode="auto">
                <a:xfrm>
                  <a:off x="2599" y="3135"/>
                  <a:ext cx="288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1pPr>
                  <a:lvl2pPr marL="37931725" indent="-37474525" eaLnBrk="0" hangingPunct="0">
                    <a:defRPr sz="24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2pPr>
                  <a:lvl3pPr eaLnBrk="0" hangingPunct="0">
                    <a:defRPr sz="24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3pPr>
                  <a:lvl4pPr eaLnBrk="0" hangingPunct="0">
                    <a:defRPr sz="24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4pPr>
                  <a:lvl5pPr eaLnBrk="0" hangingPunct="0">
                    <a:defRPr sz="24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5pPr>
                  <a:lvl6pPr marL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6pPr>
                  <a:lvl7pPr marL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7pPr>
                  <a:lvl8pPr marL="1371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8pPr>
                  <a:lvl9pPr marL="1828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r>
                    <a:rPr lang="en-GB" altLang="en-US"/>
                    <a:t>2</a:t>
                  </a:r>
                </a:p>
              </p:txBody>
            </p:sp>
            <p:sp>
              <p:nvSpPr>
                <p:cNvPr id="22555" name="Text Box 23"/>
                <p:cNvSpPr txBox="1">
                  <a:spLocks noChangeArrowheads="1"/>
                </p:cNvSpPr>
                <p:nvPr/>
              </p:nvSpPr>
              <p:spPr bwMode="auto">
                <a:xfrm>
                  <a:off x="1207" y="2511"/>
                  <a:ext cx="288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1pPr>
                  <a:lvl2pPr marL="37931725" indent="-37474525" eaLnBrk="0" hangingPunct="0">
                    <a:defRPr sz="24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2pPr>
                  <a:lvl3pPr eaLnBrk="0" hangingPunct="0">
                    <a:defRPr sz="24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3pPr>
                  <a:lvl4pPr eaLnBrk="0" hangingPunct="0">
                    <a:defRPr sz="24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4pPr>
                  <a:lvl5pPr eaLnBrk="0" hangingPunct="0">
                    <a:defRPr sz="24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5pPr>
                  <a:lvl6pPr marL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6pPr>
                  <a:lvl7pPr marL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7pPr>
                  <a:lvl8pPr marL="1371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8pPr>
                  <a:lvl9pPr marL="1828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r>
                    <a:rPr lang="en-GB" altLang="en-US"/>
                    <a:t>7</a:t>
                  </a:r>
                </a:p>
              </p:txBody>
            </p:sp>
            <p:sp>
              <p:nvSpPr>
                <p:cNvPr id="22556" name="Text Box 24"/>
                <p:cNvSpPr txBox="1">
                  <a:spLocks noChangeArrowheads="1"/>
                </p:cNvSpPr>
                <p:nvPr/>
              </p:nvSpPr>
              <p:spPr bwMode="auto">
                <a:xfrm>
                  <a:off x="967" y="3039"/>
                  <a:ext cx="288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1pPr>
                  <a:lvl2pPr marL="37931725" indent="-37474525" eaLnBrk="0" hangingPunct="0">
                    <a:defRPr sz="24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2pPr>
                  <a:lvl3pPr eaLnBrk="0" hangingPunct="0">
                    <a:defRPr sz="24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3pPr>
                  <a:lvl4pPr eaLnBrk="0" hangingPunct="0">
                    <a:defRPr sz="24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4pPr>
                  <a:lvl5pPr eaLnBrk="0" hangingPunct="0">
                    <a:defRPr sz="24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5pPr>
                  <a:lvl6pPr marL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6pPr>
                  <a:lvl7pPr marL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7pPr>
                  <a:lvl8pPr marL="1371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8pPr>
                  <a:lvl9pPr marL="1828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r>
                    <a:rPr lang="en-GB" altLang="en-US"/>
                    <a:t>4</a:t>
                  </a:r>
                </a:p>
              </p:txBody>
            </p:sp>
            <p:sp>
              <p:nvSpPr>
                <p:cNvPr id="22557" name="Text Box 25"/>
                <p:cNvSpPr txBox="1">
                  <a:spLocks noChangeArrowheads="1"/>
                </p:cNvSpPr>
                <p:nvPr/>
              </p:nvSpPr>
              <p:spPr bwMode="auto">
                <a:xfrm>
                  <a:off x="2023" y="2847"/>
                  <a:ext cx="288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1pPr>
                  <a:lvl2pPr marL="37931725" indent="-37474525" eaLnBrk="0" hangingPunct="0">
                    <a:defRPr sz="24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2pPr>
                  <a:lvl3pPr eaLnBrk="0" hangingPunct="0">
                    <a:defRPr sz="24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3pPr>
                  <a:lvl4pPr eaLnBrk="0" hangingPunct="0">
                    <a:defRPr sz="24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4pPr>
                  <a:lvl5pPr eaLnBrk="0" hangingPunct="0">
                    <a:defRPr sz="24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5pPr>
                  <a:lvl6pPr marL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6pPr>
                  <a:lvl7pPr marL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7pPr>
                  <a:lvl8pPr marL="1371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8pPr>
                  <a:lvl9pPr marL="1828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r>
                    <a:rPr lang="en-GB" altLang="en-US"/>
                    <a:t>5</a:t>
                  </a:r>
                </a:p>
              </p:txBody>
            </p:sp>
            <p:sp>
              <p:nvSpPr>
                <p:cNvPr id="22558" name="Text Box 26"/>
                <p:cNvSpPr txBox="1">
                  <a:spLocks noChangeArrowheads="1"/>
                </p:cNvSpPr>
                <p:nvPr/>
              </p:nvSpPr>
              <p:spPr bwMode="auto">
                <a:xfrm>
                  <a:off x="1495" y="1839"/>
                  <a:ext cx="288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1pPr>
                  <a:lvl2pPr marL="37931725" indent="-37474525" eaLnBrk="0" hangingPunct="0">
                    <a:defRPr sz="24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2pPr>
                  <a:lvl3pPr eaLnBrk="0" hangingPunct="0">
                    <a:defRPr sz="24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3pPr>
                  <a:lvl4pPr eaLnBrk="0" hangingPunct="0">
                    <a:defRPr sz="24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4pPr>
                  <a:lvl5pPr eaLnBrk="0" hangingPunct="0">
                    <a:defRPr sz="24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5pPr>
                  <a:lvl6pPr marL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6pPr>
                  <a:lvl7pPr marL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7pPr>
                  <a:lvl8pPr marL="1371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8pPr>
                  <a:lvl9pPr marL="1828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r>
                    <a:rPr lang="en-GB" altLang="en-US"/>
                    <a:t>8</a:t>
                  </a:r>
                </a:p>
              </p:txBody>
            </p:sp>
            <p:sp>
              <p:nvSpPr>
                <p:cNvPr id="22559" name="Text Box 27"/>
                <p:cNvSpPr txBox="1">
                  <a:spLocks noChangeArrowheads="1"/>
                </p:cNvSpPr>
                <p:nvPr/>
              </p:nvSpPr>
              <p:spPr bwMode="auto">
                <a:xfrm>
                  <a:off x="2455" y="1791"/>
                  <a:ext cx="288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1pPr>
                  <a:lvl2pPr marL="37931725" indent="-37474525" eaLnBrk="0" hangingPunct="0">
                    <a:defRPr sz="24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2pPr>
                  <a:lvl3pPr eaLnBrk="0" hangingPunct="0">
                    <a:defRPr sz="24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3pPr>
                  <a:lvl4pPr eaLnBrk="0" hangingPunct="0">
                    <a:defRPr sz="24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4pPr>
                  <a:lvl5pPr eaLnBrk="0" hangingPunct="0">
                    <a:defRPr sz="24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5pPr>
                  <a:lvl6pPr marL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6pPr>
                  <a:lvl7pPr marL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7pPr>
                  <a:lvl8pPr marL="1371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8pPr>
                  <a:lvl9pPr marL="1828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r>
                    <a:rPr lang="en-GB" altLang="en-US"/>
                    <a:t>6</a:t>
                  </a:r>
                </a:p>
              </p:txBody>
            </p:sp>
            <p:sp>
              <p:nvSpPr>
                <p:cNvPr id="22560" name="Text Box 28"/>
                <p:cNvSpPr txBox="1">
                  <a:spLocks noChangeArrowheads="1"/>
                </p:cNvSpPr>
                <p:nvPr/>
              </p:nvSpPr>
              <p:spPr bwMode="auto">
                <a:xfrm>
                  <a:off x="3079" y="1695"/>
                  <a:ext cx="288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1pPr>
                  <a:lvl2pPr marL="37931725" indent="-37474525" eaLnBrk="0" hangingPunct="0">
                    <a:defRPr sz="24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2pPr>
                  <a:lvl3pPr eaLnBrk="0" hangingPunct="0">
                    <a:defRPr sz="24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3pPr>
                  <a:lvl4pPr eaLnBrk="0" hangingPunct="0">
                    <a:defRPr sz="24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4pPr>
                  <a:lvl5pPr eaLnBrk="0" hangingPunct="0">
                    <a:defRPr sz="24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5pPr>
                  <a:lvl6pPr marL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6pPr>
                  <a:lvl7pPr marL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7pPr>
                  <a:lvl8pPr marL="1371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8pPr>
                  <a:lvl9pPr marL="1828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r>
                    <a:rPr lang="en-GB" altLang="en-US"/>
                    <a:t>4</a:t>
                  </a:r>
                </a:p>
              </p:txBody>
            </p:sp>
            <p:sp>
              <p:nvSpPr>
                <p:cNvPr id="22561" name="Text Box 29"/>
                <p:cNvSpPr txBox="1">
                  <a:spLocks noChangeArrowheads="1"/>
                </p:cNvSpPr>
                <p:nvPr/>
              </p:nvSpPr>
              <p:spPr bwMode="auto">
                <a:xfrm>
                  <a:off x="1927" y="1071"/>
                  <a:ext cx="288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1pPr>
                  <a:lvl2pPr marL="37931725" indent="-37474525" eaLnBrk="0" hangingPunct="0">
                    <a:defRPr sz="24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2pPr>
                  <a:lvl3pPr eaLnBrk="0" hangingPunct="0">
                    <a:defRPr sz="24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3pPr>
                  <a:lvl4pPr eaLnBrk="0" hangingPunct="0">
                    <a:defRPr sz="24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4pPr>
                  <a:lvl5pPr eaLnBrk="0" hangingPunct="0">
                    <a:defRPr sz="24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5pPr>
                  <a:lvl6pPr marL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6pPr>
                  <a:lvl7pPr marL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7pPr>
                  <a:lvl8pPr marL="1371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8pPr>
                  <a:lvl9pPr marL="1828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r>
                    <a:rPr lang="en-GB" altLang="en-US"/>
                    <a:t>5</a:t>
                  </a:r>
                </a:p>
              </p:txBody>
            </p:sp>
            <p:sp>
              <p:nvSpPr>
                <p:cNvPr id="22562" name="Text Box 30"/>
                <p:cNvSpPr txBox="1">
                  <a:spLocks noChangeArrowheads="1"/>
                </p:cNvSpPr>
                <p:nvPr/>
              </p:nvSpPr>
              <p:spPr bwMode="auto">
                <a:xfrm>
                  <a:off x="839" y="1570"/>
                  <a:ext cx="288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1pPr>
                  <a:lvl2pPr marL="37931725" indent="-37474525" eaLnBrk="0" hangingPunct="0">
                    <a:defRPr sz="24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2pPr>
                  <a:lvl3pPr eaLnBrk="0" hangingPunct="0">
                    <a:defRPr sz="24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3pPr>
                  <a:lvl4pPr eaLnBrk="0" hangingPunct="0">
                    <a:defRPr sz="24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4pPr>
                  <a:lvl5pPr eaLnBrk="0" hangingPunct="0">
                    <a:defRPr sz="24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5pPr>
                  <a:lvl6pPr marL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6pPr>
                  <a:lvl7pPr marL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7pPr>
                  <a:lvl8pPr marL="1371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8pPr>
                  <a:lvl9pPr marL="1828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r>
                    <a:rPr lang="en-GB" altLang="en-US"/>
                    <a:t>3</a:t>
                  </a:r>
                </a:p>
              </p:txBody>
            </p:sp>
            <p:sp>
              <p:nvSpPr>
                <p:cNvPr id="22563" name="Text Box 31"/>
                <p:cNvSpPr txBox="1">
                  <a:spLocks noChangeArrowheads="1"/>
                </p:cNvSpPr>
                <p:nvPr/>
              </p:nvSpPr>
              <p:spPr bwMode="auto">
                <a:xfrm>
                  <a:off x="2551" y="2175"/>
                  <a:ext cx="288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1pPr>
                  <a:lvl2pPr marL="37931725" indent="-37474525" eaLnBrk="0" hangingPunct="0">
                    <a:defRPr sz="24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2pPr>
                  <a:lvl3pPr eaLnBrk="0" hangingPunct="0">
                    <a:defRPr sz="24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3pPr>
                  <a:lvl4pPr eaLnBrk="0" hangingPunct="0">
                    <a:defRPr sz="24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4pPr>
                  <a:lvl5pPr eaLnBrk="0" hangingPunct="0">
                    <a:defRPr sz="24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5pPr>
                  <a:lvl6pPr marL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6pPr>
                  <a:lvl7pPr marL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7pPr>
                  <a:lvl8pPr marL="1371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8pPr>
                  <a:lvl9pPr marL="1828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r>
                    <a:rPr lang="en-GB" altLang="en-US"/>
                    <a:t>8</a:t>
                  </a:r>
                </a:p>
              </p:txBody>
            </p:sp>
          </p:grpSp>
          <p:sp>
            <p:nvSpPr>
              <p:cNvPr id="22538" name="Line 32"/>
              <p:cNvSpPr>
                <a:spLocks noChangeShapeType="1"/>
              </p:cNvSpPr>
              <p:nvPr/>
            </p:nvSpPr>
            <p:spPr bwMode="auto">
              <a:xfrm flipV="1">
                <a:off x="1927" y="2478"/>
                <a:ext cx="1536" cy="120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2535" name="Line 33"/>
            <p:cNvSpPr>
              <a:spLocks noChangeShapeType="1"/>
            </p:cNvSpPr>
            <p:nvPr/>
          </p:nvSpPr>
          <p:spPr bwMode="auto">
            <a:xfrm>
              <a:off x="2744" y="1344"/>
              <a:ext cx="726" cy="1134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0755" name="Line 35"/>
          <p:cNvSpPr>
            <a:spLocks noChangeShapeType="1"/>
          </p:cNvSpPr>
          <p:nvPr/>
        </p:nvSpPr>
        <p:spPr bwMode="auto">
          <a:xfrm>
            <a:off x="900113" y="3860800"/>
            <a:ext cx="2159000" cy="1944688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64798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2" grpId="0"/>
      <p:bldP spid="30755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ext Box 2"/>
          <p:cNvSpPr txBox="1">
            <a:spLocks noChangeArrowheads="1"/>
          </p:cNvSpPr>
          <p:nvPr/>
        </p:nvSpPr>
        <p:spPr bwMode="auto">
          <a:xfrm>
            <a:off x="6011863" y="1125538"/>
            <a:ext cx="2881312" cy="405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>
              <a:buFont typeface="Verdana" charset="0"/>
              <a:buNone/>
            </a:pPr>
            <a:r>
              <a:rPr lang="en-US" altLang="en-US" sz="2000">
                <a:latin typeface="Arial" charset="0"/>
              </a:rPr>
              <a:t>Select the next shortest</a:t>
            </a:r>
          </a:p>
          <a:p>
            <a:pPr>
              <a:buFont typeface="Verdana" charset="0"/>
              <a:buNone/>
            </a:pPr>
            <a:r>
              <a:rPr lang="en-US" altLang="en-US" sz="2000">
                <a:latin typeface="Arial" charset="0"/>
              </a:rPr>
              <a:t>edge which does not</a:t>
            </a:r>
          </a:p>
          <a:p>
            <a:pPr>
              <a:buFont typeface="Verdana" charset="0"/>
              <a:buNone/>
            </a:pPr>
            <a:r>
              <a:rPr lang="en-US" altLang="en-US" sz="2000">
                <a:latin typeface="Arial" charset="0"/>
              </a:rPr>
              <a:t>create a cycle</a:t>
            </a:r>
          </a:p>
          <a:p>
            <a:pPr eaLnBrk="1" hangingPunct="1"/>
            <a:endParaRPr lang="en-GB" altLang="en-US" sz="2000">
              <a:latin typeface="Arial" charset="0"/>
            </a:endParaRPr>
          </a:p>
          <a:p>
            <a:pPr eaLnBrk="1" hangingPunct="1"/>
            <a:r>
              <a:rPr lang="en-GB" altLang="en-US" sz="2000" b="1">
                <a:latin typeface="Arial" charset="0"/>
              </a:rPr>
              <a:t>ED  2</a:t>
            </a:r>
          </a:p>
          <a:p>
            <a:pPr eaLnBrk="1" hangingPunct="1"/>
            <a:r>
              <a:rPr lang="en-GB" altLang="en-US" sz="2000" b="1">
                <a:latin typeface="Arial" charset="0"/>
              </a:rPr>
              <a:t>AB  3</a:t>
            </a:r>
          </a:p>
          <a:p>
            <a:pPr eaLnBrk="1" hangingPunct="1"/>
            <a:r>
              <a:rPr lang="en-GB" altLang="en-US" sz="2000" b="1">
                <a:latin typeface="Arial" charset="0"/>
              </a:rPr>
              <a:t>CD  4 </a:t>
            </a:r>
          </a:p>
          <a:p>
            <a:pPr eaLnBrk="1" hangingPunct="1"/>
            <a:r>
              <a:rPr lang="en-GB" altLang="en-US" sz="2000" b="1">
                <a:latin typeface="Arial" charset="0"/>
              </a:rPr>
              <a:t>AE  4</a:t>
            </a:r>
          </a:p>
          <a:p>
            <a:pPr eaLnBrk="1" hangingPunct="1"/>
            <a:r>
              <a:rPr lang="en-GB" altLang="en-US" sz="2000" b="1">
                <a:latin typeface="Arial" charset="0"/>
              </a:rPr>
              <a:t>BC  5 – forms a cycle</a:t>
            </a:r>
          </a:p>
          <a:p>
            <a:pPr eaLnBrk="1" hangingPunct="1"/>
            <a:r>
              <a:rPr lang="en-GB" altLang="en-US" sz="2000" b="1">
                <a:solidFill>
                  <a:srgbClr val="FF0000"/>
                </a:solidFill>
                <a:latin typeface="Arial" charset="0"/>
              </a:rPr>
              <a:t>EF  5</a:t>
            </a:r>
          </a:p>
          <a:p>
            <a:pPr eaLnBrk="1" hangingPunct="1"/>
            <a:endParaRPr lang="en-GB" altLang="en-US" sz="2000" b="1">
              <a:latin typeface="Arial" charset="0"/>
            </a:endParaRPr>
          </a:p>
          <a:p>
            <a:pPr eaLnBrk="1" hangingPunct="1"/>
            <a:endParaRPr lang="en-GB" altLang="en-US" sz="2000">
              <a:latin typeface="Arial" charset="0"/>
            </a:endParaRPr>
          </a:p>
          <a:p>
            <a:pPr eaLnBrk="1" hangingPunct="1"/>
            <a:endParaRPr lang="en-US" altLang="en-US" sz="2000">
              <a:latin typeface="Arial" charset="0"/>
            </a:endParaRPr>
          </a:p>
        </p:txBody>
      </p:sp>
      <p:sp>
        <p:nvSpPr>
          <p:cNvPr id="23555" name="Text Box 3"/>
          <p:cNvSpPr txBox="1">
            <a:spLocks noChangeArrowheads="1"/>
          </p:cNvSpPr>
          <p:nvPr/>
        </p:nvSpPr>
        <p:spPr bwMode="auto">
          <a:xfrm>
            <a:off x="827088" y="476250"/>
            <a:ext cx="72009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GB" altLang="en-US" b="1">
                <a:latin typeface="Arial" charset="0"/>
              </a:rPr>
              <a:t>Kruskal’s Algorithm</a:t>
            </a:r>
            <a:endParaRPr lang="en-US" altLang="en-US" b="1">
              <a:latin typeface="Arial" charset="0"/>
            </a:endParaRPr>
          </a:p>
        </p:txBody>
      </p:sp>
      <p:grpSp>
        <p:nvGrpSpPr>
          <p:cNvPr id="23556" name="Group 36"/>
          <p:cNvGrpSpPr>
            <a:grpSpLocks/>
          </p:cNvGrpSpPr>
          <p:nvPr/>
        </p:nvGrpSpPr>
        <p:grpSpPr bwMode="auto">
          <a:xfrm>
            <a:off x="468313" y="1700213"/>
            <a:ext cx="5486400" cy="4648200"/>
            <a:chOff x="295" y="1071"/>
            <a:chExt cx="3456" cy="2928"/>
          </a:xfrm>
        </p:grpSpPr>
        <p:grpSp>
          <p:nvGrpSpPr>
            <p:cNvPr id="23558" name="Group 4"/>
            <p:cNvGrpSpPr>
              <a:grpSpLocks/>
            </p:cNvGrpSpPr>
            <p:nvPr/>
          </p:nvGrpSpPr>
          <p:grpSpPr bwMode="auto">
            <a:xfrm>
              <a:off x="295" y="1071"/>
              <a:ext cx="3456" cy="2928"/>
              <a:chOff x="295" y="1071"/>
              <a:chExt cx="3456" cy="2928"/>
            </a:xfrm>
          </p:grpSpPr>
          <p:grpSp>
            <p:nvGrpSpPr>
              <p:cNvPr id="23560" name="Group 5"/>
              <p:cNvGrpSpPr>
                <a:grpSpLocks/>
              </p:cNvGrpSpPr>
              <p:nvPr/>
            </p:nvGrpSpPr>
            <p:grpSpPr bwMode="auto">
              <a:xfrm>
                <a:off x="295" y="1071"/>
                <a:ext cx="3456" cy="2928"/>
                <a:chOff x="295" y="1071"/>
                <a:chExt cx="3456" cy="2928"/>
              </a:xfrm>
            </p:grpSpPr>
            <p:sp>
              <p:nvSpPr>
                <p:cNvPr id="23562" name="Line 6"/>
                <p:cNvSpPr>
                  <a:spLocks noChangeShapeType="1"/>
                </p:cNvSpPr>
                <p:nvPr/>
              </p:nvSpPr>
              <p:spPr bwMode="auto">
                <a:xfrm flipV="1">
                  <a:off x="567" y="1344"/>
                  <a:ext cx="816" cy="1109"/>
                </a:xfrm>
                <a:prstGeom prst="line">
                  <a:avLst/>
                </a:prstGeom>
                <a:noFill/>
                <a:ln w="38100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grpSp>
              <p:nvGrpSpPr>
                <p:cNvPr id="23563" name="Group 7"/>
                <p:cNvGrpSpPr>
                  <a:grpSpLocks/>
                </p:cNvGrpSpPr>
                <p:nvPr/>
              </p:nvGrpSpPr>
              <p:grpSpPr bwMode="auto">
                <a:xfrm>
                  <a:off x="295" y="1071"/>
                  <a:ext cx="3456" cy="2928"/>
                  <a:chOff x="295" y="1071"/>
                  <a:chExt cx="3456" cy="2928"/>
                </a:xfrm>
              </p:grpSpPr>
              <p:sp>
                <p:nvSpPr>
                  <p:cNvPr id="23565" name="Line 8"/>
                  <p:cNvSpPr>
                    <a:spLocks noChangeShapeType="1"/>
                  </p:cNvSpPr>
                  <p:nvPr/>
                </p:nvSpPr>
                <p:spPr bwMode="auto">
                  <a:xfrm>
                    <a:off x="1399" y="1359"/>
                    <a:ext cx="1344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23566" name="Line 9"/>
                  <p:cNvSpPr>
                    <a:spLocks noChangeShapeType="1"/>
                  </p:cNvSpPr>
                  <p:nvPr/>
                </p:nvSpPr>
                <p:spPr bwMode="auto">
                  <a:xfrm>
                    <a:off x="2743" y="1359"/>
                    <a:ext cx="720" cy="1104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23567" name="Line 10"/>
                  <p:cNvSpPr>
                    <a:spLocks noChangeShapeType="1"/>
                  </p:cNvSpPr>
                  <p:nvPr/>
                </p:nvSpPr>
                <p:spPr bwMode="auto">
                  <a:xfrm>
                    <a:off x="583" y="2463"/>
                    <a:ext cx="1536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23568" name="Line 11"/>
                  <p:cNvSpPr>
                    <a:spLocks noChangeShapeType="1"/>
                  </p:cNvSpPr>
                  <p:nvPr/>
                </p:nvSpPr>
                <p:spPr bwMode="auto">
                  <a:xfrm>
                    <a:off x="2119" y="2463"/>
                    <a:ext cx="1344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23569" name="Line 12"/>
                  <p:cNvSpPr>
                    <a:spLocks noChangeShapeType="1"/>
                  </p:cNvSpPr>
                  <p:nvPr/>
                </p:nvSpPr>
                <p:spPr bwMode="auto">
                  <a:xfrm>
                    <a:off x="1399" y="1359"/>
                    <a:ext cx="720" cy="1104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23570" name="Line 13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119" y="1359"/>
                    <a:ext cx="624" cy="1104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23571" name="Line 14"/>
                  <p:cNvSpPr>
                    <a:spLocks noChangeShapeType="1"/>
                  </p:cNvSpPr>
                  <p:nvPr/>
                </p:nvSpPr>
                <p:spPr bwMode="auto">
                  <a:xfrm>
                    <a:off x="583" y="2463"/>
                    <a:ext cx="1344" cy="120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23572" name="Line 15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1927" y="2463"/>
                    <a:ext cx="192" cy="120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23573" name="Line 16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1927" y="2463"/>
                    <a:ext cx="1536" cy="120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23574" name="Text Box 17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95" y="2367"/>
                    <a:ext cx="288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Times New Roman" charset="0"/>
                        <a:ea typeface="ＭＳ Ｐゴシック" charset="-128"/>
                      </a:defRPr>
                    </a:lvl1pPr>
                    <a:lvl2pPr marL="37931725" indent="-37474525" eaLnBrk="0" hangingPunct="0">
                      <a:defRPr sz="2400">
                        <a:solidFill>
                          <a:schemeClr val="tx1"/>
                        </a:solidFill>
                        <a:latin typeface="Times New Roman" charset="0"/>
                        <a:ea typeface="ＭＳ Ｐゴシック" charset="-128"/>
                      </a:defRPr>
                    </a:lvl2pPr>
                    <a:lvl3pPr eaLnBrk="0" hangingPunct="0">
                      <a:defRPr sz="2400">
                        <a:solidFill>
                          <a:schemeClr val="tx1"/>
                        </a:solidFill>
                        <a:latin typeface="Times New Roman" charset="0"/>
                        <a:ea typeface="ＭＳ Ｐゴシック" charset="-128"/>
                      </a:defRPr>
                    </a:lvl3pPr>
                    <a:lvl4pPr eaLnBrk="0" hangingPunct="0">
                      <a:defRPr sz="2400">
                        <a:solidFill>
                          <a:schemeClr val="tx1"/>
                        </a:solidFill>
                        <a:latin typeface="Times New Roman" charset="0"/>
                        <a:ea typeface="ＭＳ Ｐゴシック" charset="-128"/>
                      </a:defRPr>
                    </a:lvl4pPr>
                    <a:lvl5pPr eaLnBrk="0" hangingPunct="0">
                      <a:defRPr sz="2400">
                        <a:solidFill>
                          <a:schemeClr val="tx1"/>
                        </a:solidFill>
                        <a:latin typeface="Times New Roman" charset="0"/>
                        <a:ea typeface="ＭＳ Ｐゴシック" charset="-128"/>
                      </a:defRPr>
                    </a:lvl5pPr>
                    <a:lvl6pPr marL="4572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charset="0"/>
                        <a:ea typeface="ＭＳ Ｐゴシック" charset="-128"/>
                      </a:defRPr>
                    </a:lvl6pPr>
                    <a:lvl7pPr marL="9144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charset="0"/>
                        <a:ea typeface="ＭＳ Ｐゴシック" charset="-128"/>
                      </a:defRPr>
                    </a:lvl7pPr>
                    <a:lvl8pPr marL="1371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charset="0"/>
                        <a:ea typeface="ＭＳ Ｐゴシック" charset="-128"/>
                      </a:defRPr>
                    </a:lvl8pPr>
                    <a:lvl9pPr marL="18288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charset="0"/>
                        <a:ea typeface="ＭＳ Ｐゴシック" charset="-128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</a:pPr>
                    <a:r>
                      <a:rPr lang="en-GB" altLang="en-US"/>
                      <a:t>A</a:t>
                    </a:r>
                  </a:p>
                </p:txBody>
              </p:sp>
              <p:sp>
                <p:nvSpPr>
                  <p:cNvPr id="23575" name="Text Box 18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119" y="2463"/>
                    <a:ext cx="288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Times New Roman" charset="0"/>
                        <a:ea typeface="ＭＳ Ｐゴシック" charset="-128"/>
                      </a:defRPr>
                    </a:lvl1pPr>
                    <a:lvl2pPr marL="37931725" indent="-37474525" eaLnBrk="0" hangingPunct="0">
                      <a:defRPr sz="2400">
                        <a:solidFill>
                          <a:schemeClr val="tx1"/>
                        </a:solidFill>
                        <a:latin typeface="Times New Roman" charset="0"/>
                        <a:ea typeface="ＭＳ Ｐゴシック" charset="-128"/>
                      </a:defRPr>
                    </a:lvl2pPr>
                    <a:lvl3pPr eaLnBrk="0" hangingPunct="0">
                      <a:defRPr sz="2400">
                        <a:solidFill>
                          <a:schemeClr val="tx1"/>
                        </a:solidFill>
                        <a:latin typeface="Times New Roman" charset="0"/>
                        <a:ea typeface="ＭＳ Ｐゴシック" charset="-128"/>
                      </a:defRPr>
                    </a:lvl3pPr>
                    <a:lvl4pPr eaLnBrk="0" hangingPunct="0">
                      <a:defRPr sz="2400">
                        <a:solidFill>
                          <a:schemeClr val="tx1"/>
                        </a:solidFill>
                        <a:latin typeface="Times New Roman" charset="0"/>
                        <a:ea typeface="ＭＳ Ｐゴシック" charset="-128"/>
                      </a:defRPr>
                    </a:lvl4pPr>
                    <a:lvl5pPr eaLnBrk="0" hangingPunct="0">
                      <a:defRPr sz="2400">
                        <a:solidFill>
                          <a:schemeClr val="tx1"/>
                        </a:solidFill>
                        <a:latin typeface="Times New Roman" charset="0"/>
                        <a:ea typeface="ＭＳ Ｐゴシック" charset="-128"/>
                      </a:defRPr>
                    </a:lvl5pPr>
                    <a:lvl6pPr marL="4572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charset="0"/>
                        <a:ea typeface="ＭＳ Ｐゴシック" charset="-128"/>
                      </a:defRPr>
                    </a:lvl6pPr>
                    <a:lvl7pPr marL="9144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charset="0"/>
                        <a:ea typeface="ＭＳ Ｐゴシック" charset="-128"/>
                      </a:defRPr>
                    </a:lvl7pPr>
                    <a:lvl8pPr marL="1371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charset="0"/>
                        <a:ea typeface="ＭＳ Ｐゴシック" charset="-128"/>
                      </a:defRPr>
                    </a:lvl8pPr>
                    <a:lvl9pPr marL="18288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charset="0"/>
                        <a:ea typeface="ＭＳ Ｐゴシック" charset="-128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</a:pPr>
                    <a:r>
                      <a:rPr lang="en-GB" altLang="en-US"/>
                      <a:t>F</a:t>
                    </a:r>
                  </a:p>
                </p:txBody>
              </p:sp>
              <p:sp>
                <p:nvSpPr>
                  <p:cNvPr id="23576" name="Text Box 19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159" y="1071"/>
                    <a:ext cx="288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Times New Roman" charset="0"/>
                        <a:ea typeface="ＭＳ Ｐゴシック" charset="-128"/>
                      </a:defRPr>
                    </a:lvl1pPr>
                    <a:lvl2pPr marL="37931725" indent="-37474525" eaLnBrk="0" hangingPunct="0">
                      <a:defRPr sz="2400">
                        <a:solidFill>
                          <a:schemeClr val="tx1"/>
                        </a:solidFill>
                        <a:latin typeface="Times New Roman" charset="0"/>
                        <a:ea typeface="ＭＳ Ｐゴシック" charset="-128"/>
                      </a:defRPr>
                    </a:lvl2pPr>
                    <a:lvl3pPr eaLnBrk="0" hangingPunct="0">
                      <a:defRPr sz="2400">
                        <a:solidFill>
                          <a:schemeClr val="tx1"/>
                        </a:solidFill>
                        <a:latin typeface="Times New Roman" charset="0"/>
                        <a:ea typeface="ＭＳ Ｐゴシック" charset="-128"/>
                      </a:defRPr>
                    </a:lvl3pPr>
                    <a:lvl4pPr eaLnBrk="0" hangingPunct="0">
                      <a:defRPr sz="2400">
                        <a:solidFill>
                          <a:schemeClr val="tx1"/>
                        </a:solidFill>
                        <a:latin typeface="Times New Roman" charset="0"/>
                        <a:ea typeface="ＭＳ Ｐゴシック" charset="-128"/>
                      </a:defRPr>
                    </a:lvl4pPr>
                    <a:lvl5pPr eaLnBrk="0" hangingPunct="0">
                      <a:defRPr sz="2400">
                        <a:solidFill>
                          <a:schemeClr val="tx1"/>
                        </a:solidFill>
                        <a:latin typeface="Times New Roman" charset="0"/>
                        <a:ea typeface="ＭＳ Ｐゴシック" charset="-128"/>
                      </a:defRPr>
                    </a:lvl5pPr>
                    <a:lvl6pPr marL="4572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charset="0"/>
                        <a:ea typeface="ＭＳ Ｐゴシック" charset="-128"/>
                      </a:defRPr>
                    </a:lvl6pPr>
                    <a:lvl7pPr marL="9144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charset="0"/>
                        <a:ea typeface="ＭＳ Ｐゴシック" charset="-128"/>
                      </a:defRPr>
                    </a:lvl7pPr>
                    <a:lvl8pPr marL="1371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charset="0"/>
                        <a:ea typeface="ＭＳ Ｐゴシック" charset="-128"/>
                      </a:defRPr>
                    </a:lvl8pPr>
                    <a:lvl9pPr marL="18288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charset="0"/>
                        <a:ea typeface="ＭＳ Ｐゴシック" charset="-128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</a:pPr>
                    <a:r>
                      <a:rPr lang="en-GB" altLang="en-US"/>
                      <a:t>B</a:t>
                    </a:r>
                  </a:p>
                </p:txBody>
              </p:sp>
              <p:sp>
                <p:nvSpPr>
                  <p:cNvPr id="23577" name="Text Box 20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743" y="1167"/>
                    <a:ext cx="288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Times New Roman" charset="0"/>
                        <a:ea typeface="ＭＳ Ｐゴシック" charset="-128"/>
                      </a:defRPr>
                    </a:lvl1pPr>
                    <a:lvl2pPr marL="37931725" indent="-37474525" eaLnBrk="0" hangingPunct="0">
                      <a:defRPr sz="2400">
                        <a:solidFill>
                          <a:schemeClr val="tx1"/>
                        </a:solidFill>
                        <a:latin typeface="Times New Roman" charset="0"/>
                        <a:ea typeface="ＭＳ Ｐゴシック" charset="-128"/>
                      </a:defRPr>
                    </a:lvl2pPr>
                    <a:lvl3pPr eaLnBrk="0" hangingPunct="0">
                      <a:defRPr sz="2400">
                        <a:solidFill>
                          <a:schemeClr val="tx1"/>
                        </a:solidFill>
                        <a:latin typeface="Times New Roman" charset="0"/>
                        <a:ea typeface="ＭＳ Ｐゴシック" charset="-128"/>
                      </a:defRPr>
                    </a:lvl3pPr>
                    <a:lvl4pPr eaLnBrk="0" hangingPunct="0">
                      <a:defRPr sz="2400">
                        <a:solidFill>
                          <a:schemeClr val="tx1"/>
                        </a:solidFill>
                        <a:latin typeface="Times New Roman" charset="0"/>
                        <a:ea typeface="ＭＳ Ｐゴシック" charset="-128"/>
                      </a:defRPr>
                    </a:lvl4pPr>
                    <a:lvl5pPr eaLnBrk="0" hangingPunct="0">
                      <a:defRPr sz="2400">
                        <a:solidFill>
                          <a:schemeClr val="tx1"/>
                        </a:solidFill>
                        <a:latin typeface="Times New Roman" charset="0"/>
                        <a:ea typeface="ＭＳ Ｐゴシック" charset="-128"/>
                      </a:defRPr>
                    </a:lvl5pPr>
                    <a:lvl6pPr marL="4572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charset="0"/>
                        <a:ea typeface="ＭＳ Ｐゴシック" charset="-128"/>
                      </a:defRPr>
                    </a:lvl6pPr>
                    <a:lvl7pPr marL="9144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charset="0"/>
                        <a:ea typeface="ＭＳ Ｐゴシック" charset="-128"/>
                      </a:defRPr>
                    </a:lvl7pPr>
                    <a:lvl8pPr marL="1371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charset="0"/>
                        <a:ea typeface="ＭＳ Ｐゴシック" charset="-128"/>
                      </a:defRPr>
                    </a:lvl8pPr>
                    <a:lvl9pPr marL="18288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charset="0"/>
                        <a:ea typeface="ＭＳ Ｐゴシック" charset="-128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</a:pPr>
                    <a:r>
                      <a:rPr lang="en-GB" altLang="en-US"/>
                      <a:t>C</a:t>
                    </a:r>
                  </a:p>
                </p:txBody>
              </p:sp>
              <p:sp>
                <p:nvSpPr>
                  <p:cNvPr id="23578" name="Text Box 21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463" y="2415"/>
                    <a:ext cx="288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Times New Roman" charset="0"/>
                        <a:ea typeface="ＭＳ Ｐゴシック" charset="-128"/>
                      </a:defRPr>
                    </a:lvl1pPr>
                    <a:lvl2pPr marL="37931725" indent="-37474525" eaLnBrk="0" hangingPunct="0">
                      <a:defRPr sz="2400">
                        <a:solidFill>
                          <a:schemeClr val="tx1"/>
                        </a:solidFill>
                        <a:latin typeface="Times New Roman" charset="0"/>
                        <a:ea typeface="ＭＳ Ｐゴシック" charset="-128"/>
                      </a:defRPr>
                    </a:lvl2pPr>
                    <a:lvl3pPr eaLnBrk="0" hangingPunct="0">
                      <a:defRPr sz="2400">
                        <a:solidFill>
                          <a:schemeClr val="tx1"/>
                        </a:solidFill>
                        <a:latin typeface="Times New Roman" charset="0"/>
                        <a:ea typeface="ＭＳ Ｐゴシック" charset="-128"/>
                      </a:defRPr>
                    </a:lvl3pPr>
                    <a:lvl4pPr eaLnBrk="0" hangingPunct="0">
                      <a:defRPr sz="2400">
                        <a:solidFill>
                          <a:schemeClr val="tx1"/>
                        </a:solidFill>
                        <a:latin typeface="Times New Roman" charset="0"/>
                        <a:ea typeface="ＭＳ Ｐゴシック" charset="-128"/>
                      </a:defRPr>
                    </a:lvl4pPr>
                    <a:lvl5pPr eaLnBrk="0" hangingPunct="0">
                      <a:defRPr sz="2400">
                        <a:solidFill>
                          <a:schemeClr val="tx1"/>
                        </a:solidFill>
                        <a:latin typeface="Times New Roman" charset="0"/>
                        <a:ea typeface="ＭＳ Ｐゴシック" charset="-128"/>
                      </a:defRPr>
                    </a:lvl5pPr>
                    <a:lvl6pPr marL="4572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charset="0"/>
                        <a:ea typeface="ＭＳ Ｐゴシック" charset="-128"/>
                      </a:defRPr>
                    </a:lvl6pPr>
                    <a:lvl7pPr marL="9144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charset="0"/>
                        <a:ea typeface="ＭＳ Ｐゴシック" charset="-128"/>
                      </a:defRPr>
                    </a:lvl7pPr>
                    <a:lvl8pPr marL="1371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charset="0"/>
                        <a:ea typeface="ＭＳ Ｐゴシック" charset="-128"/>
                      </a:defRPr>
                    </a:lvl8pPr>
                    <a:lvl9pPr marL="18288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charset="0"/>
                        <a:ea typeface="ＭＳ Ｐゴシック" charset="-128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</a:pPr>
                    <a:r>
                      <a:rPr lang="en-GB" altLang="en-US"/>
                      <a:t>D</a:t>
                    </a:r>
                  </a:p>
                </p:txBody>
              </p:sp>
              <p:sp>
                <p:nvSpPr>
                  <p:cNvPr id="23579" name="Text Box 22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783" y="3711"/>
                    <a:ext cx="288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Times New Roman" charset="0"/>
                        <a:ea typeface="ＭＳ Ｐゴシック" charset="-128"/>
                      </a:defRPr>
                    </a:lvl1pPr>
                    <a:lvl2pPr marL="37931725" indent="-37474525" eaLnBrk="0" hangingPunct="0">
                      <a:defRPr sz="2400">
                        <a:solidFill>
                          <a:schemeClr val="tx1"/>
                        </a:solidFill>
                        <a:latin typeface="Times New Roman" charset="0"/>
                        <a:ea typeface="ＭＳ Ｐゴシック" charset="-128"/>
                      </a:defRPr>
                    </a:lvl2pPr>
                    <a:lvl3pPr eaLnBrk="0" hangingPunct="0">
                      <a:defRPr sz="2400">
                        <a:solidFill>
                          <a:schemeClr val="tx1"/>
                        </a:solidFill>
                        <a:latin typeface="Times New Roman" charset="0"/>
                        <a:ea typeface="ＭＳ Ｐゴシック" charset="-128"/>
                      </a:defRPr>
                    </a:lvl3pPr>
                    <a:lvl4pPr eaLnBrk="0" hangingPunct="0">
                      <a:defRPr sz="2400">
                        <a:solidFill>
                          <a:schemeClr val="tx1"/>
                        </a:solidFill>
                        <a:latin typeface="Times New Roman" charset="0"/>
                        <a:ea typeface="ＭＳ Ｐゴシック" charset="-128"/>
                      </a:defRPr>
                    </a:lvl4pPr>
                    <a:lvl5pPr eaLnBrk="0" hangingPunct="0">
                      <a:defRPr sz="2400">
                        <a:solidFill>
                          <a:schemeClr val="tx1"/>
                        </a:solidFill>
                        <a:latin typeface="Times New Roman" charset="0"/>
                        <a:ea typeface="ＭＳ Ｐゴシック" charset="-128"/>
                      </a:defRPr>
                    </a:lvl5pPr>
                    <a:lvl6pPr marL="4572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charset="0"/>
                        <a:ea typeface="ＭＳ Ｐゴシック" charset="-128"/>
                      </a:defRPr>
                    </a:lvl6pPr>
                    <a:lvl7pPr marL="9144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charset="0"/>
                        <a:ea typeface="ＭＳ Ｐゴシック" charset="-128"/>
                      </a:defRPr>
                    </a:lvl7pPr>
                    <a:lvl8pPr marL="1371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charset="0"/>
                        <a:ea typeface="ＭＳ Ｐゴシック" charset="-128"/>
                      </a:defRPr>
                    </a:lvl8pPr>
                    <a:lvl9pPr marL="18288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charset="0"/>
                        <a:ea typeface="ＭＳ Ｐゴシック" charset="-128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</a:pPr>
                    <a:r>
                      <a:rPr lang="en-GB" altLang="en-US"/>
                      <a:t>E</a:t>
                    </a:r>
                  </a:p>
                </p:txBody>
              </p:sp>
              <p:sp>
                <p:nvSpPr>
                  <p:cNvPr id="23580" name="Text Box 23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599" y="3135"/>
                    <a:ext cx="288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Times New Roman" charset="0"/>
                        <a:ea typeface="ＭＳ Ｐゴシック" charset="-128"/>
                      </a:defRPr>
                    </a:lvl1pPr>
                    <a:lvl2pPr marL="37931725" indent="-37474525" eaLnBrk="0" hangingPunct="0">
                      <a:defRPr sz="2400">
                        <a:solidFill>
                          <a:schemeClr val="tx1"/>
                        </a:solidFill>
                        <a:latin typeface="Times New Roman" charset="0"/>
                        <a:ea typeface="ＭＳ Ｐゴシック" charset="-128"/>
                      </a:defRPr>
                    </a:lvl2pPr>
                    <a:lvl3pPr eaLnBrk="0" hangingPunct="0">
                      <a:defRPr sz="2400">
                        <a:solidFill>
                          <a:schemeClr val="tx1"/>
                        </a:solidFill>
                        <a:latin typeface="Times New Roman" charset="0"/>
                        <a:ea typeface="ＭＳ Ｐゴシック" charset="-128"/>
                      </a:defRPr>
                    </a:lvl3pPr>
                    <a:lvl4pPr eaLnBrk="0" hangingPunct="0">
                      <a:defRPr sz="2400">
                        <a:solidFill>
                          <a:schemeClr val="tx1"/>
                        </a:solidFill>
                        <a:latin typeface="Times New Roman" charset="0"/>
                        <a:ea typeface="ＭＳ Ｐゴシック" charset="-128"/>
                      </a:defRPr>
                    </a:lvl4pPr>
                    <a:lvl5pPr eaLnBrk="0" hangingPunct="0">
                      <a:defRPr sz="2400">
                        <a:solidFill>
                          <a:schemeClr val="tx1"/>
                        </a:solidFill>
                        <a:latin typeface="Times New Roman" charset="0"/>
                        <a:ea typeface="ＭＳ Ｐゴシック" charset="-128"/>
                      </a:defRPr>
                    </a:lvl5pPr>
                    <a:lvl6pPr marL="4572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charset="0"/>
                        <a:ea typeface="ＭＳ Ｐゴシック" charset="-128"/>
                      </a:defRPr>
                    </a:lvl6pPr>
                    <a:lvl7pPr marL="9144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charset="0"/>
                        <a:ea typeface="ＭＳ Ｐゴシック" charset="-128"/>
                      </a:defRPr>
                    </a:lvl7pPr>
                    <a:lvl8pPr marL="1371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charset="0"/>
                        <a:ea typeface="ＭＳ Ｐゴシック" charset="-128"/>
                      </a:defRPr>
                    </a:lvl8pPr>
                    <a:lvl9pPr marL="18288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charset="0"/>
                        <a:ea typeface="ＭＳ Ｐゴシック" charset="-128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</a:pPr>
                    <a:r>
                      <a:rPr lang="en-GB" altLang="en-US"/>
                      <a:t>2</a:t>
                    </a:r>
                  </a:p>
                </p:txBody>
              </p:sp>
              <p:sp>
                <p:nvSpPr>
                  <p:cNvPr id="23581" name="Text Box 24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207" y="2511"/>
                    <a:ext cx="288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Times New Roman" charset="0"/>
                        <a:ea typeface="ＭＳ Ｐゴシック" charset="-128"/>
                      </a:defRPr>
                    </a:lvl1pPr>
                    <a:lvl2pPr marL="37931725" indent="-37474525" eaLnBrk="0" hangingPunct="0">
                      <a:defRPr sz="2400">
                        <a:solidFill>
                          <a:schemeClr val="tx1"/>
                        </a:solidFill>
                        <a:latin typeface="Times New Roman" charset="0"/>
                        <a:ea typeface="ＭＳ Ｐゴシック" charset="-128"/>
                      </a:defRPr>
                    </a:lvl2pPr>
                    <a:lvl3pPr eaLnBrk="0" hangingPunct="0">
                      <a:defRPr sz="2400">
                        <a:solidFill>
                          <a:schemeClr val="tx1"/>
                        </a:solidFill>
                        <a:latin typeface="Times New Roman" charset="0"/>
                        <a:ea typeface="ＭＳ Ｐゴシック" charset="-128"/>
                      </a:defRPr>
                    </a:lvl3pPr>
                    <a:lvl4pPr eaLnBrk="0" hangingPunct="0">
                      <a:defRPr sz="2400">
                        <a:solidFill>
                          <a:schemeClr val="tx1"/>
                        </a:solidFill>
                        <a:latin typeface="Times New Roman" charset="0"/>
                        <a:ea typeface="ＭＳ Ｐゴシック" charset="-128"/>
                      </a:defRPr>
                    </a:lvl4pPr>
                    <a:lvl5pPr eaLnBrk="0" hangingPunct="0">
                      <a:defRPr sz="2400">
                        <a:solidFill>
                          <a:schemeClr val="tx1"/>
                        </a:solidFill>
                        <a:latin typeface="Times New Roman" charset="0"/>
                        <a:ea typeface="ＭＳ Ｐゴシック" charset="-128"/>
                      </a:defRPr>
                    </a:lvl5pPr>
                    <a:lvl6pPr marL="4572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charset="0"/>
                        <a:ea typeface="ＭＳ Ｐゴシック" charset="-128"/>
                      </a:defRPr>
                    </a:lvl6pPr>
                    <a:lvl7pPr marL="9144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charset="0"/>
                        <a:ea typeface="ＭＳ Ｐゴシック" charset="-128"/>
                      </a:defRPr>
                    </a:lvl7pPr>
                    <a:lvl8pPr marL="1371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charset="0"/>
                        <a:ea typeface="ＭＳ Ｐゴシック" charset="-128"/>
                      </a:defRPr>
                    </a:lvl8pPr>
                    <a:lvl9pPr marL="18288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charset="0"/>
                        <a:ea typeface="ＭＳ Ｐゴシック" charset="-128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</a:pPr>
                    <a:r>
                      <a:rPr lang="en-GB" altLang="en-US"/>
                      <a:t>7</a:t>
                    </a:r>
                  </a:p>
                </p:txBody>
              </p:sp>
              <p:sp>
                <p:nvSpPr>
                  <p:cNvPr id="23582" name="Text Box 25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967" y="3039"/>
                    <a:ext cx="288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Times New Roman" charset="0"/>
                        <a:ea typeface="ＭＳ Ｐゴシック" charset="-128"/>
                      </a:defRPr>
                    </a:lvl1pPr>
                    <a:lvl2pPr marL="37931725" indent="-37474525" eaLnBrk="0" hangingPunct="0">
                      <a:defRPr sz="2400">
                        <a:solidFill>
                          <a:schemeClr val="tx1"/>
                        </a:solidFill>
                        <a:latin typeface="Times New Roman" charset="0"/>
                        <a:ea typeface="ＭＳ Ｐゴシック" charset="-128"/>
                      </a:defRPr>
                    </a:lvl2pPr>
                    <a:lvl3pPr eaLnBrk="0" hangingPunct="0">
                      <a:defRPr sz="2400">
                        <a:solidFill>
                          <a:schemeClr val="tx1"/>
                        </a:solidFill>
                        <a:latin typeface="Times New Roman" charset="0"/>
                        <a:ea typeface="ＭＳ Ｐゴシック" charset="-128"/>
                      </a:defRPr>
                    </a:lvl3pPr>
                    <a:lvl4pPr eaLnBrk="0" hangingPunct="0">
                      <a:defRPr sz="2400">
                        <a:solidFill>
                          <a:schemeClr val="tx1"/>
                        </a:solidFill>
                        <a:latin typeface="Times New Roman" charset="0"/>
                        <a:ea typeface="ＭＳ Ｐゴシック" charset="-128"/>
                      </a:defRPr>
                    </a:lvl4pPr>
                    <a:lvl5pPr eaLnBrk="0" hangingPunct="0">
                      <a:defRPr sz="2400">
                        <a:solidFill>
                          <a:schemeClr val="tx1"/>
                        </a:solidFill>
                        <a:latin typeface="Times New Roman" charset="0"/>
                        <a:ea typeface="ＭＳ Ｐゴシック" charset="-128"/>
                      </a:defRPr>
                    </a:lvl5pPr>
                    <a:lvl6pPr marL="4572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charset="0"/>
                        <a:ea typeface="ＭＳ Ｐゴシック" charset="-128"/>
                      </a:defRPr>
                    </a:lvl6pPr>
                    <a:lvl7pPr marL="9144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charset="0"/>
                        <a:ea typeface="ＭＳ Ｐゴシック" charset="-128"/>
                      </a:defRPr>
                    </a:lvl7pPr>
                    <a:lvl8pPr marL="1371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charset="0"/>
                        <a:ea typeface="ＭＳ Ｐゴシック" charset="-128"/>
                      </a:defRPr>
                    </a:lvl8pPr>
                    <a:lvl9pPr marL="18288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charset="0"/>
                        <a:ea typeface="ＭＳ Ｐゴシック" charset="-128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</a:pPr>
                    <a:r>
                      <a:rPr lang="en-GB" altLang="en-US"/>
                      <a:t>4</a:t>
                    </a:r>
                  </a:p>
                </p:txBody>
              </p:sp>
              <p:sp>
                <p:nvSpPr>
                  <p:cNvPr id="23583" name="Text Box 26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023" y="2847"/>
                    <a:ext cx="288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Times New Roman" charset="0"/>
                        <a:ea typeface="ＭＳ Ｐゴシック" charset="-128"/>
                      </a:defRPr>
                    </a:lvl1pPr>
                    <a:lvl2pPr marL="37931725" indent="-37474525" eaLnBrk="0" hangingPunct="0">
                      <a:defRPr sz="2400">
                        <a:solidFill>
                          <a:schemeClr val="tx1"/>
                        </a:solidFill>
                        <a:latin typeface="Times New Roman" charset="0"/>
                        <a:ea typeface="ＭＳ Ｐゴシック" charset="-128"/>
                      </a:defRPr>
                    </a:lvl2pPr>
                    <a:lvl3pPr eaLnBrk="0" hangingPunct="0">
                      <a:defRPr sz="2400">
                        <a:solidFill>
                          <a:schemeClr val="tx1"/>
                        </a:solidFill>
                        <a:latin typeface="Times New Roman" charset="0"/>
                        <a:ea typeface="ＭＳ Ｐゴシック" charset="-128"/>
                      </a:defRPr>
                    </a:lvl3pPr>
                    <a:lvl4pPr eaLnBrk="0" hangingPunct="0">
                      <a:defRPr sz="2400">
                        <a:solidFill>
                          <a:schemeClr val="tx1"/>
                        </a:solidFill>
                        <a:latin typeface="Times New Roman" charset="0"/>
                        <a:ea typeface="ＭＳ Ｐゴシック" charset="-128"/>
                      </a:defRPr>
                    </a:lvl4pPr>
                    <a:lvl5pPr eaLnBrk="0" hangingPunct="0">
                      <a:defRPr sz="2400">
                        <a:solidFill>
                          <a:schemeClr val="tx1"/>
                        </a:solidFill>
                        <a:latin typeface="Times New Roman" charset="0"/>
                        <a:ea typeface="ＭＳ Ｐゴシック" charset="-128"/>
                      </a:defRPr>
                    </a:lvl5pPr>
                    <a:lvl6pPr marL="4572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charset="0"/>
                        <a:ea typeface="ＭＳ Ｐゴシック" charset="-128"/>
                      </a:defRPr>
                    </a:lvl6pPr>
                    <a:lvl7pPr marL="9144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charset="0"/>
                        <a:ea typeface="ＭＳ Ｐゴシック" charset="-128"/>
                      </a:defRPr>
                    </a:lvl7pPr>
                    <a:lvl8pPr marL="1371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charset="0"/>
                        <a:ea typeface="ＭＳ Ｐゴシック" charset="-128"/>
                      </a:defRPr>
                    </a:lvl8pPr>
                    <a:lvl9pPr marL="18288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charset="0"/>
                        <a:ea typeface="ＭＳ Ｐゴシック" charset="-128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</a:pPr>
                    <a:r>
                      <a:rPr lang="en-GB" altLang="en-US"/>
                      <a:t>5</a:t>
                    </a:r>
                  </a:p>
                </p:txBody>
              </p:sp>
              <p:sp>
                <p:nvSpPr>
                  <p:cNvPr id="23584" name="Text Box 27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495" y="1839"/>
                    <a:ext cx="288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Times New Roman" charset="0"/>
                        <a:ea typeface="ＭＳ Ｐゴシック" charset="-128"/>
                      </a:defRPr>
                    </a:lvl1pPr>
                    <a:lvl2pPr marL="37931725" indent="-37474525" eaLnBrk="0" hangingPunct="0">
                      <a:defRPr sz="2400">
                        <a:solidFill>
                          <a:schemeClr val="tx1"/>
                        </a:solidFill>
                        <a:latin typeface="Times New Roman" charset="0"/>
                        <a:ea typeface="ＭＳ Ｐゴシック" charset="-128"/>
                      </a:defRPr>
                    </a:lvl2pPr>
                    <a:lvl3pPr eaLnBrk="0" hangingPunct="0">
                      <a:defRPr sz="2400">
                        <a:solidFill>
                          <a:schemeClr val="tx1"/>
                        </a:solidFill>
                        <a:latin typeface="Times New Roman" charset="0"/>
                        <a:ea typeface="ＭＳ Ｐゴシック" charset="-128"/>
                      </a:defRPr>
                    </a:lvl3pPr>
                    <a:lvl4pPr eaLnBrk="0" hangingPunct="0">
                      <a:defRPr sz="2400">
                        <a:solidFill>
                          <a:schemeClr val="tx1"/>
                        </a:solidFill>
                        <a:latin typeface="Times New Roman" charset="0"/>
                        <a:ea typeface="ＭＳ Ｐゴシック" charset="-128"/>
                      </a:defRPr>
                    </a:lvl4pPr>
                    <a:lvl5pPr eaLnBrk="0" hangingPunct="0">
                      <a:defRPr sz="2400">
                        <a:solidFill>
                          <a:schemeClr val="tx1"/>
                        </a:solidFill>
                        <a:latin typeface="Times New Roman" charset="0"/>
                        <a:ea typeface="ＭＳ Ｐゴシック" charset="-128"/>
                      </a:defRPr>
                    </a:lvl5pPr>
                    <a:lvl6pPr marL="4572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charset="0"/>
                        <a:ea typeface="ＭＳ Ｐゴシック" charset="-128"/>
                      </a:defRPr>
                    </a:lvl6pPr>
                    <a:lvl7pPr marL="9144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charset="0"/>
                        <a:ea typeface="ＭＳ Ｐゴシック" charset="-128"/>
                      </a:defRPr>
                    </a:lvl7pPr>
                    <a:lvl8pPr marL="1371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charset="0"/>
                        <a:ea typeface="ＭＳ Ｐゴシック" charset="-128"/>
                      </a:defRPr>
                    </a:lvl8pPr>
                    <a:lvl9pPr marL="18288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charset="0"/>
                        <a:ea typeface="ＭＳ Ｐゴシック" charset="-128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</a:pPr>
                    <a:r>
                      <a:rPr lang="en-GB" altLang="en-US"/>
                      <a:t>8</a:t>
                    </a:r>
                  </a:p>
                </p:txBody>
              </p:sp>
              <p:sp>
                <p:nvSpPr>
                  <p:cNvPr id="23585" name="Text Box 28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455" y="1791"/>
                    <a:ext cx="288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Times New Roman" charset="0"/>
                        <a:ea typeface="ＭＳ Ｐゴシック" charset="-128"/>
                      </a:defRPr>
                    </a:lvl1pPr>
                    <a:lvl2pPr marL="37931725" indent="-37474525" eaLnBrk="0" hangingPunct="0">
                      <a:defRPr sz="2400">
                        <a:solidFill>
                          <a:schemeClr val="tx1"/>
                        </a:solidFill>
                        <a:latin typeface="Times New Roman" charset="0"/>
                        <a:ea typeface="ＭＳ Ｐゴシック" charset="-128"/>
                      </a:defRPr>
                    </a:lvl2pPr>
                    <a:lvl3pPr eaLnBrk="0" hangingPunct="0">
                      <a:defRPr sz="2400">
                        <a:solidFill>
                          <a:schemeClr val="tx1"/>
                        </a:solidFill>
                        <a:latin typeface="Times New Roman" charset="0"/>
                        <a:ea typeface="ＭＳ Ｐゴシック" charset="-128"/>
                      </a:defRPr>
                    </a:lvl3pPr>
                    <a:lvl4pPr eaLnBrk="0" hangingPunct="0">
                      <a:defRPr sz="2400">
                        <a:solidFill>
                          <a:schemeClr val="tx1"/>
                        </a:solidFill>
                        <a:latin typeface="Times New Roman" charset="0"/>
                        <a:ea typeface="ＭＳ Ｐゴシック" charset="-128"/>
                      </a:defRPr>
                    </a:lvl4pPr>
                    <a:lvl5pPr eaLnBrk="0" hangingPunct="0">
                      <a:defRPr sz="2400">
                        <a:solidFill>
                          <a:schemeClr val="tx1"/>
                        </a:solidFill>
                        <a:latin typeface="Times New Roman" charset="0"/>
                        <a:ea typeface="ＭＳ Ｐゴシック" charset="-128"/>
                      </a:defRPr>
                    </a:lvl5pPr>
                    <a:lvl6pPr marL="4572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charset="0"/>
                        <a:ea typeface="ＭＳ Ｐゴシック" charset="-128"/>
                      </a:defRPr>
                    </a:lvl6pPr>
                    <a:lvl7pPr marL="9144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charset="0"/>
                        <a:ea typeface="ＭＳ Ｐゴシック" charset="-128"/>
                      </a:defRPr>
                    </a:lvl7pPr>
                    <a:lvl8pPr marL="1371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charset="0"/>
                        <a:ea typeface="ＭＳ Ｐゴシック" charset="-128"/>
                      </a:defRPr>
                    </a:lvl8pPr>
                    <a:lvl9pPr marL="18288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charset="0"/>
                        <a:ea typeface="ＭＳ Ｐゴシック" charset="-128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</a:pPr>
                    <a:r>
                      <a:rPr lang="en-GB" altLang="en-US"/>
                      <a:t>6</a:t>
                    </a:r>
                  </a:p>
                </p:txBody>
              </p:sp>
              <p:sp>
                <p:nvSpPr>
                  <p:cNvPr id="23586" name="Text Box 29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079" y="1695"/>
                    <a:ext cx="288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Times New Roman" charset="0"/>
                        <a:ea typeface="ＭＳ Ｐゴシック" charset="-128"/>
                      </a:defRPr>
                    </a:lvl1pPr>
                    <a:lvl2pPr marL="37931725" indent="-37474525" eaLnBrk="0" hangingPunct="0">
                      <a:defRPr sz="2400">
                        <a:solidFill>
                          <a:schemeClr val="tx1"/>
                        </a:solidFill>
                        <a:latin typeface="Times New Roman" charset="0"/>
                        <a:ea typeface="ＭＳ Ｐゴシック" charset="-128"/>
                      </a:defRPr>
                    </a:lvl2pPr>
                    <a:lvl3pPr eaLnBrk="0" hangingPunct="0">
                      <a:defRPr sz="2400">
                        <a:solidFill>
                          <a:schemeClr val="tx1"/>
                        </a:solidFill>
                        <a:latin typeface="Times New Roman" charset="0"/>
                        <a:ea typeface="ＭＳ Ｐゴシック" charset="-128"/>
                      </a:defRPr>
                    </a:lvl3pPr>
                    <a:lvl4pPr eaLnBrk="0" hangingPunct="0">
                      <a:defRPr sz="2400">
                        <a:solidFill>
                          <a:schemeClr val="tx1"/>
                        </a:solidFill>
                        <a:latin typeface="Times New Roman" charset="0"/>
                        <a:ea typeface="ＭＳ Ｐゴシック" charset="-128"/>
                      </a:defRPr>
                    </a:lvl4pPr>
                    <a:lvl5pPr eaLnBrk="0" hangingPunct="0">
                      <a:defRPr sz="2400">
                        <a:solidFill>
                          <a:schemeClr val="tx1"/>
                        </a:solidFill>
                        <a:latin typeface="Times New Roman" charset="0"/>
                        <a:ea typeface="ＭＳ Ｐゴシック" charset="-128"/>
                      </a:defRPr>
                    </a:lvl5pPr>
                    <a:lvl6pPr marL="4572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charset="0"/>
                        <a:ea typeface="ＭＳ Ｐゴシック" charset="-128"/>
                      </a:defRPr>
                    </a:lvl6pPr>
                    <a:lvl7pPr marL="9144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charset="0"/>
                        <a:ea typeface="ＭＳ Ｐゴシック" charset="-128"/>
                      </a:defRPr>
                    </a:lvl7pPr>
                    <a:lvl8pPr marL="1371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charset="0"/>
                        <a:ea typeface="ＭＳ Ｐゴシック" charset="-128"/>
                      </a:defRPr>
                    </a:lvl8pPr>
                    <a:lvl9pPr marL="18288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charset="0"/>
                        <a:ea typeface="ＭＳ Ｐゴシック" charset="-128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</a:pPr>
                    <a:r>
                      <a:rPr lang="en-GB" altLang="en-US"/>
                      <a:t>4</a:t>
                    </a:r>
                  </a:p>
                </p:txBody>
              </p:sp>
              <p:sp>
                <p:nvSpPr>
                  <p:cNvPr id="23587" name="Text Box 30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927" y="1071"/>
                    <a:ext cx="288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Times New Roman" charset="0"/>
                        <a:ea typeface="ＭＳ Ｐゴシック" charset="-128"/>
                      </a:defRPr>
                    </a:lvl1pPr>
                    <a:lvl2pPr marL="37931725" indent="-37474525" eaLnBrk="0" hangingPunct="0">
                      <a:defRPr sz="2400">
                        <a:solidFill>
                          <a:schemeClr val="tx1"/>
                        </a:solidFill>
                        <a:latin typeface="Times New Roman" charset="0"/>
                        <a:ea typeface="ＭＳ Ｐゴシック" charset="-128"/>
                      </a:defRPr>
                    </a:lvl2pPr>
                    <a:lvl3pPr eaLnBrk="0" hangingPunct="0">
                      <a:defRPr sz="2400">
                        <a:solidFill>
                          <a:schemeClr val="tx1"/>
                        </a:solidFill>
                        <a:latin typeface="Times New Roman" charset="0"/>
                        <a:ea typeface="ＭＳ Ｐゴシック" charset="-128"/>
                      </a:defRPr>
                    </a:lvl3pPr>
                    <a:lvl4pPr eaLnBrk="0" hangingPunct="0">
                      <a:defRPr sz="2400">
                        <a:solidFill>
                          <a:schemeClr val="tx1"/>
                        </a:solidFill>
                        <a:latin typeface="Times New Roman" charset="0"/>
                        <a:ea typeface="ＭＳ Ｐゴシック" charset="-128"/>
                      </a:defRPr>
                    </a:lvl4pPr>
                    <a:lvl5pPr eaLnBrk="0" hangingPunct="0">
                      <a:defRPr sz="2400">
                        <a:solidFill>
                          <a:schemeClr val="tx1"/>
                        </a:solidFill>
                        <a:latin typeface="Times New Roman" charset="0"/>
                        <a:ea typeface="ＭＳ Ｐゴシック" charset="-128"/>
                      </a:defRPr>
                    </a:lvl5pPr>
                    <a:lvl6pPr marL="4572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charset="0"/>
                        <a:ea typeface="ＭＳ Ｐゴシック" charset="-128"/>
                      </a:defRPr>
                    </a:lvl6pPr>
                    <a:lvl7pPr marL="9144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charset="0"/>
                        <a:ea typeface="ＭＳ Ｐゴシック" charset="-128"/>
                      </a:defRPr>
                    </a:lvl7pPr>
                    <a:lvl8pPr marL="1371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charset="0"/>
                        <a:ea typeface="ＭＳ Ｐゴシック" charset="-128"/>
                      </a:defRPr>
                    </a:lvl8pPr>
                    <a:lvl9pPr marL="18288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charset="0"/>
                        <a:ea typeface="ＭＳ Ｐゴシック" charset="-128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</a:pPr>
                    <a:r>
                      <a:rPr lang="en-GB" altLang="en-US"/>
                      <a:t>5</a:t>
                    </a:r>
                  </a:p>
                </p:txBody>
              </p:sp>
              <p:sp>
                <p:nvSpPr>
                  <p:cNvPr id="23588" name="Text Box 31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39" y="1570"/>
                    <a:ext cx="288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Times New Roman" charset="0"/>
                        <a:ea typeface="ＭＳ Ｐゴシック" charset="-128"/>
                      </a:defRPr>
                    </a:lvl1pPr>
                    <a:lvl2pPr marL="37931725" indent="-37474525" eaLnBrk="0" hangingPunct="0">
                      <a:defRPr sz="2400">
                        <a:solidFill>
                          <a:schemeClr val="tx1"/>
                        </a:solidFill>
                        <a:latin typeface="Times New Roman" charset="0"/>
                        <a:ea typeface="ＭＳ Ｐゴシック" charset="-128"/>
                      </a:defRPr>
                    </a:lvl2pPr>
                    <a:lvl3pPr eaLnBrk="0" hangingPunct="0">
                      <a:defRPr sz="2400">
                        <a:solidFill>
                          <a:schemeClr val="tx1"/>
                        </a:solidFill>
                        <a:latin typeface="Times New Roman" charset="0"/>
                        <a:ea typeface="ＭＳ Ｐゴシック" charset="-128"/>
                      </a:defRPr>
                    </a:lvl3pPr>
                    <a:lvl4pPr eaLnBrk="0" hangingPunct="0">
                      <a:defRPr sz="2400">
                        <a:solidFill>
                          <a:schemeClr val="tx1"/>
                        </a:solidFill>
                        <a:latin typeface="Times New Roman" charset="0"/>
                        <a:ea typeface="ＭＳ Ｐゴシック" charset="-128"/>
                      </a:defRPr>
                    </a:lvl4pPr>
                    <a:lvl5pPr eaLnBrk="0" hangingPunct="0">
                      <a:defRPr sz="2400">
                        <a:solidFill>
                          <a:schemeClr val="tx1"/>
                        </a:solidFill>
                        <a:latin typeface="Times New Roman" charset="0"/>
                        <a:ea typeface="ＭＳ Ｐゴシック" charset="-128"/>
                      </a:defRPr>
                    </a:lvl5pPr>
                    <a:lvl6pPr marL="4572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charset="0"/>
                        <a:ea typeface="ＭＳ Ｐゴシック" charset="-128"/>
                      </a:defRPr>
                    </a:lvl6pPr>
                    <a:lvl7pPr marL="9144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charset="0"/>
                        <a:ea typeface="ＭＳ Ｐゴシック" charset="-128"/>
                      </a:defRPr>
                    </a:lvl7pPr>
                    <a:lvl8pPr marL="1371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charset="0"/>
                        <a:ea typeface="ＭＳ Ｐゴシック" charset="-128"/>
                      </a:defRPr>
                    </a:lvl8pPr>
                    <a:lvl9pPr marL="18288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charset="0"/>
                        <a:ea typeface="ＭＳ Ｐゴシック" charset="-128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</a:pPr>
                    <a:r>
                      <a:rPr lang="en-GB" altLang="en-US"/>
                      <a:t>3</a:t>
                    </a:r>
                  </a:p>
                </p:txBody>
              </p:sp>
              <p:sp>
                <p:nvSpPr>
                  <p:cNvPr id="23589" name="Text Box 32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551" y="2175"/>
                    <a:ext cx="288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Times New Roman" charset="0"/>
                        <a:ea typeface="ＭＳ Ｐゴシック" charset="-128"/>
                      </a:defRPr>
                    </a:lvl1pPr>
                    <a:lvl2pPr marL="37931725" indent="-37474525" eaLnBrk="0" hangingPunct="0">
                      <a:defRPr sz="2400">
                        <a:solidFill>
                          <a:schemeClr val="tx1"/>
                        </a:solidFill>
                        <a:latin typeface="Times New Roman" charset="0"/>
                        <a:ea typeface="ＭＳ Ｐゴシック" charset="-128"/>
                      </a:defRPr>
                    </a:lvl2pPr>
                    <a:lvl3pPr eaLnBrk="0" hangingPunct="0">
                      <a:defRPr sz="2400">
                        <a:solidFill>
                          <a:schemeClr val="tx1"/>
                        </a:solidFill>
                        <a:latin typeface="Times New Roman" charset="0"/>
                        <a:ea typeface="ＭＳ Ｐゴシック" charset="-128"/>
                      </a:defRPr>
                    </a:lvl3pPr>
                    <a:lvl4pPr eaLnBrk="0" hangingPunct="0">
                      <a:defRPr sz="2400">
                        <a:solidFill>
                          <a:schemeClr val="tx1"/>
                        </a:solidFill>
                        <a:latin typeface="Times New Roman" charset="0"/>
                        <a:ea typeface="ＭＳ Ｐゴシック" charset="-128"/>
                      </a:defRPr>
                    </a:lvl4pPr>
                    <a:lvl5pPr eaLnBrk="0" hangingPunct="0">
                      <a:defRPr sz="2400">
                        <a:solidFill>
                          <a:schemeClr val="tx1"/>
                        </a:solidFill>
                        <a:latin typeface="Times New Roman" charset="0"/>
                        <a:ea typeface="ＭＳ Ｐゴシック" charset="-128"/>
                      </a:defRPr>
                    </a:lvl5pPr>
                    <a:lvl6pPr marL="4572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charset="0"/>
                        <a:ea typeface="ＭＳ Ｐゴシック" charset="-128"/>
                      </a:defRPr>
                    </a:lvl6pPr>
                    <a:lvl7pPr marL="9144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charset="0"/>
                        <a:ea typeface="ＭＳ Ｐゴシック" charset="-128"/>
                      </a:defRPr>
                    </a:lvl7pPr>
                    <a:lvl8pPr marL="1371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charset="0"/>
                        <a:ea typeface="ＭＳ Ｐゴシック" charset="-128"/>
                      </a:defRPr>
                    </a:lvl8pPr>
                    <a:lvl9pPr marL="18288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charset="0"/>
                        <a:ea typeface="ＭＳ Ｐゴシック" charset="-128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</a:pPr>
                    <a:r>
                      <a:rPr lang="en-GB" altLang="en-US"/>
                      <a:t>8</a:t>
                    </a:r>
                  </a:p>
                </p:txBody>
              </p:sp>
            </p:grpSp>
            <p:sp>
              <p:nvSpPr>
                <p:cNvPr id="23564" name="Line 33"/>
                <p:cNvSpPr>
                  <a:spLocks noChangeShapeType="1"/>
                </p:cNvSpPr>
                <p:nvPr/>
              </p:nvSpPr>
              <p:spPr bwMode="auto">
                <a:xfrm flipV="1">
                  <a:off x="1927" y="2478"/>
                  <a:ext cx="1536" cy="1200"/>
                </a:xfrm>
                <a:prstGeom prst="line">
                  <a:avLst/>
                </a:prstGeom>
                <a:noFill/>
                <a:ln w="38100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23561" name="Line 34"/>
              <p:cNvSpPr>
                <a:spLocks noChangeShapeType="1"/>
              </p:cNvSpPr>
              <p:nvPr/>
            </p:nvSpPr>
            <p:spPr bwMode="auto">
              <a:xfrm>
                <a:off x="2744" y="1344"/>
                <a:ext cx="726" cy="1134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3559" name="Line 35"/>
            <p:cNvSpPr>
              <a:spLocks noChangeShapeType="1"/>
            </p:cNvSpPr>
            <p:nvPr/>
          </p:nvSpPr>
          <p:spPr bwMode="auto">
            <a:xfrm>
              <a:off x="567" y="2432"/>
              <a:ext cx="1360" cy="1225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1781" name="Line 37"/>
          <p:cNvSpPr>
            <a:spLocks noChangeShapeType="1"/>
          </p:cNvSpPr>
          <p:nvPr/>
        </p:nvSpPr>
        <p:spPr bwMode="auto">
          <a:xfrm flipH="1">
            <a:off x="3059113" y="3933825"/>
            <a:ext cx="288925" cy="1871663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4061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46" grpId="0"/>
      <p:bldP spid="31781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ext Box 2"/>
          <p:cNvSpPr txBox="1">
            <a:spLocks noChangeArrowheads="1"/>
          </p:cNvSpPr>
          <p:nvPr/>
        </p:nvSpPr>
        <p:spPr bwMode="auto">
          <a:xfrm>
            <a:off x="6011863" y="1125538"/>
            <a:ext cx="2881312" cy="435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>
              <a:buFont typeface="Times New Roman" charset="0"/>
              <a:buNone/>
            </a:pPr>
            <a:r>
              <a:rPr lang="en-US" altLang="en-US" sz="2000">
                <a:latin typeface="Arial" charset="0"/>
              </a:rPr>
              <a:t>All vertices have been</a:t>
            </a:r>
          </a:p>
          <a:p>
            <a:pPr>
              <a:buFont typeface="Times New Roman" charset="0"/>
              <a:buNone/>
            </a:pPr>
            <a:r>
              <a:rPr lang="en-US" altLang="en-US" sz="2000">
                <a:latin typeface="Arial" charset="0"/>
              </a:rPr>
              <a:t>connected.</a:t>
            </a:r>
          </a:p>
          <a:p>
            <a:pPr>
              <a:buFont typeface="Times New Roman" charset="0"/>
              <a:buNone/>
            </a:pPr>
            <a:endParaRPr lang="en-GB" altLang="en-US" sz="2000">
              <a:latin typeface="Arial" charset="0"/>
            </a:endParaRPr>
          </a:p>
          <a:p>
            <a:pPr>
              <a:buFont typeface="Times New Roman" charset="0"/>
              <a:buNone/>
            </a:pPr>
            <a:r>
              <a:rPr lang="en-GB" altLang="en-US" sz="2000">
                <a:latin typeface="Arial" charset="0"/>
              </a:rPr>
              <a:t>The solution is</a:t>
            </a:r>
            <a:endParaRPr lang="en-US" altLang="en-US" sz="2000">
              <a:latin typeface="Arial" charset="0"/>
            </a:endParaRPr>
          </a:p>
          <a:p>
            <a:pPr>
              <a:buFont typeface="Verdana" charset="0"/>
              <a:buNone/>
            </a:pPr>
            <a:endParaRPr lang="en-GB" altLang="en-US" sz="2000">
              <a:latin typeface="Arial" charset="0"/>
            </a:endParaRPr>
          </a:p>
          <a:p>
            <a:pPr eaLnBrk="1" hangingPunct="1"/>
            <a:r>
              <a:rPr lang="en-GB" altLang="en-US" sz="2000" b="1">
                <a:latin typeface="Arial" charset="0"/>
              </a:rPr>
              <a:t>ED  2</a:t>
            </a:r>
          </a:p>
          <a:p>
            <a:pPr eaLnBrk="1" hangingPunct="1"/>
            <a:r>
              <a:rPr lang="en-GB" altLang="en-US" sz="2000" b="1">
                <a:latin typeface="Arial" charset="0"/>
              </a:rPr>
              <a:t>AB  3</a:t>
            </a:r>
          </a:p>
          <a:p>
            <a:pPr eaLnBrk="1" hangingPunct="1"/>
            <a:r>
              <a:rPr lang="en-GB" altLang="en-US" sz="2000" b="1">
                <a:latin typeface="Arial" charset="0"/>
              </a:rPr>
              <a:t>CD  4 </a:t>
            </a:r>
          </a:p>
          <a:p>
            <a:pPr eaLnBrk="1" hangingPunct="1"/>
            <a:r>
              <a:rPr lang="en-GB" altLang="en-US" sz="2000" b="1">
                <a:latin typeface="Arial" charset="0"/>
              </a:rPr>
              <a:t>AE  4</a:t>
            </a:r>
          </a:p>
          <a:p>
            <a:pPr eaLnBrk="1" hangingPunct="1"/>
            <a:r>
              <a:rPr lang="en-GB" altLang="en-US" sz="2000" b="1">
                <a:latin typeface="Arial" charset="0"/>
              </a:rPr>
              <a:t>EF  5</a:t>
            </a:r>
          </a:p>
          <a:p>
            <a:pPr eaLnBrk="1" hangingPunct="1"/>
            <a:endParaRPr lang="en-GB" altLang="en-US" sz="2000" b="1">
              <a:latin typeface="Arial" charset="0"/>
            </a:endParaRPr>
          </a:p>
          <a:p>
            <a:pPr eaLnBrk="1" hangingPunct="1"/>
            <a:endParaRPr lang="en-GB" altLang="en-US" sz="2000">
              <a:latin typeface="Arial" charset="0"/>
            </a:endParaRPr>
          </a:p>
          <a:p>
            <a:pPr eaLnBrk="1" hangingPunct="1"/>
            <a:r>
              <a:rPr lang="en-GB" altLang="en-US" sz="2000">
                <a:latin typeface="Arial" charset="0"/>
              </a:rPr>
              <a:t>Total weight of tree: 18</a:t>
            </a:r>
          </a:p>
          <a:p>
            <a:pPr eaLnBrk="1" hangingPunct="1"/>
            <a:endParaRPr lang="en-US" altLang="en-US" sz="2000">
              <a:latin typeface="Arial" charset="0"/>
            </a:endParaRPr>
          </a:p>
        </p:txBody>
      </p:sp>
      <p:sp>
        <p:nvSpPr>
          <p:cNvPr id="24579" name="Text Box 3"/>
          <p:cNvSpPr txBox="1">
            <a:spLocks noChangeArrowheads="1"/>
          </p:cNvSpPr>
          <p:nvPr/>
        </p:nvSpPr>
        <p:spPr bwMode="auto">
          <a:xfrm>
            <a:off x="827088" y="476250"/>
            <a:ext cx="72009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GB" altLang="en-US" b="1">
                <a:latin typeface="Arial" charset="0"/>
              </a:rPr>
              <a:t>Kruskal’s Algorithm</a:t>
            </a:r>
            <a:endParaRPr lang="en-US" altLang="en-US" b="1">
              <a:latin typeface="Arial" charset="0"/>
            </a:endParaRPr>
          </a:p>
        </p:txBody>
      </p:sp>
      <p:grpSp>
        <p:nvGrpSpPr>
          <p:cNvPr id="24580" name="Group 38"/>
          <p:cNvGrpSpPr>
            <a:grpSpLocks/>
          </p:cNvGrpSpPr>
          <p:nvPr/>
        </p:nvGrpSpPr>
        <p:grpSpPr bwMode="auto">
          <a:xfrm>
            <a:off x="468313" y="1700213"/>
            <a:ext cx="5486400" cy="4648200"/>
            <a:chOff x="295" y="1071"/>
            <a:chExt cx="3456" cy="2928"/>
          </a:xfrm>
        </p:grpSpPr>
        <p:grpSp>
          <p:nvGrpSpPr>
            <p:cNvPr id="24581" name="Group 4"/>
            <p:cNvGrpSpPr>
              <a:grpSpLocks/>
            </p:cNvGrpSpPr>
            <p:nvPr/>
          </p:nvGrpSpPr>
          <p:grpSpPr bwMode="auto">
            <a:xfrm>
              <a:off x="295" y="1071"/>
              <a:ext cx="3456" cy="2928"/>
              <a:chOff x="295" y="1071"/>
              <a:chExt cx="3456" cy="2928"/>
            </a:xfrm>
          </p:grpSpPr>
          <p:grpSp>
            <p:nvGrpSpPr>
              <p:cNvPr id="24583" name="Group 5"/>
              <p:cNvGrpSpPr>
                <a:grpSpLocks/>
              </p:cNvGrpSpPr>
              <p:nvPr/>
            </p:nvGrpSpPr>
            <p:grpSpPr bwMode="auto">
              <a:xfrm>
                <a:off x="295" y="1071"/>
                <a:ext cx="3456" cy="2928"/>
                <a:chOff x="295" y="1071"/>
                <a:chExt cx="3456" cy="2928"/>
              </a:xfrm>
            </p:grpSpPr>
            <p:grpSp>
              <p:nvGrpSpPr>
                <p:cNvPr id="24585" name="Group 6"/>
                <p:cNvGrpSpPr>
                  <a:grpSpLocks/>
                </p:cNvGrpSpPr>
                <p:nvPr/>
              </p:nvGrpSpPr>
              <p:grpSpPr bwMode="auto">
                <a:xfrm>
                  <a:off x="295" y="1071"/>
                  <a:ext cx="3456" cy="2928"/>
                  <a:chOff x="295" y="1071"/>
                  <a:chExt cx="3456" cy="2928"/>
                </a:xfrm>
              </p:grpSpPr>
              <p:sp>
                <p:nvSpPr>
                  <p:cNvPr id="24587" name="Line 7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567" y="1344"/>
                    <a:ext cx="816" cy="1109"/>
                  </a:xfrm>
                  <a:prstGeom prst="line">
                    <a:avLst/>
                  </a:prstGeom>
                  <a:noFill/>
                  <a:ln w="38100">
                    <a:solidFill>
                      <a:schemeClr val="accent2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grpSp>
                <p:nvGrpSpPr>
                  <p:cNvPr id="24588" name="Group 8"/>
                  <p:cNvGrpSpPr>
                    <a:grpSpLocks/>
                  </p:cNvGrpSpPr>
                  <p:nvPr/>
                </p:nvGrpSpPr>
                <p:grpSpPr bwMode="auto">
                  <a:xfrm>
                    <a:off x="295" y="1071"/>
                    <a:ext cx="3456" cy="2928"/>
                    <a:chOff x="295" y="1071"/>
                    <a:chExt cx="3456" cy="2928"/>
                  </a:xfrm>
                </p:grpSpPr>
                <p:sp>
                  <p:nvSpPr>
                    <p:cNvPr id="24590" name="Line 9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399" y="1359"/>
                      <a:ext cx="1344" cy="0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4591" name="Line 10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743" y="1359"/>
                      <a:ext cx="720" cy="1104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4592" name="Line 11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583" y="2463"/>
                      <a:ext cx="1536" cy="0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4593" name="Line 12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119" y="2463"/>
                      <a:ext cx="1344" cy="0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4594" name="Line 13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399" y="1359"/>
                      <a:ext cx="720" cy="1104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4595" name="Line 14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2119" y="1359"/>
                      <a:ext cx="624" cy="1104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4596" name="Line 15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583" y="2463"/>
                      <a:ext cx="1344" cy="1200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4597" name="Line 16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1927" y="2463"/>
                      <a:ext cx="192" cy="1200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4598" name="Line 17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1927" y="2463"/>
                      <a:ext cx="1536" cy="1200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4599" name="Text Box 18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295" y="2367"/>
                      <a:ext cx="288" cy="288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>
                      <a:spAutoFit/>
                    </a:bodyPr>
                    <a:lstStyle>
                      <a:lvl1pPr eaLnBrk="0" hangingPunct="0"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1pPr>
                      <a:lvl2pPr marL="37931725" indent="-37474525" eaLnBrk="0" hangingPunct="0"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2pPr>
                      <a:lvl3pPr eaLnBrk="0" hangingPunct="0"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3pPr>
                      <a:lvl4pPr eaLnBrk="0" hangingPunct="0"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4pPr>
                      <a:lvl5pPr eaLnBrk="0" hangingPunct="0"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5pPr>
                      <a:lvl6pPr marL="4572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6pPr>
                      <a:lvl7pPr marL="9144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7pPr>
                      <a:lvl8pPr marL="1371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8pPr>
                      <a:lvl9pPr marL="18288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9pPr>
                    </a:lstStyle>
                    <a:p>
                      <a:pPr eaLnBrk="1" hangingPunct="1">
                        <a:spcBef>
                          <a:spcPct val="50000"/>
                        </a:spcBef>
                      </a:pPr>
                      <a:r>
                        <a:rPr lang="en-GB" altLang="en-US"/>
                        <a:t>A</a:t>
                      </a:r>
                    </a:p>
                  </p:txBody>
                </p:sp>
                <p:sp>
                  <p:nvSpPr>
                    <p:cNvPr id="24600" name="Text Box 19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2119" y="2463"/>
                      <a:ext cx="288" cy="288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>
                      <a:spAutoFit/>
                    </a:bodyPr>
                    <a:lstStyle>
                      <a:lvl1pPr eaLnBrk="0" hangingPunct="0"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1pPr>
                      <a:lvl2pPr marL="37931725" indent="-37474525" eaLnBrk="0" hangingPunct="0"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2pPr>
                      <a:lvl3pPr eaLnBrk="0" hangingPunct="0"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3pPr>
                      <a:lvl4pPr eaLnBrk="0" hangingPunct="0"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4pPr>
                      <a:lvl5pPr eaLnBrk="0" hangingPunct="0"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5pPr>
                      <a:lvl6pPr marL="4572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6pPr>
                      <a:lvl7pPr marL="9144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7pPr>
                      <a:lvl8pPr marL="1371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8pPr>
                      <a:lvl9pPr marL="18288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9pPr>
                    </a:lstStyle>
                    <a:p>
                      <a:pPr eaLnBrk="1" hangingPunct="1">
                        <a:spcBef>
                          <a:spcPct val="50000"/>
                        </a:spcBef>
                      </a:pPr>
                      <a:r>
                        <a:rPr lang="en-GB" altLang="en-US"/>
                        <a:t>F</a:t>
                      </a:r>
                    </a:p>
                  </p:txBody>
                </p:sp>
                <p:sp>
                  <p:nvSpPr>
                    <p:cNvPr id="24601" name="Text Box 20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1159" y="1071"/>
                      <a:ext cx="288" cy="288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>
                      <a:spAutoFit/>
                    </a:bodyPr>
                    <a:lstStyle>
                      <a:lvl1pPr eaLnBrk="0" hangingPunct="0"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1pPr>
                      <a:lvl2pPr marL="37931725" indent="-37474525" eaLnBrk="0" hangingPunct="0"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2pPr>
                      <a:lvl3pPr eaLnBrk="0" hangingPunct="0"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3pPr>
                      <a:lvl4pPr eaLnBrk="0" hangingPunct="0"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4pPr>
                      <a:lvl5pPr eaLnBrk="0" hangingPunct="0"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5pPr>
                      <a:lvl6pPr marL="4572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6pPr>
                      <a:lvl7pPr marL="9144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7pPr>
                      <a:lvl8pPr marL="1371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8pPr>
                      <a:lvl9pPr marL="18288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9pPr>
                    </a:lstStyle>
                    <a:p>
                      <a:pPr eaLnBrk="1" hangingPunct="1">
                        <a:spcBef>
                          <a:spcPct val="50000"/>
                        </a:spcBef>
                      </a:pPr>
                      <a:r>
                        <a:rPr lang="en-GB" altLang="en-US"/>
                        <a:t>B</a:t>
                      </a:r>
                    </a:p>
                  </p:txBody>
                </p:sp>
                <p:sp>
                  <p:nvSpPr>
                    <p:cNvPr id="24602" name="Text Box 21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2743" y="1167"/>
                      <a:ext cx="288" cy="288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>
                      <a:spAutoFit/>
                    </a:bodyPr>
                    <a:lstStyle>
                      <a:lvl1pPr eaLnBrk="0" hangingPunct="0"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1pPr>
                      <a:lvl2pPr marL="37931725" indent="-37474525" eaLnBrk="0" hangingPunct="0"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2pPr>
                      <a:lvl3pPr eaLnBrk="0" hangingPunct="0"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3pPr>
                      <a:lvl4pPr eaLnBrk="0" hangingPunct="0"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4pPr>
                      <a:lvl5pPr eaLnBrk="0" hangingPunct="0"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5pPr>
                      <a:lvl6pPr marL="4572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6pPr>
                      <a:lvl7pPr marL="9144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7pPr>
                      <a:lvl8pPr marL="1371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8pPr>
                      <a:lvl9pPr marL="18288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9pPr>
                    </a:lstStyle>
                    <a:p>
                      <a:pPr eaLnBrk="1" hangingPunct="1">
                        <a:spcBef>
                          <a:spcPct val="50000"/>
                        </a:spcBef>
                      </a:pPr>
                      <a:r>
                        <a:rPr lang="en-GB" altLang="en-US"/>
                        <a:t>C</a:t>
                      </a:r>
                    </a:p>
                  </p:txBody>
                </p:sp>
                <p:sp>
                  <p:nvSpPr>
                    <p:cNvPr id="24603" name="Text Box 22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3463" y="2415"/>
                      <a:ext cx="288" cy="288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>
                      <a:spAutoFit/>
                    </a:bodyPr>
                    <a:lstStyle>
                      <a:lvl1pPr eaLnBrk="0" hangingPunct="0"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1pPr>
                      <a:lvl2pPr marL="37931725" indent="-37474525" eaLnBrk="0" hangingPunct="0"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2pPr>
                      <a:lvl3pPr eaLnBrk="0" hangingPunct="0"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3pPr>
                      <a:lvl4pPr eaLnBrk="0" hangingPunct="0"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4pPr>
                      <a:lvl5pPr eaLnBrk="0" hangingPunct="0"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5pPr>
                      <a:lvl6pPr marL="4572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6pPr>
                      <a:lvl7pPr marL="9144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7pPr>
                      <a:lvl8pPr marL="1371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8pPr>
                      <a:lvl9pPr marL="18288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9pPr>
                    </a:lstStyle>
                    <a:p>
                      <a:pPr eaLnBrk="1" hangingPunct="1">
                        <a:spcBef>
                          <a:spcPct val="50000"/>
                        </a:spcBef>
                      </a:pPr>
                      <a:r>
                        <a:rPr lang="en-GB" altLang="en-US"/>
                        <a:t>D</a:t>
                      </a:r>
                    </a:p>
                  </p:txBody>
                </p:sp>
                <p:sp>
                  <p:nvSpPr>
                    <p:cNvPr id="24604" name="Text Box 23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1783" y="3711"/>
                      <a:ext cx="288" cy="288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>
                      <a:spAutoFit/>
                    </a:bodyPr>
                    <a:lstStyle>
                      <a:lvl1pPr eaLnBrk="0" hangingPunct="0"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1pPr>
                      <a:lvl2pPr marL="37931725" indent="-37474525" eaLnBrk="0" hangingPunct="0"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2pPr>
                      <a:lvl3pPr eaLnBrk="0" hangingPunct="0"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3pPr>
                      <a:lvl4pPr eaLnBrk="0" hangingPunct="0"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4pPr>
                      <a:lvl5pPr eaLnBrk="0" hangingPunct="0"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5pPr>
                      <a:lvl6pPr marL="4572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6pPr>
                      <a:lvl7pPr marL="9144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7pPr>
                      <a:lvl8pPr marL="1371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8pPr>
                      <a:lvl9pPr marL="18288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9pPr>
                    </a:lstStyle>
                    <a:p>
                      <a:pPr eaLnBrk="1" hangingPunct="1">
                        <a:spcBef>
                          <a:spcPct val="50000"/>
                        </a:spcBef>
                      </a:pPr>
                      <a:r>
                        <a:rPr lang="en-GB" altLang="en-US"/>
                        <a:t>E</a:t>
                      </a:r>
                    </a:p>
                  </p:txBody>
                </p:sp>
                <p:sp>
                  <p:nvSpPr>
                    <p:cNvPr id="24605" name="Text Box 24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2599" y="3135"/>
                      <a:ext cx="288" cy="288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>
                      <a:spAutoFit/>
                    </a:bodyPr>
                    <a:lstStyle>
                      <a:lvl1pPr eaLnBrk="0" hangingPunct="0"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1pPr>
                      <a:lvl2pPr marL="37931725" indent="-37474525" eaLnBrk="0" hangingPunct="0"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2pPr>
                      <a:lvl3pPr eaLnBrk="0" hangingPunct="0"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3pPr>
                      <a:lvl4pPr eaLnBrk="0" hangingPunct="0"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4pPr>
                      <a:lvl5pPr eaLnBrk="0" hangingPunct="0"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5pPr>
                      <a:lvl6pPr marL="4572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6pPr>
                      <a:lvl7pPr marL="9144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7pPr>
                      <a:lvl8pPr marL="1371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8pPr>
                      <a:lvl9pPr marL="18288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9pPr>
                    </a:lstStyle>
                    <a:p>
                      <a:pPr eaLnBrk="1" hangingPunct="1">
                        <a:spcBef>
                          <a:spcPct val="50000"/>
                        </a:spcBef>
                      </a:pPr>
                      <a:r>
                        <a:rPr lang="en-GB" altLang="en-US"/>
                        <a:t>2</a:t>
                      </a:r>
                    </a:p>
                  </p:txBody>
                </p:sp>
                <p:sp>
                  <p:nvSpPr>
                    <p:cNvPr id="24606" name="Text Box 25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1207" y="2511"/>
                      <a:ext cx="288" cy="288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>
                      <a:spAutoFit/>
                    </a:bodyPr>
                    <a:lstStyle>
                      <a:lvl1pPr eaLnBrk="0" hangingPunct="0"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1pPr>
                      <a:lvl2pPr marL="37931725" indent="-37474525" eaLnBrk="0" hangingPunct="0"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2pPr>
                      <a:lvl3pPr eaLnBrk="0" hangingPunct="0"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3pPr>
                      <a:lvl4pPr eaLnBrk="0" hangingPunct="0"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4pPr>
                      <a:lvl5pPr eaLnBrk="0" hangingPunct="0"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5pPr>
                      <a:lvl6pPr marL="4572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6pPr>
                      <a:lvl7pPr marL="9144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7pPr>
                      <a:lvl8pPr marL="1371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8pPr>
                      <a:lvl9pPr marL="18288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9pPr>
                    </a:lstStyle>
                    <a:p>
                      <a:pPr eaLnBrk="1" hangingPunct="1">
                        <a:spcBef>
                          <a:spcPct val="50000"/>
                        </a:spcBef>
                      </a:pPr>
                      <a:r>
                        <a:rPr lang="en-GB" altLang="en-US"/>
                        <a:t>7</a:t>
                      </a:r>
                    </a:p>
                  </p:txBody>
                </p:sp>
                <p:sp>
                  <p:nvSpPr>
                    <p:cNvPr id="24607" name="Text Box 26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967" y="3039"/>
                      <a:ext cx="288" cy="288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>
                      <a:spAutoFit/>
                    </a:bodyPr>
                    <a:lstStyle>
                      <a:lvl1pPr eaLnBrk="0" hangingPunct="0"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1pPr>
                      <a:lvl2pPr marL="37931725" indent="-37474525" eaLnBrk="0" hangingPunct="0"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2pPr>
                      <a:lvl3pPr eaLnBrk="0" hangingPunct="0"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3pPr>
                      <a:lvl4pPr eaLnBrk="0" hangingPunct="0"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4pPr>
                      <a:lvl5pPr eaLnBrk="0" hangingPunct="0"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5pPr>
                      <a:lvl6pPr marL="4572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6pPr>
                      <a:lvl7pPr marL="9144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7pPr>
                      <a:lvl8pPr marL="1371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8pPr>
                      <a:lvl9pPr marL="18288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9pPr>
                    </a:lstStyle>
                    <a:p>
                      <a:pPr eaLnBrk="1" hangingPunct="1">
                        <a:spcBef>
                          <a:spcPct val="50000"/>
                        </a:spcBef>
                      </a:pPr>
                      <a:r>
                        <a:rPr lang="en-GB" altLang="en-US"/>
                        <a:t>4</a:t>
                      </a:r>
                    </a:p>
                  </p:txBody>
                </p:sp>
                <p:sp>
                  <p:nvSpPr>
                    <p:cNvPr id="24608" name="Text Box 27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2023" y="2847"/>
                      <a:ext cx="288" cy="288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>
                      <a:spAutoFit/>
                    </a:bodyPr>
                    <a:lstStyle>
                      <a:lvl1pPr eaLnBrk="0" hangingPunct="0"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1pPr>
                      <a:lvl2pPr marL="37931725" indent="-37474525" eaLnBrk="0" hangingPunct="0"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2pPr>
                      <a:lvl3pPr eaLnBrk="0" hangingPunct="0"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3pPr>
                      <a:lvl4pPr eaLnBrk="0" hangingPunct="0"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4pPr>
                      <a:lvl5pPr eaLnBrk="0" hangingPunct="0"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5pPr>
                      <a:lvl6pPr marL="4572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6pPr>
                      <a:lvl7pPr marL="9144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7pPr>
                      <a:lvl8pPr marL="1371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8pPr>
                      <a:lvl9pPr marL="18288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9pPr>
                    </a:lstStyle>
                    <a:p>
                      <a:pPr eaLnBrk="1" hangingPunct="1">
                        <a:spcBef>
                          <a:spcPct val="50000"/>
                        </a:spcBef>
                      </a:pPr>
                      <a:r>
                        <a:rPr lang="en-GB" altLang="en-US"/>
                        <a:t>5</a:t>
                      </a:r>
                    </a:p>
                  </p:txBody>
                </p:sp>
                <p:sp>
                  <p:nvSpPr>
                    <p:cNvPr id="24609" name="Text Box 28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1495" y="1839"/>
                      <a:ext cx="288" cy="288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>
                      <a:spAutoFit/>
                    </a:bodyPr>
                    <a:lstStyle>
                      <a:lvl1pPr eaLnBrk="0" hangingPunct="0"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1pPr>
                      <a:lvl2pPr marL="37931725" indent="-37474525" eaLnBrk="0" hangingPunct="0"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2pPr>
                      <a:lvl3pPr eaLnBrk="0" hangingPunct="0"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3pPr>
                      <a:lvl4pPr eaLnBrk="0" hangingPunct="0"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4pPr>
                      <a:lvl5pPr eaLnBrk="0" hangingPunct="0"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5pPr>
                      <a:lvl6pPr marL="4572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6pPr>
                      <a:lvl7pPr marL="9144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7pPr>
                      <a:lvl8pPr marL="1371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8pPr>
                      <a:lvl9pPr marL="18288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9pPr>
                    </a:lstStyle>
                    <a:p>
                      <a:pPr eaLnBrk="1" hangingPunct="1">
                        <a:spcBef>
                          <a:spcPct val="50000"/>
                        </a:spcBef>
                      </a:pPr>
                      <a:r>
                        <a:rPr lang="en-GB" altLang="en-US"/>
                        <a:t>8</a:t>
                      </a:r>
                    </a:p>
                  </p:txBody>
                </p:sp>
                <p:sp>
                  <p:nvSpPr>
                    <p:cNvPr id="24610" name="Text Box 29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2455" y="1791"/>
                      <a:ext cx="288" cy="288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>
                      <a:spAutoFit/>
                    </a:bodyPr>
                    <a:lstStyle>
                      <a:lvl1pPr eaLnBrk="0" hangingPunct="0"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1pPr>
                      <a:lvl2pPr marL="37931725" indent="-37474525" eaLnBrk="0" hangingPunct="0"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2pPr>
                      <a:lvl3pPr eaLnBrk="0" hangingPunct="0"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3pPr>
                      <a:lvl4pPr eaLnBrk="0" hangingPunct="0"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4pPr>
                      <a:lvl5pPr eaLnBrk="0" hangingPunct="0"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5pPr>
                      <a:lvl6pPr marL="4572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6pPr>
                      <a:lvl7pPr marL="9144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7pPr>
                      <a:lvl8pPr marL="1371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8pPr>
                      <a:lvl9pPr marL="18288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9pPr>
                    </a:lstStyle>
                    <a:p>
                      <a:pPr eaLnBrk="1" hangingPunct="1">
                        <a:spcBef>
                          <a:spcPct val="50000"/>
                        </a:spcBef>
                      </a:pPr>
                      <a:r>
                        <a:rPr lang="en-GB" altLang="en-US"/>
                        <a:t>6</a:t>
                      </a:r>
                    </a:p>
                  </p:txBody>
                </p:sp>
                <p:sp>
                  <p:nvSpPr>
                    <p:cNvPr id="24611" name="Text Box 30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3079" y="1695"/>
                      <a:ext cx="288" cy="288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>
                      <a:spAutoFit/>
                    </a:bodyPr>
                    <a:lstStyle>
                      <a:lvl1pPr eaLnBrk="0" hangingPunct="0"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1pPr>
                      <a:lvl2pPr marL="37931725" indent="-37474525" eaLnBrk="0" hangingPunct="0"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2pPr>
                      <a:lvl3pPr eaLnBrk="0" hangingPunct="0"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3pPr>
                      <a:lvl4pPr eaLnBrk="0" hangingPunct="0"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4pPr>
                      <a:lvl5pPr eaLnBrk="0" hangingPunct="0"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5pPr>
                      <a:lvl6pPr marL="4572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6pPr>
                      <a:lvl7pPr marL="9144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7pPr>
                      <a:lvl8pPr marL="1371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8pPr>
                      <a:lvl9pPr marL="18288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9pPr>
                    </a:lstStyle>
                    <a:p>
                      <a:pPr eaLnBrk="1" hangingPunct="1">
                        <a:spcBef>
                          <a:spcPct val="50000"/>
                        </a:spcBef>
                      </a:pPr>
                      <a:r>
                        <a:rPr lang="en-GB" altLang="en-US"/>
                        <a:t>4</a:t>
                      </a:r>
                    </a:p>
                  </p:txBody>
                </p:sp>
                <p:sp>
                  <p:nvSpPr>
                    <p:cNvPr id="24612" name="Text Box 31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1927" y="1071"/>
                      <a:ext cx="288" cy="288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>
                      <a:spAutoFit/>
                    </a:bodyPr>
                    <a:lstStyle>
                      <a:lvl1pPr eaLnBrk="0" hangingPunct="0"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1pPr>
                      <a:lvl2pPr marL="37931725" indent="-37474525" eaLnBrk="0" hangingPunct="0"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2pPr>
                      <a:lvl3pPr eaLnBrk="0" hangingPunct="0"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3pPr>
                      <a:lvl4pPr eaLnBrk="0" hangingPunct="0"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4pPr>
                      <a:lvl5pPr eaLnBrk="0" hangingPunct="0"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5pPr>
                      <a:lvl6pPr marL="4572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6pPr>
                      <a:lvl7pPr marL="9144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7pPr>
                      <a:lvl8pPr marL="1371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8pPr>
                      <a:lvl9pPr marL="18288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9pPr>
                    </a:lstStyle>
                    <a:p>
                      <a:pPr eaLnBrk="1" hangingPunct="1">
                        <a:spcBef>
                          <a:spcPct val="50000"/>
                        </a:spcBef>
                      </a:pPr>
                      <a:r>
                        <a:rPr lang="en-GB" altLang="en-US"/>
                        <a:t>5</a:t>
                      </a:r>
                    </a:p>
                  </p:txBody>
                </p:sp>
                <p:sp>
                  <p:nvSpPr>
                    <p:cNvPr id="24613" name="Text Box 32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839" y="1570"/>
                      <a:ext cx="288" cy="288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>
                      <a:spAutoFit/>
                    </a:bodyPr>
                    <a:lstStyle>
                      <a:lvl1pPr eaLnBrk="0" hangingPunct="0"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1pPr>
                      <a:lvl2pPr marL="37931725" indent="-37474525" eaLnBrk="0" hangingPunct="0"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2pPr>
                      <a:lvl3pPr eaLnBrk="0" hangingPunct="0"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3pPr>
                      <a:lvl4pPr eaLnBrk="0" hangingPunct="0"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4pPr>
                      <a:lvl5pPr eaLnBrk="0" hangingPunct="0"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5pPr>
                      <a:lvl6pPr marL="4572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6pPr>
                      <a:lvl7pPr marL="9144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7pPr>
                      <a:lvl8pPr marL="1371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8pPr>
                      <a:lvl9pPr marL="18288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9pPr>
                    </a:lstStyle>
                    <a:p>
                      <a:pPr eaLnBrk="1" hangingPunct="1">
                        <a:spcBef>
                          <a:spcPct val="50000"/>
                        </a:spcBef>
                      </a:pPr>
                      <a:r>
                        <a:rPr lang="en-GB" altLang="en-US"/>
                        <a:t>3</a:t>
                      </a:r>
                    </a:p>
                  </p:txBody>
                </p:sp>
                <p:sp>
                  <p:nvSpPr>
                    <p:cNvPr id="24614" name="Text Box 33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2551" y="2175"/>
                      <a:ext cx="288" cy="288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>
                      <a:spAutoFit/>
                    </a:bodyPr>
                    <a:lstStyle>
                      <a:lvl1pPr eaLnBrk="0" hangingPunct="0"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1pPr>
                      <a:lvl2pPr marL="37931725" indent="-37474525" eaLnBrk="0" hangingPunct="0"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2pPr>
                      <a:lvl3pPr eaLnBrk="0" hangingPunct="0"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3pPr>
                      <a:lvl4pPr eaLnBrk="0" hangingPunct="0"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4pPr>
                      <a:lvl5pPr eaLnBrk="0" hangingPunct="0"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5pPr>
                      <a:lvl6pPr marL="4572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6pPr>
                      <a:lvl7pPr marL="9144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7pPr>
                      <a:lvl8pPr marL="1371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8pPr>
                      <a:lvl9pPr marL="18288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9pPr>
                    </a:lstStyle>
                    <a:p>
                      <a:pPr eaLnBrk="1" hangingPunct="1">
                        <a:spcBef>
                          <a:spcPct val="50000"/>
                        </a:spcBef>
                      </a:pPr>
                      <a:r>
                        <a:rPr lang="en-GB" altLang="en-US"/>
                        <a:t>8</a:t>
                      </a:r>
                    </a:p>
                  </p:txBody>
                </p:sp>
              </p:grpSp>
              <p:sp>
                <p:nvSpPr>
                  <p:cNvPr id="24589" name="Line 34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1927" y="2478"/>
                    <a:ext cx="1536" cy="1200"/>
                  </a:xfrm>
                  <a:prstGeom prst="line">
                    <a:avLst/>
                  </a:prstGeom>
                  <a:noFill/>
                  <a:ln w="38100">
                    <a:solidFill>
                      <a:schemeClr val="accent2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sp>
              <p:nvSpPr>
                <p:cNvPr id="24586" name="Line 35"/>
                <p:cNvSpPr>
                  <a:spLocks noChangeShapeType="1"/>
                </p:cNvSpPr>
                <p:nvPr/>
              </p:nvSpPr>
              <p:spPr bwMode="auto">
                <a:xfrm>
                  <a:off x="2744" y="1344"/>
                  <a:ext cx="726" cy="1134"/>
                </a:xfrm>
                <a:prstGeom prst="line">
                  <a:avLst/>
                </a:prstGeom>
                <a:noFill/>
                <a:ln w="38100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24584" name="Line 36"/>
              <p:cNvSpPr>
                <a:spLocks noChangeShapeType="1"/>
              </p:cNvSpPr>
              <p:nvPr/>
            </p:nvSpPr>
            <p:spPr bwMode="auto">
              <a:xfrm>
                <a:off x="567" y="2432"/>
                <a:ext cx="1360" cy="1225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4582" name="Line 37"/>
            <p:cNvSpPr>
              <a:spLocks noChangeShapeType="1"/>
            </p:cNvSpPr>
            <p:nvPr/>
          </p:nvSpPr>
          <p:spPr bwMode="auto">
            <a:xfrm flipH="1">
              <a:off x="1927" y="2478"/>
              <a:ext cx="182" cy="1179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9916781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70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602" name="Group 2"/>
          <p:cNvGrpSpPr>
            <a:grpSpLocks/>
          </p:cNvGrpSpPr>
          <p:nvPr/>
        </p:nvGrpSpPr>
        <p:grpSpPr bwMode="auto">
          <a:xfrm>
            <a:off x="468313" y="1700213"/>
            <a:ext cx="5486400" cy="4648200"/>
            <a:chOff x="864" y="576"/>
            <a:chExt cx="3456" cy="2928"/>
          </a:xfrm>
        </p:grpSpPr>
        <p:sp>
          <p:nvSpPr>
            <p:cNvPr id="25606" name="Line 3"/>
            <p:cNvSpPr>
              <a:spLocks noChangeShapeType="1"/>
            </p:cNvSpPr>
            <p:nvPr/>
          </p:nvSpPr>
          <p:spPr bwMode="auto">
            <a:xfrm flipV="1">
              <a:off x="1152" y="864"/>
              <a:ext cx="816" cy="11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07" name="Line 4"/>
            <p:cNvSpPr>
              <a:spLocks noChangeShapeType="1"/>
            </p:cNvSpPr>
            <p:nvPr/>
          </p:nvSpPr>
          <p:spPr bwMode="auto">
            <a:xfrm>
              <a:off x="1968" y="864"/>
              <a:ext cx="13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08" name="Line 5"/>
            <p:cNvSpPr>
              <a:spLocks noChangeShapeType="1"/>
            </p:cNvSpPr>
            <p:nvPr/>
          </p:nvSpPr>
          <p:spPr bwMode="auto">
            <a:xfrm>
              <a:off x="3312" y="864"/>
              <a:ext cx="720" cy="11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09" name="Line 6"/>
            <p:cNvSpPr>
              <a:spLocks noChangeShapeType="1"/>
            </p:cNvSpPr>
            <p:nvPr/>
          </p:nvSpPr>
          <p:spPr bwMode="auto">
            <a:xfrm>
              <a:off x="1152" y="1968"/>
              <a:ext cx="15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10" name="Line 7"/>
            <p:cNvSpPr>
              <a:spLocks noChangeShapeType="1"/>
            </p:cNvSpPr>
            <p:nvPr/>
          </p:nvSpPr>
          <p:spPr bwMode="auto">
            <a:xfrm>
              <a:off x="2688" y="1968"/>
              <a:ext cx="13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11" name="Line 8"/>
            <p:cNvSpPr>
              <a:spLocks noChangeShapeType="1"/>
            </p:cNvSpPr>
            <p:nvPr/>
          </p:nvSpPr>
          <p:spPr bwMode="auto">
            <a:xfrm>
              <a:off x="1968" y="864"/>
              <a:ext cx="720" cy="11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12" name="Line 9"/>
            <p:cNvSpPr>
              <a:spLocks noChangeShapeType="1"/>
            </p:cNvSpPr>
            <p:nvPr/>
          </p:nvSpPr>
          <p:spPr bwMode="auto">
            <a:xfrm flipV="1">
              <a:off x="2688" y="864"/>
              <a:ext cx="624" cy="11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13" name="Line 10"/>
            <p:cNvSpPr>
              <a:spLocks noChangeShapeType="1"/>
            </p:cNvSpPr>
            <p:nvPr/>
          </p:nvSpPr>
          <p:spPr bwMode="auto">
            <a:xfrm>
              <a:off x="1152" y="1968"/>
              <a:ext cx="1344" cy="1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14" name="Line 11"/>
            <p:cNvSpPr>
              <a:spLocks noChangeShapeType="1"/>
            </p:cNvSpPr>
            <p:nvPr/>
          </p:nvSpPr>
          <p:spPr bwMode="auto">
            <a:xfrm flipV="1">
              <a:off x="2496" y="1968"/>
              <a:ext cx="192" cy="1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15" name="Line 12"/>
            <p:cNvSpPr>
              <a:spLocks noChangeShapeType="1"/>
            </p:cNvSpPr>
            <p:nvPr/>
          </p:nvSpPr>
          <p:spPr bwMode="auto">
            <a:xfrm flipV="1">
              <a:off x="2496" y="1968"/>
              <a:ext cx="1536" cy="1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16" name="Text Box 13"/>
            <p:cNvSpPr txBox="1">
              <a:spLocks noChangeArrowheads="1"/>
            </p:cNvSpPr>
            <p:nvPr/>
          </p:nvSpPr>
          <p:spPr bwMode="auto">
            <a:xfrm>
              <a:off x="864" y="1872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/>
                <a:t>A</a:t>
              </a:r>
            </a:p>
          </p:txBody>
        </p:sp>
        <p:sp>
          <p:nvSpPr>
            <p:cNvPr id="25617" name="Text Box 14"/>
            <p:cNvSpPr txBox="1">
              <a:spLocks noChangeArrowheads="1"/>
            </p:cNvSpPr>
            <p:nvPr/>
          </p:nvSpPr>
          <p:spPr bwMode="auto">
            <a:xfrm>
              <a:off x="2688" y="1968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/>
                <a:t>F</a:t>
              </a:r>
            </a:p>
          </p:txBody>
        </p:sp>
        <p:sp>
          <p:nvSpPr>
            <p:cNvPr id="25618" name="Text Box 15"/>
            <p:cNvSpPr txBox="1">
              <a:spLocks noChangeArrowheads="1"/>
            </p:cNvSpPr>
            <p:nvPr/>
          </p:nvSpPr>
          <p:spPr bwMode="auto">
            <a:xfrm>
              <a:off x="1728" y="576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/>
                <a:t>B</a:t>
              </a:r>
            </a:p>
          </p:txBody>
        </p:sp>
        <p:sp>
          <p:nvSpPr>
            <p:cNvPr id="25619" name="Text Box 16"/>
            <p:cNvSpPr txBox="1">
              <a:spLocks noChangeArrowheads="1"/>
            </p:cNvSpPr>
            <p:nvPr/>
          </p:nvSpPr>
          <p:spPr bwMode="auto">
            <a:xfrm>
              <a:off x="3312" y="672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/>
                <a:t>C</a:t>
              </a:r>
            </a:p>
          </p:txBody>
        </p:sp>
        <p:sp>
          <p:nvSpPr>
            <p:cNvPr id="25620" name="Text Box 17"/>
            <p:cNvSpPr txBox="1">
              <a:spLocks noChangeArrowheads="1"/>
            </p:cNvSpPr>
            <p:nvPr/>
          </p:nvSpPr>
          <p:spPr bwMode="auto">
            <a:xfrm>
              <a:off x="4032" y="1920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/>
                <a:t>D</a:t>
              </a:r>
            </a:p>
          </p:txBody>
        </p:sp>
        <p:sp>
          <p:nvSpPr>
            <p:cNvPr id="25621" name="Text Box 18"/>
            <p:cNvSpPr txBox="1">
              <a:spLocks noChangeArrowheads="1"/>
            </p:cNvSpPr>
            <p:nvPr/>
          </p:nvSpPr>
          <p:spPr bwMode="auto">
            <a:xfrm>
              <a:off x="2352" y="3216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/>
                <a:t>E</a:t>
              </a:r>
            </a:p>
          </p:txBody>
        </p:sp>
        <p:sp>
          <p:nvSpPr>
            <p:cNvPr id="25622" name="Text Box 19"/>
            <p:cNvSpPr txBox="1">
              <a:spLocks noChangeArrowheads="1"/>
            </p:cNvSpPr>
            <p:nvPr/>
          </p:nvSpPr>
          <p:spPr bwMode="auto">
            <a:xfrm>
              <a:off x="3168" y="2640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/>
                <a:t>2</a:t>
              </a:r>
            </a:p>
          </p:txBody>
        </p:sp>
        <p:sp>
          <p:nvSpPr>
            <p:cNvPr id="25623" name="Text Box 20"/>
            <p:cNvSpPr txBox="1">
              <a:spLocks noChangeArrowheads="1"/>
            </p:cNvSpPr>
            <p:nvPr/>
          </p:nvSpPr>
          <p:spPr bwMode="auto">
            <a:xfrm>
              <a:off x="1776" y="2016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/>
                <a:t>7</a:t>
              </a:r>
            </a:p>
          </p:txBody>
        </p:sp>
        <p:sp>
          <p:nvSpPr>
            <p:cNvPr id="25624" name="Text Box 21"/>
            <p:cNvSpPr txBox="1">
              <a:spLocks noChangeArrowheads="1"/>
            </p:cNvSpPr>
            <p:nvPr/>
          </p:nvSpPr>
          <p:spPr bwMode="auto">
            <a:xfrm>
              <a:off x="1536" y="2544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/>
                <a:t>4</a:t>
              </a:r>
            </a:p>
          </p:txBody>
        </p:sp>
        <p:sp>
          <p:nvSpPr>
            <p:cNvPr id="25625" name="Text Box 22"/>
            <p:cNvSpPr txBox="1">
              <a:spLocks noChangeArrowheads="1"/>
            </p:cNvSpPr>
            <p:nvPr/>
          </p:nvSpPr>
          <p:spPr bwMode="auto">
            <a:xfrm>
              <a:off x="2592" y="2352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/>
                <a:t>5</a:t>
              </a:r>
            </a:p>
          </p:txBody>
        </p:sp>
        <p:sp>
          <p:nvSpPr>
            <p:cNvPr id="25626" name="Text Box 23"/>
            <p:cNvSpPr txBox="1">
              <a:spLocks noChangeArrowheads="1"/>
            </p:cNvSpPr>
            <p:nvPr/>
          </p:nvSpPr>
          <p:spPr bwMode="auto">
            <a:xfrm>
              <a:off x="2064" y="1344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/>
                <a:t>8</a:t>
              </a:r>
            </a:p>
          </p:txBody>
        </p:sp>
        <p:sp>
          <p:nvSpPr>
            <p:cNvPr id="25627" name="Text Box 24"/>
            <p:cNvSpPr txBox="1">
              <a:spLocks noChangeArrowheads="1"/>
            </p:cNvSpPr>
            <p:nvPr/>
          </p:nvSpPr>
          <p:spPr bwMode="auto">
            <a:xfrm>
              <a:off x="3024" y="1296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/>
                <a:t>6</a:t>
              </a:r>
            </a:p>
          </p:txBody>
        </p:sp>
        <p:sp>
          <p:nvSpPr>
            <p:cNvPr id="25628" name="Text Box 25"/>
            <p:cNvSpPr txBox="1">
              <a:spLocks noChangeArrowheads="1"/>
            </p:cNvSpPr>
            <p:nvPr/>
          </p:nvSpPr>
          <p:spPr bwMode="auto">
            <a:xfrm>
              <a:off x="3648" y="1200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/>
                <a:t>4</a:t>
              </a:r>
            </a:p>
          </p:txBody>
        </p:sp>
        <p:sp>
          <p:nvSpPr>
            <p:cNvPr id="25629" name="Text Box 26"/>
            <p:cNvSpPr txBox="1">
              <a:spLocks noChangeArrowheads="1"/>
            </p:cNvSpPr>
            <p:nvPr/>
          </p:nvSpPr>
          <p:spPr bwMode="auto">
            <a:xfrm>
              <a:off x="2496" y="576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/>
                <a:t>5</a:t>
              </a:r>
            </a:p>
          </p:txBody>
        </p:sp>
        <p:sp>
          <p:nvSpPr>
            <p:cNvPr id="25630" name="Text Box 27"/>
            <p:cNvSpPr txBox="1">
              <a:spLocks noChangeArrowheads="1"/>
            </p:cNvSpPr>
            <p:nvPr/>
          </p:nvSpPr>
          <p:spPr bwMode="auto">
            <a:xfrm>
              <a:off x="1392" y="1056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/>
                <a:t>3</a:t>
              </a:r>
            </a:p>
          </p:txBody>
        </p:sp>
        <p:sp>
          <p:nvSpPr>
            <p:cNvPr id="25631" name="Text Box 28"/>
            <p:cNvSpPr txBox="1">
              <a:spLocks noChangeArrowheads="1"/>
            </p:cNvSpPr>
            <p:nvPr/>
          </p:nvSpPr>
          <p:spPr bwMode="auto">
            <a:xfrm>
              <a:off x="3120" y="1680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/>
                <a:t>8</a:t>
              </a:r>
            </a:p>
          </p:txBody>
        </p:sp>
      </p:grpSp>
      <p:sp>
        <p:nvSpPr>
          <p:cNvPr id="33821" name="Text Box 29"/>
          <p:cNvSpPr txBox="1">
            <a:spLocks noChangeArrowheads="1"/>
          </p:cNvSpPr>
          <p:nvPr/>
        </p:nvSpPr>
        <p:spPr bwMode="auto">
          <a:xfrm>
            <a:off x="6011863" y="1125538"/>
            <a:ext cx="2665412" cy="3749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en-US" sz="2000">
                <a:latin typeface="Arial" charset="0"/>
              </a:rPr>
              <a:t>Select any vertex</a:t>
            </a:r>
          </a:p>
          <a:p>
            <a:pPr eaLnBrk="1" hangingPunct="1"/>
            <a:endParaRPr lang="en-GB" altLang="en-US" sz="2000">
              <a:latin typeface="Arial" charset="0"/>
            </a:endParaRPr>
          </a:p>
          <a:p>
            <a:pPr eaLnBrk="1" hangingPunct="1"/>
            <a:r>
              <a:rPr lang="en-GB" altLang="en-US" sz="2000">
                <a:latin typeface="Arial" charset="0"/>
              </a:rPr>
              <a:t>A</a:t>
            </a:r>
          </a:p>
          <a:p>
            <a:pPr eaLnBrk="1" hangingPunct="1"/>
            <a:endParaRPr lang="en-US" altLang="en-US" sz="2000">
              <a:latin typeface="Arial" charset="0"/>
            </a:endParaRPr>
          </a:p>
          <a:p>
            <a:pPr eaLnBrk="1" hangingPunct="1"/>
            <a:r>
              <a:rPr lang="en-US" altLang="en-US" sz="2000">
                <a:latin typeface="Arial" charset="0"/>
              </a:rPr>
              <a:t>Select the shortest edge connected to that vertex</a:t>
            </a:r>
          </a:p>
          <a:p>
            <a:pPr eaLnBrk="1" hangingPunct="1"/>
            <a:endParaRPr lang="en-GB" altLang="en-US" sz="2000">
              <a:latin typeface="Arial" charset="0"/>
            </a:endParaRPr>
          </a:p>
          <a:p>
            <a:pPr eaLnBrk="1" hangingPunct="1"/>
            <a:r>
              <a:rPr lang="en-GB" altLang="en-US" sz="2000">
                <a:solidFill>
                  <a:srgbClr val="FF0000"/>
                </a:solidFill>
                <a:latin typeface="Arial" charset="0"/>
              </a:rPr>
              <a:t>AB  3</a:t>
            </a:r>
          </a:p>
          <a:p>
            <a:pPr eaLnBrk="1" hangingPunct="1"/>
            <a:endParaRPr lang="en-GB" altLang="en-US" sz="2000">
              <a:latin typeface="Arial" charset="0"/>
            </a:endParaRPr>
          </a:p>
          <a:p>
            <a:pPr eaLnBrk="1" hangingPunct="1"/>
            <a:endParaRPr lang="en-GB" altLang="en-US" sz="2000">
              <a:latin typeface="Arial" charset="0"/>
            </a:endParaRPr>
          </a:p>
          <a:p>
            <a:pPr eaLnBrk="1" hangingPunct="1"/>
            <a:endParaRPr lang="en-US" altLang="en-US" sz="2000">
              <a:latin typeface="Arial" charset="0"/>
            </a:endParaRPr>
          </a:p>
        </p:txBody>
      </p:sp>
      <p:sp>
        <p:nvSpPr>
          <p:cNvPr id="25604" name="Text Box 30"/>
          <p:cNvSpPr txBox="1">
            <a:spLocks noChangeArrowheads="1"/>
          </p:cNvSpPr>
          <p:nvPr/>
        </p:nvSpPr>
        <p:spPr bwMode="auto">
          <a:xfrm>
            <a:off x="827088" y="476250"/>
            <a:ext cx="72009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GB" altLang="en-US" b="1">
                <a:latin typeface="Arial" charset="0"/>
              </a:rPr>
              <a:t>Prim’s Algorithm</a:t>
            </a:r>
            <a:endParaRPr lang="en-US" altLang="en-US" b="1">
              <a:latin typeface="Arial" charset="0"/>
            </a:endParaRPr>
          </a:p>
        </p:txBody>
      </p:sp>
      <p:sp>
        <p:nvSpPr>
          <p:cNvPr id="33823" name="Line 31"/>
          <p:cNvSpPr>
            <a:spLocks noChangeShapeType="1"/>
          </p:cNvSpPr>
          <p:nvPr/>
        </p:nvSpPr>
        <p:spPr bwMode="auto">
          <a:xfrm flipV="1">
            <a:off x="925513" y="2159000"/>
            <a:ext cx="1279525" cy="1724025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11581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821" grpId="0"/>
      <p:bldP spid="33823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626" name="Group 2"/>
          <p:cNvGrpSpPr>
            <a:grpSpLocks/>
          </p:cNvGrpSpPr>
          <p:nvPr/>
        </p:nvGrpSpPr>
        <p:grpSpPr bwMode="auto">
          <a:xfrm>
            <a:off x="468313" y="1700213"/>
            <a:ext cx="5486400" cy="4648200"/>
            <a:chOff x="864" y="576"/>
            <a:chExt cx="3456" cy="2928"/>
          </a:xfrm>
        </p:grpSpPr>
        <p:sp>
          <p:nvSpPr>
            <p:cNvPr id="26631" name="Line 3"/>
            <p:cNvSpPr>
              <a:spLocks noChangeShapeType="1"/>
            </p:cNvSpPr>
            <p:nvPr/>
          </p:nvSpPr>
          <p:spPr bwMode="auto">
            <a:xfrm flipV="1">
              <a:off x="1152" y="864"/>
              <a:ext cx="816" cy="11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32" name="Line 4"/>
            <p:cNvSpPr>
              <a:spLocks noChangeShapeType="1"/>
            </p:cNvSpPr>
            <p:nvPr/>
          </p:nvSpPr>
          <p:spPr bwMode="auto">
            <a:xfrm>
              <a:off x="1968" y="864"/>
              <a:ext cx="13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33" name="Line 5"/>
            <p:cNvSpPr>
              <a:spLocks noChangeShapeType="1"/>
            </p:cNvSpPr>
            <p:nvPr/>
          </p:nvSpPr>
          <p:spPr bwMode="auto">
            <a:xfrm>
              <a:off x="3312" y="864"/>
              <a:ext cx="720" cy="11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34" name="Line 6"/>
            <p:cNvSpPr>
              <a:spLocks noChangeShapeType="1"/>
            </p:cNvSpPr>
            <p:nvPr/>
          </p:nvSpPr>
          <p:spPr bwMode="auto">
            <a:xfrm>
              <a:off x="1152" y="1968"/>
              <a:ext cx="15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35" name="Line 7"/>
            <p:cNvSpPr>
              <a:spLocks noChangeShapeType="1"/>
            </p:cNvSpPr>
            <p:nvPr/>
          </p:nvSpPr>
          <p:spPr bwMode="auto">
            <a:xfrm>
              <a:off x="2688" y="1968"/>
              <a:ext cx="13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36" name="Line 8"/>
            <p:cNvSpPr>
              <a:spLocks noChangeShapeType="1"/>
            </p:cNvSpPr>
            <p:nvPr/>
          </p:nvSpPr>
          <p:spPr bwMode="auto">
            <a:xfrm>
              <a:off x="1968" y="864"/>
              <a:ext cx="720" cy="11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37" name="Line 9"/>
            <p:cNvSpPr>
              <a:spLocks noChangeShapeType="1"/>
            </p:cNvSpPr>
            <p:nvPr/>
          </p:nvSpPr>
          <p:spPr bwMode="auto">
            <a:xfrm flipV="1">
              <a:off x="2688" y="864"/>
              <a:ext cx="624" cy="11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38" name="Line 10"/>
            <p:cNvSpPr>
              <a:spLocks noChangeShapeType="1"/>
            </p:cNvSpPr>
            <p:nvPr/>
          </p:nvSpPr>
          <p:spPr bwMode="auto">
            <a:xfrm>
              <a:off x="1152" y="1968"/>
              <a:ext cx="1344" cy="1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39" name="Line 11"/>
            <p:cNvSpPr>
              <a:spLocks noChangeShapeType="1"/>
            </p:cNvSpPr>
            <p:nvPr/>
          </p:nvSpPr>
          <p:spPr bwMode="auto">
            <a:xfrm flipV="1">
              <a:off x="2496" y="1968"/>
              <a:ext cx="192" cy="1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40" name="Line 12"/>
            <p:cNvSpPr>
              <a:spLocks noChangeShapeType="1"/>
            </p:cNvSpPr>
            <p:nvPr/>
          </p:nvSpPr>
          <p:spPr bwMode="auto">
            <a:xfrm flipV="1">
              <a:off x="2496" y="1968"/>
              <a:ext cx="1536" cy="1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41" name="Text Box 13"/>
            <p:cNvSpPr txBox="1">
              <a:spLocks noChangeArrowheads="1"/>
            </p:cNvSpPr>
            <p:nvPr/>
          </p:nvSpPr>
          <p:spPr bwMode="auto">
            <a:xfrm>
              <a:off x="864" y="1872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/>
                <a:t>A</a:t>
              </a:r>
            </a:p>
          </p:txBody>
        </p:sp>
        <p:sp>
          <p:nvSpPr>
            <p:cNvPr id="26642" name="Text Box 14"/>
            <p:cNvSpPr txBox="1">
              <a:spLocks noChangeArrowheads="1"/>
            </p:cNvSpPr>
            <p:nvPr/>
          </p:nvSpPr>
          <p:spPr bwMode="auto">
            <a:xfrm>
              <a:off x="2688" y="1968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/>
                <a:t>F</a:t>
              </a:r>
            </a:p>
          </p:txBody>
        </p:sp>
        <p:sp>
          <p:nvSpPr>
            <p:cNvPr id="26643" name="Text Box 15"/>
            <p:cNvSpPr txBox="1">
              <a:spLocks noChangeArrowheads="1"/>
            </p:cNvSpPr>
            <p:nvPr/>
          </p:nvSpPr>
          <p:spPr bwMode="auto">
            <a:xfrm>
              <a:off x="1728" y="576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/>
                <a:t>B</a:t>
              </a:r>
            </a:p>
          </p:txBody>
        </p:sp>
        <p:sp>
          <p:nvSpPr>
            <p:cNvPr id="26644" name="Text Box 16"/>
            <p:cNvSpPr txBox="1">
              <a:spLocks noChangeArrowheads="1"/>
            </p:cNvSpPr>
            <p:nvPr/>
          </p:nvSpPr>
          <p:spPr bwMode="auto">
            <a:xfrm>
              <a:off x="3312" y="672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/>
                <a:t>C</a:t>
              </a:r>
            </a:p>
          </p:txBody>
        </p:sp>
        <p:sp>
          <p:nvSpPr>
            <p:cNvPr id="26645" name="Text Box 17"/>
            <p:cNvSpPr txBox="1">
              <a:spLocks noChangeArrowheads="1"/>
            </p:cNvSpPr>
            <p:nvPr/>
          </p:nvSpPr>
          <p:spPr bwMode="auto">
            <a:xfrm>
              <a:off x="4032" y="1920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/>
                <a:t>D</a:t>
              </a:r>
            </a:p>
          </p:txBody>
        </p:sp>
        <p:sp>
          <p:nvSpPr>
            <p:cNvPr id="26646" name="Text Box 18"/>
            <p:cNvSpPr txBox="1">
              <a:spLocks noChangeArrowheads="1"/>
            </p:cNvSpPr>
            <p:nvPr/>
          </p:nvSpPr>
          <p:spPr bwMode="auto">
            <a:xfrm>
              <a:off x="2352" y="3216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/>
                <a:t>E</a:t>
              </a:r>
            </a:p>
          </p:txBody>
        </p:sp>
        <p:sp>
          <p:nvSpPr>
            <p:cNvPr id="26647" name="Text Box 19"/>
            <p:cNvSpPr txBox="1">
              <a:spLocks noChangeArrowheads="1"/>
            </p:cNvSpPr>
            <p:nvPr/>
          </p:nvSpPr>
          <p:spPr bwMode="auto">
            <a:xfrm>
              <a:off x="3168" y="2640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/>
                <a:t>2</a:t>
              </a:r>
            </a:p>
          </p:txBody>
        </p:sp>
        <p:sp>
          <p:nvSpPr>
            <p:cNvPr id="26648" name="Text Box 20"/>
            <p:cNvSpPr txBox="1">
              <a:spLocks noChangeArrowheads="1"/>
            </p:cNvSpPr>
            <p:nvPr/>
          </p:nvSpPr>
          <p:spPr bwMode="auto">
            <a:xfrm>
              <a:off x="1776" y="2016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/>
                <a:t>7</a:t>
              </a:r>
            </a:p>
          </p:txBody>
        </p:sp>
        <p:sp>
          <p:nvSpPr>
            <p:cNvPr id="26649" name="Text Box 21"/>
            <p:cNvSpPr txBox="1">
              <a:spLocks noChangeArrowheads="1"/>
            </p:cNvSpPr>
            <p:nvPr/>
          </p:nvSpPr>
          <p:spPr bwMode="auto">
            <a:xfrm>
              <a:off x="1536" y="2544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/>
                <a:t>4</a:t>
              </a:r>
            </a:p>
          </p:txBody>
        </p:sp>
        <p:sp>
          <p:nvSpPr>
            <p:cNvPr id="26650" name="Text Box 22"/>
            <p:cNvSpPr txBox="1">
              <a:spLocks noChangeArrowheads="1"/>
            </p:cNvSpPr>
            <p:nvPr/>
          </p:nvSpPr>
          <p:spPr bwMode="auto">
            <a:xfrm>
              <a:off x="2592" y="2352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/>
                <a:t>5</a:t>
              </a:r>
            </a:p>
          </p:txBody>
        </p:sp>
        <p:sp>
          <p:nvSpPr>
            <p:cNvPr id="26651" name="Text Box 23"/>
            <p:cNvSpPr txBox="1">
              <a:spLocks noChangeArrowheads="1"/>
            </p:cNvSpPr>
            <p:nvPr/>
          </p:nvSpPr>
          <p:spPr bwMode="auto">
            <a:xfrm>
              <a:off x="2064" y="1344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/>
                <a:t>8</a:t>
              </a:r>
            </a:p>
          </p:txBody>
        </p:sp>
        <p:sp>
          <p:nvSpPr>
            <p:cNvPr id="26652" name="Text Box 24"/>
            <p:cNvSpPr txBox="1">
              <a:spLocks noChangeArrowheads="1"/>
            </p:cNvSpPr>
            <p:nvPr/>
          </p:nvSpPr>
          <p:spPr bwMode="auto">
            <a:xfrm>
              <a:off x="3024" y="1296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/>
                <a:t>6</a:t>
              </a:r>
            </a:p>
          </p:txBody>
        </p:sp>
        <p:sp>
          <p:nvSpPr>
            <p:cNvPr id="26653" name="Text Box 25"/>
            <p:cNvSpPr txBox="1">
              <a:spLocks noChangeArrowheads="1"/>
            </p:cNvSpPr>
            <p:nvPr/>
          </p:nvSpPr>
          <p:spPr bwMode="auto">
            <a:xfrm>
              <a:off x="3648" y="1200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/>
                <a:t>4</a:t>
              </a:r>
            </a:p>
          </p:txBody>
        </p:sp>
        <p:sp>
          <p:nvSpPr>
            <p:cNvPr id="26654" name="Text Box 26"/>
            <p:cNvSpPr txBox="1">
              <a:spLocks noChangeArrowheads="1"/>
            </p:cNvSpPr>
            <p:nvPr/>
          </p:nvSpPr>
          <p:spPr bwMode="auto">
            <a:xfrm>
              <a:off x="2496" y="576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/>
                <a:t>5</a:t>
              </a:r>
            </a:p>
          </p:txBody>
        </p:sp>
        <p:sp>
          <p:nvSpPr>
            <p:cNvPr id="26655" name="Text Box 27"/>
            <p:cNvSpPr txBox="1">
              <a:spLocks noChangeArrowheads="1"/>
            </p:cNvSpPr>
            <p:nvPr/>
          </p:nvSpPr>
          <p:spPr bwMode="auto">
            <a:xfrm>
              <a:off x="1392" y="1056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/>
                <a:t>3</a:t>
              </a:r>
            </a:p>
          </p:txBody>
        </p:sp>
        <p:sp>
          <p:nvSpPr>
            <p:cNvPr id="26656" name="Text Box 28"/>
            <p:cNvSpPr txBox="1">
              <a:spLocks noChangeArrowheads="1"/>
            </p:cNvSpPr>
            <p:nvPr/>
          </p:nvSpPr>
          <p:spPr bwMode="auto">
            <a:xfrm>
              <a:off x="3120" y="1680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/>
                <a:t>8</a:t>
              </a:r>
            </a:p>
          </p:txBody>
        </p:sp>
      </p:grpSp>
      <p:sp>
        <p:nvSpPr>
          <p:cNvPr id="34845" name="Text Box 29"/>
          <p:cNvSpPr txBox="1">
            <a:spLocks noChangeArrowheads="1"/>
          </p:cNvSpPr>
          <p:nvPr/>
        </p:nvSpPr>
        <p:spPr bwMode="auto">
          <a:xfrm>
            <a:off x="6011863" y="1125538"/>
            <a:ext cx="2665412" cy="2835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>
              <a:buFont typeface="Verdana" charset="0"/>
              <a:buNone/>
            </a:pPr>
            <a:r>
              <a:rPr lang="en-US" altLang="en-US" sz="2000">
                <a:latin typeface="Arial" charset="0"/>
              </a:rPr>
              <a:t>Select the shortest</a:t>
            </a:r>
          </a:p>
          <a:p>
            <a:pPr>
              <a:buFont typeface="Verdana" charset="0"/>
              <a:buNone/>
            </a:pPr>
            <a:r>
              <a:rPr lang="en-US" altLang="en-US" sz="2000">
                <a:latin typeface="Arial" charset="0"/>
              </a:rPr>
              <a:t>edge connected to </a:t>
            </a:r>
          </a:p>
          <a:p>
            <a:pPr>
              <a:buFont typeface="Verdana" charset="0"/>
              <a:buNone/>
            </a:pPr>
            <a:r>
              <a:rPr lang="en-US" altLang="en-US" sz="2000">
                <a:latin typeface="Arial" charset="0"/>
              </a:rPr>
              <a:t>any vertex already </a:t>
            </a:r>
          </a:p>
          <a:p>
            <a:pPr>
              <a:buFont typeface="Verdana" charset="0"/>
              <a:buNone/>
            </a:pPr>
            <a:r>
              <a:rPr lang="en-US" altLang="en-US" sz="2000">
                <a:latin typeface="Arial" charset="0"/>
              </a:rPr>
              <a:t>connected.</a:t>
            </a:r>
          </a:p>
          <a:p>
            <a:pPr>
              <a:buFont typeface="Verdana" charset="0"/>
              <a:buNone/>
            </a:pPr>
            <a:endParaRPr lang="en-GB" altLang="en-US" sz="2000">
              <a:latin typeface="Arial" charset="0"/>
            </a:endParaRPr>
          </a:p>
          <a:p>
            <a:pPr>
              <a:buFont typeface="Verdana" charset="0"/>
              <a:buNone/>
            </a:pPr>
            <a:r>
              <a:rPr lang="en-GB" altLang="en-US" sz="2000">
                <a:solidFill>
                  <a:srgbClr val="FF0000"/>
                </a:solidFill>
                <a:latin typeface="Arial" charset="0"/>
              </a:rPr>
              <a:t>AE  4</a:t>
            </a:r>
            <a:endParaRPr lang="en-US" altLang="en-US" sz="2000">
              <a:solidFill>
                <a:srgbClr val="FF0000"/>
              </a:solidFill>
              <a:latin typeface="Arial" charset="0"/>
            </a:endParaRPr>
          </a:p>
          <a:p>
            <a:pPr eaLnBrk="1" hangingPunct="1"/>
            <a:endParaRPr lang="en-GB" altLang="en-US" sz="2000">
              <a:latin typeface="Arial" charset="0"/>
            </a:endParaRPr>
          </a:p>
          <a:p>
            <a:pPr eaLnBrk="1" hangingPunct="1"/>
            <a:endParaRPr lang="en-GB" altLang="en-US" sz="2000">
              <a:latin typeface="Arial" charset="0"/>
            </a:endParaRPr>
          </a:p>
          <a:p>
            <a:pPr eaLnBrk="1" hangingPunct="1"/>
            <a:endParaRPr lang="en-US" altLang="en-US" sz="2000">
              <a:latin typeface="Arial" charset="0"/>
            </a:endParaRPr>
          </a:p>
        </p:txBody>
      </p:sp>
      <p:sp>
        <p:nvSpPr>
          <p:cNvPr id="26628" name="Text Box 30"/>
          <p:cNvSpPr txBox="1">
            <a:spLocks noChangeArrowheads="1"/>
          </p:cNvSpPr>
          <p:nvPr/>
        </p:nvSpPr>
        <p:spPr bwMode="auto">
          <a:xfrm>
            <a:off x="827088" y="476250"/>
            <a:ext cx="72009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GB" altLang="en-US" b="1">
                <a:latin typeface="Arial" charset="0"/>
              </a:rPr>
              <a:t>Prim’s Algorithm</a:t>
            </a:r>
            <a:endParaRPr lang="en-US" altLang="en-US" b="1">
              <a:latin typeface="Arial" charset="0"/>
            </a:endParaRPr>
          </a:p>
        </p:txBody>
      </p:sp>
      <p:sp>
        <p:nvSpPr>
          <p:cNvPr id="26629" name="Line 34"/>
          <p:cNvSpPr>
            <a:spLocks noChangeShapeType="1"/>
          </p:cNvSpPr>
          <p:nvPr/>
        </p:nvSpPr>
        <p:spPr bwMode="auto">
          <a:xfrm flipV="1">
            <a:off x="925513" y="2159000"/>
            <a:ext cx="1279525" cy="1724025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49" name="Line 33"/>
          <p:cNvSpPr>
            <a:spLocks noChangeShapeType="1"/>
          </p:cNvSpPr>
          <p:nvPr/>
        </p:nvSpPr>
        <p:spPr bwMode="auto">
          <a:xfrm>
            <a:off x="925513" y="3886200"/>
            <a:ext cx="2133600" cy="1919288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81662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45" grpId="0"/>
      <p:bldP spid="34849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ext Box 2"/>
          <p:cNvSpPr txBox="1">
            <a:spLocks noChangeArrowheads="1"/>
          </p:cNvSpPr>
          <p:nvPr/>
        </p:nvSpPr>
        <p:spPr bwMode="auto">
          <a:xfrm>
            <a:off x="6011863" y="1125538"/>
            <a:ext cx="2665412" cy="2835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>
              <a:buFont typeface="Verdana" charset="0"/>
              <a:buNone/>
            </a:pPr>
            <a:r>
              <a:rPr lang="en-US" altLang="en-US" sz="2000">
                <a:latin typeface="Arial" charset="0"/>
              </a:rPr>
              <a:t>Select the shortest</a:t>
            </a:r>
          </a:p>
          <a:p>
            <a:pPr>
              <a:buFont typeface="Verdana" charset="0"/>
              <a:buNone/>
            </a:pPr>
            <a:r>
              <a:rPr lang="en-US" altLang="en-US" sz="2000">
                <a:latin typeface="Arial" charset="0"/>
              </a:rPr>
              <a:t>edge connected to </a:t>
            </a:r>
          </a:p>
          <a:p>
            <a:pPr>
              <a:buFont typeface="Verdana" charset="0"/>
              <a:buNone/>
            </a:pPr>
            <a:r>
              <a:rPr lang="en-US" altLang="en-US" sz="2000">
                <a:latin typeface="Arial" charset="0"/>
              </a:rPr>
              <a:t>any vertex already </a:t>
            </a:r>
          </a:p>
          <a:p>
            <a:pPr>
              <a:buFont typeface="Verdana" charset="0"/>
              <a:buNone/>
            </a:pPr>
            <a:r>
              <a:rPr lang="en-US" altLang="en-US" sz="2000">
                <a:latin typeface="Arial" charset="0"/>
              </a:rPr>
              <a:t>connected.</a:t>
            </a:r>
          </a:p>
          <a:p>
            <a:pPr>
              <a:buFont typeface="Verdana" charset="0"/>
              <a:buNone/>
            </a:pPr>
            <a:endParaRPr lang="en-GB" altLang="en-US" sz="2000">
              <a:latin typeface="Arial" charset="0"/>
            </a:endParaRPr>
          </a:p>
          <a:p>
            <a:pPr>
              <a:buFont typeface="Verdana" charset="0"/>
              <a:buNone/>
            </a:pPr>
            <a:r>
              <a:rPr lang="en-GB" altLang="en-US" sz="2000">
                <a:solidFill>
                  <a:srgbClr val="FF0000"/>
                </a:solidFill>
                <a:latin typeface="Arial" charset="0"/>
              </a:rPr>
              <a:t>ED  2</a:t>
            </a:r>
            <a:endParaRPr lang="en-US" altLang="en-US" sz="2000">
              <a:solidFill>
                <a:srgbClr val="FF0000"/>
              </a:solidFill>
              <a:latin typeface="Arial" charset="0"/>
            </a:endParaRPr>
          </a:p>
          <a:p>
            <a:pPr eaLnBrk="1" hangingPunct="1"/>
            <a:endParaRPr lang="en-GB" altLang="en-US" sz="2000">
              <a:latin typeface="Arial" charset="0"/>
            </a:endParaRPr>
          </a:p>
          <a:p>
            <a:pPr eaLnBrk="1" hangingPunct="1"/>
            <a:endParaRPr lang="en-GB" altLang="en-US" sz="2000">
              <a:latin typeface="Arial" charset="0"/>
            </a:endParaRPr>
          </a:p>
          <a:p>
            <a:pPr eaLnBrk="1" hangingPunct="1"/>
            <a:endParaRPr lang="en-US" altLang="en-US" sz="2000">
              <a:latin typeface="Arial" charset="0"/>
            </a:endParaRPr>
          </a:p>
        </p:txBody>
      </p:sp>
      <p:sp>
        <p:nvSpPr>
          <p:cNvPr id="27651" name="Text Box 3"/>
          <p:cNvSpPr txBox="1">
            <a:spLocks noChangeArrowheads="1"/>
          </p:cNvSpPr>
          <p:nvPr/>
        </p:nvSpPr>
        <p:spPr bwMode="auto">
          <a:xfrm>
            <a:off x="827088" y="476250"/>
            <a:ext cx="72009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GB" altLang="en-US" b="1">
                <a:latin typeface="Arial" charset="0"/>
              </a:rPr>
              <a:t>Prim’s Algorithm</a:t>
            </a:r>
            <a:endParaRPr lang="en-US" altLang="en-US" b="1">
              <a:latin typeface="Arial" charset="0"/>
            </a:endParaRPr>
          </a:p>
        </p:txBody>
      </p:sp>
      <p:grpSp>
        <p:nvGrpSpPr>
          <p:cNvPr id="27652" name="Group 5"/>
          <p:cNvGrpSpPr>
            <a:grpSpLocks/>
          </p:cNvGrpSpPr>
          <p:nvPr/>
        </p:nvGrpSpPr>
        <p:grpSpPr bwMode="auto">
          <a:xfrm>
            <a:off x="468313" y="1700213"/>
            <a:ext cx="5486400" cy="4648200"/>
            <a:chOff x="864" y="576"/>
            <a:chExt cx="3456" cy="2928"/>
          </a:xfrm>
        </p:grpSpPr>
        <p:sp>
          <p:nvSpPr>
            <p:cNvPr id="27656" name="Line 6"/>
            <p:cNvSpPr>
              <a:spLocks noChangeShapeType="1"/>
            </p:cNvSpPr>
            <p:nvPr/>
          </p:nvSpPr>
          <p:spPr bwMode="auto">
            <a:xfrm flipV="1">
              <a:off x="1152" y="864"/>
              <a:ext cx="816" cy="11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57" name="Line 7"/>
            <p:cNvSpPr>
              <a:spLocks noChangeShapeType="1"/>
            </p:cNvSpPr>
            <p:nvPr/>
          </p:nvSpPr>
          <p:spPr bwMode="auto">
            <a:xfrm>
              <a:off x="1968" y="864"/>
              <a:ext cx="13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58" name="Line 8"/>
            <p:cNvSpPr>
              <a:spLocks noChangeShapeType="1"/>
            </p:cNvSpPr>
            <p:nvPr/>
          </p:nvSpPr>
          <p:spPr bwMode="auto">
            <a:xfrm>
              <a:off x="3312" y="864"/>
              <a:ext cx="720" cy="11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59" name="Line 9"/>
            <p:cNvSpPr>
              <a:spLocks noChangeShapeType="1"/>
            </p:cNvSpPr>
            <p:nvPr/>
          </p:nvSpPr>
          <p:spPr bwMode="auto">
            <a:xfrm>
              <a:off x="1152" y="1968"/>
              <a:ext cx="15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60" name="Line 10"/>
            <p:cNvSpPr>
              <a:spLocks noChangeShapeType="1"/>
            </p:cNvSpPr>
            <p:nvPr/>
          </p:nvSpPr>
          <p:spPr bwMode="auto">
            <a:xfrm>
              <a:off x="2688" y="1968"/>
              <a:ext cx="13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61" name="Line 11"/>
            <p:cNvSpPr>
              <a:spLocks noChangeShapeType="1"/>
            </p:cNvSpPr>
            <p:nvPr/>
          </p:nvSpPr>
          <p:spPr bwMode="auto">
            <a:xfrm>
              <a:off x="1968" y="864"/>
              <a:ext cx="720" cy="11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62" name="Line 12"/>
            <p:cNvSpPr>
              <a:spLocks noChangeShapeType="1"/>
            </p:cNvSpPr>
            <p:nvPr/>
          </p:nvSpPr>
          <p:spPr bwMode="auto">
            <a:xfrm flipV="1">
              <a:off x="2688" y="864"/>
              <a:ext cx="624" cy="11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63" name="Line 13"/>
            <p:cNvSpPr>
              <a:spLocks noChangeShapeType="1"/>
            </p:cNvSpPr>
            <p:nvPr/>
          </p:nvSpPr>
          <p:spPr bwMode="auto">
            <a:xfrm>
              <a:off x="1152" y="1968"/>
              <a:ext cx="1344" cy="1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64" name="Line 14"/>
            <p:cNvSpPr>
              <a:spLocks noChangeShapeType="1"/>
            </p:cNvSpPr>
            <p:nvPr/>
          </p:nvSpPr>
          <p:spPr bwMode="auto">
            <a:xfrm flipV="1">
              <a:off x="2496" y="1968"/>
              <a:ext cx="192" cy="1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65" name="Line 15"/>
            <p:cNvSpPr>
              <a:spLocks noChangeShapeType="1"/>
            </p:cNvSpPr>
            <p:nvPr/>
          </p:nvSpPr>
          <p:spPr bwMode="auto">
            <a:xfrm flipV="1">
              <a:off x="2496" y="1968"/>
              <a:ext cx="1536" cy="1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66" name="Text Box 16"/>
            <p:cNvSpPr txBox="1">
              <a:spLocks noChangeArrowheads="1"/>
            </p:cNvSpPr>
            <p:nvPr/>
          </p:nvSpPr>
          <p:spPr bwMode="auto">
            <a:xfrm>
              <a:off x="864" y="1872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/>
                <a:t>A</a:t>
              </a:r>
            </a:p>
          </p:txBody>
        </p:sp>
        <p:sp>
          <p:nvSpPr>
            <p:cNvPr id="27667" name="Text Box 17"/>
            <p:cNvSpPr txBox="1">
              <a:spLocks noChangeArrowheads="1"/>
            </p:cNvSpPr>
            <p:nvPr/>
          </p:nvSpPr>
          <p:spPr bwMode="auto">
            <a:xfrm>
              <a:off x="2688" y="1968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/>
                <a:t>F</a:t>
              </a:r>
            </a:p>
          </p:txBody>
        </p:sp>
        <p:sp>
          <p:nvSpPr>
            <p:cNvPr id="27668" name="Text Box 18"/>
            <p:cNvSpPr txBox="1">
              <a:spLocks noChangeArrowheads="1"/>
            </p:cNvSpPr>
            <p:nvPr/>
          </p:nvSpPr>
          <p:spPr bwMode="auto">
            <a:xfrm>
              <a:off x="1728" y="576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/>
                <a:t>B</a:t>
              </a:r>
            </a:p>
          </p:txBody>
        </p:sp>
        <p:sp>
          <p:nvSpPr>
            <p:cNvPr id="27669" name="Text Box 19"/>
            <p:cNvSpPr txBox="1">
              <a:spLocks noChangeArrowheads="1"/>
            </p:cNvSpPr>
            <p:nvPr/>
          </p:nvSpPr>
          <p:spPr bwMode="auto">
            <a:xfrm>
              <a:off x="3312" y="672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/>
                <a:t>C</a:t>
              </a:r>
            </a:p>
          </p:txBody>
        </p:sp>
        <p:sp>
          <p:nvSpPr>
            <p:cNvPr id="27670" name="Text Box 20"/>
            <p:cNvSpPr txBox="1">
              <a:spLocks noChangeArrowheads="1"/>
            </p:cNvSpPr>
            <p:nvPr/>
          </p:nvSpPr>
          <p:spPr bwMode="auto">
            <a:xfrm>
              <a:off x="4032" y="1920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/>
                <a:t>D</a:t>
              </a:r>
            </a:p>
          </p:txBody>
        </p:sp>
        <p:sp>
          <p:nvSpPr>
            <p:cNvPr id="27671" name="Text Box 21"/>
            <p:cNvSpPr txBox="1">
              <a:spLocks noChangeArrowheads="1"/>
            </p:cNvSpPr>
            <p:nvPr/>
          </p:nvSpPr>
          <p:spPr bwMode="auto">
            <a:xfrm>
              <a:off x="2352" y="3216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/>
                <a:t>E</a:t>
              </a:r>
            </a:p>
          </p:txBody>
        </p:sp>
        <p:sp>
          <p:nvSpPr>
            <p:cNvPr id="27672" name="Text Box 22"/>
            <p:cNvSpPr txBox="1">
              <a:spLocks noChangeArrowheads="1"/>
            </p:cNvSpPr>
            <p:nvPr/>
          </p:nvSpPr>
          <p:spPr bwMode="auto">
            <a:xfrm>
              <a:off x="3168" y="2640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/>
                <a:t>2</a:t>
              </a:r>
            </a:p>
          </p:txBody>
        </p:sp>
        <p:sp>
          <p:nvSpPr>
            <p:cNvPr id="27673" name="Text Box 23"/>
            <p:cNvSpPr txBox="1">
              <a:spLocks noChangeArrowheads="1"/>
            </p:cNvSpPr>
            <p:nvPr/>
          </p:nvSpPr>
          <p:spPr bwMode="auto">
            <a:xfrm>
              <a:off x="1776" y="2016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/>
                <a:t>7</a:t>
              </a:r>
            </a:p>
          </p:txBody>
        </p:sp>
        <p:sp>
          <p:nvSpPr>
            <p:cNvPr id="27674" name="Text Box 24"/>
            <p:cNvSpPr txBox="1">
              <a:spLocks noChangeArrowheads="1"/>
            </p:cNvSpPr>
            <p:nvPr/>
          </p:nvSpPr>
          <p:spPr bwMode="auto">
            <a:xfrm>
              <a:off x="1536" y="2544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/>
                <a:t>4</a:t>
              </a:r>
            </a:p>
          </p:txBody>
        </p:sp>
        <p:sp>
          <p:nvSpPr>
            <p:cNvPr id="27675" name="Text Box 25"/>
            <p:cNvSpPr txBox="1">
              <a:spLocks noChangeArrowheads="1"/>
            </p:cNvSpPr>
            <p:nvPr/>
          </p:nvSpPr>
          <p:spPr bwMode="auto">
            <a:xfrm>
              <a:off x="2592" y="2352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/>
                <a:t>5</a:t>
              </a:r>
            </a:p>
          </p:txBody>
        </p:sp>
        <p:sp>
          <p:nvSpPr>
            <p:cNvPr id="27676" name="Text Box 26"/>
            <p:cNvSpPr txBox="1">
              <a:spLocks noChangeArrowheads="1"/>
            </p:cNvSpPr>
            <p:nvPr/>
          </p:nvSpPr>
          <p:spPr bwMode="auto">
            <a:xfrm>
              <a:off x="2064" y="1344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/>
                <a:t>8</a:t>
              </a:r>
            </a:p>
          </p:txBody>
        </p:sp>
        <p:sp>
          <p:nvSpPr>
            <p:cNvPr id="27677" name="Text Box 27"/>
            <p:cNvSpPr txBox="1">
              <a:spLocks noChangeArrowheads="1"/>
            </p:cNvSpPr>
            <p:nvPr/>
          </p:nvSpPr>
          <p:spPr bwMode="auto">
            <a:xfrm>
              <a:off x="3024" y="1296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/>
                <a:t>6</a:t>
              </a:r>
            </a:p>
          </p:txBody>
        </p:sp>
        <p:sp>
          <p:nvSpPr>
            <p:cNvPr id="27678" name="Text Box 28"/>
            <p:cNvSpPr txBox="1">
              <a:spLocks noChangeArrowheads="1"/>
            </p:cNvSpPr>
            <p:nvPr/>
          </p:nvSpPr>
          <p:spPr bwMode="auto">
            <a:xfrm>
              <a:off x="3648" y="1200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/>
                <a:t>4</a:t>
              </a:r>
            </a:p>
          </p:txBody>
        </p:sp>
        <p:sp>
          <p:nvSpPr>
            <p:cNvPr id="27679" name="Text Box 29"/>
            <p:cNvSpPr txBox="1">
              <a:spLocks noChangeArrowheads="1"/>
            </p:cNvSpPr>
            <p:nvPr/>
          </p:nvSpPr>
          <p:spPr bwMode="auto">
            <a:xfrm>
              <a:off x="2496" y="576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/>
                <a:t>5</a:t>
              </a:r>
            </a:p>
          </p:txBody>
        </p:sp>
        <p:sp>
          <p:nvSpPr>
            <p:cNvPr id="27680" name="Text Box 30"/>
            <p:cNvSpPr txBox="1">
              <a:spLocks noChangeArrowheads="1"/>
            </p:cNvSpPr>
            <p:nvPr/>
          </p:nvSpPr>
          <p:spPr bwMode="auto">
            <a:xfrm>
              <a:off x="1392" y="1056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/>
                <a:t>3</a:t>
              </a:r>
            </a:p>
          </p:txBody>
        </p:sp>
        <p:sp>
          <p:nvSpPr>
            <p:cNvPr id="27681" name="Text Box 31"/>
            <p:cNvSpPr txBox="1">
              <a:spLocks noChangeArrowheads="1"/>
            </p:cNvSpPr>
            <p:nvPr/>
          </p:nvSpPr>
          <p:spPr bwMode="auto">
            <a:xfrm>
              <a:off x="3120" y="1680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/>
                <a:t>8</a:t>
              </a:r>
            </a:p>
          </p:txBody>
        </p:sp>
      </p:grpSp>
      <p:sp>
        <p:nvSpPr>
          <p:cNvPr id="27653" name="Line 36"/>
          <p:cNvSpPr>
            <a:spLocks noChangeShapeType="1"/>
          </p:cNvSpPr>
          <p:nvPr/>
        </p:nvSpPr>
        <p:spPr bwMode="auto">
          <a:xfrm flipV="1">
            <a:off x="925513" y="2159000"/>
            <a:ext cx="1279525" cy="1724025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654" name="Line 37"/>
          <p:cNvSpPr>
            <a:spLocks noChangeShapeType="1"/>
          </p:cNvSpPr>
          <p:nvPr/>
        </p:nvSpPr>
        <p:spPr bwMode="auto">
          <a:xfrm>
            <a:off x="925513" y="3886200"/>
            <a:ext cx="2133600" cy="1919288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75" name="Line 35"/>
          <p:cNvSpPr>
            <a:spLocks noChangeShapeType="1"/>
          </p:cNvSpPr>
          <p:nvPr/>
        </p:nvSpPr>
        <p:spPr bwMode="auto">
          <a:xfrm flipV="1">
            <a:off x="3059113" y="3908425"/>
            <a:ext cx="2452687" cy="1897063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54836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2" grpId="0"/>
      <p:bldP spid="35875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ext Box 2"/>
          <p:cNvSpPr txBox="1">
            <a:spLocks noChangeArrowheads="1"/>
          </p:cNvSpPr>
          <p:nvPr/>
        </p:nvSpPr>
        <p:spPr bwMode="auto">
          <a:xfrm>
            <a:off x="6011863" y="1125538"/>
            <a:ext cx="2665412" cy="2835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>
              <a:buFont typeface="Verdana" charset="0"/>
              <a:buNone/>
            </a:pPr>
            <a:r>
              <a:rPr lang="en-US" altLang="en-US" sz="2000">
                <a:latin typeface="Arial" charset="0"/>
              </a:rPr>
              <a:t>Select the shortest</a:t>
            </a:r>
          </a:p>
          <a:p>
            <a:pPr>
              <a:buFont typeface="Verdana" charset="0"/>
              <a:buNone/>
            </a:pPr>
            <a:r>
              <a:rPr lang="en-US" altLang="en-US" sz="2000">
                <a:latin typeface="Arial" charset="0"/>
              </a:rPr>
              <a:t>edge connected to </a:t>
            </a:r>
          </a:p>
          <a:p>
            <a:pPr>
              <a:buFont typeface="Verdana" charset="0"/>
              <a:buNone/>
            </a:pPr>
            <a:r>
              <a:rPr lang="en-US" altLang="en-US" sz="2000">
                <a:latin typeface="Arial" charset="0"/>
              </a:rPr>
              <a:t>any vertex already </a:t>
            </a:r>
          </a:p>
          <a:p>
            <a:pPr>
              <a:buFont typeface="Verdana" charset="0"/>
              <a:buNone/>
            </a:pPr>
            <a:r>
              <a:rPr lang="en-US" altLang="en-US" sz="2000">
                <a:latin typeface="Arial" charset="0"/>
              </a:rPr>
              <a:t>connected.</a:t>
            </a:r>
          </a:p>
          <a:p>
            <a:pPr>
              <a:buFont typeface="Verdana" charset="0"/>
              <a:buNone/>
            </a:pPr>
            <a:endParaRPr lang="en-GB" altLang="en-US" sz="2000">
              <a:latin typeface="Arial" charset="0"/>
            </a:endParaRPr>
          </a:p>
          <a:p>
            <a:pPr>
              <a:buFont typeface="Verdana" charset="0"/>
              <a:buNone/>
            </a:pPr>
            <a:r>
              <a:rPr lang="en-GB" altLang="en-US" sz="2000">
                <a:solidFill>
                  <a:srgbClr val="FF0000"/>
                </a:solidFill>
                <a:latin typeface="Arial" charset="0"/>
              </a:rPr>
              <a:t>DC  4</a:t>
            </a:r>
            <a:endParaRPr lang="en-US" altLang="en-US" sz="2000">
              <a:solidFill>
                <a:srgbClr val="FF0000"/>
              </a:solidFill>
              <a:latin typeface="Arial" charset="0"/>
            </a:endParaRPr>
          </a:p>
          <a:p>
            <a:pPr eaLnBrk="1" hangingPunct="1"/>
            <a:endParaRPr lang="en-GB" altLang="en-US" sz="2000">
              <a:latin typeface="Arial" charset="0"/>
            </a:endParaRPr>
          </a:p>
          <a:p>
            <a:pPr eaLnBrk="1" hangingPunct="1"/>
            <a:endParaRPr lang="en-GB" altLang="en-US" sz="2000">
              <a:latin typeface="Arial" charset="0"/>
            </a:endParaRPr>
          </a:p>
          <a:p>
            <a:pPr eaLnBrk="1" hangingPunct="1"/>
            <a:endParaRPr lang="en-US" altLang="en-US" sz="2000">
              <a:latin typeface="Arial" charset="0"/>
            </a:endParaRPr>
          </a:p>
        </p:txBody>
      </p:sp>
      <p:sp>
        <p:nvSpPr>
          <p:cNvPr id="28675" name="Text Box 3"/>
          <p:cNvSpPr txBox="1">
            <a:spLocks noChangeArrowheads="1"/>
          </p:cNvSpPr>
          <p:nvPr/>
        </p:nvSpPr>
        <p:spPr bwMode="auto">
          <a:xfrm>
            <a:off x="827088" y="476250"/>
            <a:ext cx="72009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GB" altLang="en-US" b="1">
                <a:latin typeface="Arial" charset="0"/>
              </a:rPr>
              <a:t>Prim’s Algorithm</a:t>
            </a:r>
            <a:endParaRPr lang="en-US" altLang="en-US" b="1">
              <a:latin typeface="Arial" charset="0"/>
            </a:endParaRPr>
          </a:p>
        </p:txBody>
      </p:sp>
      <p:grpSp>
        <p:nvGrpSpPr>
          <p:cNvPr id="28676" name="Group 6"/>
          <p:cNvGrpSpPr>
            <a:grpSpLocks/>
          </p:cNvGrpSpPr>
          <p:nvPr/>
        </p:nvGrpSpPr>
        <p:grpSpPr bwMode="auto">
          <a:xfrm>
            <a:off x="468313" y="1700213"/>
            <a:ext cx="5486400" cy="4648200"/>
            <a:chOff x="864" y="576"/>
            <a:chExt cx="3456" cy="2928"/>
          </a:xfrm>
        </p:grpSpPr>
        <p:sp>
          <p:nvSpPr>
            <p:cNvPr id="28681" name="Line 7"/>
            <p:cNvSpPr>
              <a:spLocks noChangeShapeType="1"/>
            </p:cNvSpPr>
            <p:nvPr/>
          </p:nvSpPr>
          <p:spPr bwMode="auto">
            <a:xfrm flipV="1">
              <a:off x="1152" y="864"/>
              <a:ext cx="816" cy="11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682" name="Line 8"/>
            <p:cNvSpPr>
              <a:spLocks noChangeShapeType="1"/>
            </p:cNvSpPr>
            <p:nvPr/>
          </p:nvSpPr>
          <p:spPr bwMode="auto">
            <a:xfrm>
              <a:off x="1968" y="864"/>
              <a:ext cx="13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683" name="Line 9"/>
            <p:cNvSpPr>
              <a:spLocks noChangeShapeType="1"/>
            </p:cNvSpPr>
            <p:nvPr/>
          </p:nvSpPr>
          <p:spPr bwMode="auto">
            <a:xfrm>
              <a:off x="3312" y="864"/>
              <a:ext cx="720" cy="11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684" name="Line 10"/>
            <p:cNvSpPr>
              <a:spLocks noChangeShapeType="1"/>
            </p:cNvSpPr>
            <p:nvPr/>
          </p:nvSpPr>
          <p:spPr bwMode="auto">
            <a:xfrm>
              <a:off x="1152" y="1968"/>
              <a:ext cx="15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685" name="Line 11"/>
            <p:cNvSpPr>
              <a:spLocks noChangeShapeType="1"/>
            </p:cNvSpPr>
            <p:nvPr/>
          </p:nvSpPr>
          <p:spPr bwMode="auto">
            <a:xfrm>
              <a:off x="2688" y="1968"/>
              <a:ext cx="13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686" name="Line 12"/>
            <p:cNvSpPr>
              <a:spLocks noChangeShapeType="1"/>
            </p:cNvSpPr>
            <p:nvPr/>
          </p:nvSpPr>
          <p:spPr bwMode="auto">
            <a:xfrm>
              <a:off x="1968" y="864"/>
              <a:ext cx="720" cy="11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687" name="Line 13"/>
            <p:cNvSpPr>
              <a:spLocks noChangeShapeType="1"/>
            </p:cNvSpPr>
            <p:nvPr/>
          </p:nvSpPr>
          <p:spPr bwMode="auto">
            <a:xfrm flipV="1">
              <a:off x="2688" y="864"/>
              <a:ext cx="624" cy="11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688" name="Line 14"/>
            <p:cNvSpPr>
              <a:spLocks noChangeShapeType="1"/>
            </p:cNvSpPr>
            <p:nvPr/>
          </p:nvSpPr>
          <p:spPr bwMode="auto">
            <a:xfrm>
              <a:off x="1152" y="1968"/>
              <a:ext cx="1344" cy="1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689" name="Line 15"/>
            <p:cNvSpPr>
              <a:spLocks noChangeShapeType="1"/>
            </p:cNvSpPr>
            <p:nvPr/>
          </p:nvSpPr>
          <p:spPr bwMode="auto">
            <a:xfrm flipV="1">
              <a:off x="2496" y="1968"/>
              <a:ext cx="192" cy="1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690" name="Line 16"/>
            <p:cNvSpPr>
              <a:spLocks noChangeShapeType="1"/>
            </p:cNvSpPr>
            <p:nvPr/>
          </p:nvSpPr>
          <p:spPr bwMode="auto">
            <a:xfrm flipV="1">
              <a:off x="2496" y="1968"/>
              <a:ext cx="1536" cy="1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691" name="Text Box 17"/>
            <p:cNvSpPr txBox="1">
              <a:spLocks noChangeArrowheads="1"/>
            </p:cNvSpPr>
            <p:nvPr/>
          </p:nvSpPr>
          <p:spPr bwMode="auto">
            <a:xfrm>
              <a:off x="864" y="1872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/>
                <a:t>A</a:t>
              </a:r>
            </a:p>
          </p:txBody>
        </p:sp>
        <p:sp>
          <p:nvSpPr>
            <p:cNvPr id="28692" name="Text Box 18"/>
            <p:cNvSpPr txBox="1">
              <a:spLocks noChangeArrowheads="1"/>
            </p:cNvSpPr>
            <p:nvPr/>
          </p:nvSpPr>
          <p:spPr bwMode="auto">
            <a:xfrm>
              <a:off x="2688" y="1968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/>
                <a:t>F</a:t>
              </a:r>
            </a:p>
          </p:txBody>
        </p:sp>
        <p:sp>
          <p:nvSpPr>
            <p:cNvPr id="28693" name="Text Box 19"/>
            <p:cNvSpPr txBox="1">
              <a:spLocks noChangeArrowheads="1"/>
            </p:cNvSpPr>
            <p:nvPr/>
          </p:nvSpPr>
          <p:spPr bwMode="auto">
            <a:xfrm>
              <a:off x="1728" y="576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/>
                <a:t>B</a:t>
              </a:r>
            </a:p>
          </p:txBody>
        </p:sp>
        <p:sp>
          <p:nvSpPr>
            <p:cNvPr id="28694" name="Text Box 20"/>
            <p:cNvSpPr txBox="1">
              <a:spLocks noChangeArrowheads="1"/>
            </p:cNvSpPr>
            <p:nvPr/>
          </p:nvSpPr>
          <p:spPr bwMode="auto">
            <a:xfrm>
              <a:off x="3312" y="672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/>
                <a:t>C</a:t>
              </a:r>
            </a:p>
          </p:txBody>
        </p:sp>
        <p:sp>
          <p:nvSpPr>
            <p:cNvPr id="28695" name="Text Box 21"/>
            <p:cNvSpPr txBox="1">
              <a:spLocks noChangeArrowheads="1"/>
            </p:cNvSpPr>
            <p:nvPr/>
          </p:nvSpPr>
          <p:spPr bwMode="auto">
            <a:xfrm>
              <a:off x="4032" y="1920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/>
                <a:t>D</a:t>
              </a:r>
            </a:p>
          </p:txBody>
        </p:sp>
        <p:sp>
          <p:nvSpPr>
            <p:cNvPr id="28696" name="Text Box 22"/>
            <p:cNvSpPr txBox="1">
              <a:spLocks noChangeArrowheads="1"/>
            </p:cNvSpPr>
            <p:nvPr/>
          </p:nvSpPr>
          <p:spPr bwMode="auto">
            <a:xfrm>
              <a:off x="2352" y="3216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/>
                <a:t>E</a:t>
              </a:r>
            </a:p>
          </p:txBody>
        </p:sp>
        <p:sp>
          <p:nvSpPr>
            <p:cNvPr id="28697" name="Text Box 23"/>
            <p:cNvSpPr txBox="1">
              <a:spLocks noChangeArrowheads="1"/>
            </p:cNvSpPr>
            <p:nvPr/>
          </p:nvSpPr>
          <p:spPr bwMode="auto">
            <a:xfrm>
              <a:off x="3168" y="2640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/>
                <a:t>2</a:t>
              </a:r>
            </a:p>
          </p:txBody>
        </p:sp>
        <p:sp>
          <p:nvSpPr>
            <p:cNvPr id="28698" name="Text Box 24"/>
            <p:cNvSpPr txBox="1">
              <a:spLocks noChangeArrowheads="1"/>
            </p:cNvSpPr>
            <p:nvPr/>
          </p:nvSpPr>
          <p:spPr bwMode="auto">
            <a:xfrm>
              <a:off x="1776" y="2016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/>
                <a:t>7</a:t>
              </a:r>
            </a:p>
          </p:txBody>
        </p:sp>
        <p:sp>
          <p:nvSpPr>
            <p:cNvPr id="28699" name="Text Box 25"/>
            <p:cNvSpPr txBox="1">
              <a:spLocks noChangeArrowheads="1"/>
            </p:cNvSpPr>
            <p:nvPr/>
          </p:nvSpPr>
          <p:spPr bwMode="auto">
            <a:xfrm>
              <a:off x="1536" y="2544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/>
                <a:t>4</a:t>
              </a:r>
            </a:p>
          </p:txBody>
        </p:sp>
        <p:sp>
          <p:nvSpPr>
            <p:cNvPr id="28700" name="Text Box 26"/>
            <p:cNvSpPr txBox="1">
              <a:spLocks noChangeArrowheads="1"/>
            </p:cNvSpPr>
            <p:nvPr/>
          </p:nvSpPr>
          <p:spPr bwMode="auto">
            <a:xfrm>
              <a:off x="2592" y="2352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/>
                <a:t>5</a:t>
              </a:r>
            </a:p>
          </p:txBody>
        </p:sp>
        <p:sp>
          <p:nvSpPr>
            <p:cNvPr id="28701" name="Text Box 27"/>
            <p:cNvSpPr txBox="1">
              <a:spLocks noChangeArrowheads="1"/>
            </p:cNvSpPr>
            <p:nvPr/>
          </p:nvSpPr>
          <p:spPr bwMode="auto">
            <a:xfrm>
              <a:off x="2064" y="1344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/>
                <a:t>8</a:t>
              </a:r>
            </a:p>
          </p:txBody>
        </p:sp>
        <p:sp>
          <p:nvSpPr>
            <p:cNvPr id="28702" name="Text Box 28"/>
            <p:cNvSpPr txBox="1">
              <a:spLocks noChangeArrowheads="1"/>
            </p:cNvSpPr>
            <p:nvPr/>
          </p:nvSpPr>
          <p:spPr bwMode="auto">
            <a:xfrm>
              <a:off x="3024" y="1296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/>
                <a:t>6</a:t>
              </a:r>
            </a:p>
          </p:txBody>
        </p:sp>
        <p:sp>
          <p:nvSpPr>
            <p:cNvPr id="28703" name="Text Box 29"/>
            <p:cNvSpPr txBox="1">
              <a:spLocks noChangeArrowheads="1"/>
            </p:cNvSpPr>
            <p:nvPr/>
          </p:nvSpPr>
          <p:spPr bwMode="auto">
            <a:xfrm>
              <a:off x="3648" y="1200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/>
                <a:t>4</a:t>
              </a:r>
            </a:p>
          </p:txBody>
        </p:sp>
        <p:sp>
          <p:nvSpPr>
            <p:cNvPr id="28704" name="Text Box 30"/>
            <p:cNvSpPr txBox="1">
              <a:spLocks noChangeArrowheads="1"/>
            </p:cNvSpPr>
            <p:nvPr/>
          </p:nvSpPr>
          <p:spPr bwMode="auto">
            <a:xfrm>
              <a:off x="2496" y="576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/>
                <a:t>5</a:t>
              </a:r>
            </a:p>
          </p:txBody>
        </p:sp>
        <p:sp>
          <p:nvSpPr>
            <p:cNvPr id="28705" name="Text Box 31"/>
            <p:cNvSpPr txBox="1">
              <a:spLocks noChangeArrowheads="1"/>
            </p:cNvSpPr>
            <p:nvPr/>
          </p:nvSpPr>
          <p:spPr bwMode="auto">
            <a:xfrm>
              <a:off x="1392" y="1056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/>
                <a:t>3</a:t>
              </a:r>
            </a:p>
          </p:txBody>
        </p:sp>
        <p:sp>
          <p:nvSpPr>
            <p:cNvPr id="28706" name="Text Box 32"/>
            <p:cNvSpPr txBox="1">
              <a:spLocks noChangeArrowheads="1"/>
            </p:cNvSpPr>
            <p:nvPr/>
          </p:nvSpPr>
          <p:spPr bwMode="auto">
            <a:xfrm>
              <a:off x="3120" y="1680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/>
                <a:t>8</a:t>
              </a:r>
            </a:p>
          </p:txBody>
        </p:sp>
      </p:grpSp>
      <p:sp>
        <p:nvSpPr>
          <p:cNvPr id="28677" name="Line 38"/>
          <p:cNvSpPr>
            <a:spLocks noChangeShapeType="1"/>
          </p:cNvSpPr>
          <p:nvPr/>
        </p:nvSpPr>
        <p:spPr bwMode="auto">
          <a:xfrm flipV="1">
            <a:off x="925513" y="2159000"/>
            <a:ext cx="1279525" cy="1724025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678" name="Line 39"/>
          <p:cNvSpPr>
            <a:spLocks noChangeShapeType="1"/>
          </p:cNvSpPr>
          <p:nvPr/>
        </p:nvSpPr>
        <p:spPr bwMode="auto">
          <a:xfrm>
            <a:off x="925513" y="3886200"/>
            <a:ext cx="2133600" cy="1919288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679" name="Line 40"/>
          <p:cNvSpPr>
            <a:spLocks noChangeShapeType="1"/>
          </p:cNvSpPr>
          <p:nvPr/>
        </p:nvSpPr>
        <p:spPr bwMode="auto">
          <a:xfrm flipV="1">
            <a:off x="3059113" y="3908425"/>
            <a:ext cx="2452687" cy="1897063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901" name="Line 37"/>
          <p:cNvSpPr>
            <a:spLocks noChangeShapeType="1"/>
          </p:cNvSpPr>
          <p:nvPr/>
        </p:nvSpPr>
        <p:spPr bwMode="auto">
          <a:xfrm flipH="1" flipV="1">
            <a:off x="4356100" y="2133600"/>
            <a:ext cx="1155700" cy="17780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14115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66" grpId="0"/>
      <p:bldP spid="36901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ext Box 2"/>
          <p:cNvSpPr txBox="1">
            <a:spLocks noChangeArrowheads="1"/>
          </p:cNvSpPr>
          <p:nvPr/>
        </p:nvSpPr>
        <p:spPr bwMode="auto">
          <a:xfrm>
            <a:off x="6011863" y="1125538"/>
            <a:ext cx="2665412" cy="2862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>
              <a:buFont typeface="Verdana" charset="0"/>
              <a:buNone/>
            </a:pPr>
            <a:r>
              <a:rPr lang="en-US" altLang="en-US" sz="2000">
                <a:latin typeface="Arial" charset="0"/>
              </a:rPr>
              <a:t>Select the shortest</a:t>
            </a:r>
          </a:p>
          <a:p>
            <a:pPr>
              <a:buFont typeface="Verdana" charset="0"/>
              <a:buNone/>
            </a:pPr>
            <a:r>
              <a:rPr lang="en-US" altLang="en-US" sz="2000">
                <a:latin typeface="Arial" charset="0"/>
              </a:rPr>
              <a:t>edge connected to </a:t>
            </a:r>
          </a:p>
          <a:p>
            <a:pPr>
              <a:buFont typeface="Verdana" charset="0"/>
              <a:buNone/>
            </a:pPr>
            <a:r>
              <a:rPr lang="en-US" altLang="en-US" sz="2000">
                <a:latin typeface="Arial" charset="0"/>
              </a:rPr>
              <a:t>any vertex already </a:t>
            </a:r>
          </a:p>
          <a:p>
            <a:pPr>
              <a:buFont typeface="Verdana" charset="0"/>
              <a:buNone/>
            </a:pPr>
            <a:r>
              <a:rPr lang="en-US" altLang="en-US" sz="2000">
                <a:latin typeface="Arial" charset="0"/>
              </a:rPr>
              <a:t>connected.</a:t>
            </a:r>
            <a:endParaRPr lang="en-GB" altLang="en-US" sz="2000">
              <a:latin typeface="Arial" charset="0"/>
            </a:endParaRPr>
          </a:p>
          <a:p>
            <a:pPr>
              <a:buFont typeface="Verdana" charset="0"/>
              <a:buNone/>
            </a:pPr>
            <a:endParaRPr lang="en-GB" altLang="en-US" sz="2000">
              <a:latin typeface="Arial" charset="0"/>
            </a:endParaRPr>
          </a:p>
          <a:p>
            <a:pPr>
              <a:buFont typeface="Verdana" charset="0"/>
              <a:buNone/>
            </a:pPr>
            <a:r>
              <a:rPr lang="en-GB" altLang="en-US" sz="2000">
                <a:solidFill>
                  <a:srgbClr val="FF0000"/>
                </a:solidFill>
                <a:latin typeface="Arial" charset="0"/>
              </a:rPr>
              <a:t>EF  5</a:t>
            </a:r>
            <a:r>
              <a:rPr lang="en-GB" altLang="en-US" sz="2000">
                <a:latin typeface="Arial" charset="0"/>
              </a:rPr>
              <a:t>  </a:t>
            </a:r>
            <a:endParaRPr lang="en-US" altLang="en-US" sz="2000">
              <a:latin typeface="Arial" charset="0"/>
            </a:endParaRPr>
          </a:p>
          <a:p>
            <a:pPr eaLnBrk="1" hangingPunct="1"/>
            <a:endParaRPr lang="en-GB" altLang="en-US" sz="2000">
              <a:latin typeface="Arial" charset="0"/>
            </a:endParaRPr>
          </a:p>
          <a:p>
            <a:pPr eaLnBrk="1" hangingPunct="1"/>
            <a:endParaRPr lang="en-GB" altLang="en-US" sz="2000">
              <a:latin typeface="Arial" charset="0"/>
            </a:endParaRPr>
          </a:p>
          <a:p>
            <a:pPr eaLnBrk="1" hangingPunct="1"/>
            <a:endParaRPr lang="en-US" altLang="en-US" sz="2000">
              <a:latin typeface="Arial" charset="0"/>
            </a:endParaRPr>
          </a:p>
        </p:txBody>
      </p:sp>
      <p:sp>
        <p:nvSpPr>
          <p:cNvPr id="29699" name="Text Box 3"/>
          <p:cNvSpPr txBox="1">
            <a:spLocks noChangeArrowheads="1"/>
          </p:cNvSpPr>
          <p:nvPr/>
        </p:nvSpPr>
        <p:spPr bwMode="auto">
          <a:xfrm>
            <a:off x="827088" y="476250"/>
            <a:ext cx="72009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GB" altLang="en-US" b="1">
                <a:latin typeface="Arial" charset="0"/>
              </a:rPr>
              <a:t>Prim’s Algorithm</a:t>
            </a:r>
            <a:endParaRPr lang="en-US" altLang="en-US" b="1">
              <a:latin typeface="Arial" charset="0"/>
            </a:endParaRPr>
          </a:p>
        </p:txBody>
      </p:sp>
      <p:grpSp>
        <p:nvGrpSpPr>
          <p:cNvPr id="29700" name="Group 7"/>
          <p:cNvGrpSpPr>
            <a:grpSpLocks/>
          </p:cNvGrpSpPr>
          <p:nvPr/>
        </p:nvGrpSpPr>
        <p:grpSpPr bwMode="auto">
          <a:xfrm>
            <a:off x="468313" y="1700213"/>
            <a:ext cx="5486400" cy="4648200"/>
            <a:chOff x="864" y="576"/>
            <a:chExt cx="3456" cy="2928"/>
          </a:xfrm>
        </p:grpSpPr>
        <p:sp>
          <p:nvSpPr>
            <p:cNvPr id="29706" name="Line 8"/>
            <p:cNvSpPr>
              <a:spLocks noChangeShapeType="1"/>
            </p:cNvSpPr>
            <p:nvPr/>
          </p:nvSpPr>
          <p:spPr bwMode="auto">
            <a:xfrm flipV="1">
              <a:off x="1152" y="864"/>
              <a:ext cx="816" cy="11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07" name="Line 9"/>
            <p:cNvSpPr>
              <a:spLocks noChangeShapeType="1"/>
            </p:cNvSpPr>
            <p:nvPr/>
          </p:nvSpPr>
          <p:spPr bwMode="auto">
            <a:xfrm>
              <a:off x="1968" y="864"/>
              <a:ext cx="13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08" name="Line 10"/>
            <p:cNvSpPr>
              <a:spLocks noChangeShapeType="1"/>
            </p:cNvSpPr>
            <p:nvPr/>
          </p:nvSpPr>
          <p:spPr bwMode="auto">
            <a:xfrm>
              <a:off x="3312" y="864"/>
              <a:ext cx="720" cy="11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09" name="Line 11"/>
            <p:cNvSpPr>
              <a:spLocks noChangeShapeType="1"/>
            </p:cNvSpPr>
            <p:nvPr/>
          </p:nvSpPr>
          <p:spPr bwMode="auto">
            <a:xfrm>
              <a:off x="1152" y="1968"/>
              <a:ext cx="15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10" name="Line 12"/>
            <p:cNvSpPr>
              <a:spLocks noChangeShapeType="1"/>
            </p:cNvSpPr>
            <p:nvPr/>
          </p:nvSpPr>
          <p:spPr bwMode="auto">
            <a:xfrm>
              <a:off x="2688" y="1968"/>
              <a:ext cx="13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11" name="Line 13"/>
            <p:cNvSpPr>
              <a:spLocks noChangeShapeType="1"/>
            </p:cNvSpPr>
            <p:nvPr/>
          </p:nvSpPr>
          <p:spPr bwMode="auto">
            <a:xfrm>
              <a:off x="1968" y="864"/>
              <a:ext cx="720" cy="11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12" name="Line 14"/>
            <p:cNvSpPr>
              <a:spLocks noChangeShapeType="1"/>
            </p:cNvSpPr>
            <p:nvPr/>
          </p:nvSpPr>
          <p:spPr bwMode="auto">
            <a:xfrm flipV="1">
              <a:off x="2688" y="864"/>
              <a:ext cx="624" cy="11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13" name="Line 15"/>
            <p:cNvSpPr>
              <a:spLocks noChangeShapeType="1"/>
            </p:cNvSpPr>
            <p:nvPr/>
          </p:nvSpPr>
          <p:spPr bwMode="auto">
            <a:xfrm>
              <a:off x="1152" y="1968"/>
              <a:ext cx="1344" cy="1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14" name="Line 16"/>
            <p:cNvSpPr>
              <a:spLocks noChangeShapeType="1"/>
            </p:cNvSpPr>
            <p:nvPr/>
          </p:nvSpPr>
          <p:spPr bwMode="auto">
            <a:xfrm flipV="1">
              <a:off x="2496" y="1968"/>
              <a:ext cx="192" cy="1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15" name="Line 17"/>
            <p:cNvSpPr>
              <a:spLocks noChangeShapeType="1"/>
            </p:cNvSpPr>
            <p:nvPr/>
          </p:nvSpPr>
          <p:spPr bwMode="auto">
            <a:xfrm flipV="1">
              <a:off x="2496" y="1968"/>
              <a:ext cx="1536" cy="1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16" name="Text Box 18"/>
            <p:cNvSpPr txBox="1">
              <a:spLocks noChangeArrowheads="1"/>
            </p:cNvSpPr>
            <p:nvPr/>
          </p:nvSpPr>
          <p:spPr bwMode="auto">
            <a:xfrm>
              <a:off x="864" y="1872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/>
                <a:t>A</a:t>
              </a:r>
            </a:p>
          </p:txBody>
        </p:sp>
        <p:sp>
          <p:nvSpPr>
            <p:cNvPr id="29717" name="Text Box 19"/>
            <p:cNvSpPr txBox="1">
              <a:spLocks noChangeArrowheads="1"/>
            </p:cNvSpPr>
            <p:nvPr/>
          </p:nvSpPr>
          <p:spPr bwMode="auto">
            <a:xfrm>
              <a:off x="2688" y="1968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/>
                <a:t>F</a:t>
              </a:r>
            </a:p>
          </p:txBody>
        </p:sp>
        <p:sp>
          <p:nvSpPr>
            <p:cNvPr id="29718" name="Text Box 20"/>
            <p:cNvSpPr txBox="1">
              <a:spLocks noChangeArrowheads="1"/>
            </p:cNvSpPr>
            <p:nvPr/>
          </p:nvSpPr>
          <p:spPr bwMode="auto">
            <a:xfrm>
              <a:off x="1728" y="576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/>
                <a:t>B</a:t>
              </a:r>
            </a:p>
          </p:txBody>
        </p:sp>
        <p:sp>
          <p:nvSpPr>
            <p:cNvPr id="29719" name="Text Box 21"/>
            <p:cNvSpPr txBox="1">
              <a:spLocks noChangeArrowheads="1"/>
            </p:cNvSpPr>
            <p:nvPr/>
          </p:nvSpPr>
          <p:spPr bwMode="auto">
            <a:xfrm>
              <a:off x="3312" y="672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/>
                <a:t>C</a:t>
              </a:r>
            </a:p>
          </p:txBody>
        </p:sp>
        <p:sp>
          <p:nvSpPr>
            <p:cNvPr id="29720" name="Text Box 22"/>
            <p:cNvSpPr txBox="1">
              <a:spLocks noChangeArrowheads="1"/>
            </p:cNvSpPr>
            <p:nvPr/>
          </p:nvSpPr>
          <p:spPr bwMode="auto">
            <a:xfrm>
              <a:off x="4032" y="1920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/>
                <a:t>D</a:t>
              </a:r>
            </a:p>
          </p:txBody>
        </p:sp>
        <p:sp>
          <p:nvSpPr>
            <p:cNvPr id="29721" name="Text Box 23"/>
            <p:cNvSpPr txBox="1">
              <a:spLocks noChangeArrowheads="1"/>
            </p:cNvSpPr>
            <p:nvPr/>
          </p:nvSpPr>
          <p:spPr bwMode="auto">
            <a:xfrm>
              <a:off x="2352" y="3216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/>
                <a:t>E</a:t>
              </a:r>
            </a:p>
          </p:txBody>
        </p:sp>
        <p:sp>
          <p:nvSpPr>
            <p:cNvPr id="29722" name="Text Box 24"/>
            <p:cNvSpPr txBox="1">
              <a:spLocks noChangeArrowheads="1"/>
            </p:cNvSpPr>
            <p:nvPr/>
          </p:nvSpPr>
          <p:spPr bwMode="auto">
            <a:xfrm>
              <a:off x="3168" y="2640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/>
                <a:t>2</a:t>
              </a:r>
            </a:p>
          </p:txBody>
        </p:sp>
        <p:sp>
          <p:nvSpPr>
            <p:cNvPr id="29723" name="Text Box 25"/>
            <p:cNvSpPr txBox="1">
              <a:spLocks noChangeArrowheads="1"/>
            </p:cNvSpPr>
            <p:nvPr/>
          </p:nvSpPr>
          <p:spPr bwMode="auto">
            <a:xfrm>
              <a:off x="1776" y="2016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/>
                <a:t>7</a:t>
              </a:r>
            </a:p>
          </p:txBody>
        </p:sp>
        <p:sp>
          <p:nvSpPr>
            <p:cNvPr id="29724" name="Text Box 26"/>
            <p:cNvSpPr txBox="1">
              <a:spLocks noChangeArrowheads="1"/>
            </p:cNvSpPr>
            <p:nvPr/>
          </p:nvSpPr>
          <p:spPr bwMode="auto">
            <a:xfrm>
              <a:off x="1536" y="2544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/>
                <a:t>4</a:t>
              </a:r>
            </a:p>
          </p:txBody>
        </p:sp>
        <p:sp>
          <p:nvSpPr>
            <p:cNvPr id="29725" name="Text Box 27"/>
            <p:cNvSpPr txBox="1">
              <a:spLocks noChangeArrowheads="1"/>
            </p:cNvSpPr>
            <p:nvPr/>
          </p:nvSpPr>
          <p:spPr bwMode="auto">
            <a:xfrm>
              <a:off x="2592" y="2352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/>
                <a:t>5</a:t>
              </a:r>
            </a:p>
          </p:txBody>
        </p:sp>
        <p:sp>
          <p:nvSpPr>
            <p:cNvPr id="29726" name="Text Box 28"/>
            <p:cNvSpPr txBox="1">
              <a:spLocks noChangeArrowheads="1"/>
            </p:cNvSpPr>
            <p:nvPr/>
          </p:nvSpPr>
          <p:spPr bwMode="auto">
            <a:xfrm>
              <a:off x="2064" y="1344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/>
                <a:t>8</a:t>
              </a:r>
            </a:p>
          </p:txBody>
        </p:sp>
        <p:sp>
          <p:nvSpPr>
            <p:cNvPr id="29727" name="Text Box 29"/>
            <p:cNvSpPr txBox="1">
              <a:spLocks noChangeArrowheads="1"/>
            </p:cNvSpPr>
            <p:nvPr/>
          </p:nvSpPr>
          <p:spPr bwMode="auto">
            <a:xfrm>
              <a:off x="3024" y="1296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/>
                <a:t>6</a:t>
              </a:r>
            </a:p>
          </p:txBody>
        </p:sp>
        <p:sp>
          <p:nvSpPr>
            <p:cNvPr id="29728" name="Text Box 30"/>
            <p:cNvSpPr txBox="1">
              <a:spLocks noChangeArrowheads="1"/>
            </p:cNvSpPr>
            <p:nvPr/>
          </p:nvSpPr>
          <p:spPr bwMode="auto">
            <a:xfrm>
              <a:off x="3648" y="1200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/>
                <a:t>4</a:t>
              </a:r>
            </a:p>
          </p:txBody>
        </p:sp>
        <p:sp>
          <p:nvSpPr>
            <p:cNvPr id="29729" name="Text Box 31"/>
            <p:cNvSpPr txBox="1">
              <a:spLocks noChangeArrowheads="1"/>
            </p:cNvSpPr>
            <p:nvPr/>
          </p:nvSpPr>
          <p:spPr bwMode="auto">
            <a:xfrm>
              <a:off x="2496" y="576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/>
                <a:t>5</a:t>
              </a:r>
            </a:p>
          </p:txBody>
        </p:sp>
        <p:sp>
          <p:nvSpPr>
            <p:cNvPr id="29730" name="Text Box 32"/>
            <p:cNvSpPr txBox="1">
              <a:spLocks noChangeArrowheads="1"/>
            </p:cNvSpPr>
            <p:nvPr/>
          </p:nvSpPr>
          <p:spPr bwMode="auto">
            <a:xfrm>
              <a:off x="1392" y="1056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/>
                <a:t>3</a:t>
              </a:r>
            </a:p>
          </p:txBody>
        </p:sp>
        <p:sp>
          <p:nvSpPr>
            <p:cNvPr id="29731" name="Text Box 33"/>
            <p:cNvSpPr txBox="1">
              <a:spLocks noChangeArrowheads="1"/>
            </p:cNvSpPr>
            <p:nvPr/>
          </p:nvSpPr>
          <p:spPr bwMode="auto">
            <a:xfrm>
              <a:off x="3120" y="1680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/>
                <a:t>8</a:t>
              </a:r>
            </a:p>
          </p:txBody>
        </p:sp>
      </p:grpSp>
      <p:sp>
        <p:nvSpPr>
          <p:cNvPr id="29701" name="Line 40"/>
          <p:cNvSpPr>
            <a:spLocks noChangeShapeType="1"/>
          </p:cNvSpPr>
          <p:nvPr/>
        </p:nvSpPr>
        <p:spPr bwMode="auto">
          <a:xfrm flipV="1">
            <a:off x="925513" y="2159000"/>
            <a:ext cx="1279525" cy="1724025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702" name="Line 41"/>
          <p:cNvSpPr>
            <a:spLocks noChangeShapeType="1"/>
          </p:cNvSpPr>
          <p:nvPr/>
        </p:nvSpPr>
        <p:spPr bwMode="auto">
          <a:xfrm>
            <a:off x="925513" y="3886200"/>
            <a:ext cx="2133600" cy="1919288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703" name="Line 42"/>
          <p:cNvSpPr>
            <a:spLocks noChangeShapeType="1"/>
          </p:cNvSpPr>
          <p:nvPr/>
        </p:nvSpPr>
        <p:spPr bwMode="auto">
          <a:xfrm flipV="1">
            <a:off x="3059113" y="3908425"/>
            <a:ext cx="2452687" cy="1897063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704" name="Line 43"/>
          <p:cNvSpPr>
            <a:spLocks noChangeShapeType="1"/>
          </p:cNvSpPr>
          <p:nvPr/>
        </p:nvSpPr>
        <p:spPr bwMode="auto">
          <a:xfrm flipH="1" flipV="1">
            <a:off x="4356100" y="2133600"/>
            <a:ext cx="1155700" cy="17780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927" name="Line 39"/>
          <p:cNvSpPr>
            <a:spLocks noChangeShapeType="1"/>
          </p:cNvSpPr>
          <p:nvPr/>
        </p:nvSpPr>
        <p:spPr bwMode="auto">
          <a:xfrm flipV="1">
            <a:off x="3059113" y="3921125"/>
            <a:ext cx="301625" cy="1884363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42520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90" grpId="0"/>
      <p:bldP spid="37927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ext Box 3"/>
          <p:cNvSpPr txBox="1">
            <a:spLocks noChangeArrowheads="1"/>
          </p:cNvSpPr>
          <p:nvPr/>
        </p:nvSpPr>
        <p:spPr bwMode="auto">
          <a:xfrm>
            <a:off x="827088" y="476250"/>
            <a:ext cx="72009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GB" altLang="en-US" b="1">
                <a:latin typeface="Arial" charset="0"/>
              </a:rPr>
              <a:t>Prim’s Algorithm</a:t>
            </a:r>
            <a:endParaRPr lang="en-US" altLang="en-US" b="1">
              <a:latin typeface="Arial" charset="0"/>
            </a:endParaRPr>
          </a:p>
        </p:txBody>
      </p:sp>
      <p:grpSp>
        <p:nvGrpSpPr>
          <p:cNvPr id="30723" name="Group 8"/>
          <p:cNvGrpSpPr>
            <a:grpSpLocks/>
          </p:cNvGrpSpPr>
          <p:nvPr/>
        </p:nvGrpSpPr>
        <p:grpSpPr bwMode="auto">
          <a:xfrm>
            <a:off x="468313" y="1700213"/>
            <a:ext cx="5486400" cy="4648200"/>
            <a:chOff x="864" y="576"/>
            <a:chExt cx="3456" cy="2928"/>
          </a:xfrm>
        </p:grpSpPr>
        <p:sp>
          <p:nvSpPr>
            <p:cNvPr id="30730" name="Line 9"/>
            <p:cNvSpPr>
              <a:spLocks noChangeShapeType="1"/>
            </p:cNvSpPr>
            <p:nvPr/>
          </p:nvSpPr>
          <p:spPr bwMode="auto">
            <a:xfrm flipV="1">
              <a:off x="1152" y="864"/>
              <a:ext cx="816" cy="11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31" name="Line 10"/>
            <p:cNvSpPr>
              <a:spLocks noChangeShapeType="1"/>
            </p:cNvSpPr>
            <p:nvPr/>
          </p:nvSpPr>
          <p:spPr bwMode="auto">
            <a:xfrm>
              <a:off x="1968" y="864"/>
              <a:ext cx="13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32" name="Line 11"/>
            <p:cNvSpPr>
              <a:spLocks noChangeShapeType="1"/>
            </p:cNvSpPr>
            <p:nvPr/>
          </p:nvSpPr>
          <p:spPr bwMode="auto">
            <a:xfrm>
              <a:off x="3312" y="864"/>
              <a:ext cx="720" cy="11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33" name="Line 12"/>
            <p:cNvSpPr>
              <a:spLocks noChangeShapeType="1"/>
            </p:cNvSpPr>
            <p:nvPr/>
          </p:nvSpPr>
          <p:spPr bwMode="auto">
            <a:xfrm>
              <a:off x="1152" y="1968"/>
              <a:ext cx="15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34" name="Line 13"/>
            <p:cNvSpPr>
              <a:spLocks noChangeShapeType="1"/>
            </p:cNvSpPr>
            <p:nvPr/>
          </p:nvSpPr>
          <p:spPr bwMode="auto">
            <a:xfrm>
              <a:off x="2688" y="1968"/>
              <a:ext cx="13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35" name="Line 14"/>
            <p:cNvSpPr>
              <a:spLocks noChangeShapeType="1"/>
            </p:cNvSpPr>
            <p:nvPr/>
          </p:nvSpPr>
          <p:spPr bwMode="auto">
            <a:xfrm>
              <a:off x="1968" y="864"/>
              <a:ext cx="720" cy="11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36" name="Line 15"/>
            <p:cNvSpPr>
              <a:spLocks noChangeShapeType="1"/>
            </p:cNvSpPr>
            <p:nvPr/>
          </p:nvSpPr>
          <p:spPr bwMode="auto">
            <a:xfrm flipV="1">
              <a:off x="2688" y="864"/>
              <a:ext cx="624" cy="11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37" name="Line 16"/>
            <p:cNvSpPr>
              <a:spLocks noChangeShapeType="1"/>
            </p:cNvSpPr>
            <p:nvPr/>
          </p:nvSpPr>
          <p:spPr bwMode="auto">
            <a:xfrm>
              <a:off x="1152" y="1968"/>
              <a:ext cx="1344" cy="1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38" name="Line 17"/>
            <p:cNvSpPr>
              <a:spLocks noChangeShapeType="1"/>
            </p:cNvSpPr>
            <p:nvPr/>
          </p:nvSpPr>
          <p:spPr bwMode="auto">
            <a:xfrm flipV="1">
              <a:off x="2496" y="1968"/>
              <a:ext cx="192" cy="1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39" name="Line 18"/>
            <p:cNvSpPr>
              <a:spLocks noChangeShapeType="1"/>
            </p:cNvSpPr>
            <p:nvPr/>
          </p:nvSpPr>
          <p:spPr bwMode="auto">
            <a:xfrm flipV="1">
              <a:off x="2496" y="1968"/>
              <a:ext cx="1536" cy="1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40" name="Text Box 19"/>
            <p:cNvSpPr txBox="1">
              <a:spLocks noChangeArrowheads="1"/>
            </p:cNvSpPr>
            <p:nvPr/>
          </p:nvSpPr>
          <p:spPr bwMode="auto">
            <a:xfrm>
              <a:off x="864" y="1872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/>
                <a:t>A</a:t>
              </a:r>
            </a:p>
          </p:txBody>
        </p:sp>
        <p:sp>
          <p:nvSpPr>
            <p:cNvPr id="30741" name="Text Box 20"/>
            <p:cNvSpPr txBox="1">
              <a:spLocks noChangeArrowheads="1"/>
            </p:cNvSpPr>
            <p:nvPr/>
          </p:nvSpPr>
          <p:spPr bwMode="auto">
            <a:xfrm>
              <a:off x="2688" y="1968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/>
                <a:t>F</a:t>
              </a:r>
            </a:p>
          </p:txBody>
        </p:sp>
        <p:sp>
          <p:nvSpPr>
            <p:cNvPr id="30742" name="Text Box 21"/>
            <p:cNvSpPr txBox="1">
              <a:spLocks noChangeArrowheads="1"/>
            </p:cNvSpPr>
            <p:nvPr/>
          </p:nvSpPr>
          <p:spPr bwMode="auto">
            <a:xfrm>
              <a:off x="1728" y="576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/>
                <a:t>B</a:t>
              </a:r>
            </a:p>
          </p:txBody>
        </p:sp>
        <p:sp>
          <p:nvSpPr>
            <p:cNvPr id="30743" name="Text Box 22"/>
            <p:cNvSpPr txBox="1">
              <a:spLocks noChangeArrowheads="1"/>
            </p:cNvSpPr>
            <p:nvPr/>
          </p:nvSpPr>
          <p:spPr bwMode="auto">
            <a:xfrm>
              <a:off x="3312" y="672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/>
                <a:t>C</a:t>
              </a:r>
            </a:p>
          </p:txBody>
        </p:sp>
        <p:sp>
          <p:nvSpPr>
            <p:cNvPr id="30744" name="Text Box 23"/>
            <p:cNvSpPr txBox="1">
              <a:spLocks noChangeArrowheads="1"/>
            </p:cNvSpPr>
            <p:nvPr/>
          </p:nvSpPr>
          <p:spPr bwMode="auto">
            <a:xfrm>
              <a:off x="4032" y="1920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/>
                <a:t>D</a:t>
              </a:r>
            </a:p>
          </p:txBody>
        </p:sp>
        <p:sp>
          <p:nvSpPr>
            <p:cNvPr id="30745" name="Text Box 24"/>
            <p:cNvSpPr txBox="1">
              <a:spLocks noChangeArrowheads="1"/>
            </p:cNvSpPr>
            <p:nvPr/>
          </p:nvSpPr>
          <p:spPr bwMode="auto">
            <a:xfrm>
              <a:off x="2352" y="3216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/>
                <a:t>E</a:t>
              </a:r>
            </a:p>
          </p:txBody>
        </p:sp>
        <p:sp>
          <p:nvSpPr>
            <p:cNvPr id="30746" name="Text Box 25"/>
            <p:cNvSpPr txBox="1">
              <a:spLocks noChangeArrowheads="1"/>
            </p:cNvSpPr>
            <p:nvPr/>
          </p:nvSpPr>
          <p:spPr bwMode="auto">
            <a:xfrm>
              <a:off x="3168" y="2640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/>
                <a:t>2</a:t>
              </a:r>
            </a:p>
          </p:txBody>
        </p:sp>
        <p:sp>
          <p:nvSpPr>
            <p:cNvPr id="30747" name="Text Box 26"/>
            <p:cNvSpPr txBox="1">
              <a:spLocks noChangeArrowheads="1"/>
            </p:cNvSpPr>
            <p:nvPr/>
          </p:nvSpPr>
          <p:spPr bwMode="auto">
            <a:xfrm>
              <a:off x="1776" y="2016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/>
                <a:t>7</a:t>
              </a:r>
            </a:p>
          </p:txBody>
        </p:sp>
        <p:sp>
          <p:nvSpPr>
            <p:cNvPr id="30748" name="Text Box 27"/>
            <p:cNvSpPr txBox="1">
              <a:spLocks noChangeArrowheads="1"/>
            </p:cNvSpPr>
            <p:nvPr/>
          </p:nvSpPr>
          <p:spPr bwMode="auto">
            <a:xfrm>
              <a:off x="1536" y="2544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/>
                <a:t>4</a:t>
              </a:r>
            </a:p>
          </p:txBody>
        </p:sp>
        <p:sp>
          <p:nvSpPr>
            <p:cNvPr id="30749" name="Text Box 28"/>
            <p:cNvSpPr txBox="1">
              <a:spLocks noChangeArrowheads="1"/>
            </p:cNvSpPr>
            <p:nvPr/>
          </p:nvSpPr>
          <p:spPr bwMode="auto">
            <a:xfrm>
              <a:off x="2592" y="2352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/>
                <a:t>5</a:t>
              </a:r>
            </a:p>
          </p:txBody>
        </p:sp>
        <p:sp>
          <p:nvSpPr>
            <p:cNvPr id="30750" name="Text Box 29"/>
            <p:cNvSpPr txBox="1">
              <a:spLocks noChangeArrowheads="1"/>
            </p:cNvSpPr>
            <p:nvPr/>
          </p:nvSpPr>
          <p:spPr bwMode="auto">
            <a:xfrm>
              <a:off x="2064" y="1344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/>
                <a:t>8</a:t>
              </a:r>
            </a:p>
          </p:txBody>
        </p:sp>
        <p:sp>
          <p:nvSpPr>
            <p:cNvPr id="30751" name="Text Box 30"/>
            <p:cNvSpPr txBox="1">
              <a:spLocks noChangeArrowheads="1"/>
            </p:cNvSpPr>
            <p:nvPr/>
          </p:nvSpPr>
          <p:spPr bwMode="auto">
            <a:xfrm>
              <a:off x="3024" y="1296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/>
                <a:t>6</a:t>
              </a:r>
            </a:p>
          </p:txBody>
        </p:sp>
        <p:sp>
          <p:nvSpPr>
            <p:cNvPr id="30752" name="Text Box 31"/>
            <p:cNvSpPr txBox="1">
              <a:spLocks noChangeArrowheads="1"/>
            </p:cNvSpPr>
            <p:nvPr/>
          </p:nvSpPr>
          <p:spPr bwMode="auto">
            <a:xfrm>
              <a:off x="3648" y="1200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/>
                <a:t>4</a:t>
              </a:r>
            </a:p>
          </p:txBody>
        </p:sp>
        <p:sp>
          <p:nvSpPr>
            <p:cNvPr id="30753" name="Text Box 32"/>
            <p:cNvSpPr txBox="1">
              <a:spLocks noChangeArrowheads="1"/>
            </p:cNvSpPr>
            <p:nvPr/>
          </p:nvSpPr>
          <p:spPr bwMode="auto">
            <a:xfrm>
              <a:off x="2496" y="576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/>
                <a:t>5</a:t>
              </a:r>
            </a:p>
          </p:txBody>
        </p:sp>
        <p:sp>
          <p:nvSpPr>
            <p:cNvPr id="30754" name="Text Box 33"/>
            <p:cNvSpPr txBox="1">
              <a:spLocks noChangeArrowheads="1"/>
            </p:cNvSpPr>
            <p:nvPr/>
          </p:nvSpPr>
          <p:spPr bwMode="auto">
            <a:xfrm>
              <a:off x="1392" y="1056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/>
                <a:t>3</a:t>
              </a:r>
            </a:p>
          </p:txBody>
        </p:sp>
        <p:sp>
          <p:nvSpPr>
            <p:cNvPr id="30755" name="Text Box 34"/>
            <p:cNvSpPr txBox="1">
              <a:spLocks noChangeArrowheads="1"/>
            </p:cNvSpPr>
            <p:nvPr/>
          </p:nvSpPr>
          <p:spPr bwMode="auto">
            <a:xfrm>
              <a:off x="3120" y="1680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/>
                <a:t>8</a:t>
              </a:r>
            </a:p>
          </p:txBody>
        </p:sp>
      </p:grpSp>
      <p:sp>
        <p:nvSpPr>
          <p:cNvPr id="38953" name="Text Box 41"/>
          <p:cNvSpPr txBox="1">
            <a:spLocks noChangeArrowheads="1"/>
          </p:cNvSpPr>
          <p:nvPr/>
        </p:nvSpPr>
        <p:spPr bwMode="auto">
          <a:xfrm>
            <a:off x="6011863" y="1125538"/>
            <a:ext cx="2881312" cy="440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>
              <a:buFont typeface="Times New Roman" charset="0"/>
              <a:buNone/>
            </a:pPr>
            <a:r>
              <a:rPr lang="en-US" altLang="en-US" sz="2000">
                <a:latin typeface="Arial" charset="0"/>
              </a:rPr>
              <a:t>All vertices have been</a:t>
            </a:r>
          </a:p>
          <a:p>
            <a:pPr>
              <a:buFont typeface="Times New Roman" charset="0"/>
              <a:buNone/>
            </a:pPr>
            <a:r>
              <a:rPr lang="en-US" altLang="en-US" sz="2000">
                <a:latin typeface="Arial" charset="0"/>
              </a:rPr>
              <a:t>connected.</a:t>
            </a:r>
          </a:p>
          <a:p>
            <a:pPr>
              <a:buFont typeface="Times New Roman" charset="0"/>
              <a:buNone/>
            </a:pPr>
            <a:endParaRPr lang="en-GB" altLang="en-US" sz="2000">
              <a:latin typeface="Arial" charset="0"/>
            </a:endParaRPr>
          </a:p>
          <a:p>
            <a:pPr>
              <a:buFont typeface="Times New Roman" charset="0"/>
              <a:buNone/>
            </a:pPr>
            <a:r>
              <a:rPr lang="en-GB" altLang="en-US" sz="2000">
                <a:latin typeface="Arial" charset="0"/>
              </a:rPr>
              <a:t>The solution is</a:t>
            </a:r>
            <a:endParaRPr lang="en-US" altLang="en-US" sz="2000">
              <a:latin typeface="Arial" charset="0"/>
            </a:endParaRPr>
          </a:p>
          <a:p>
            <a:pPr>
              <a:buFont typeface="Verdana" charset="0"/>
              <a:buNone/>
            </a:pPr>
            <a:endParaRPr lang="en-GB" altLang="en-US" sz="2000">
              <a:latin typeface="Arial" charset="0"/>
            </a:endParaRPr>
          </a:p>
          <a:p>
            <a:pPr eaLnBrk="1" hangingPunct="1"/>
            <a:r>
              <a:rPr lang="en-GB" altLang="en-US" sz="2000" b="1">
                <a:latin typeface="Arial" charset="0"/>
              </a:rPr>
              <a:t>AB 3</a:t>
            </a:r>
          </a:p>
          <a:p>
            <a:pPr eaLnBrk="1" hangingPunct="1"/>
            <a:r>
              <a:rPr lang="en-GB" altLang="en-US" sz="2000" b="1">
                <a:latin typeface="Arial" charset="0"/>
              </a:rPr>
              <a:t>AE 4</a:t>
            </a:r>
          </a:p>
          <a:p>
            <a:pPr eaLnBrk="1" hangingPunct="1"/>
            <a:r>
              <a:rPr lang="en-GB" altLang="en-US" sz="2000" b="1">
                <a:latin typeface="Arial" charset="0"/>
              </a:rPr>
              <a:t>ED 2</a:t>
            </a:r>
          </a:p>
          <a:p>
            <a:pPr eaLnBrk="1" hangingPunct="1"/>
            <a:r>
              <a:rPr lang="en-GB" altLang="en-US" sz="2000" b="1">
                <a:latin typeface="Arial" charset="0"/>
              </a:rPr>
              <a:t>DC 4</a:t>
            </a:r>
          </a:p>
          <a:p>
            <a:pPr eaLnBrk="1" hangingPunct="1"/>
            <a:r>
              <a:rPr lang="en-GB" altLang="en-US" sz="2000" b="1">
                <a:latin typeface="Arial" charset="0"/>
              </a:rPr>
              <a:t>EF 5</a:t>
            </a:r>
          </a:p>
          <a:p>
            <a:pPr eaLnBrk="1" hangingPunct="1"/>
            <a:endParaRPr lang="en-GB" altLang="en-US" sz="2000" b="1">
              <a:latin typeface="Arial" charset="0"/>
            </a:endParaRPr>
          </a:p>
          <a:p>
            <a:pPr eaLnBrk="1" hangingPunct="1"/>
            <a:endParaRPr lang="en-GB" altLang="en-US" sz="2000">
              <a:latin typeface="Arial" charset="0"/>
            </a:endParaRPr>
          </a:p>
          <a:p>
            <a:pPr eaLnBrk="1" hangingPunct="1"/>
            <a:r>
              <a:rPr lang="en-GB" altLang="en-US" sz="2000">
                <a:latin typeface="Arial" charset="0"/>
              </a:rPr>
              <a:t>Total weight of tree: 18</a:t>
            </a:r>
          </a:p>
          <a:p>
            <a:pPr eaLnBrk="1" hangingPunct="1"/>
            <a:endParaRPr lang="en-US" altLang="en-US" sz="2000">
              <a:latin typeface="Arial" charset="0"/>
            </a:endParaRPr>
          </a:p>
        </p:txBody>
      </p:sp>
      <p:sp>
        <p:nvSpPr>
          <p:cNvPr id="30725" name="Line 42"/>
          <p:cNvSpPr>
            <a:spLocks noChangeShapeType="1"/>
          </p:cNvSpPr>
          <p:nvPr/>
        </p:nvSpPr>
        <p:spPr bwMode="auto">
          <a:xfrm flipV="1">
            <a:off x="925513" y="2159000"/>
            <a:ext cx="1279525" cy="1724025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26" name="Line 43"/>
          <p:cNvSpPr>
            <a:spLocks noChangeShapeType="1"/>
          </p:cNvSpPr>
          <p:nvPr/>
        </p:nvSpPr>
        <p:spPr bwMode="auto">
          <a:xfrm>
            <a:off x="925513" y="3886200"/>
            <a:ext cx="2133600" cy="1919288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27" name="Line 44"/>
          <p:cNvSpPr>
            <a:spLocks noChangeShapeType="1"/>
          </p:cNvSpPr>
          <p:nvPr/>
        </p:nvSpPr>
        <p:spPr bwMode="auto">
          <a:xfrm flipV="1">
            <a:off x="3059113" y="3908425"/>
            <a:ext cx="2452687" cy="1897063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28" name="Line 45"/>
          <p:cNvSpPr>
            <a:spLocks noChangeShapeType="1"/>
          </p:cNvSpPr>
          <p:nvPr/>
        </p:nvSpPr>
        <p:spPr bwMode="auto">
          <a:xfrm flipH="1" flipV="1">
            <a:off x="4356100" y="2133600"/>
            <a:ext cx="1155700" cy="17780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29" name="Line 46"/>
          <p:cNvSpPr>
            <a:spLocks noChangeShapeType="1"/>
          </p:cNvSpPr>
          <p:nvPr/>
        </p:nvSpPr>
        <p:spPr bwMode="auto">
          <a:xfrm flipV="1">
            <a:off x="3059113" y="3921125"/>
            <a:ext cx="301625" cy="1884363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3909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53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Prim’s algorithm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24400"/>
          </a:xfrm>
        </p:spPr>
        <p:txBody>
          <a:bodyPr>
            <a:noAutofit/>
          </a:bodyPr>
          <a:lstStyle/>
          <a:p>
            <a:pPr>
              <a:buFontTx/>
              <a:buChar char="•"/>
            </a:pPr>
            <a:r>
              <a:rPr lang="en-GB" altLang="en-US" sz="2800" dirty="0">
                <a:latin typeface="Verdana" charset="0"/>
              </a:rPr>
              <a:t>Both algorithms will always give solutions with the same length</a:t>
            </a:r>
            <a:r>
              <a:rPr lang="en-GB" altLang="en-US" sz="2800" dirty="0" smtClean="0">
                <a:latin typeface="Verdana" charset="0"/>
              </a:rPr>
              <a:t>.</a:t>
            </a:r>
          </a:p>
          <a:p>
            <a:pPr>
              <a:buFontTx/>
              <a:buChar char="•"/>
            </a:pPr>
            <a:r>
              <a:rPr lang="en-GB" altLang="en-US" sz="2800" dirty="0" smtClean="0">
                <a:latin typeface="Verdana" charset="0"/>
              </a:rPr>
              <a:t>Prim’s algorithm selects adjacent vertices where as the other one may not.</a:t>
            </a:r>
            <a:endParaRPr lang="en-GB" altLang="en-US" sz="2800" dirty="0">
              <a:latin typeface="Verdana" charset="0"/>
            </a:endParaRPr>
          </a:p>
          <a:p>
            <a:pPr>
              <a:buFontTx/>
              <a:buChar char="•"/>
            </a:pPr>
            <a:r>
              <a:rPr lang="en-GB" altLang="en-US" sz="2800" dirty="0" smtClean="0">
                <a:latin typeface="Verdana" charset="0"/>
              </a:rPr>
              <a:t>They </a:t>
            </a:r>
            <a:r>
              <a:rPr lang="en-GB" altLang="en-US" sz="2800" dirty="0">
                <a:latin typeface="Verdana" charset="0"/>
              </a:rPr>
              <a:t>will usually select edges in a different order </a:t>
            </a:r>
            <a:r>
              <a:rPr lang="en-GB" altLang="en-US" sz="2800" dirty="0" smtClean="0">
                <a:latin typeface="Verdana" charset="0"/>
              </a:rPr>
              <a:t>.</a:t>
            </a:r>
            <a:endParaRPr lang="en-GB" altLang="en-US" sz="2800" dirty="0">
              <a:latin typeface="Verdan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14863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Exercise -3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Apply kruskal’s, prim’s  algorithm  to find a min spanning tree with min cost</a:t>
            </a:r>
            <a:endParaRPr 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0112" y="2667000"/>
            <a:ext cx="7343775" cy="3733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278956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-3</a:t>
            </a:r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2209800"/>
            <a:ext cx="7543800" cy="396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709211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Huffman Coding - 4</a:t>
            </a:r>
          </a:p>
        </p:txBody>
      </p:sp>
    </p:spTree>
    <p:extLst>
      <p:ext uri="{BB962C8B-B14F-4D97-AF65-F5344CB8AC3E}">
        <p14:creationId xmlns:p14="http://schemas.microsoft.com/office/powerpoint/2010/main" val="16425419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Huffman Coding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676400"/>
            <a:ext cx="7772400" cy="4114800"/>
          </a:xfrm>
        </p:spPr>
        <p:txBody>
          <a:bodyPr>
            <a:normAutofit fontScale="92500"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2800" smtClean="0"/>
              <a:t>Huffman codes can be used to compress information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smtClean="0"/>
              <a:t>Like WinZip – although WinZip doesn’t use the Huffman algorithm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smtClean="0"/>
              <a:t>JPEGs do use Huffman as part of their compression process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smtClean="0"/>
              <a:t>The basic idea is that instead of storing each character in a file as an 8-bit ASCII value, we will instead store the more frequently occurring characters using fewer bits and less frequently occurring characters using more bits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smtClean="0"/>
              <a:t>On average this should decrease the filesize (usually ½)</a:t>
            </a:r>
          </a:p>
        </p:txBody>
      </p:sp>
    </p:spTree>
    <p:extLst>
      <p:ext uri="{BB962C8B-B14F-4D97-AF65-F5344CB8AC3E}">
        <p14:creationId xmlns:p14="http://schemas.microsoft.com/office/powerpoint/2010/main" val="231637857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Huffman encoding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Huffman encoding is a brilliant "greedy" algorithm used for </a:t>
            </a:r>
            <a:r>
              <a:rPr lang="en-US" dirty="0">
                <a:solidFill>
                  <a:srgbClr val="FF0000"/>
                </a:solidFill>
              </a:rPr>
              <a:t>lossless</a:t>
            </a:r>
            <a:r>
              <a:rPr lang="en-US" dirty="0"/>
              <a:t> data compression. Instead of using a fixed number of bits for every character (like ASCII), it assigns shorter binary codes to frequent characters and longer codes to rare ones</a:t>
            </a:r>
            <a:r>
              <a:rPr lang="en-US" dirty="0" smtClean="0"/>
              <a:t>.</a:t>
            </a:r>
          </a:p>
          <a:p>
            <a:r>
              <a:rPr lang="en-US" dirty="0" smtClean="0"/>
              <a:t>Eliminating statistical redundancy without losing any information.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690807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Huffman Coding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981200"/>
            <a:ext cx="8534400" cy="4114800"/>
          </a:xfrm>
        </p:spPr>
        <p:txBody>
          <a:bodyPr/>
          <a:lstStyle/>
          <a:p>
            <a:pPr eaLnBrk="1" hangingPunct="1"/>
            <a:r>
              <a:rPr lang="en-US" altLang="en-US" smtClean="0"/>
              <a:t>As an example, lets take the string:</a:t>
            </a:r>
          </a:p>
          <a:p>
            <a:pPr lvl="1" eaLnBrk="1" hangingPunct="1">
              <a:buFontTx/>
              <a:buNone/>
            </a:pPr>
            <a:r>
              <a:rPr lang="en-US" altLang="en-US" smtClean="0"/>
              <a:t>		“duke blue devils”</a:t>
            </a:r>
          </a:p>
          <a:p>
            <a:pPr eaLnBrk="1" hangingPunct="1"/>
            <a:r>
              <a:rPr lang="en-US" altLang="en-US" smtClean="0"/>
              <a:t>We first to a frequency count of the characters:</a:t>
            </a:r>
          </a:p>
          <a:p>
            <a:pPr lvl="2" eaLnBrk="1" hangingPunct="1"/>
            <a:r>
              <a:rPr lang="en-US" altLang="en-US" smtClean="0"/>
              <a:t>e:3, d:2, u:2, l:2, space:2, k:1, b:1, v:1, i:1, s:1</a:t>
            </a:r>
          </a:p>
          <a:p>
            <a:pPr eaLnBrk="1" hangingPunct="1"/>
            <a:r>
              <a:rPr lang="en-US" altLang="en-US" smtClean="0"/>
              <a:t>Next we use a Greedy algorithm to build up a Huffman Tree</a:t>
            </a:r>
          </a:p>
          <a:p>
            <a:pPr lvl="1" eaLnBrk="1" hangingPunct="1"/>
            <a:r>
              <a:rPr lang="en-US" altLang="en-US" smtClean="0"/>
              <a:t>We start with nodes for each character			 </a:t>
            </a:r>
          </a:p>
        </p:txBody>
      </p:sp>
      <p:sp>
        <p:nvSpPr>
          <p:cNvPr id="4100" name="Oval 25"/>
          <p:cNvSpPr>
            <a:spLocks noChangeArrowheads="1"/>
          </p:cNvSpPr>
          <p:nvPr/>
        </p:nvSpPr>
        <p:spPr bwMode="auto">
          <a:xfrm>
            <a:off x="1295400" y="5791200"/>
            <a:ext cx="533400" cy="533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US" altLang="en-US"/>
              <a:t>e,3</a:t>
            </a:r>
          </a:p>
        </p:txBody>
      </p:sp>
      <p:sp>
        <p:nvSpPr>
          <p:cNvPr id="4101" name="Oval 26"/>
          <p:cNvSpPr>
            <a:spLocks noChangeArrowheads="1"/>
          </p:cNvSpPr>
          <p:nvPr/>
        </p:nvSpPr>
        <p:spPr bwMode="auto">
          <a:xfrm>
            <a:off x="2057400" y="5791200"/>
            <a:ext cx="533400" cy="533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US" altLang="en-US"/>
              <a:t>d,2</a:t>
            </a:r>
          </a:p>
        </p:txBody>
      </p:sp>
      <p:sp>
        <p:nvSpPr>
          <p:cNvPr id="4102" name="Oval 27"/>
          <p:cNvSpPr>
            <a:spLocks noChangeArrowheads="1"/>
          </p:cNvSpPr>
          <p:nvPr/>
        </p:nvSpPr>
        <p:spPr bwMode="auto">
          <a:xfrm>
            <a:off x="2819400" y="5791200"/>
            <a:ext cx="533400" cy="533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US" altLang="en-US"/>
              <a:t>u,2</a:t>
            </a:r>
          </a:p>
        </p:txBody>
      </p:sp>
      <p:sp>
        <p:nvSpPr>
          <p:cNvPr id="4103" name="Oval 28"/>
          <p:cNvSpPr>
            <a:spLocks noChangeArrowheads="1"/>
          </p:cNvSpPr>
          <p:nvPr/>
        </p:nvSpPr>
        <p:spPr bwMode="auto">
          <a:xfrm>
            <a:off x="3581400" y="5791200"/>
            <a:ext cx="533400" cy="533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US" altLang="en-US"/>
              <a:t>l,2</a:t>
            </a:r>
          </a:p>
        </p:txBody>
      </p:sp>
      <p:sp>
        <p:nvSpPr>
          <p:cNvPr id="4104" name="Oval 29"/>
          <p:cNvSpPr>
            <a:spLocks noChangeArrowheads="1"/>
          </p:cNvSpPr>
          <p:nvPr/>
        </p:nvSpPr>
        <p:spPr bwMode="auto">
          <a:xfrm>
            <a:off x="4267200" y="5791200"/>
            <a:ext cx="533400" cy="533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US" altLang="en-US"/>
              <a:t>sp,2</a:t>
            </a:r>
          </a:p>
        </p:txBody>
      </p:sp>
      <p:sp>
        <p:nvSpPr>
          <p:cNvPr id="4105" name="Oval 30"/>
          <p:cNvSpPr>
            <a:spLocks noChangeArrowheads="1"/>
          </p:cNvSpPr>
          <p:nvPr/>
        </p:nvSpPr>
        <p:spPr bwMode="auto">
          <a:xfrm>
            <a:off x="5029200" y="5791200"/>
            <a:ext cx="533400" cy="533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US" altLang="en-US"/>
              <a:t>k,1</a:t>
            </a:r>
          </a:p>
        </p:txBody>
      </p:sp>
      <p:sp>
        <p:nvSpPr>
          <p:cNvPr id="4106" name="Oval 31"/>
          <p:cNvSpPr>
            <a:spLocks noChangeArrowheads="1"/>
          </p:cNvSpPr>
          <p:nvPr/>
        </p:nvSpPr>
        <p:spPr bwMode="auto">
          <a:xfrm>
            <a:off x="5715000" y="5791200"/>
            <a:ext cx="533400" cy="533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US" altLang="en-US"/>
              <a:t>b,1</a:t>
            </a:r>
          </a:p>
        </p:txBody>
      </p:sp>
      <p:sp>
        <p:nvSpPr>
          <p:cNvPr id="4107" name="Oval 32"/>
          <p:cNvSpPr>
            <a:spLocks noChangeArrowheads="1"/>
          </p:cNvSpPr>
          <p:nvPr/>
        </p:nvSpPr>
        <p:spPr bwMode="auto">
          <a:xfrm>
            <a:off x="6400800" y="5791200"/>
            <a:ext cx="533400" cy="533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US" altLang="en-US"/>
              <a:t>v,1</a:t>
            </a:r>
          </a:p>
        </p:txBody>
      </p:sp>
      <p:sp>
        <p:nvSpPr>
          <p:cNvPr id="4108" name="Oval 33"/>
          <p:cNvSpPr>
            <a:spLocks noChangeArrowheads="1"/>
          </p:cNvSpPr>
          <p:nvPr/>
        </p:nvSpPr>
        <p:spPr bwMode="auto">
          <a:xfrm>
            <a:off x="7086600" y="5791200"/>
            <a:ext cx="533400" cy="533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US" altLang="en-US"/>
              <a:t>i,1</a:t>
            </a:r>
          </a:p>
        </p:txBody>
      </p:sp>
      <p:sp>
        <p:nvSpPr>
          <p:cNvPr id="4109" name="Oval 34"/>
          <p:cNvSpPr>
            <a:spLocks noChangeArrowheads="1"/>
          </p:cNvSpPr>
          <p:nvPr/>
        </p:nvSpPr>
        <p:spPr bwMode="auto">
          <a:xfrm>
            <a:off x="7772400" y="5791200"/>
            <a:ext cx="533400" cy="533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US" altLang="en-US"/>
              <a:t>s,1</a:t>
            </a:r>
          </a:p>
        </p:txBody>
      </p:sp>
    </p:spTree>
    <p:extLst>
      <p:ext uri="{BB962C8B-B14F-4D97-AF65-F5344CB8AC3E}">
        <p14:creationId xmlns:p14="http://schemas.microsoft.com/office/powerpoint/2010/main" val="283051983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Huffman Coding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dirty="0" smtClean="0"/>
              <a:t>We then pick the nodes with the smallest frequency and combine them together to form a new node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 smtClean="0">
                <a:solidFill>
                  <a:srgbClr val="FF0000"/>
                </a:solidFill>
              </a:rPr>
              <a:t>The selection of these nodes is the Greedy part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 smtClean="0"/>
              <a:t>The two selected nodes are removed from the set, but replace by the combined node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 smtClean="0"/>
              <a:t>This continues until we have only 1 node left in the set</a:t>
            </a:r>
          </a:p>
        </p:txBody>
      </p:sp>
    </p:spTree>
    <p:extLst>
      <p:ext uri="{BB962C8B-B14F-4D97-AF65-F5344CB8AC3E}">
        <p14:creationId xmlns:p14="http://schemas.microsoft.com/office/powerpoint/2010/main" val="155220696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Huffman Coding</a:t>
            </a:r>
          </a:p>
        </p:txBody>
      </p:sp>
      <p:sp>
        <p:nvSpPr>
          <p:cNvPr id="6147" name="Oval 4"/>
          <p:cNvSpPr>
            <a:spLocks noChangeArrowheads="1"/>
          </p:cNvSpPr>
          <p:nvPr/>
        </p:nvSpPr>
        <p:spPr bwMode="auto">
          <a:xfrm>
            <a:off x="990600" y="1981200"/>
            <a:ext cx="533400" cy="533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US" altLang="en-US"/>
              <a:t>e,3</a:t>
            </a:r>
          </a:p>
        </p:txBody>
      </p:sp>
      <p:sp>
        <p:nvSpPr>
          <p:cNvPr id="6148" name="Oval 5"/>
          <p:cNvSpPr>
            <a:spLocks noChangeArrowheads="1"/>
          </p:cNvSpPr>
          <p:nvPr/>
        </p:nvSpPr>
        <p:spPr bwMode="auto">
          <a:xfrm>
            <a:off x="1752600" y="1981200"/>
            <a:ext cx="533400" cy="533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US" altLang="en-US"/>
              <a:t>d,2</a:t>
            </a:r>
          </a:p>
        </p:txBody>
      </p:sp>
      <p:sp>
        <p:nvSpPr>
          <p:cNvPr id="6149" name="Oval 6"/>
          <p:cNvSpPr>
            <a:spLocks noChangeArrowheads="1"/>
          </p:cNvSpPr>
          <p:nvPr/>
        </p:nvSpPr>
        <p:spPr bwMode="auto">
          <a:xfrm>
            <a:off x="2514600" y="1981200"/>
            <a:ext cx="533400" cy="533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US" altLang="en-US"/>
              <a:t>u,2</a:t>
            </a:r>
          </a:p>
        </p:txBody>
      </p:sp>
      <p:sp>
        <p:nvSpPr>
          <p:cNvPr id="6150" name="Oval 7"/>
          <p:cNvSpPr>
            <a:spLocks noChangeArrowheads="1"/>
          </p:cNvSpPr>
          <p:nvPr/>
        </p:nvSpPr>
        <p:spPr bwMode="auto">
          <a:xfrm>
            <a:off x="3276600" y="1981200"/>
            <a:ext cx="533400" cy="533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US" altLang="en-US"/>
              <a:t>l,2</a:t>
            </a:r>
          </a:p>
        </p:txBody>
      </p:sp>
      <p:sp>
        <p:nvSpPr>
          <p:cNvPr id="6151" name="Oval 8"/>
          <p:cNvSpPr>
            <a:spLocks noChangeArrowheads="1"/>
          </p:cNvSpPr>
          <p:nvPr/>
        </p:nvSpPr>
        <p:spPr bwMode="auto">
          <a:xfrm>
            <a:off x="3962400" y="1981200"/>
            <a:ext cx="533400" cy="533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US" altLang="en-US"/>
              <a:t>sp,2</a:t>
            </a:r>
          </a:p>
        </p:txBody>
      </p:sp>
      <p:sp>
        <p:nvSpPr>
          <p:cNvPr id="6152" name="Oval 9"/>
          <p:cNvSpPr>
            <a:spLocks noChangeArrowheads="1"/>
          </p:cNvSpPr>
          <p:nvPr/>
        </p:nvSpPr>
        <p:spPr bwMode="auto">
          <a:xfrm>
            <a:off x="4724400" y="1981200"/>
            <a:ext cx="533400" cy="533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US" altLang="en-US"/>
              <a:t>k,1</a:t>
            </a:r>
          </a:p>
        </p:txBody>
      </p:sp>
      <p:sp>
        <p:nvSpPr>
          <p:cNvPr id="6153" name="Oval 10"/>
          <p:cNvSpPr>
            <a:spLocks noChangeArrowheads="1"/>
          </p:cNvSpPr>
          <p:nvPr/>
        </p:nvSpPr>
        <p:spPr bwMode="auto">
          <a:xfrm>
            <a:off x="5410200" y="1981200"/>
            <a:ext cx="533400" cy="533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US" altLang="en-US"/>
              <a:t>b,1</a:t>
            </a:r>
          </a:p>
        </p:txBody>
      </p:sp>
      <p:sp>
        <p:nvSpPr>
          <p:cNvPr id="6154" name="Oval 11"/>
          <p:cNvSpPr>
            <a:spLocks noChangeArrowheads="1"/>
          </p:cNvSpPr>
          <p:nvPr/>
        </p:nvSpPr>
        <p:spPr bwMode="auto">
          <a:xfrm>
            <a:off x="6096000" y="1981200"/>
            <a:ext cx="533400" cy="533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US" altLang="en-US"/>
              <a:t>v,1</a:t>
            </a:r>
          </a:p>
        </p:txBody>
      </p:sp>
      <p:sp>
        <p:nvSpPr>
          <p:cNvPr id="6155" name="Oval 12"/>
          <p:cNvSpPr>
            <a:spLocks noChangeArrowheads="1"/>
          </p:cNvSpPr>
          <p:nvPr/>
        </p:nvSpPr>
        <p:spPr bwMode="auto">
          <a:xfrm>
            <a:off x="6781800" y="1981200"/>
            <a:ext cx="533400" cy="533400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US" altLang="en-US"/>
              <a:t>i,1</a:t>
            </a:r>
          </a:p>
        </p:txBody>
      </p:sp>
      <p:sp>
        <p:nvSpPr>
          <p:cNvPr id="6156" name="Oval 13"/>
          <p:cNvSpPr>
            <a:spLocks noChangeArrowheads="1"/>
          </p:cNvSpPr>
          <p:nvPr/>
        </p:nvSpPr>
        <p:spPr bwMode="auto">
          <a:xfrm>
            <a:off x="7467600" y="1981200"/>
            <a:ext cx="533400" cy="533400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US" altLang="en-US"/>
              <a:t>s,1</a:t>
            </a:r>
          </a:p>
        </p:txBody>
      </p:sp>
    </p:spTree>
    <p:extLst>
      <p:ext uri="{BB962C8B-B14F-4D97-AF65-F5344CB8AC3E}">
        <p14:creationId xmlns:p14="http://schemas.microsoft.com/office/powerpoint/2010/main" val="374762626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Huffman Coding</a:t>
            </a:r>
          </a:p>
        </p:txBody>
      </p:sp>
      <p:sp>
        <p:nvSpPr>
          <p:cNvPr id="7171" name="Oval 3"/>
          <p:cNvSpPr>
            <a:spLocks noChangeArrowheads="1"/>
          </p:cNvSpPr>
          <p:nvPr/>
        </p:nvSpPr>
        <p:spPr bwMode="auto">
          <a:xfrm>
            <a:off x="990600" y="1981200"/>
            <a:ext cx="533400" cy="533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US" altLang="en-US"/>
              <a:t>e,3</a:t>
            </a:r>
          </a:p>
        </p:txBody>
      </p:sp>
      <p:sp>
        <p:nvSpPr>
          <p:cNvPr id="7172" name="Oval 4"/>
          <p:cNvSpPr>
            <a:spLocks noChangeArrowheads="1"/>
          </p:cNvSpPr>
          <p:nvPr/>
        </p:nvSpPr>
        <p:spPr bwMode="auto">
          <a:xfrm>
            <a:off x="1752600" y="1981200"/>
            <a:ext cx="533400" cy="533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US" altLang="en-US"/>
              <a:t>d,2</a:t>
            </a:r>
          </a:p>
        </p:txBody>
      </p:sp>
      <p:sp>
        <p:nvSpPr>
          <p:cNvPr id="7173" name="Oval 5"/>
          <p:cNvSpPr>
            <a:spLocks noChangeArrowheads="1"/>
          </p:cNvSpPr>
          <p:nvPr/>
        </p:nvSpPr>
        <p:spPr bwMode="auto">
          <a:xfrm>
            <a:off x="2514600" y="1981200"/>
            <a:ext cx="533400" cy="533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US" altLang="en-US"/>
              <a:t>u,2</a:t>
            </a:r>
          </a:p>
        </p:txBody>
      </p:sp>
      <p:sp>
        <p:nvSpPr>
          <p:cNvPr id="7174" name="Oval 6"/>
          <p:cNvSpPr>
            <a:spLocks noChangeArrowheads="1"/>
          </p:cNvSpPr>
          <p:nvPr/>
        </p:nvSpPr>
        <p:spPr bwMode="auto">
          <a:xfrm>
            <a:off x="3276600" y="1981200"/>
            <a:ext cx="533400" cy="533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US" altLang="en-US"/>
              <a:t>l,2</a:t>
            </a:r>
          </a:p>
        </p:txBody>
      </p:sp>
      <p:sp>
        <p:nvSpPr>
          <p:cNvPr id="7175" name="Oval 7"/>
          <p:cNvSpPr>
            <a:spLocks noChangeArrowheads="1"/>
          </p:cNvSpPr>
          <p:nvPr/>
        </p:nvSpPr>
        <p:spPr bwMode="auto">
          <a:xfrm>
            <a:off x="3962400" y="1981200"/>
            <a:ext cx="533400" cy="533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US" altLang="en-US"/>
              <a:t>sp,2</a:t>
            </a:r>
          </a:p>
        </p:txBody>
      </p:sp>
      <p:sp>
        <p:nvSpPr>
          <p:cNvPr id="7176" name="Oval 8"/>
          <p:cNvSpPr>
            <a:spLocks noChangeArrowheads="1"/>
          </p:cNvSpPr>
          <p:nvPr/>
        </p:nvSpPr>
        <p:spPr bwMode="auto">
          <a:xfrm>
            <a:off x="4724400" y="1981200"/>
            <a:ext cx="533400" cy="533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US" altLang="en-US"/>
              <a:t>k,1</a:t>
            </a:r>
          </a:p>
        </p:txBody>
      </p:sp>
      <p:sp>
        <p:nvSpPr>
          <p:cNvPr id="7177" name="Oval 9"/>
          <p:cNvSpPr>
            <a:spLocks noChangeArrowheads="1"/>
          </p:cNvSpPr>
          <p:nvPr/>
        </p:nvSpPr>
        <p:spPr bwMode="auto">
          <a:xfrm>
            <a:off x="5410200" y="1981200"/>
            <a:ext cx="533400" cy="533400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US" altLang="en-US"/>
              <a:t>b,1</a:t>
            </a:r>
          </a:p>
        </p:txBody>
      </p:sp>
      <p:sp>
        <p:nvSpPr>
          <p:cNvPr id="7178" name="Oval 10"/>
          <p:cNvSpPr>
            <a:spLocks noChangeArrowheads="1"/>
          </p:cNvSpPr>
          <p:nvPr/>
        </p:nvSpPr>
        <p:spPr bwMode="auto">
          <a:xfrm>
            <a:off x="6096000" y="1981200"/>
            <a:ext cx="533400" cy="533400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US" altLang="en-US"/>
              <a:t>v,1</a:t>
            </a:r>
          </a:p>
        </p:txBody>
      </p:sp>
      <p:sp>
        <p:nvSpPr>
          <p:cNvPr id="7179" name="Oval 11"/>
          <p:cNvSpPr>
            <a:spLocks noChangeArrowheads="1"/>
          </p:cNvSpPr>
          <p:nvPr/>
        </p:nvSpPr>
        <p:spPr bwMode="auto">
          <a:xfrm>
            <a:off x="6781800" y="2743200"/>
            <a:ext cx="533400" cy="533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US" altLang="en-US"/>
              <a:t>i,1</a:t>
            </a:r>
          </a:p>
        </p:txBody>
      </p:sp>
      <p:sp>
        <p:nvSpPr>
          <p:cNvPr id="7180" name="Oval 12"/>
          <p:cNvSpPr>
            <a:spLocks noChangeArrowheads="1"/>
          </p:cNvSpPr>
          <p:nvPr/>
        </p:nvSpPr>
        <p:spPr bwMode="auto">
          <a:xfrm>
            <a:off x="7467600" y="2743200"/>
            <a:ext cx="533400" cy="533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US" altLang="en-US"/>
              <a:t>s,1</a:t>
            </a:r>
          </a:p>
        </p:txBody>
      </p:sp>
      <p:sp>
        <p:nvSpPr>
          <p:cNvPr id="7181" name="Oval 13"/>
          <p:cNvSpPr>
            <a:spLocks noChangeArrowheads="1"/>
          </p:cNvSpPr>
          <p:nvPr/>
        </p:nvSpPr>
        <p:spPr bwMode="auto">
          <a:xfrm>
            <a:off x="7086600" y="1981200"/>
            <a:ext cx="533400" cy="533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US" altLang="en-US"/>
              <a:t>2</a:t>
            </a:r>
          </a:p>
        </p:txBody>
      </p:sp>
      <p:sp>
        <p:nvSpPr>
          <p:cNvPr id="7182" name="Line 14"/>
          <p:cNvSpPr>
            <a:spLocks noChangeShapeType="1"/>
          </p:cNvSpPr>
          <p:nvPr/>
        </p:nvSpPr>
        <p:spPr bwMode="auto">
          <a:xfrm flipH="1">
            <a:off x="7086600" y="2438400"/>
            <a:ext cx="1524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83" name="Line 15"/>
          <p:cNvSpPr>
            <a:spLocks noChangeShapeType="1"/>
          </p:cNvSpPr>
          <p:nvPr/>
        </p:nvSpPr>
        <p:spPr bwMode="auto">
          <a:xfrm>
            <a:off x="7467600" y="2438400"/>
            <a:ext cx="2286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165189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Huffman Coding</a:t>
            </a:r>
          </a:p>
        </p:txBody>
      </p:sp>
      <p:sp>
        <p:nvSpPr>
          <p:cNvPr id="8195" name="Oval 3"/>
          <p:cNvSpPr>
            <a:spLocks noChangeArrowheads="1"/>
          </p:cNvSpPr>
          <p:nvPr/>
        </p:nvSpPr>
        <p:spPr bwMode="auto">
          <a:xfrm>
            <a:off x="990600" y="1981200"/>
            <a:ext cx="533400" cy="533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US" altLang="en-US"/>
              <a:t>e,3</a:t>
            </a:r>
          </a:p>
        </p:txBody>
      </p:sp>
      <p:sp>
        <p:nvSpPr>
          <p:cNvPr id="8196" name="Oval 4"/>
          <p:cNvSpPr>
            <a:spLocks noChangeArrowheads="1"/>
          </p:cNvSpPr>
          <p:nvPr/>
        </p:nvSpPr>
        <p:spPr bwMode="auto">
          <a:xfrm>
            <a:off x="1752600" y="1981200"/>
            <a:ext cx="533400" cy="533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US" altLang="en-US"/>
              <a:t>d,2</a:t>
            </a:r>
          </a:p>
        </p:txBody>
      </p:sp>
      <p:sp>
        <p:nvSpPr>
          <p:cNvPr id="8197" name="Oval 5"/>
          <p:cNvSpPr>
            <a:spLocks noChangeArrowheads="1"/>
          </p:cNvSpPr>
          <p:nvPr/>
        </p:nvSpPr>
        <p:spPr bwMode="auto">
          <a:xfrm>
            <a:off x="2514600" y="1981200"/>
            <a:ext cx="533400" cy="533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US" altLang="en-US"/>
              <a:t>u,2</a:t>
            </a:r>
          </a:p>
        </p:txBody>
      </p:sp>
      <p:sp>
        <p:nvSpPr>
          <p:cNvPr id="8198" name="Oval 6"/>
          <p:cNvSpPr>
            <a:spLocks noChangeArrowheads="1"/>
          </p:cNvSpPr>
          <p:nvPr/>
        </p:nvSpPr>
        <p:spPr bwMode="auto">
          <a:xfrm>
            <a:off x="3276600" y="1981200"/>
            <a:ext cx="533400" cy="533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US" altLang="en-US"/>
              <a:t>l,2</a:t>
            </a:r>
          </a:p>
        </p:txBody>
      </p:sp>
      <p:sp>
        <p:nvSpPr>
          <p:cNvPr id="8199" name="Oval 7"/>
          <p:cNvSpPr>
            <a:spLocks noChangeArrowheads="1"/>
          </p:cNvSpPr>
          <p:nvPr/>
        </p:nvSpPr>
        <p:spPr bwMode="auto">
          <a:xfrm>
            <a:off x="3962400" y="1981200"/>
            <a:ext cx="533400" cy="533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US" altLang="en-US"/>
              <a:t>sp,2</a:t>
            </a:r>
          </a:p>
        </p:txBody>
      </p:sp>
      <p:sp>
        <p:nvSpPr>
          <p:cNvPr id="8200" name="Oval 8"/>
          <p:cNvSpPr>
            <a:spLocks noChangeArrowheads="1"/>
          </p:cNvSpPr>
          <p:nvPr/>
        </p:nvSpPr>
        <p:spPr bwMode="auto">
          <a:xfrm>
            <a:off x="4724400" y="1981200"/>
            <a:ext cx="533400" cy="533400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US" altLang="en-US"/>
              <a:t>k,1</a:t>
            </a:r>
          </a:p>
        </p:txBody>
      </p:sp>
      <p:sp>
        <p:nvSpPr>
          <p:cNvPr id="8201" name="Oval 9"/>
          <p:cNvSpPr>
            <a:spLocks noChangeArrowheads="1"/>
          </p:cNvSpPr>
          <p:nvPr/>
        </p:nvSpPr>
        <p:spPr bwMode="auto">
          <a:xfrm>
            <a:off x="5410200" y="2743200"/>
            <a:ext cx="533400" cy="533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US" altLang="en-US"/>
              <a:t>b,1</a:t>
            </a:r>
          </a:p>
        </p:txBody>
      </p:sp>
      <p:sp>
        <p:nvSpPr>
          <p:cNvPr id="8202" name="Oval 10"/>
          <p:cNvSpPr>
            <a:spLocks noChangeArrowheads="1"/>
          </p:cNvSpPr>
          <p:nvPr/>
        </p:nvSpPr>
        <p:spPr bwMode="auto">
          <a:xfrm>
            <a:off x="6096000" y="2743200"/>
            <a:ext cx="533400" cy="533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US" altLang="en-US"/>
              <a:t>v,1</a:t>
            </a:r>
          </a:p>
        </p:txBody>
      </p:sp>
      <p:sp>
        <p:nvSpPr>
          <p:cNvPr id="8203" name="Oval 11"/>
          <p:cNvSpPr>
            <a:spLocks noChangeArrowheads="1"/>
          </p:cNvSpPr>
          <p:nvPr/>
        </p:nvSpPr>
        <p:spPr bwMode="auto">
          <a:xfrm>
            <a:off x="6781800" y="2743200"/>
            <a:ext cx="533400" cy="533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US" altLang="en-US"/>
              <a:t>i,1</a:t>
            </a:r>
          </a:p>
        </p:txBody>
      </p:sp>
      <p:sp>
        <p:nvSpPr>
          <p:cNvPr id="8204" name="Oval 12"/>
          <p:cNvSpPr>
            <a:spLocks noChangeArrowheads="1"/>
          </p:cNvSpPr>
          <p:nvPr/>
        </p:nvSpPr>
        <p:spPr bwMode="auto">
          <a:xfrm>
            <a:off x="7467600" y="2743200"/>
            <a:ext cx="533400" cy="533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US" altLang="en-US"/>
              <a:t>s,1</a:t>
            </a:r>
          </a:p>
        </p:txBody>
      </p:sp>
      <p:sp>
        <p:nvSpPr>
          <p:cNvPr id="8205" name="Oval 13"/>
          <p:cNvSpPr>
            <a:spLocks noChangeArrowheads="1"/>
          </p:cNvSpPr>
          <p:nvPr/>
        </p:nvSpPr>
        <p:spPr bwMode="auto">
          <a:xfrm>
            <a:off x="7086600" y="1981200"/>
            <a:ext cx="533400" cy="533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US" altLang="en-US"/>
              <a:t>2</a:t>
            </a:r>
          </a:p>
        </p:txBody>
      </p:sp>
      <p:sp>
        <p:nvSpPr>
          <p:cNvPr id="8206" name="Line 14"/>
          <p:cNvSpPr>
            <a:spLocks noChangeShapeType="1"/>
          </p:cNvSpPr>
          <p:nvPr/>
        </p:nvSpPr>
        <p:spPr bwMode="auto">
          <a:xfrm flipH="1">
            <a:off x="7086600" y="2438400"/>
            <a:ext cx="1524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07" name="Line 15"/>
          <p:cNvSpPr>
            <a:spLocks noChangeShapeType="1"/>
          </p:cNvSpPr>
          <p:nvPr/>
        </p:nvSpPr>
        <p:spPr bwMode="auto">
          <a:xfrm>
            <a:off x="7467600" y="2438400"/>
            <a:ext cx="2286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08" name="Oval 16"/>
          <p:cNvSpPr>
            <a:spLocks noChangeArrowheads="1"/>
          </p:cNvSpPr>
          <p:nvPr/>
        </p:nvSpPr>
        <p:spPr bwMode="auto">
          <a:xfrm>
            <a:off x="5715000" y="1981200"/>
            <a:ext cx="533400" cy="533400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US" altLang="en-US"/>
              <a:t>2</a:t>
            </a:r>
          </a:p>
        </p:txBody>
      </p:sp>
      <p:sp>
        <p:nvSpPr>
          <p:cNvPr id="8209" name="Line 17"/>
          <p:cNvSpPr>
            <a:spLocks noChangeShapeType="1"/>
          </p:cNvSpPr>
          <p:nvPr/>
        </p:nvSpPr>
        <p:spPr bwMode="auto">
          <a:xfrm flipH="1">
            <a:off x="5715000" y="2438400"/>
            <a:ext cx="1524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10" name="Line 18"/>
          <p:cNvSpPr>
            <a:spLocks noChangeShapeType="1"/>
          </p:cNvSpPr>
          <p:nvPr/>
        </p:nvSpPr>
        <p:spPr bwMode="auto">
          <a:xfrm>
            <a:off x="6096000" y="2438400"/>
            <a:ext cx="2286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70478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Huffman Coding</a:t>
            </a:r>
          </a:p>
        </p:txBody>
      </p:sp>
      <p:sp>
        <p:nvSpPr>
          <p:cNvPr id="9219" name="Oval 3"/>
          <p:cNvSpPr>
            <a:spLocks noChangeArrowheads="1"/>
          </p:cNvSpPr>
          <p:nvPr/>
        </p:nvSpPr>
        <p:spPr bwMode="auto">
          <a:xfrm>
            <a:off x="990600" y="1981200"/>
            <a:ext cx="533400" cy="533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US" altLang="en-US"/>
              <a:t>e,3</a:t>
            </a:r>
          </a:p>
        </p:txBody>
      </p:sp>
      <p:sp>
        <p:nvSpPr>
          <p:cNvPr id="9220" name="Oval 4"/>
          <p:cNvSpPr>
            <a:spLocks noChangeArrowheads="1"/>
          </p:cNvSpPr>
          <p:nvPr/>
        </p:nvSpPr>
        <p:spPr bwMode="auto">
          <a:xfrm>
            <a:off x="1752600" y="1981200"/>
            <a:ext cx="533400" cy="533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US" altLang="en-US"/>
              <a:t>d,2</a:t>
            </a:r>
          </a:p>
        </p:txBody>
      </p:sp>
      <p:sp>
        <p:nvSpPr>
          <p:cNvPr id="9221" name="Oval 5"/>
          <p:cNvSpPr>
            <a:spLocks noChangeArrowheads="1"/>
          </p:cNvSpPr>
          <p:nvPr/>
        </p:nvSpPr>
        <p:spPr bwMode="auto">
          <a:xfrm>
            <a:off x="2514600" y="1981200"/>
            <a:ext cx="533400" cy="533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US" altLang="en-US"/>
              <a:t>u,2</a:t>
            </a:r>
          </a:p>
        </p:txBody>
      </p:sp>
      <p:sp>
        <p:nvSpPr>
          <p:cNvPr id="9222" name="Oval 6"/>
          <p:cNvSpPr>
            <a:spLocks noChangeArrowheads="1"/>
          </p:cNvSpPr>
          <p:nvPr/>
        </p:nvSpPr>
        <p:spPr bwMode="auto">
          <a:xfrm>
            <a:off x="3276600" y="1981200"/>
            <a:ext cx="533400" cy="533400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US" altLang="en-US"/>
              <a:t>l,2</a:t>
            </a:r>
          </a:p>
        </p:txBody>
      </p:sp>
      <p:sp>
        <p:nvSpPr>
          <p:cNvPr id="9223" name="Oval 7"/>
          <p:cNvSpPr>
            <a:spLocks noChangeArrowheads="1"/>
          </p:cNvSpPr>
          <p:nvPr/>
        </p:nvSpPr>
        <p:spPr bwMode="auto">
          <a:xfrm>
            <a:off x="3962400" y="1981200"/>
            <a:ext cx="533400" cy="533400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US" altLang="en-US"/>
              <a:t>sp,2</a:t>
            </a:r>
          </a:p>
        </p:txBody>
      </p:sp>
      <p:sp>
        <p:nvSpPr>
          <p:cNvPr id="9224" name="Oval 8"/>
          <p:cNvSpPr>
            <a:spLocks noChangeArrowheads="1"/>
          </p:cNvSpPr>
          <p:nvPr/>
        </p:nvSpPr>
        <p:spPr bwMode="auto">
          <a:xfrm>
            <a:off x="4724400" y="2743200"/>
            <a:ext cx="533400" cy="533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US" altLang="en-US"/>
              <a:t>k,1</a:t>
            </a:r>
          </a:p>
        </p:txBody>
      </p:sp>
      <p:grpSp>
        <p:nvGrpSpPr>
          <p:cNvPr id="9225" name="Group 20"/>
          <p:cNvGrpSpPr>
            <a:grpSpLocks/>
          </p:cNvGrpSpPr>
          <p:nvPr/>
        </p:nvGrpSpPr>
        <p:grpSpPr bwMode="auto">
          <a:xfrm>
            <a:off x="6781800" y="1981200"/>
            <a:ext cx="1219200" cy="1295400"/>
            <a:chOff x="4272" y="1248"/>
            <a:chExt cx="768" cy="816"/>
          </a:xfrm>
        </p:grpSpPr>
        <p:sp>
          <p:nvSpPr>
            <p:cNvPr id="9237" name="Oval 11"/>
            <p:cNvSpPr>
              <a:spLocks noChangeArrowheads="1"/>
            </p:cNvSpPr>
            <p:nvPr/>
          </p:nvSpPr>
          <p:spPr bwMode="auto">
            <a:xfrm>
              <a:off x="4272" y="1728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/>
              <a:r>
                <a:rPr lang="en-US" altLang="en-US"/>
                <a:t>i,1</a:t>
              </a:r>
            </a:p>
          </p:txBody>
        </p:sp>
        <p:sp>
          <p:nvSpPr>
            <p:cNvPr id="9238" name="Oval 12"/>
            <p:cNvSpPr>
              <a:spLocks noChangeArrowheads="1"/>
            </p:cNvSpPr>
            <p:nvPr/>
          </p:nvSpPr>
          <p:spPr bwMode="auto">
            <a:xfrm>
              <a:off x="4704" y="1728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/>
              <a:r>
                <a:rPr lang="en-US" altLang="en-US"/>
                <a:t>s,1</a:t>
              </a:r>
            </a:p>
          </p:txBody>
        </p:sp>
        <p:sp>
          <p:nvSpPr>
            <p:cNvPr id="9239" name="Oval 13"/>
            <p:cNvSpPr>
              <a:spLocks noChangeArrowheads="1"/>
            </p:cNvSpPr>
            <p:nvPr/>
          </p:nvSpPr>
          <p:spPr bwMode="auto">
            <a:xfrm>
              <a:off x="4464" y="1248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/>
              <a:r>
                <a:rPr lang="en-US" altLang="en-US"/>
                <a:t>2</a:t>
              </a:r>
            </a:p>
          </p:txBody>
        </p:sp>
        <p:sp>
          <p:nvSpPr>
            <p:cNvPr id="9240" name="Line 14"/>
            <p:cNvSpPr>
              <a:spLocks noChangeShapeType="1"/>
            </p:cNvSpPr>
            <p:nvPr/>
          </p:nvSpPr>
          <p:spPr bwMode="auto">
            <a:xfrm flipH="1">
              <a:off x="4464" y="1536"/>
              <a:ext cx="96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41" name="Line 15"/>
            <p:cNvSpPr>
              <a:spLocks noChangeShapeType="1"/>
            </p:cNvSpPr>
            <p:nvPr/>
          </p:nvSpPr>
          <p:spPr bwMode="auto">
            <a:xfrm>
              <a:off x="4704" y="1536"/>
              <a:ext cx="144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226" name="Group 19"/>
          <p:cNvGrpSpPr>
            <a:grpSpLocks/>
          </p:cNvGrpSpPr>
          <p:nvPr/>
        </p:nvGrpSpPr>
        <p:grpSpPr bwMode="auto">
          <a:xfrm>
            <a:off x="5410200" y="2743200"/>
            <a:ext cx="1219200" cy="1295400"/>
            <a:chOff x="3408" y="1248"/>
            <a:chExt cx="768" cy="816"/>
          </a:xfrm>
        </p:grpSpPr>
        <p:sp>
          <p:nvSpPr>
            <p:cNvPr id="9232" name="Oval 9"/>
            <p:cNvSpPr>
              <a:spLocks noChangeArrowheads="1"/>
            </p:cNvSpPr>
            <p:nvPr/>
          </p:nvSpPr>
          <p:spPr bwMode="auto">
            <a:xfrm>
              <a:off x="3408" y="1728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/>
              <a:r>
                <a:rPr lang="en-US" altLang="en-US"/>
                <a:t>b,1</a:t>
              </a:r>
            </a:p>
          </p:txBody>
        </p:sp>
        <p:sp>
          <p:nvSpPr>
            <p:cNvPr id="9233" name="Oval 10"/>
            <p:cNvSpPr>
              <a:spLocks noChangeArrowheads="1"/>
            </p:cNvSpPr>
            <p:nvPr/>
          </p:nvSpPr>
          <p:spPr bwMode="auto">
            <a:xfrm>
              <a:off x="3840" y="1728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/>
              <a:r>
                <a:rPr lang="en-US" altLang="en-US"/>
                <a:t>v,1</a:t>
              </a:r>
            </a:p>
          </p:txBody>
        </p:sp>
        <p:sp>
          <p:nvSpPr>
            <p:cNvPr id="9234" name="Oval 16"/>
            <p:cNvSpPr>
              <a:spLocks noChangeArrowheads="1"/>
            </p:cNvSpPr>
            <p:nvPr/>
          </p:nvSpPr>
          <p:spPr bwMode="auto">
            <a:xfrm>
              <a:off x="3600" y="1248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/>
              <a:r>
                <a:rPr lang="en-US" altLang="en-US"/>
                <a:t>2</a:t>
              </a:r>
            </a:p>
          </p:txBody>
        </p:sp>
        <p:sp>
          <p:nvSpPr>
            <p:cNvPr id="9235" name="Line 17"/>
            <p:cNvSpPr>
              <a:spLocks noChangeShapeType="1"/>
            </p:cNvSpPr>
            <p:nvPr/>
          </p:nvSpPr>
          <p:spPr bwMode="auto">
            <a:xfrm flipH="1">
              <a:off x="3600" y="1536"/>
              <a:ext cx="96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36" name="Line 18"/>
            <p:cNvSpPr>
              <a:spLocks noChangeShapeType="1"/>
            </p:cNvSpPr>
            <p:nvPr/>
          </p:nvSpPr>
          <p:spPr bwMode="auto">
            <a:xfrm>
              <a:off x="3840" y="1536"/>
              <a:ext cx="144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227" name="Line 21"/>
          <p:cNvSpPr>
            <a:spLocks noChangeShapeType="1"/>
          </p:cNvSpPr>
          <p:nvPr/>
        </p:nvSpPr>
        <p:spPr bwMode="auto">
          <a:xfrm flipH="1">
            <a:off x="7086600" y="2438400"/>
            <a:ext cx="1524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28" name="Line 22"/>
          <p:cNvSpPr>
            <a:spLocks noChangeShapeType="1"/>
          </p:cNvSpPr>
          <p:nvPr/>
        </p:nvSpPr>
        <p:spPr bwMode="auto">
          <a:xfrm>
            <a:off x="7467600" y="2438400"/>
            <a:ext cx="2286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29" name="Oval 25"/>
          <p:cNvSpPr>
            <a:spLocks noChangeArrowheads="1"/>
          </p:cNvSpPr>
          <p:nvPr/>
        </p:nvSpPr>
        <p:spPr bwMode="auto">
          <a:xfrm>
            <a:off x="5181600" y="1981200"/>
            <a:ext cx="533400" cy="533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US" altLang="en-US"/>
              <a:t>3</a:t>
            </a:r>
          </a:p>
        </p:txBody>
      </p:sp>
      <p:sp>
        <p:nvSpPr>
          <p:cNvPr id="9230" name="Line 26"/>
          <p:cNvSpPr>
            <a:spLocks noChangeShapeType="1"/>
          </p:cNvSpPr>
          <p:nvPr/>
        </p:nvSpPr>
        <p:spPr bwMode="auto">
          <a:xfrm flipH="1">
            <a:off x="5029200" y="2438400"/>
            <a:ext cx="228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31" name="Line 27"/>
          <p:cNvSpPr>
            <a:spLocks noChangeShapeType="1"/>
          </p:cNvSpPr>
          <p:nvPr/>
        </p:nvSpPr>
        <p:spPr bwMode="auto">
          <a:xfrm>
            <a:off x="5562600" y="2438400"/>
            <a:ext cx="228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114760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Huffman Coding</a:t>
            </a:r>
          </a:p>
        </p:txBody>
      </p:sp>
      <p:sp>
        <p:nvSpPr>
          <p:cNvPr id="10243" name="Oval 3"/>
          <p:cNvSpPr>
            <a:spLocks noChangeArrowheads="1"/>
          </p:cNvSpPr>
          <p:nvPr/>
        </p:nvSpPr>
        <p:spPr bwMode="auto">
          <a:xfrm>
            <a:off x="990600" y="1981200"/>
            <a:ext cx="533400" cy="533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US" altLang="en-US"/>
              <a:t>e,3</a:t>
            </a:r>
          </a:p>
        </p:txBody>
      </p:sp>
      <p:sp>
        <p:nvSpPr>
          <p:cNvPr id="10244" name="Oval 4"/>
          <p:cNvSpPr>
            <a:spLocks noChangeArrowheads="1"/>
          </p:cNvSpPr>
          <p:nvPr/>
        </p:nvSpPr>
        <p:spPr bwMode="auto">
          <a:xfrm>
            <a:off x="1752600" y="1981200"/>
            <a:ext cx="533400" cy="533400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US" altLang="en-US"/>
              <a:t>d,2</a:t>
            </a:r>
          </a:p>
        </p:txBody>
      </p:sp>
      <p:sp>
        <p:nvSpPr>
          <p:cNvPr id="10245" name="Oval 5"/>
          <p:cNvSpPr>
            <a:spLocks noChangeArrowheads="1"/>
          </p:cNvSpPr>
          <p:nvPr/>
        </p:nvSpPr>
        <p:spPr bwMode="auto">
          <a:xfrm>
            <a:off x="2514600" y="1981200"/>
            <a:ext cx="533400" cy="533400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US" altLang="en-US"/>
              <a:t>u,2</a:t>
            </a:r>
          </a:p>
        </p:txBody>
      </p:sp>
      <p:sp>
        <p:nvSpPr>
          <p:cNvPr id="10246" name="Oval 6"/>
          <p:cNvSpPr>
            <a:spLocks noChangeArrowheads="1"/>
          </p:cNvSpPr>
          <p:nvPr/>
        </p:nvSpPr>
        <p:spPr bwMode="auto">
          <a:xfrm>
            <a:off x="3276600" y="2743200"/>
            <a:ext cx="533400" cy="533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US" altLang="en-US"/>
              <a:t>l,2</a:t>
            </a:r>
          </a:p>
        </p:txBody>
      </p:sp>
      <p:sp>
        <p:nvSpPr>
          <p:cNvPr id="10247" name="Oval 7"/>
          <p:cNvSpPr>
            <a:spLocks noChangeArrowheads="1"/>
          </p:cNvSpPr>
          <p:nvPr/>
        </p:nvSpPr>
        <p:spPr bwMode="auto">
          <a:xfrm>
            <a:off x="3962400" y="2743200"/>
            <a:ext cx="533400" cy="533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US" altLang="en-US"/>
              <a:t>sp,2</a:t>
            </a:r>
          </a:p>
        </p:txBody>
      </p:sp>
      <p:sp>
        <p:nvSpPr>
          <p:cNvPr id="10248" name="Oval 8"/>
          <p:cNvSpPr>
            <a:spLocks noChangeArrowheads="1"/>
          </p:cNvSpPr>
          <p:nvPr/>
        </p:nvSpPr>
        <p:spPr bwMode="auto">
          <a:xfrm>
            <a:off x="4724400" y="2743200"/>
            <a:ext cx="533400" cy="533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US" altLang="en-US"/>
              <a:t>k,1</a:t>
            </a:r>
          </a:p>
        </p:txBody>
      </p:sp>
      <p:grpSp>
        <p:nvGrpSpPr>
          <p:cNvPr id="10249" name="Group 9"/>
          <p:cNvGrpSpPr>
            <a:grpSpLocks/>
          </p:cNvGrpSpPr>
          <p:nvPr/>
        </p:nvGrpSpPr>
        <p:grpSpPr bwMode="auto">
          <a:xfrm>
            <a:off x="6781800" y="1981200"/>
            <a:ext cx="1219200" cy="1295400"/>
            <a:chOff x="4272" y="1248"/>
            <a:chExt cx="768" cy="816"/>
          </a:xfrm>
        </p:grpSpPr>
        <p:sp>
          <p:nvSpPr>
            <p:cNvPr id="10264" name="Oval 10"/>
            <p:cNvSpPr>
              <a:spLocks noChangeArrowheads="1"/>
            </p:cNvSpPr>
            <p:nvPr/>
          </p:nvSpPr>
          <p:spPr bwMode="auto">
            <a:xfrm>
              <a:off x="4272" y="1728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/>
              <a:r>
                <a:rPr lang="en-US" altLang="en-US"/>
                <a:t>i,1</a:t>
              </a:r>
            </a:p>
          </p:txBody>
        </p:sp>
        <p:sp>
          <p:nvSpPr>
            <p:cNvPr id="10265" name="Oval 11"/>
            <p:cNvSpPr>
              <a:spLocks noChangeArrowheads="1"/>
            </p:cNvSpPr>
            <p:nvPr/>
          </p:nvSpPr>
          <p:spPr bwMode="auto">
            <a:xfrm>
              <a:off x="4704" y="1728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/>
              <a:r>
                <a:rPr lang="en-US" altLang="en-US"/>
                <a:t>s,1</a:t>
              </a:r>
            </a:p>
          </p:txBody>
        </p:sp>
        <p:sp>
          <p:nvSpPr>
            <p:cNvPr id="10266" name="Oval 12"/>
            <p:cNvSpPr>
              <a:spLocks noChangeArrowheads="1"/>
            </p:cNvSpPr>
            <p:nvPr/>
          </p:nvSpPr>
          <p:spPr bwMode="auto">
            <a:xfrm>
              <a:off x="4464" y="1248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/>
              <a:r>
                <a:rPr lang="en-US" altLang="en-US"/>
                <a:t>2</a:t>
              </a:r>
            </a:p>
          </p:txBody>
        </p:sp>
        <p:sp>
          <p:nvSpPr>
            <p:cNvPr id="10267" name="Line 13"/>
            <p:cNvSpPr>
              <a:spLocks noChangeShapeType="1"/>
            </p:cNvSpPr>
            <p:nvPr/>
          </p:nvSpPr>
          <p:spPr bwMode="auto">
            <a:xfrm flipH="1">
              <a:off x="4464" y="1536"/>
              <a:ext cx="96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68" name="Line 14"/>
            <p:cNvSpPr>
              <a:spLocks noChangeShapeType="1"/>
            </p:cNvSpPr>
            <p:nvPr/>
          </p:nvSpPr>
          <p:spPr bwMode="auto">
            <a:xfrm>
              <a:off x="4704" y="1536"/>
              <a:ext cx="144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250" name="Group 15"/>
          <p:cNvGrpSpPr>
            <a:grpSpLocks/>
          </p:cNvGrpSpPr>
          <p:nvPr/>
        </p:nvGrpSpPr>
        <p:grpSpPr bwMode="auto">
          <a:xfrm>
            <a:off x="5410200" y="2743200"/>
            <a:ext cx="1219200" cy="1295400"/>
            <a:chOff x="3408" y="1248"/>
            <a:chExt cx="768" cy="816"/>
          </a:xfrm>
        </p:grpSpPr>
        <p:sp>
          <p:nvSpPr>
            <p:cNvPr id="10259" name="Oval 16"/>
            <p:cNvSpPr>
              <a:spLocks noChangeArrowheads="1"/>
            </p:cNvSpPr>
            <p:nvPr/>
          </p:nvSpPr>
          <p:spPr bwMode="auto">
            <a:xfrm>
              <a:off x="3408" y="1728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/>
              <a:r>
                <a:rPr lang="en-US" altLang="en-US"/>
                <a:t>b,1</a:t>
              </a:r>
            </a:p>
          </p:txBody>
        </p:sp>
        <p:sp>
          <p:nvSpPr>
            <p:cNvPr id="10260" name="Oval 17"/>
            <p:cNvSpPr>
              <a:spLocks noChangeArrowheads="1"/>
            </p:cNvSpPr>
            <p:nvPr/>
          </p:nvSpPr>
          <p:spPr bwMode="auto">
            <a:xfrm>
              <a:off x="3840" y="1728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/>
              <a:r>
                <a:rPr lang="en-US" altLang="en-US"/>
                <a:t>v,1</a:t>
              </a:r>
            </a:p>
          </p:txBody>
        </p:sp>
        <p:sp>
          <p:nvSpPr>
            <p:cNvPr id="10261" name="Oval 18"/>
            <p:cNvSpPr>
              <a:spLocks noChangeArrowheads="1"/>
            </p:cNvSpPr>
            <p:nvPr/>
          </p:nvSpPr>
          <p:spPr bwMode="auto">
            <a:xfrm>
              <a:off x="3600" y="1248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/>
              <a:r>
                <a:rPr lang="en-US" altLang="en-US"/>
                <a:t>2</a:t>
              </a:r>
            </a:p>
          </p:txBody>
        </p:sp>
        <p:sp>
          <p:nvSpPr>
            <p:cNvPr id="10262" name="Line 19"/>
            <p:cNvSpPr>
              <a:spLocks noChangeShapeType="1"/>
            </p:cNvSpPr>
            <p:nvPr/>
          </p:nvSpPr>
          <p:spPr bwMode="auto">
            <a:xfrm flipH="1">
              <a:off x="3600" y="1536"/>
              <a:ext cx="96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63" name="Line 20"/>
            <p:cNvSpPr>
              <a:spLocks noChangeShapeType="1"/>
            </p:cNvSpPr>
            <p:nvPr/>
          </p:nvSpPr>
          <p:spPr bwMode="auto">
            <a:xfrm>
              <a:off x="3840" y="1536"/>
              <a:ext cx="144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251" name="Line 21"/>
          <p:cNvSpPr>
            <a:spLocks noChangeShapeType="1"/>
          </p:cNvSpPr>
          <p:nvPr/>
        </p:nvSpPr>
        <p:spPr bwMode="auto">
          <a:xfrm flipH="1">
            <a:off x="7086600" y="2438400"/>
            <a:ext cx="1524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52" name="Line 22"/>
          <p:cNvSpPr>
            <a:spLocks noChangeShapeType="1"/>
          </p:cNvSpPr>
          <p:nvPr/>
        </p:nvSpPr>
        <p:spPr bwMode="auto">
          <a:xfrm>
            <a:off x="7467600" y="2438400"/>
            <a:ext cx="2286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53" name="Oval 23"/>
          <p:cNvSpPr>
            <a:spLocks noChangeArrowheads="1"/>
          </p:cNvSpPr>
          <p:nvPr/>
        </p:nvSpPr>
        <p:spPr bwMode="auto">
          <a:xfrm>
            <a:off x="5181600" y="1981200"/>
            <a:ext cx="533400" cy="533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US" altLang="en-US"/>
              <a:t>3</a:t>
            </a:r>
          </a:p>
        </p:txBody>
      </p:sp>
      <p:sp>
        <p:nvSpPr>
          <p:cNvPr id="10254" name="Line 24"/>
          <p:cNvSpPr>
            <a:spLocks noChangeShapeType="1"/>
          </p:cNvSpPr>
          <p:nvPr/>
        </p:nvSpPr>
        <p:spPr bwMode="auto">
          <a:xfrm flipH="1">
            <a:off x="5029200" y="2438400"/>
            <a:ext cx="228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55" name="Line 25"/>
          <p:cNvSpPr>
            <a:spLocks noChangeShapeType="1"/>
          </p:cNvSpPr>
          <p:nvPr/>
        </p:nvSpPr>
        <p:spPr bwMode="auto">
          <a:xfrm>
            <a:off x="5562600" y="2438400"/>
            <a:ext cx="228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56" name="Oval 26"/>
          <p:cNvSpPr>
            <a:spLocks noChangeArrowheads="1"/>
          </p:cNvSpPr>
          <p:nvPr/>
        </p:nvSpPr>
        <p:spPr bwMode="auto">
          <a:xfrm>
            <a:off x="3657600" y="1981200"/>
            <a:ext cx="533400" cy="533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US" altLang="en-US"/>
              <a:t>4</a:t>
            </a:r>
          </a:p>
        </p:txBody>
      </p:sp>
      <p:sp>
        <p:nvSpPr>
          <p:cNvPr id="10257" name="Line 27"/>
          <p:cNvSpPr>
            <a:spLocks noChangeShapeType="1"/>
          </p:cNvSpPr>
          <p:nvPr/>
        </p:nvSpPr>
        <p:spPr bwMode="auto">
          <a:xfrm flipH="1">
            <a:off x="3505200" y="2438400"/>
            <a:ext cx="228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58" name="Line 28"/>
          <p:cNvSpPr>
            <a:spLocks noChangeShapeType="1"/>
          </p:cNvSpPr>
          <p:nvPr/>
        </p:nvSpPr>
        <p:spPr bwMode="auto">
          <a:xfrm>
            <a:off x="4038600" y="2438400"/>
            <a:ext cx="228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960352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Huffman Coding</a:t>
            </a:r>
          </a:p>
        </p:txBody>
      </p:sp>
      <p:sp>
        <p:nvSpPr>
          <p:cNvPr id="11267" name="Oval 3"/>
          <p:cNvSpPr>
            <a:spLocks noChangeArrowheads="1"/>
          </p:cNvSpPr>
          <p:nvPr/>
        </p:nvSpPr>
        <p:spPr bwMode="auto">
          <a:xfrm>
            <a:off x="990600" y="1981200"/>
            <a:ext cx="533400" cy="533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US" altLang="en-US"/>
              <a:t>e,3</a:t>
            </a:r>
          </a:p>
        </p:txBody>
      </p:sp>
      <p:sp>
        <p:nvSpPr>
          <p:cNvPr id="11268" name="Oval 4"/>
          <p:cNvSpPr>
            <a:spLocks noChangeArrowheads="1"/>
          </p:cNvSpPr>
          <p:nvPr/>
        </p:nvSpPr>
        <p:spPr bwMode="auto">
          <a:xfrm>
            <a:off x="1752600" y="2743200"/>
            <a:ext cx="533400" cy="533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US" altLang="en-US"/>
              <a:t>d,2</a:t>
            </a:r>
          </a:p>
        </p:txBody>
      </p:sp>
      <p:sp>
        <p:nvSpPr>
          <p:cNvPr id="11269" name="Oval 5"/>
          <p:cNvSpPr>
            <a:spLocks noChangeArrowheads="1"/>
          </p:cNvSpPr>
          <p:nvPr/>
        </p:nvSpPr>
        <p:spPr bwMode="auto">
          <a:xfrm>
            <a:off x="2514600" y="2743200"/>
            <a:ext cx="533400" cy="533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US" altLang="en-US"/>
              <a:t>u,2</a:t>
            </a:r>
          </a:p>
        </p:txBody>
      </p:sp>
      <p:sp>
        <p:nvSpPr>
          <p:cNvPr id="11270" name="Oval 6"/>
          <p:cNvSpPr>
            <a:spLocks noChangeArrowheads="1"/>
          </p:cNvSpPr>
          <p:nvPr/>
        </p:nvSpPr>
        <p:spPr bwMode="auto">
          <a:xfrm>
            <a:off x="3276600" y="2743200"/>
            <a:ext cx="533400" cy="533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US" altLang="en-US"/>
              <a:t>l,2</a:t>
            </a:r>
          </a:p>
        </p:txBody>
      </p:sp>
      <p:sp>
        <p:nvSpPr>
          <p:cNvPr id="11271" name="Oval 7"/>
          <p:cNvSpPr>
            <a:spLocks noChangeArrowheads="1"/>
          </p:cNvSpPr>
          <p:nvPr/>
        </p:nvSpPr>
        <p:spPr bwMode="auto">
          <a:xfrm>
            <a:off x="3962400" y="2743200"/>
            <a:ext cx="533400" cy="533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US" altLang="en-US"/>
              <a:t>sp,2</a:t>
            </a:r>
          </a:p>
        </p:txBody>
      </p:sp>
      <p:sp>
        <p:nvSpPr>
          <p:cNvPr id="11272" name="Oval 8"/>
          <p:cNvSpPr>
            <a:spLocks noChangeArrowheads="1"/>
          </p:cNvSpPr>
          <p:nvPr/>
        </p:nvSpPr>
        <p:spPr bwMode="auto">
          <a:xfrm>
            <a:off x="4724400" y="2743200"/>
            <a:ext cx="533400" cy="533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US" altLang="en-US"/>
              <a:t>k,1</a:t>
            </a:r>
          </a:p>
        </p:txBody>
      </p:sp>
      <p:sp>
        <p:nvSpPr>
          <p:cNvPr id="11273" name="Oval 10"/>
          <p:cNvSpPr>
            <a:spLocks noChangeArrowheads="1"/>
          </p:cNvSpPr>
          <p:nvPr/>
        </p:nvSpPr>
        <p:spPr bwMode="auto">
          <a:xfrm>
            <a:off x="6781800" y="2743200"/>
            <a:ext cx="533400" cy="533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US" altLang="en-US"/>
              <a:t>i,1</a:t>
            </a:r>
          </a:p>
        </p:txBody>
      </p:sp>
      <p:sp>
        <p:nvSpPr>
          <p:cNvPr id="11274" name="Oval 11"/>
          <p:cNvSpPr>
            <a:spLocks noChangeArrowheads="1"/>
          </p:cNvSpPr>
          <p:nvPr/>
        </p:nvSpPr>
        <p:spPr bwMode="auto">
          <a:xfrm>
            <a:off x="7467600" y="2743200"/>
            <a:ext cx="533400" cy="533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US" altLang="en-US"/>
              <a:t>s,1</a:t>
            </a:r>
          </a:p>
        </p:txBody>
      </p:sp>
      <p:sp>
        <p:nvSpPr>
          <p:cNvPr id="11275" name="Oval 12"/>
          <p:cNvSpPr>
            <a:spLocks noChangeArrowheads="1"/>
          </p:cNvSpPr>
          <p:nvPr/>
        </p:nvSpPr>
        <p:spPr bwMode="auto">
          <a:xfrm>
            <a:off x="7086600" y="1981200"/>
            <a:ext cx="533400" cy="533400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US" altLang="en-US"/>
              <a:t>2</a:t>
            </a:r>
          </a:p>
        </p:txBody>
      </p:sp>
      <p:sp>
        <p:nvSpPr>
          <p:cNvPr id="11276" name="Line 13"/>
          <p:cNvSpPr>
            <a:spLocks noChangeShapeType="1"/>
          </p:cNvSpPr>
          <p:nvPr/>
        </p:nvSpPr>
        <p:spPr bwMode="auto">
          <a:xfrm flipH="1">
            <a:off x="7086600" y="2438400"/>
            <a:ext cx="1524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77" name="Line 14"/>
          <p:cNvSpPr>
            <a:spLocks noChangeShapeType="1"/>
          </p:cNvSpPr>
          <p:nvPr/>
        </p:nvSpPr>
        <p:spPr bwMode="auto">
          <a:xfrm>
            <a:off x="7467600" y="2438400"/>
            <a:ext cx="2286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11278" name="Group 15"/>
          <p:cNvGrpSpPr>
            <a:grpSpLocks/>
          </p:cNvGrpSpPr>
          <p:nvPr/>
        </p:nvGrpSpPr>
        <p:grpSpPr bwMode="auto">
          <a:xfrm>
            <a:off x="5410200" y="2743200"/>
            <a:ext cx="1219200" cy="1295400"/>
            <a:chOff x="3408" y="1248"/>
            <a:chExt cx="768" cy="816"/>
          </a:xfrm>
        </p:grpSpPr>
        <p:sp>
          <p:nvSpPr>
            <p:cNvPr id="11290" name="Oval 16"/>
            <p:cNvSpPr>
              <a:spLocks noChangeArrowheads="1"/>
            </p:cNvSpPr>
            <p:nvPr/>
          </p:nvSpPr>
          <p:spPr bwMode="auto">
            <a:xfrm>
              <a:off x="3408" y="1728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/>
              <a:r>
                <a:rPr lang="en-US" altLang="en-US"/>
                <a:t>b,1</a:t>
              </a:r>
            </a:p>
          </p:txBody>
        </p:sp>
        <p:sp>
          <p:nvSpPr>
            <p:cNvPr id="11291" name="Oval 17"/>
            <p:cNvSpPr>
              <a:spLocks noChangeArrowheads="1"/>
            </p:cNvSpPr>
            <p:nvPr/>
          </p:nvSpPr>
          <p:spPr bwMode="auto">
            <a:xfrm>
              <a:off x="3840" y="1728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/>
              <a:r>
                <a:rPr lang="en-US" altLang="en-US"/>
                <a:t>v,1</a:t>
              </a:r>
            </a:p>
          </p:txBody>
        </p:sp>
        <p:sp>
          <p:nvSpPr>
            <p:cNvPr id="11292" name="Oval 18"/>
            <p:cNvSpPr>
              <a:spLocks noChangeArrowheads="1"/>
            </p:cNvSpPr>
            <p:nvPr/>
          </p:nvSpPr>
          <p:spPr bwMode="auto">
            <a:xfrm>
              <a:off x="3600" y="1248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/>
              <a:r>
                <a:rPr lang="en-US" altLang="en-US"/>
                <a:t>2</a:t>
              </a:r>
            </a:p>
          </p:txBody>
        </p:sp>
        <p:sp>
          <p:nvSpPr>
            <p:cNvPr id="11293" name="Line 19"/>
            <p:cNvSpPr>
              <a:spLocks noChangeShapeType="1"/>
            </p:cNvSpPr>
            <p:nvPr/>
          </p:nvSpPr>
          <p:spPr bwMode="auto">
            <a:xfrm flipH="1">
              <a:off x="3600" y="1536"/>
              <a:ext cx="96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94" name="Line 20"/>
            <p:cNvSpPr>
              <a:spLocks noChangeShapeType="1"/>
            </p:cNvSpPr>
            <p:nvPr/>
          </p:nvSpPr>
          <p:spPr bwMode="auto">
            <a:xfrm>
              <a:off x="3840" y="1536"/>
              <a:ext cx="144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1279" name="Line 21"/>
          <p:cNvSpPr>
            <a:spLocks noChangeShapeType="1"/>
          </p:cNvSpPr>
          <p:nvPr/>
        </p:nvSpPr>
        <p:spPr bwMode="auto">
          <a:xfrm flipH="1">
            <a:off x="7086600" y="2438400"/>
            <a:ext cx="1524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80" name="Line 22"/>
          <p:cNvSpPr>
            <a:spLocks noChangeShapeType="1"/>
          </p:cNvSpPr>
          <p:nvPr/>
        </p:nvSpPr>
        <p:spPr bwMode="auto">
          <a:xfrm>
            <a:off x="7467600" y="2438400"/>
            <a:ext cx="2286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81" name="Oval 23"/>
          <p:cNvSpPr>
            <a:spLocks noChangeArrowheads="1"/>
          </p:cNvSpPr>
          <p:nvPr/>
        </p:nvSpPr>
        <p:spPr bwMode="auto">
          <a:xfrm>
            <a:off x="5181600" y="1981200"/>
            <a:ext cx="533400" cy="533400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US" altLang="en-US"/>
              <a:t>3</a:t>
            </a:r>
          </a:p>
        </p:txBody>
      </p:sp>
      <p:sp>
        <p:nvSpPr>
          <p:cNvPr id="11282" name="Line 24"/>
          <p:cNvSpPr>
            <a:spLocks noChangeShapeType="1"/>
          </p:cNvSpPr>
          <p:nvPr/>
        </p:nvSpPr>
        <p:spPr bwMode="auto">
          <a:xfrm flipH="1">
            <a:off x="5029200" y="2438400"/>
            <a:ext cx="228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83" name="Line 25"/>
          <p:cNvSpPr>
            <a:spLocks noChangeShapeType="1"/>
          </p:cNvSpPr>
          <p:nvPr/>
        </p:nvSpPr>
        <p:spPr bwMode="auto">
          <a:xfrm>
            <a:off x="5562600" y="2438400"/>
            <a:ext cx="228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84" name="Oval 26"/>
          <p:cNvSpPr>
            <a:spLocks noChangeArrowheads="1"/>
          </p:cNvSpPr>
          <p:nvPr/>
        </p:nvSpPr>
        <p:spPr bwMode="auto">
          <a:xfrm>
            <a:off x="3657600" y="1981200"/>
            <a:ext cx="533400" cy="533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US" altLang="en-US"/>
              <a:t>4</a:t>
            </a:r>
          </a:p>
        </p:txBody>
      </p:sp>
      <p:sp>
        <p:nvSpPr>
          <p:cNvPr id="11285" name="Line 27"/>
          <p:cNvSpPr>
            <a:spLocks noChangeShapeType="1"/>
          </p:cNvSpPr>
          <p:nvPr/>
        </p:nvSpPr>
        <p:spPr bwMode="auto">
          <a:xfrm flipH="1">
            <a:off x="3505200" y="2438400"/>
            <a:ext cx="228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86" name="Line 28"/>
          <p:cNvSpPr>
            <a:spLocks noChangeShapeType="1"/>
          </p:cNvSpPr>
          <p:nvPr/>
        </p:nvSpPr>
        <p:spPr bwMode="auto">
          <a:xfrm>
            <a:off x="4038600" y="2438400"/>
            <a:ext cx="228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87" name="Oval 29"/>
          <p:cNvSpPr>
            <a:spLocks noChangeArrowheads="1"/>
          </p:cNvSpPr>
          <p:nvPr/>
        </p:nvSpPr>
        <p:spPr bwMode="auto">
          <a:xfrm>
            <a:off x="2133600" y="1981200"/>
            <a:ext cx="533400" cy="533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US" altLang="en-US"/>
              <a:t>4</a:t>
            </a:r>
          </a:p>
        </p:txBody>
      </p:sp>
      <p:sp>
        <p:nvSpPr>
          <p:cNvPr id="11288" name="Line 30"/>
          <p:cNvSpPr>
            <a:spLocks noChangeShapeType="1"/>
          </p:cNvSpPr>
          <p:nvPr/>
        </p:nvSpPr>
        <p:spPr bwMode="auto">
          <a:xfrm flipH="1">
            <a:off x="1981200" y="2438400"/>
            <a:ext cx="228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89" name="Line 31"/>
          <p:cNvSpPr>
            <a:spLocks noChangeShapeType="1"/>
          </p:cNvSpPr>
          <p:nvPr/>
        </p:nvSpPr>
        <p:spPr bwMode="auto">
          <a:xfrm>
            <a:off x="2514600" y="2438400"/>
            <a:ext cx="228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040182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Huffman Coding</a:t>
            </a:r>
          </a:p>
        </p:txBody>
      </p:sp>
      <p:sp>
        <p:nvSpPr>
          <p:cNvPr id="12291" name="Oval 3"/>
          <p:cNvSpPr>
            <a:spLocks noChangeArrowheads="1"/>
          </p:cNvSpPr>
          <p:nvPr/>
        </p:nvSpPr>
        <p:spPr bwMode="auto">
          <a:xfrm>
            <a:off x="990600" y="1981200"/>
            <a:ext cx="533400" cy="533400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US" altLang="en-US"/>
              <a:t>e,3</a:t>
            </a:r>
          </a:p>
        </p:txBody>
      </p:sp>
      <p:sp>
        <p:nvSpPr>
          <p:cNvPr id="12292" name="Oval 4"/>
          <p:cNvSpPr>
            <a:spLocks noChangeArrowheads="1"/>
          </p:cNvSpPr>
          <p:nvPr/>
        </p:nvSpPr>
        <p:spPr bwMode="auto">
          <a:xfrm>
            <a:off x="1752600" y="2743200"/>
            <a:ext cx="533400" cy="533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US" altLang="en-US"/>
              <a:t>d,2</a:t>
            </a:r>
          </a:p>
        </p:txBody>
      </p:sp>
      <p:sp>
        <p:nvSpPr>
          <p:cNvPr id="12293" name="Oval 5"/>
          <p:cNvSpPr>
            <a:spLocks noChangeArrowheads="1"/>
          </p:cNvSpPr>
          <p:nvPr/>
        </p:nvSpPr>
        <p:spPr bwMode="auto">
          <a:xfrm>
            <a:off x="2514600" y="2743200"/>
            <a:ext cx="533400" cy="533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US" altLang="en-US"/>
              <a:t>u,2</a:t>
            </a:r>
          </a:p>
        </p:txBody>
      </p:sp>
      <p:sp>
        <p:nvSpPr>
          <p:cNvPr id="12294" name="Oval 6"/>
          <p:cNvSpPr>
            <a:spLocks noChangeArrowheads="1"/>
          </p:cNvSpPr>
          <p:nvPr/>
        </p:nvSpPr>
        <p:spPr bwMode="auto">
          <a:xfrm>
            <a:off x="3276600" y="2743200"/>
            <a:ext cx="533400" cy="533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US" altLang="en-US"/>
              <a:t>l,2</a:t>
            </a:r>
          </a:p>
        </p:txBody>
      </p:sp>
      <p:sp>
        <p:nvSpPr>
          <p:cNvPr id="12295" name="Oval 7"/>
          <p:cNvSpPr>
            <a:spLocks noChangeArrowheads="1"/>
          </p:cNvSpPr>
          <p:nvPr/>
        </p:nvSpPr>
        <p:spPr bwMode="auto">
          <a:xfrm>
            <a:off x="3962400" y="2743200"/>
            <a:ext cx="533400" cy="533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US" altLang="en-US"/>
              <a:t>sp,2</a:t>
            </a:r>
          </a:p>
        </p:txBody>
      </p:sp>
      <p:sp>
        <p:nvSpPr>
          <p:cNvPr id="12296" name="Oval 8"/>
          <p:cNvSpPr>
            <a:spLocks noChangeArrowheads="1"/>
          </p:cNvSpPr>
          <p:nvPr/>
        </p:nvSpPr>
        <p:spPr bwMode="auto">
          <a:xfrm>
            <a:off x="6629400" y="3505200"/>
            <a:ext cx="533400" cy="533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US" altLang="en-US"/>
              <a:t>k,1</a:t>
            </a:r>
          </a:p>
        </p:txBody>
      </p:sp>
      <p:grpSp>
        <p:nvGrpSpPr>
          <p:cNvPr id="12297" name="Group 9"/>
          <p:cNvGrpSpPr>
            <a:grpSpLocks/>
          </p:cNvGrpSpPr>
          <p:nvPr/>
        </p:nvGrpSpPr>
        <p:grpSpPr bwMode="auto">
          <a:xfrm>
            <a:off x="4953000" y="2743200"/>
            <a:ext cx="1219200" cy="1295400"/>
            <a:chOff x="4272" y="1248"/>
            <a:chExt cx="768" cy="816"/>
          </a:xfrm>
        </p:grpSpPr>
        <p:sp>
          <p:nvSpPr>
            <p:cNvPr id="12316" name="Oval 10"/>
            <p:cNvSpPr>
              <a:spLocks noChangeArrowheads="1"/>
            </p:cNvSpPr>
            <p:nvPr/>
          </p:nvSpPr>
          <p:spPr bwMode="auto">
            <a:xfrm>
              <a:off x="4272" y="1728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/>
              <a:r>
                <a:rPr lang="en-US" altLang="en-US"/>
                <a:t>i,1</a:t>
              </a:r>
            </a:p>
          </p:txBody>
        </p:sp>
        <p:sp>
          <p:nvSpPr>
            <p:cNvPr id="12317" name="Oval 11"/>
            <p:cNvSpPr>
              <a:spLocks noChangeArrowheads="1"/>
            </p:cNvSpPr>
            <p:nvPr/>
          </p:nvSpPr>
          <p:spPr bwMode="auto">
            <a:xfrm>
              <a:off x="4704" y="1728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/>
              <a:r>
                <a:rPr lang="en-US" altLang="en-US"/>
                <a:t>s,1</a:t>
              </a:r>
            </a:p>
          </p:txBody>
        </p:sp>
        <p:sp>
          <p:nvSpPr>
            <p:cNvPr id="12318" name="Oval 12"/>
            <p:cNvSpPr>
              <a:spLocks noChangeArrowheads="1"/>
            </p:cNvSpPr>
            <p:nvPr/>
          </p:nvSpPr>
          <p:spPr bwMode="auto">
            <a:xfrm>
              <a:off x="4464" y="1248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/>
              <a:r>
                <a:rPr lang="en-US" altLang="en-US"/>
                <a:t>2</a:t>
              </a:r>
            </a:p>
          </p:txBody>
        </p:sp>
        <p:sp>
          <p:nvSpPr>
            <p:cNvPr id="12319" name="Line 13"/>
            <p:cNvSpPr>
              <a:spLocks noChangeShapeType="1"/>
            </p:cNvSpPr>
            <p:nvPr/>
          </p:nvSpPr>
          <p:spPr bwMode="auto">
            <a:xfrm flipH="1">
              <a:off x="4464" y="1536"/>
              <a:ext cx="96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20" name="Line 14"/>
            <p:cNvSpPr>
              <a:spLocks noChangeShapeType="1"/>
            </p:cNvSpPr>
            <p:nvPr/>
          </p:nvSpPr>
          <p:spPr bwMode="auto">
            <a:xfrm>
              <a:off x="4704" y="1536"/>
              <a:ext cx="144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2298" name="Group 15"/>
          <p:cNvGrpSpPr>
            <a:grpSpLocks/>
          </p:cNvGrpSpPr>
          <p:nvPr/>
        </p:nvGrpSpPr>
        <p:grpSpPr bwMode="auto">
          <a:xfrm>
            <a:off x="7315200" y="3505200"/>
            <a:ext cx="1219200" cy="1295400"/>
            <a:chOff x="3408" y="1248"/>
            <a:chExt cx="768" cy="816"/>
          </a:xfrm>
        </p:grpSpPr>
        <p:sp>
          <p:nvSpPr>
            <p:cNvPr id="12311" name="Oval 16"/>
            <p:cNvSpPr>
              <a:spLocks noChangeArrowheads="1"/>
            </p:cNvSpPr>
            <p:nvPr/>
          </p:nvSpPr>
          <p:spPr bwMode="auto">
            <a:xfrm>
              <a:off x="3408" y="1728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/>
              <a:r>
                <a:rPr lang="en-US" altLang="en-US"/>
                <a:t>b,1</a:t>
              </a:r>
            </a:p>
          </p:txBody>
        </p:sp>
        <p:sp>
          <p:nvSpPr>
            <p:cNvPr id="12312" name="Oval 17"/>
            <p:cNvSpPr>
              <a:spLocks noChangeArrowheads="1"/>
            </p:cNvSpPr>
            <p:nvPr/>
          </p:nvSpPr>
          <p:spPr bwMode="auto">
            <a:xfrm>
              <a:off x="3840" y="1728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/>
              <a:r>
                <a:rPr lang="en-US" altLang="en-US"/>
                <a:t>v,1</a:t>
              </a:r>
            </a:p>
          </p:txBody>
        </p:sp>
        <p:sp>
          <p:nvSpPr>
            <p:cNvPr id="12313" name="Oval 18"/>
            <p:cNvSpPr>
              <a:spLocks noChangeArrowheads="1"/>
            </p:cNvSpPr>
            <p:nvPr/>
          </p:nvSpPr>
          <p:spPr bwMode="auto">
            <a:xfrm>
              <a:off x="3600" y="1248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/>
              <a:r>
                <a:rPr lang="en-US" altLang="en-US"/>
                <a:t>2</a:t>
              </a:r>
            </a:p>
          </p:txBody>
        </p:sp>
        <p:sp>
          <p:nvSpPr>
            <p:cNvPr id="12314" name="Line 19"/>
            <p:cNvSpPr>
              <a:spLocks noChangeShapeType="1"/>
            </p:cNvSpPr>
            <p:nvPr/>
          </p:nvSpPr>
          <p:spPr bwMode="auto">
            <a:xfrm flipH="1">
              <a:off x="3600" y="1536"/>
              <a:ext cx="96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15" name="Line 20"/>
            <p:cNvSpPr>
              <a:spLocks noChangeShapeType="1"/>
            </p:cNvSpPr>
            <p:nvPr/>
          </p:nvSpPr>
          <p:spPr bwMode="auto">
            <a:xfrm>
              <a:off x="3840" y="1536"/>
              <a:ext cx="144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2299" name="Oval 23"/>
          <p:cNvSpPr>
            <a:spLocks noChangeArrowheads="1"/>
          </p:cNvSpPr>
          <p:nvPr/>
        </p:nvSpPr>
        <p:spPr bwMode="auto">
          <a:xfrm>
            <a:off x="7086600" y="2743200"/>
            <a:ext cx="533400" cy="533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US" altLang="en-US"/>
              <a:t>3</a:t>
            </a:r>
          </a:p>
        </p:txBody>
      </p:sp>
      <p:sp>
        <p:nvSpPr>
          <p:cNvPr id="12300" name="Line 24"/>
          <p:cNvSpPr>
            <a:spLocks noChangeShapeType="1"/>
          </p:cNvSpPr>
          <p:nvPr/>
        </p:nvSpPr>
        <p:spPr bwMode="auto">
          <a:xfrm flipH="1">
            <a:off x="6934200" y="3200400"/>
            <a:ext cx="228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01" name="Line 25"/>
          <p:cNvSpPr>
            <a:spLocks noChangeShapeType="1"/>
          </p:cNvSpPr>
          <p:nvPr/>
        </p:nvSpPr>
        <p:spPr bwMode="auto">
          <a:xfrm>
            <a:off x="7467600" y="3200400"/>
            <a:ext cx="228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02" name="Oval 26"/>
          <p:cNvSpPr>
            <a:spLocks noChangeArrowheads="1"/>
          </p:cNvSpPr>
          <p:nvPr/>
        </p:nvSpPr>
        <p:spPr bwMode="auto">
          <a:xfrm>
            <a:off x="3657600" y="1981200"/>
            <a:ext cx="533400" cy="533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US" altLang="en-US"/>
              <a:t>4</a:t>
            </a:r>
          </a:p>
        </p:txBody>
      </p:sp>
      <p:sp>
        <p:nvSpPr>
          <p:cNvPr id="12303" name="Line 27"/>
          <p:cNvSpPr>
            <a:spLocks noChangeShapeType="1"/>
          </p:cNvSpPr>
          <p:nvPr/>
        </p:nvSpPr>
        <p:spPr bwMode="auto">
          <a:xfrm flipH="1">
            <a:off x="3505200" y="2438400"/>
            <a:ext cx="228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04" name="Line 28"/>
          <p:cNvSpPr>
            <a:spLocks noChangeShapeType="1"/>
          </p:cNvSpPr>
          <p:nvPr/>
        </p:nvSpPr>
        <p:spPr bwMode="auto">
          <a:xfrm>
            <a:off x="4038600" y="2438400"/>
            <a:ext cx="228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05" name="Oval 29"/>
          <p:cNvSpPr>
            <a:spLocks noChangeArrowheads="1"/>
          </p:cNvSpPr>
          <p:nvPr/>
        </p:nvSpPr>
        <p:spPr bwMode="auto">
          <a:xfrm>
            <a:off x="2133600" y="1981200"/>
            <a:ext cx="533400" cy="533400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US" altLang="en-US"/>
              <a:t>4</a:t>
            </a:r>
          </a:p>
        </p:txBody>
      </p:sp>
      <p:sp>
        <p:nvSpPr>
          <p:cNvPr id="12306" name="Line 30"/>
          <p:cNvSpPr>
            <a:spLocks noChangeShapeType="1"/>
          </p:cNvSpPr>
          <p:nvPr/>
        </p:nvSpPr>
        <p:spPr bwMode="auto">
          <a:xfrm flipH="1">
            <a:off x="1981200" y="2438400"/>
            <a:ext cx="228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07" name="Line 31"/>
          <p:cNvSpPr>
            <a:spLocks noChangeShapeType="1"/>
          </p:cNvSpPr>
          <p:nvPr/>
        </p:nvSpPr>
        <p:spPr bwMode="auto">
          <a:xfrm>
            <a:off x="2514600" y="2438400"/>
            <a:ext cx="228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08" name="Oval 32"/>
          <p:cNvSpPr>
            <a:spLocks noChangeArrowheads="1"/>
          </p:cNvSpPr>
          <p:nvPr/>
        </p:nvSpPr>
        <p:spPr bwMode="auto">
          <a:xfrm>
            <a:off x="6172200" y="1981200"/>
            <a:ext cx="533400" cy="533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US" altLang="en-US"/>
              <a:t>5</a:t>
            </a:r>
          </a:p>
        </p:txBody>
      </p:sp>
      <p:sp>
        <p:nvSpPr>
          <p:cNvPr id="12309" name="Line 33"/>
          <p:cNvSpPr>
            <a:spLocks noChangeShapeType="1"/>
          </p:cNvSpPr>
          <p:nvPr/>
        </p:nvSpPr>
        <p:spPr bwMode="auto">
          <a:xfrm flipH="1">
            <a:off x="5638800" y="2362200"/>
            <a:ext cx="6096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10" name="Line 34"/>
          <p:cNvSpPr>
            <a:spLocks noChangeShapeType="1"/>
          </p:cNvSpPr>
          <p:nvPr/>
        </p:nvSpPr>
        <p:spPr bwMode="auto">
          <a:xfrm>
            <a:off x="6629400" y="2362200"/>
            <a:ext cx="6858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1847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Huffman Coding</a:t>
            </a:r>
          </a:p>
        </p:txBody>
      </p:sp>
      <p:sp>
        <p:nvSpPr>
          <p:cNvPr id="13315" name="Oval 3"/>
          <p:cNvSpPr>
            <a:spLocks noChangeArrowheads="1"/>
          </p:cNvSpPr>
          <p:nvPr/>
        </p:nvSpPr>
        <p:spPr bwMode="auto">
          <a:xfrm>
            <a:off x="990600" y="2743200"/>
            <a:ext cx="533400" cy="533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US" altLang="en-US"/>
              <a:t>e,3</a:t>
            </a:r>
          </a:p>
        </p:txBody>
      </p:sp>
      <p:sp>
        <p:nvSpPr>
          <p:cNvPr id="13316" name="Oval 4"/>
          <p:cNvSpPr>
            <a:spLocks noChangeArrowheads="1"/>
          </p:cNvSpPr>
          <p:nvPr/>
        </p:nvSpPr>
        <p:spPr bwMode="auto">
          <a:xfrm>
            <a:off x="1752600" y="3505200"/>
            <a:ext cx="533400" cy="533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US" altLang="en-US"/>
              <a:t>d,2</a:t>
            </a:r>
          </a:p>
        </p:txBody>
      </p:sp>
      <p:sp>
        <p:nvSpPr>
          <p:cNvPr id="13317" name="Oval 5"/>
          <p:cNvSpPr>
            <a:spLocks noChangeArrowheads="1"/>
          </p:cNvSpPr>
          <p:nvPr/>
        </p:nvSpPr>
        <p:spPr bwMode="auto">
          <a:xfrm>
            <a:off x="2514600" y="3505200"/>
            <a:ext cx="533400" cy="533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US" altLang="en-US"/>
              <a:t>u,2</a:t>
            </a:r>
          </a:p>
        </p:txBody>
      </p:sp>
      <p:sp>
        <p:nvSpPr>
          <p:cNvPr id="13318" name="Oval 6"/>
          <p:cNvSpPr>
            <a:spLocks noChangeArrowheads="1"/>
          </p:cNvSpPr>
          <p:nvPr/>
        </p:nvSpPr>
        <p:spPr bwMode="auto">
          <a:xfrm>
            <a:off x="3276600" y="2743200"/>
            <a:ext cx="533400" cy="533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US" altLang="en-US"/>
              <a:t>l,2</a:t>
            </a:r>
          </a:p>
        </p:txBody>
      </p:sp>
      <p:sp>
        <p:nvSpPr>
          <p:cNvPr id="13319" name="Oval 7"/>
          <p:cNvSpPr>
            <a:spLocks noChangeArrowheads="1"/>
          </p:cNvSpPr>
          <p:nvPr/>
        </p:nvSpPr>
        <p:spPr bwMode="auto">
          <a:xfrm>
            <a:off x="3962400" y="2743200"/>
            <a:ext cx="533400" cy="533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US" altLang="en-US"/>
              <a:t>sp,2</a:t>
            </a:r>
          </a:p>
        </p:txBody>
      </p:sp>
      <p:sp>
        <p:nvSpPr>
          <p:cNvPr id="13320" name="Oval 8"/>
          <p:cNvSpPr>
            <a:spLocks noChangeArrowheads="1"/>
          </p:cNvSpPr>
          <p:nvPr/>
        </p:nvSpPr>
        <p:spPr bwMode="auto">
          <a:xfrm>
            <a:off x="6629400" y="3505200"/>
            <a:ext cx="533400" cy="533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US" altLang="en-US"/>
              <a:t>k,1</a:t>
            </a:r>
          </a:p>
        </p:txBody>
      </p:sp>
      <p:grpSp>
        <p:nvGrpSpPr>
          <p:cNvPr id="13321" name="Group 9"/>
          <p:cNvGrpSpPr>
            <a:grpSpLocks/>
          </p:cNvGrpSpPr>
          <p:nvPr/>
        </p:nvGrpSpPr>
        <p:grpSpPr bwMode="auto">
          <a:xfrm>
            <a:off x="4953000" y="2743200"/>
            <a:ext cx="1219200" cy="1295400"/>
            <a:chOff x="4272" y="1248"/>
            <a:chExt cx="768" cy="816"/>
          </a:xfrm>
        </p:grpSpPr>
        <p:sp>
          <p:nvSpPr>
            <p:cNvPr id="13343" name="Oval 10"/>
            <p:cNvSpPr>
              <a:spLocks noChangeArrowheads="1"/>
            </p:cNvSpPr>
            <p:nvPr/>
          </p:nvSpPr>
          <p:spPr bwMode="auto">
            <a:xfrm>
              <a:off x="4272" y="1728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/>
              <a:r>
                <a:rPr lang="en-US" altLang="en-US"/>
                <a:t>i,1</a:t>
              </a:r>
            </a:p>
          </p:txBody>
        </p:sp>
        <p:sp>
          <p:nvSpPr>
            <p:cNvPr id="13344" name="Oval 11"/>
            <p:cNvSpPr>
              <a:spLocks noChangeArrowheads="1"/>
            </p:cNvSpPr>
            <p:nvPr/>
          </p:nvSpPr>
          <p:spPr bwMode="auto">
            <a:xfrm>
              <a:off x="4704" y="1728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/>
              <a:r>
                <a:rPr lang="en-US" altLang="en-US"/>
                <a:t>s,1</a:t>
              </a:r>
            </a:p>
          </p:txBody>
        </p:sp>
        <p:sp>
          <p:nvSpPr>
            <p:cNvPr id="13345" name="Oval 12"/>
            <p:cNvSpPr>
              <a:spLocks noChangeArrowheads="1"/>
            </p:cNvSpPr>
            <p:nvPr/>
          </p:nvSpPr>
          <p:spPr bwMode="auto">
            <a:xfrm>
              <a:off x="4464" y="1248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/>
              <a:r>
                <a:rPr lang="en-US" altLang="en-US"/>
                <a:t>2</a:t>
              </a:r>
            </a:p>
          </p:txBody>
        </p:sp>
        <p:sp>
          <p:nvSpPr>
            <p:cNvPr id="13346" name="Line 13"/>
            <p:cNvSpPr>
              <a:spLocks noChangeShapeType="1"/>
            </p:cNvSpPr>
            <p:nvPr/>
          </p:nvSpPr>
          <p:spPr bwMode="auto">
            <a:xfrm flipH="1">
              <a:off x="4464" y="1536"/>
              <a:ext cx="96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47" name="Line 14"/>
            <p:cNvSpPr>
              <a:spLocks noChangeShapeType="1"/>
            </p:cNvSpPr>
            <p:nvPr/>
          </p:nvSpPr>
          <p:spPr bwMode="auto">
            <a:xfrm>
              <a:off x="4704" y="1536"/>
              <a:ext cx="144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322" name="Group 15"/>
          <p:cNvGrpSpPr>
            <a:grpSpLocks/>
          </p:cNvGrpSpPr>
          <p:nvPr/>
        </p:nvGrpSpPr>
        <p:grpSpPr bwMode="auto">
          <a:xfrm>
            <a:off x="7315200" y="3505200"/>
            <a:ext cx="1219200" cy="1295400"/>
            <a:chOff x="3408" y="1248"/>
            <a:chExt cx="768" cy="816"/>
          </a:xfrm>
        </p:grpSpPr>
        <p:sp>
          <p:nvSpPr>
            <p:cNvPr id="13338" name="Oval 16"/>
            <p:cNvSpPr>
              <a:spLocks noChangeArrowheads="1"/>
            </p:cNvSpPr>
            <p:nvPr/>
          </p:nvSpPr>
          <p:spPr bwMode="auto">
            <a:xfrm>
              <a:off x="3408" y="1728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/>
              <a:r>
                <a:rPr lang="en-US" altLang="en-US"/>
                <a:t>b,1</a:t>
              </a:r>
            </a:p>
          </p:txBody>
        </p:sp>
        <p:sp>
          <p:nvSpPr>
            <p:cNvPr id="13339" name="Oval 17"/>
            <p:cNvSpPr>
              <a:spLocks noChangeArrowheads="1"/>
            </p:cNvSpPr>
            <p:nvPr/>
          </p:nvSpPr>
          <p:spPr bwMode="auto">
            <a:xfrm>
              <a:off x="3840" y="1728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/>
              <a:r>
                <a:rPr lang="en-US" altLang="en-US"/>
                <a:t>v,1</a:t>
              </a:r>
            </a:p>
          </p:txBody>
        </p:sp>
        <p:sp>
          <p:nvSpPr>
            <p:cNvPr id="13340" name="Oval 18"/>
            <p:cNvSpPr>
              <a:spLocks noChangeArrowheads="1"/>
            </p:cNvSpPr>
            <p:nvPr/>
          </p:nvSpPr>
          <p:spPr bwMode="auto">
            <a:xfrm>
              <a:off x="3600" y="1248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/>
              <a:r>
                <a:rPr lang="en-US" altLang="en-US"/>
                <a:t>2</a:t>
              </a:r>
            </a:p>
          </p:txBody>
        </p:sp>
        <p:sp>
          <p:nvSpPr>
            <p:cNvPr id="13341" name="Line 19"/>
            <p:cNvSpPr>
              <a:spLocks noChangeShapeType="1"/>
            </p:cNvSpPr>
            <p:nvPr/>
          </p:nvSpPr>
          <p:spPr bwMode="auto">
            <a:xfrm flipH="1">
              <a:off x="3600" y="1536"/>
              <a:ext cx="96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42" name="Line 20"/>
            <p:cNvSpPr>
              <a:spLocks noChangeShapeType="1"/>
            </p:cNvSpPr>
            <p:nvPr/>
          </p:nvSpPr>
          <p:spPr bwMode="auto">
            <a:xfrm>
              <a:off x="3840" y="1536"/>
              <a:ext cx="144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3323" name="Oval 21"/>
          <p:cNvSpPr>
            <a:spLocks noChangeArrowheads="1"/>
          </p:cNvSpPr>
          <p:nvPr/>
        </p:nvSpPr>
        <p:spPr bwMode="auto">
          <a:xfrm>
            <a:off x="7086600" y="2743200"/>
            <a:ext cx="533400" cy="533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US" altLang="en-US"/>
              <a:t>3</a:t>
            </a:r>
          </a:p>
        </p:txBody>
      </p:sp>
      <p:sp>
        <p:nvSpPr>
          <p:cNvPr id="13324" name="Line 22"/>
          <p:cNvSpPr>
            <a:spLocks noChangeShapeType="1"/>
          </p:cNvSpPr>
          <p:nvPr/>
        </p:nvSpPr>
        <p:spPr bwMode="auto">
          <a:xfrm flipH="1">
            <a:off x="6934200" y="3200400"/>
            <a:ext cx="228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25" name="Line 23"/>
          <p:cNvSpPr>
            <a:spLocks noChangeShapeType="1"/>
          </p:cNvSpPr>
          <p:nvPr/>
        </p:nvSpPr>
        <p:spPr bwMode="auto">
          <a:xfrm>
            <a:off x="7467600" y="3200400"/>
            <a:ext cx="228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26" name="Oval 24"/>
          <p:cNvSpPr>
            <a:spLocks noChangeArrowheads="1"/>
          </p:cNvSpPr>
          <p:nvPr/>
        </p:nvSpPr>
        <p:spPr bwMode="auto">
          <a:xfrm>
            <a:off x="3657600" y="1981200"/>
            <a:ext cx="533400" cy="533400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US" altLang="en-US"/>
              <a:t>4</a:t>
            </a:r>
          </a:p>
        </p:txBody>
      </p:sp>
      <p:sp>
        <p:nvSpPr>
          <p:cNvPr id="13327" name="Line 25"/>
          <p:cNvSpPr>
            <a:spLocks noChangeShapeType="1"/>
          </p:cNvSpPr>
          <p:nvPr/>
        </p:nvSpPr>
        <p:spPr bwMode="auto">
          <a:xfrm flipH="1">
            <a:off x="3505200" y="2438400"/>
            <a:ext cx="228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28" name="Line 26"/>
          <p:cNvSpPr>
            <a:spLocks noChangeShapeType="1"/>
          </p:cNvSpPr>
          <p:nvPr/>
        </p:nvSpPr>
        <p:spPr bwMode="auto">
          <a:xfrm>
            <a:off x="4038600" y="2438400"/>
            <a:ext cx="228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29" name="Oval 27"/>
          <p:cNvSpPr>
            <a:spLocks noChangeArrowheads="1"/>
          </p:cNvSpPr>
          <p:nvPr/>
        </p:nvSpPr>
        <p:spPr bwMode="auto">
          <a:xfrm>
            <a:off x="2133600" y="2743200"/>
            <a:ext cx="533400" cy="533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US" altLang="en-US"/>
              <a:t>4</a:t>
            </a:r>
          </a:p>
        </p:txBody>
      </p:sp>
      <p:sp>
        <p:nvSpPr>
          <p:cNvPr id="13330" name="Line 28"/>
          <p:cNvSpPr>
            <a:spLocks noChangeShapeType="1"/>
          </p:cNvSpPr>
          <p:nvPr/>
        </p:nvSpPr>
        <p:spPr bwMode="auto">
          <a:xfrm flipH="1">
            <a:off x="1981200" y="3200400"/>
            <a:ext cx="228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31" name="Line 29"/>
          <p:cNvSpPr>
            <a:spLocks noChangeShapeType="1"/>
          </p:cNvSpPr>
          <p:nvPr/>
        </p:nvSpPr>
        <p:spPr bwMode="auto">
          <a:xfrm>
            <a:off x="2514600" y="3200400"/>
            <a:ext cx="228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32" name="Oval 30"/>
          <p:cNvSpPr>
            <a:spLocks noChangeArrowheads="1"/>
          </p:cNvSpPr>
          <p:nvPr/>
        </p:nvSpPr>
        <p:spPr bwMode="auto">
          <a:xfrm>
            <a:off x="6172200" y="1981200"/>
            <a:ext cx="533400" cy="533400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US" altLang="en-US"/>
              <a:t>5</a:t>
            </a:r>
          </a:p>
        </p:txBody>
      </p:sp>
      <p:sp>
        <p:nvSpPr>
          <p:cNvPr id="13333" name="Line 31"/>
          <p:cNvSpPr>
            <a:spLocks noChangeShapeType="1"/>
          </p:cNvSpPr>
          <p:nvPr/>
        </p:nvSpPr>
        <p:spPr bwMode="auto">
          <a:xfrm flipH="1">
            <a:off x="5638800" y="2362200"/>
            <a:ext cx="6096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34" name="Line 32"/>
          <p:cNvSpPr>
            <a:spLocks noChangeShapeType="1"/>
          </p:cNvSpPr>
          <p:nvPr/>
        </p:nvSpPr>
        <p:spPr bwMode="auto">
          <a:xfrm>
            <a:off x="6629400" y="2362200"/>
            <a:ext cx="6858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35" name="Oval 33"/>
          <p:cNvSpPr>
            <a:spLocks noChangeArrowheads="1"/>
          </p:cNvSpPr>
          <p:nvPr/>
        </p:nvSpPr>
        <p:spPr bwMode="auto">
          <a:xfrm>
            <a:off x="1524000" y="1981200"/>
            <a:ext cx="533400" cy="533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US" altLang="en-US"/>
              <a:t>7</a:t>
            </a:r>
          </a:p>
        </p:txBody>
      </p:sp>
      <p:sp>
        <p:nvSpPr>
          <p:cNvPr id="13336" name="Line 34"/>
          <p:cNvSpPr>
            <a:spLocks noChangeShapeType="1"/>
          </p:cNvSpPr>
          <p:nvPr/>
        </p:nvSpPr>
        <p:spPr bwMode="auto">
          <a:xfrm flipH="1">
            <a:off x="1371600" y="2438400"/>
            <a:ext cx="3048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37" name="Line 35"/>
          <p:cNvSpPr>
            <a:spLocks noChangeShapeType="1"/>
          </p:cNvSpPr>
          <p:nvPr/>
        </p:nvSpPr>
        <p:spPr bwMode="auto">
          <a:xfrm>
            <a:off x="1905000" y="2438400"/>
            <a:ext cx="3810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54863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Huffman Coding</a:t>
            </a:r>
          </a:p>
        </p:txBody>
      </p:sp>
      <p:sp>
        <p:nvSpPr>
          <p:cNvPr id="14339" name="Oval 3"/>
          <p:cNvSpPr>
            <a:spLocks noChangeArrowheads="1"/>
          </p:cNvSpPr>
          <p:nvPr/>
        </p:nvSpPr>
        <p:spPr bwMode="auto">
          <a:xfrm>
            <a:off x="990600" y="2743200"/>
            <a:ext cx="533400" cy="533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US" altLang="en-US"/>
              <a:t>e,3</a:t>
            </a:r>
          </a:p>
        </p:txBody>
      </p:sp>
      <p:sp>
        <p:nvSpPr>
          <p:cNvPr id="14340" name="Oval 4"/>
          <p:cNvSpPr>
            <a:spLocks noChangeArrowheads="1"/>
          </p:cNvSpPr>
          <p:nvPr/>
        </p:nvSpPr>
        <p:spPr bwMode="auto">
          <a:xfrm>
            <a:off x="1752600" y="3505200"/>
            <a:ext cx="533400" cy="533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US" altLang="en-US"/>
              <a:t>d,2</a:t>
            </a:r>
          </a:p>
        </p:txBody>
      </p:sp>
      <p:sp>
        <p:nvSpPr>
          <p:cNvPr id="14341" name="Oval 5"/>
          <p:cNvSpPr>
            <a:spLocks noChangeArrowheads="1"/>
          </p:cNvSpPr>
          <p:nvPr/>
        </p:nvSpPr>
        <p:spPr bwMode="auto">
          <a:xfrm>
            <a:off x="2514600" y="3505200"/>
            <a:ext cx="533400" cy="533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US" altLang="en-US"/>
              <a:t>u,2</a:t>
            </a:r>
          </a:p>
        </p:txBody>
      </p:sp>
      <p:sp>
        <p:nvSpPr>
          <p:cNvPr id="14342" name="Oval 6"/>
          <p:cNvSpPr>
            <a:spLocks noChangeArrowheads="1"/>
          </p:cNvSpPr>
          <p:nvPr/>
        </p:nvSpPr>
        <p:spPr bwMode="auto">
          <a:xfrm>
            <a:off x="3276600" y="3505200"/>
            <a:ext cx="533400" cy="533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US" altLang="en-US"/>
              <a:t>l,2</a:t>
            </a:r>
          </a:p>
        </p:txBody>
      </p:sp>
      <p:sp>
        <p:nvSpPr>
          <p:cNvPr id="14343" name="Oval 7"/>
          <p:cNvSpPr>
            <a:spLocks noChangeArrowheads="1"/>
          </p:cNvSpPr>
          <p:nvPr/>
        </p:nvSpPr>
        <p:spPr bwMode="auto">
          <a:xfrm>
            <a:off x="3962400" y="3505200"/>
            <a:ext cx="533400" cy="533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US" altLang="en-US"/>
              <a:t>sp,2</a:t>
            </a:r>
          </a:p>
        </p:txBody>
      </p:sp>
      <p:sp>
        <p:nvSpPr>
          <p:cNvPr id="14344" name="Oval 8"/>
          <p:cNvSpPr>
            <a:spLocks noChangeArrowheads="1"/>
          </p:cNvSpPr>
          <p:nvPr/>
        </p:nvSpPr>
        <p:spPr bwMode="auto">
          <a:xfrm>
            <a:off x="6629400" y="4267200"/>
            <a:ext cx="533400" cy="533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US" altLang="en-US"/>
              <a:t>k,1</a:t>
            </a:r>
          </a:p>
        </p:txBody>
      </p:sp>
      <p:grpSp>
        <p:nvGrpSpPr>
          <p:cNvPr id="14345" name="Group 9"/>
          <p:cNvGrpSpPr>
            <a:grpSpLocks/>
          </p:cNvGrpSpPr>
          <p:nvPr/>
        </p:nvGrpSpPr>
        <p:grpSpPr bwMode="auto">
          <a:xfrm>
            <a:off x="4953000" y="3505200"/>
            <a:ext cx="1219200" cy="1295400"/>
            <a:chOff x="4272" y="1248"/>
            <a:chExt cx="768" cy="816"/>
          </a:xfrm>
        </p:grpSpPr>
        <p:sp>
          <p:nvSpPr>
            <p:cNvPr id="14370" name="Oval 10"/>
            <p:cNvSpPr>
              <a:spLocks noChangeArrowheads="1"/>
            </p:cNvSpPr>
            <p:nvPr/>
          </p:nvSpPr>
          <p:spPr bwMode="auto">
            <a:xfrm>
              <a:off x="4272" y="1728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/>
              <a:r>
                <a:rPr lang="en-US" altLang="en-US"/>
                <a:t>i,1</a:t>
              </a:r>
            </a:p>
          </p:txBody>
        </p:sp>
        <p:sp>
          <p:nvSpPr>
            <p:cNvPr id="14371" name="Oval 11"/>
            <p:cNvSpPr>
              <a:spLocks noChangeArrowheads="1"/>
            </p:cNvSpPr>
            <p:nvPr/>
          </p:nvSpPr>
          <p:spPr bwMode="auto">
            <a:xfrm>
              <a:off x="4704" y="1728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/>
              <a:r>
                <a:rPr lang="en-US" altLang="en-US"/>
                <a:t>s,1</a:t>
              </a:r>
            </a:p>
          </p:txBody>
        </p:sp>
        <p:sp>
          <p:nvSpPr>
            <p:cNvPr id="14372" name="Oval 12"/>
            <p:cNvSpPr>
              <a:spLocks noChangeArrowheads="1"/>
            </p:cNvSpPr>
            <p:nvPr/>
          </p:nvSpPr>
          <p:spPr bwMode="auto">
            <a:xfrm>
              <a:off x="4464" y="1248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/>
              <a:r>
                <a:rPr lang="en-US" altLang="en-US"/>
                <a:t>2</a:t>
              </a:r>
            </a:p>
          </p:txBody>
        </p:sp>
        <p:sp>
          <p:nvSpPr>
            <p:cNvPr id="14373" name="Line 13"/>
            <p:cNvSpPr>
              <a:spLocks noChangeShapeType="1"/>
            </p:cNvSpPr>
            <p:nvPr/>
          </p:nvSpPr>
          <p:spPr bwMode="auto">
            <a:xfrm flipH="1">
              <a:off x="4464" y="1536"/>
              <a:ext cx="96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74" name="Line 14"/>
            <p:cNvSpPr>
              <a:spLocks noChangeShapeType="1"/>
            </p:cNvSpPr>
            <p:nvPr/>
          </p:nvSpPr>
          <p:spPr bwMode="auto">
            <a:xfrm>
              <a:off x="4704" y="1536"/>
              <a:ext cx="144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4346" name="Group 15"/>
          <p:cNvGrpSpPr>
            <a:grpSpLocks/>
          </p:cNvGrpSpPr>
          <p:nvPr/>
        </p:nvGrpSpPr>
        <p:grpSpPr bwMode="auto">
          <a:xfrm>
            <a:off x="7315200" y="4267200"/>
            <a:ext cx="1219200" cy="1295400"/>
            <a:chOff x="3408" y="1248"/>
            <a:chExt cx="768" cy="816"/>
          </a:xfrm>
        </p:grpSpPr>
        <p:sp>
          <p:nvSpPr>
            <p:cNvPr id="14365" name="Oval 16"/>
            <p:cNvSpPr>
              <a:spLocks noChangeArrowheads="1"/>
            </p:cNvSpPr>
            <p:nvPr/>
          </p:nvSpPr>
          <p:spPr bwMode="auto">
            <a:xfrm>
              <a:off x="3408" y="1728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/>
              <a:r>
                <a:rPr lang="en-US" altLang="en-US"/>
                <a:t>b,1</a:t>
              </a:r>
            </a:p>
          </p:txBody>
        </p:sp>
        <p:sp>
          <p:nvSpPr>
            <p:cNvPr id="14366" name="Oval 17"/>
            <p:cNvSpPr>
              <a:spLocks noChangeArrowheads="1"/>
            </p:cNvSpPr>
            <p:nvPr/>
          </p:nvSpPr>
          <p:spPr bwMode="auto">
            <a:xfrm>
              <a:off x="3840" y="1728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/>
              <a:r>
                <a:rPr lang="en-US" altLang="en-US"/>
                <a:t>v,1</a:t>
              </a:r>
            </a:p>
          </p:txBody>
        </p:sp>
        <p:sp>
          <p:nvSpPr>
            <p:cNvPr id="14367" name="Oval 18"/>
            <p:cNvSpPr>
              <a:spLocks noChangeArrowheads="1"/>
            </p:cNvSpPr>
            <p:nvPr/>
          </p:nvSpPr>
          <p:spPr bwMode="auto">
            <a:xfrm>
              <a:off x="3600" y="1248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/>
              <a:r>
                <a:rPr lang="en-US" altLang="en-US"/>
                <a:t>2</a:t>
              </a:r>
            </a:p>
          </p:txBody>
        </p:sp>
        <p:sp>
          <p:nvSpPr>
            <p:cNvPr id="14368" name="Line 19"/>
            <p:cNvSpPr>
              <a:spLocks noChangeShapeType="1"/>
            </p:cNvSpPr>
            <p:nvPr/>
          </p:nvSpPr>
          <p:spPr bwMode="auto">
            <a:xfrm flipH="1">
              <a:off x="3600" y="1536"/>
              <a:ext cx="96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69" name="Line 20"/>
            <p:cNvSpPr>
              <a:spLocks noChangeShapeType="1"/>
            </p:cNvSpPr>
            <p:nvPr/>
          </p:nvSpPr>
          <p:spPr bwMode="auto">
            <a:xfrm>
              <a:off x="3840" y="1536"/>
              <a:ext cx="144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4347" name="Oval 21"/>
          <p:cNvSpPr>
            <a:spLocks noChangeArrowheads="1"/>
          </p:cNvSpPr>
          <p:nvPr/>
        </p:nvSpPr>
        <p:spPr bwMode="auto">
          <a:xfrm>
            <a:off x="7086600" y="3505200"/>
            <a:ext cx="533400" cy="533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US" altLang="en-US"/>
              <a:t>3</a:t>
            </a:r>
          </a:p>
        </p:txBody>
      </p:sp>
      <p:sp>
        <p:nvSpPr>
          <p:cNvPr id="14348" name="Line 22"/>
          <p:cNvSpPr>
            <a:spLocks noChangeShapeType="1"/>
          </p:cNvSpPr>
          <p:nvPr/>
        </p:nvSpPr>
        <p:spPr bwMode="auto">
          <a:xfrm flipH="1">
            <a:off x="6934200" y="3962400"/>
            <a:ext cx="228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49" name="Line 23"/>
          <p:cNvSpPr>
            <a:spLocks noChangeShapeType="1"/>
          </p:cNvSpPr>
          <p:nvPr/>
        </p:nvSpPr>
        <p:spPr bwMode="auto">
          <a:xfrm>
            <a:off x="7467600" y="3962400"/>
            <a:ext cx="228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50" name="Oval 24"/>
          <p:cNvSpPr>
            <a:spLocks noChangeArrowheads="1"/>
          </p:cNvSpPr>
          <p:nvPr/>
        </p:nvSpPr>
        <p:spPr bwMode="auto">
          <a:xfrm>
            <a:off x="3657600" y="2743200"/>
            <a:ext cx="533400" cy="533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US" altLang="en-US"/>
              <a:t>4</a:t>
            </a:r>
          </a:p>
        </p:txBody>
      </p:sp>
      <p:sp>
        <p:nvSpPr>
          <p:cNvPr id="14351" name="Line 25"/>
          <p:cNvSpPr>
            <a:spLocks noChangeShapeType="1"/>
          </p:cNvSpPr>
          <p:nvPr/>
        </p:nvSpPr>
        <p:spPr bwMode="auto">
          <a:xfrm flipH="1">
            <a:off x="3505200" y="3200400"/>
            <a:ext cx="228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52" name="Line 26"/>
          <p:cNvSpPr>
            <a:spLocks noChangeShapeType="1"/>
          </p:cNvSpPr>
          <p:nvPr/>
        </p:nvSpPr>
        <p:spPr bwMode="auto">
          <a:xfrm>
            <a:off x="4038600" y="3200400"/>
            <a:ext cx="228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53" name="Oval 27"/>
          <p:cNvSpPr>
            <a:spLocks noChangeArrowheads="1"/>
          </p:cNvSpPr>
          <p:nvPr/>
        </p:nvSpPr>
        <p:spPr bwMode="auto">
          <a:xfrm>
            <a:off x="2133600" y="2743200"/>
            <a:ext cx="533400" cy="533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US" altLang="en-US"/>
              <a:t>4</a:t>
            </a:r>
          </a:p>
        </p:txBody>
      </p:sp>
      <p:sp>
        <p:nvSpPr>
          <p:cNvPr id="14354" name="Line 28"/>
          <p:cNvSpPr>
            <a:spLocks noChangeShapeType="1"/>
          </p:cNvSpPr>
          <p:nvPr/>
        </p:nvSpPr>
        <p:spPr bwMode="auto">
          <a:xfrm flipH="1">
            <a:off x="1981200" y="3200400"/>
            <a:ext cx="228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55" name="Line 29"/>
          <p:cNvSpPr>
            <a:spLocks noChangeShapeType="1"/>
          </p:cNvSpPr>
          <p:nvPr/>
        </p:nvSpPr>
        <p:spPr bwMode="auto">
          <a:xfrm>
            <a:off x="2514600" y="3200400"/>
            <a:ext cx="228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56" name="Oval 30"/>
          <p:cNvSpPr>
            <a:spLocks noChangeArrowheads="1"/>
          </p:cNvSpPr>
          <p:nvPr/>
        </p:nvSpPr>
        <p:spPr bwMode="auto">
          <a:xfrm>
            <a:off x="6172200" y="2743200"/>
            <a:ext cx="533400" cy="533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US" altLang="en-US"/>
              <a:t>5</a:t>
            </a:r>
          </a:p>
        </p:txBody>
      </p:sp>
      <p:sp>
        <p:nvSpPr>
          <p:cNvPr id="14357" name="Line 31"/>
          <p:cNvSpPr>
            <a:spLocks noChangeShapeType="1"/>
          </p:cNvSpPr>
          <p:nvPr/>
        </p:nvSpPr>
        <p:spPr bwMode="auto">
          <a:xfrm flipH="1">
            <a:off x="5638800" y="3124200"/>
            <a:ext cx="6096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58" name="Line 32"/>
          <p:cNvSpPr>
            <a:spLocks noChangeShapeType="1"/>
          </p:cNvSpPr>
          <p:nvPr/>
        </p:nvSpPr>
        <p:spPr bwMode="auto">
          <a:xfrm>
            <a:off x="6629400" y="3124200"/>
            <a:ext cx="6858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59" name="Oval 33"/>
          <p:cNvSpPr>
            <a:spLocks noChangeArrowheads="1"/>
          </p:cNvSpPr>
          <p:nvPr/>
        </p:nvSpPr>
        <p:spPr bwMode="auto">
          <a:xfrm>
            <a:off x="1524000" y="1981200"/>
            <a:ext cx="533400" cy="533400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US" altLang="en-US"/>
              <a:t>7</a:t>
            </a:r>
          </a:p>
        </p:txBody>
      </p:sp>
      <p:sp>
        <p:nvSpPr>
          <p:cNvPr id="14360" name="Line 34"/>
          <p:cNvSpPr>
            <a:spLocks noChangeShapeType="1"/>
          </p:cNvSpPr>
          <p:nvPr/>
        </p:nvSpPr>
        <p:spPr bwMode="auto">
          <a:xfrm flipH="1">
            <a:off x="1371600" y="2438400"/>
            <a:ext cx="3048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61" name="Line 35"/>
          <p:cNvSpPr>
            <a:spLocks noChangeShapeType="1"/>
          </p:cNvSpPr>
          <p:nvPr/>
        </p:nvSpPr>
        <p:spPr bwMode="auto">
          <a:xfrm>
            <a:off x="1905000" y="2438400"/>
            <a:ext cx="3810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62" name="Oval 36"/>
          <p:cNvSpPr>
            <a:spLocks noChangeArrowheads="1"/>
          </p:cNvSpPr>
          <p:nvPr/>
        </p:nvSpPr>
        <p:spPr bwMode="auto">
          <a:xfrm>
            <a:off x="4876800" y="1981200"/>
            <a:ext cx="533400" cy="533400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US" altLang="en-US"/>
              <a:t>9</a:t>
            </a:r>
          </a:p>
        </p:txBody>
      </p:sp>
      <p:sp>
        <p:nvSpPr>
          <p:cNvPr id="14363" name="Line 37"/>
          <p:cNvSpPr>
            <a:spLocks noChangeShapeType="1"/>
          </p:cNvSpPr>
          <p:nvPr/>
        </p:nvSpPr>
        <p:spPr bwMode="auto">
          <a:xfrm flipH="1">
            <a:off x="4038600" y="2362200"/>
            <a:ext cx="9144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64" name="Line 38"/>
          <p:cNvSpPr>
            <a:spLocks noChangeShapeType="1"/>
          </p:cNvSpPr>
          <p:nvPr/>
        </p:nvSpPr>
        <p:spPr bwMode="auto">
          <a:xfrm>
            <a:off x="5334000" y="2362200"/>
            <a:ext cx="9144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18305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Huffman Coding</a:t>
            </a:r>
          </a:p>
        </p:txBody>
      </p:sp>
      <p:sp>
        <p:nvSpPr>
          <p:cNvPr id="15363" name="Oval 3"/>
          <p:cNvSpPr>
            <a:spLocks noChangeArrowheads="1"/>
          </p:cNvSpPr>
          <p:nvPr/>
        </p:nvSpPr>
        <p:spPr bwMode="auto">
          <a:xfrm>
            <a:off x="990600" y="3505200"/>
            <a:ext cx="533400" cy="533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US" altLang="en-US"/>
              <a:t>e,3</a:t>
            </a:r>
          </a:p>
        </p:txBody>
      </p:sp>
      <p:sp>
        <p:nvSpPr>
          <p:cNvPr id="15364" name="Oval 4"/>
          <p:cNvSpPr>
            <a:spLocks noChangeArrowheads="1"/>
          </p:cNvSpPr>
          <p:nvPr/>
        </p:nvSpPr>
        <p:spPr bwMode="auto">
          <a:xfrm>
            <a:off x="1752600" y="4267200"/>
            <a:ext cx="533400" cy="533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US" altLang="en-US"/>
              <a:t>d,2</a:t>
            </a:r>
          </a:p>
        </p:txBody>
      </p:sp>
      <p:sp>
        <p:nvSpPr>
          <p:cNvPr id="15365" name="Oval 5"/>
          <p:cNvSpPr>
            <a:spLocks noChangeArrowheads="1"/>
          </p:cNvSpPr>
          <p:nvPr/>
        </p:nvSpPr>
        <p:spPr bwMode="auto">
          <a:xfrm>
            <a:off x="2514600" y="4267200"/>
            <a:ext cx="533400" cy="533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US" altLang="en-US"/>
              <a:t>u,2</a:t>
            </a:r>
          </a:p>
        </p:txBody>
      </p:sp>
      <p:sp>
        <p:nvSpPr>
          <p:cNvPr id="15366" name="Oval 6"/>
          <p:cNvSpPr>
            <a:spLocks noChangeArrowheads="1"/>
          </p:cNvSpPr>
          <p:nvPr/>
        </p:nvSpPr>
        <p:spPr bwMode="auto">
          <a:xfrm>
            <a:off x="3276600" y="4267200"/>
            <a:ext cx="533400" cy="533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US" altLang="en-US"/>
              <a:t>l,2</a:t>
            </a:r>
          </a:p>
        </p:txBody>
      </p:sp>
      <p:sp>
        <p:nvSpPr>
          <p:cNvPr id="15367" name="Oval 7"/>
          <p:cNvSpPr>
            <a:spLocks noChangeArrowheads="1"/>
          </p:cNvSpPr>
          <p:nvPr/>
        </p:nvSpPr>
        <p:spPr bwMode="auto">
          <a:xfrm>
            <a:off x="3962400" y="4267200"/>
            <a:ext cx="533400" cy="533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US" altLang="en-US"/>
              <a:t>sp,2</a:t>
            </a:r>
          </a:p>
        </p:txBody>
      </p:sp>
      <p:sp>
        <p:nvSpPr>
          <p:cNvPr id="15368" name="Oval 8"/>
          <p:cNvSpPr>
            <a:spLocks noChangeArrowheads="1"/>
          </p:cNvSpPr>
          <p:nvPr/>
        </p:nvSpPr>
        <p:spPr bwMode="auto">
          <a:xfrm>
            <a:off x="6629400" y="5029200"/>
            <a:ext cx="533400" cy="533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US" altLang="en-US"/>
              <a:t>k,1</a:t>
            </a:r>
          </a:p>
        </p:txBody>
      </p:sp>
      <p:grpSp>
        <p:nvGrpSpPr>
          <p:cNvPr id="15369" name="Group 9"/>
          <p:cNvGrpSpPr>
            <a:grpSpLocks/>
          </p:cNvGrpSpPr>
          <p:nvPr/>
        </p:nvGrpSpPr>
        <p:grpSpPr bwMode="auto">
          <a:xfrm>
            <a:off x="4953000" y="4267200"/>
            <a:ext cx="1219200" cy="1295400"/>
            <a:chOff x="4272" y="1248"/>
            <a:chExt cx="768" cy="816"/>
          </a:xfrm>
        </p:grpSpPr>
        <p:sp>
          <p:nvSpPr>
            <p:cNvPr id="15397" name="Oval 10"/>
            <p:cNvSpPr>
              <a:spLocks noChangeArrowheads="1"/>
            </p:cNvSpPr>
            <p:nvPr/>
          </p:nvSpPr>
          <p:spPr bwMode="auto">
            <a:xfrm>
              <a:off x="4272" y="1728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/>
              <a:r>
                <a:rPr lang="en-US" altLang="en-US"/>
                <a:t>i,1</a:t>
              </a:r>
            </a:p>
          </p:txBody>
        </p:sp>
        <p:sp>
          <p:nvSpPr>
            <p:cNvPr id="15398" name="Oval 11"/>
            <p:cNvSpPr>
              <a:spLocks noChangeArrowheads="1"/>
            </p:cNvSpPr>
            <p:nvPr/>
          </p:nvSpPr>
          <p:spPr bwMode="auto">
            <a:xfrm>
              <a:off x="4704" y="1728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/>
              <a:r>
                <a:rPr lang="en-US" altLang="en-US"/>
                <a:t>s,1</a:t>
              </a:r>
            </a:p>
          </p:txBody>
        </p:sp>
        <p:sp>
          <p:nvSpPr>
            <p:cNvPr id="15399" name="Oval 12"/>
            <p:cNvSpPr>
              <a:spLocks noChangeArrowheads="1"/>
            </p:cNvSpPr>
            <p:nvPr/>
          </p:nvSpPr>
          <p:spPr bwMode="auto">
            <a:xfrm>
              <a:off x="4464" y="1248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/>
              <a:r>
                <a:rPr lang="en-US" altLang="en-US"/>
                <a:t>2</a:t>
              </a:r>
            </a:p>
          </p:txBody>
        </p:sp>
        <p:sp>
          <p:nvSpPr>
            <p:cNvPr id="15400" name="Line 13"/>
            <p:cNvSpPr>
              <a:spLocks noChangeShapeType="1"/>
            </p:cNvSpPr>
            <p:nvPr/>
          </p:nvSpPr>
          <p:spPr bwMode="auto">
            <a:xfrm flipH="1">
              <a:off x="4464" y="1536"/>
              <a:ext cx="96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01" name="Line 14"/>
            <p:cNvSpPr>
              <a:spLocks noChangeShapeType="1"/>
            </p:cNvSpPr>
            <p:nvPr/>
          </p:nvSpPr>
          <p:spPr bwMode="auto">
            <a:xfrm>
              <a:off x="4704" y="1536"/>
              <a:ext cx="144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5370" name="Group 15"/>
          <p:cNvGrpSpPr>
            <a:grpSpLocks/>
          </p:cNvGrpSpPr>
          <p:nvPr/>
        </p:nvGrpSpPr>
        <p:grpSpPr bwMode="auto">
          <a:xfrm>
            <a:off x="7315200" y="5029200"/>
            <a:ext cx="1219200" cy="1295400"/>
            <a:chOff x="3408" y="1248"/>
            <a:chExt cx="768" cy="816"/>
          </a:xfrm>
        </p:grpSpPr>
        <p:sp>
          <p:nvSpPr>
            <p:cNvPr id="15392" name="Oval 16"/>
            <p:cNvSpPr>
              <a:spLocks noChangeArrowheads="1"/>
            </p:cNvSpPr>
            <p:nvPr/>
          </p:nvSpPr>
          <p:spPr bwMode="auto">
            <a:xfrm>
              <a:off x="3408" y="1728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/>
              <a:r>
                <a:rPr lang="en-US" altLang="en-US"/>
                <a:t>b,1</a:t>
              </a:r>
            </a:p>
          </p:txBody>
        </p:sp>
        <p:sp>
          <p:nvSpPr>
            <p:cNvPr id="15393" name="Oval 17"/>
            <p:cNvSpPr>
              <a:spLocks noChangeArrowheads="1"/>
            </p:cNvSpPr>
            <p:nvPr/>
          </p:nvSpPr>
          <p:spPr bwMode="auto">
            <a:xfrm>
              <a:off x="3840" y="1728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/>
              <a:r>
                <a:rPr lang="en-US" altLang="en-US"/>
                <a:t>v,1</a:t>
              </a:r>
            </a:p>
          </p:txBody>
        </p:sp>
        <p:sp>
          <p:nvSpPr>
            <p:cNvPr id="15394" name="Oval 18"/>
            <p:cNvSpPr>
              <a:spLocks noChangeArrowheads="1"/>
            </p:cNvSpPr>
            <p:nvPr/>
          </p:nvSpPr>
          <p:spPr bwMode="auto">
            <a:xfrm>
              <a:off x="3600" y="1248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/>
              <a:r>
                <a:rPr lang="en-US" altLang="en-US"/>
                <a:t>2</a:t>
              </a:r>
            </a:p>
          </p:txBody>
        </p:sp>
        <p:sp>
          <p:nvSpPr>
            <p:cNvPr id="15395" name="Line 19"/>
            <p:cNvSpPr>
              <a:spLocks noChangeShapeType="1"/>
            </p:cNvSpPr>
            <p:nvPr/>
          </p:nvSpPr>
          <p:spPr bwMode="auto">
            <a:xfrm flipH="1">
              <a:off x="3600" y="1536"/>
              <a:ext cx="96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96" name="Line 20"/>
            <p:cNvSpPr>
              <a:spLocks noChangeShapeType="1"/>
            </p:cNvSpPr>
            <p:nvPr/>
          </p:nvSpPr>
          <p:spPr bwMode="auto">
            <a:xfrm>
              <a:off x="3840" y="1536"/>
              <a:ext cx="144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5371" name="Oval 21"/>
          <p:cNvSpPr>
            <a:spLocks noChangeArrowheads="1"/>
          </p:cNvSpPr>
          <p:nvPr/>
        </p:nvSpPr>
        <p:spPr bwMode="auto">
          <a:xfrm>
            <a:off x="7086600" y="4267200"/>
            <a:ext cx="533400" cy="533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US" altLang="en-US"/>
              <a:t>3</a:t>
            </a:r>
          </a:p>
        </p:txBody>
      </p:sp>
      <p:sp>
        <p:nvSpPr>
          <p:cNvPr id="15372" name="Line 22"/>
          <p:cNvSpPr>
            <a:spLocks noChangeShapeType="1"/>
          </p:cNvSpPr>
          <p:nvPr/>
        </p:nvSpPr>
        <p:spPr bwMode="auto">
          <a:xfrm flipH="1">
            <a:off x="6934200" y="4724400"/>
            <a:ext cx="228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73" name="Line 23"/>
          <p:cNvSpPr>
            <a:spLocks noChangeShapeType="1"/>
          </p:cNvSpPr>
          <p:nvPr/>
        </p:nvSpPr>
        <p:spPr bwMode="auto">
          <a:xfrm>
            <a:off x="7467600" y="4724400"/>
            <a:ext cx="228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74" name="Oval 24"/>
          <p:cNvSpPr>
            <a:spLocks noChangeArrowheads="1"/>
          </p:cNvSpPr>
          <p:nvPr/>
        </p:nvSpPr>
        <p:spPr bwMode="auto">
          <a:xfrm>
            <a:off x="3657600" y="3505200"/>
            <a:ext cx="533400" cy="533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US" altLang="en-US"/>
              <a:t>4</a:t>
            </a:r>
          </a:p>
        </p:txBody>
      </p:sp>
      <p:sp>
        <p:nvSpPr>
          <p:cNvPr id="15375" name="Line 25"/>
          <p:cNvSpPr>
            <a:spLocks noChangeShapeType="1"/>
          </p:cNvSpPr>
          <p:nvPr/>
        </p:nvSpPr>
        <p:spPr bwMode="auto">
          <a:xfrm flipH="1">
            <a:off x="3505200" y="3962400"/>
            <a:ext cx="228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76" name="Line 26"/>
          <p:cNvSpPr>
            <a:spLocks noChangeShapeType="1"/>
          </p:cNvSpPr>
          <p:nvPr/>
        </p:nvSpPr>
        <p:spPr bwMode="auto">
          <a:xfrm>
            <a:off x="4038600" y="3962400"/>
            <a:ext cx="228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77" name="Oval 27"/>
          <p:cNvSpPr>
            <a:spLocks noChangeArrowheads="1"/>
          </p:cNvSpPr>
          <p:nvPr/>
        </p:nvSpPr>
        <p:spPr bwMode="auto">
          <a:xfrm>
            <a:off x="2133600" y="3505200"/>
            <a:ext cx="533400" cy="533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US" altLang="en-US"/>
              <a:t>4</a:t>
            </a:r>
          </a:p>
        </p:txBody>
      </p:sp>
      <p:sp>
        <p:nvSpPr>
          <p:cNvPr id="15378" name="Line 28"/>
          <p:cNvSpPr>
            <a:spLocks noChangeShapeType="1"/>
          </p:cNvSpPr>
          <p:nvPr/>
        </p:nvSpPr>
        <p:spPr bwMode="auto">
          <a:xfrm flipH="1">
            <a:off x="1981200" y="3962400"/>
            <a:ext cx="228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79" name="Line 29"/>
          <p:cNvSpPr>
            <a:spLocks noChangeShapeType="1"/>
          </p:cNvSpPr>
          <p:nvPr/>
        </p:nvSpPr>
        <p:spPr bwMode="auto">
          <a:xfrm>
            <a:off x="2514600" y="3962400"/>
            <a:ext cx="228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80" name="Oval 30"/>
          <p:cNvSpPr>
            <a:spLocks noChangeArrowheads="1"/>
          </p:cNvSpPr>
          <p:nvPr/>
        </p:nvSpPr>
        <p:spPr bwMode="auto">
          <a:xfrm>
            <a:off x="6172200" y="3505200"/>
            <a:ext cx="533400" cy="533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US" altLang="en-US"/>
              <a:t>5</a:t>
            </a:r>
          </a:p>
        </p:txBody>
      </p:sp>
      <p:sp>
        <p:nvSpPr>
          <p:cNvPr id="15381" name="Line 31"/>
          <p:cNvSpPr>
            <a:spLocks noChangeShapeType="1"/>
          </p:cNvSpPr>
          <p:nvPr/>
        </p:nvSpPr>
        <p:spPr bwMode="auto">
          <a:xfrm flipH="1">
            <a:off x="5638800" y="3886200"/>
            <a:ext cx="6096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82" name="Line 32"/>
          <p:cNvSpPr>
            <a:spLocks noChangeShapeType="1"/>
          </p:cNvSpPr>
          <p:nvPr/>
        </p:nvSpPr>
        <p:spPr bwMode="auto">
          <a:xfrm>
            <a:off x="6629400" y="3886200"/>
            <a:ext cx="6858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83" name="Oval 33"/>
          <p:cNvSpPr>
            <a:spLocks noChangeArrowheads="1"/>
          </p:cNvSpPr>
          <p:nvPr/>
        </p:nvSpPr>
        <p:spPr bwMode="auto">
          <a:xfrm>
            <a:off x="1524000" y="2743200"/>
            <a:ext cx="533400" cy="533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US" altLang="en-US"/>
              <a:t>7</a:t>
            </a:r>
          </a:p>
        </p:txBody>
      </p:sp>
      <p:sp>
        <p:nvSpPr>
          <p:cNvPr id="15384" name="Line 34"/>
          <p:cNvSpPr>
            <a:spLocks noChangeShapeType="1"/>
          </p:cNvSpPr>
          <p:nvPr/>
        </p:nvSpPr>
        <p:spPr bwMode="auto">
          <a:xfrm flipH="1">
            <a:off x="1371600" y="3200400"/>
            <a:ext cx="3048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85" name="Line 35"/>
          <p:cNvSpPr>
            <a:spLocks noChangeShapeType="1"/>
          </p:cNvSpPr>
          <p:nvPr/>
        </p:nvSpPr>
        <p:spPr bwMode="auto">
          <a:xfrm>
            <a:off x="1905000" y="3200400"/>
            <a:ext cx="3810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86" name="Oval 36"/>
          <p:cNvSpPr>
            <a:spLocks noChangeArrowheads="1"/>
          </p:cNvSpPr>
          <p:nvPr/>
        </p:nvSpPr>
        <p:spPr bwMode="auto">
          <a:xfrm>
            <a:off x="4876800" y="2743200"/>
            <a:ext cx="533400" cy="533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US" altLang="en-US"/>
              <a:t>9</a:t>
            </a:r>
          </a:p>
        </p:txBody>
      </p:sp>
      <p:sp>
        <p:nvSpPr>
          <p:cNvPr id="15387" name="Line 37"/>
          <p:cNvSpPr>
            <a:spLocks noChangeShapeType="1"/>
          </p:cNvSpPr>
          <p:nvPr/>
        </p:nvSpPr>
        <p:spPr bwMode="auto">
          <a:xfrm flipH="1">
            <a:off x="4038600" y="3124200"/>
            <a:ext cx="9144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88" name="Line 38"/>
          <p:cNvSpPr>
            <a:spLocks noChangeShapeType="1"/>
          </p:cNvSpPr>
          <p:nvPr/>
        </p:nvSpPr>
        <p:spPr bwMode="auto">
          <a:xfrm>
            <a:off x="5334000" y="3124200"/>
            <a:ext cx="9144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89" name="Oval 39"/>
          <p:cNvSpPr>
            <a:spLocks noChangeArrowheads="1"/>
          </p:cNvSpPr>
          <p:nvPr/>
        </p:nvSpPr>
        <p:spPr bwMode="auto">
          <a:xfrm>
            <a:off x="3352800" y="2057400"/>
            <a:ext cx="533400" cy="533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US" altLang="en-US"/>
              <a:t>16</a:t>
            </a:r>
          </a:p>
        </p:txBody>
      </p:sp>
      <p:sp>
        <p:nvSpPr>
          <p:cNvPr id="15390" name="Line 40"/>
          <p:cNvSpPr>
            <a:spLocks noChangeShapeType="1"/>
          </p:cNvSpPr>
          <p:nvPr/>
        </p:nvSpPr>
        <p:spPr bwMode="auto">
          <a:xfrm flipH="1">
            <a:off x="1981200" y="2438400"/>
            <a:ext cx="13716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91" name="Line 41"/>
          <p:cNvSpPr>
            <a:spLocks noChangeShapeType="1"/>
          </p:cNvSpPr>
          <p:nvPr/>
        </p:nvSpPr>
        <p:spPr bwMode="auto">
          <a:xfrm>
            <a:off x="3886200" y="2438400"/>
            <a:ext cx="10668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72780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Huffman Coding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dirty="0" smtClean="0"/>
              <a:t>Now we assign codes to the tree by placing a </a:t>
            </a:r>
            <a:r>
              <a:rPr lang="en-US" altLang="en-US" dirty="0" smtClean="0">
                <a:solidFill>
                  <a:srgbClr val="FF0000"/>
                </a:solidFill>
              </a:rPr>
              <a:t>0 on every left branch</a:t>
            </a:r>
            <a:r>
              <a:rPr lang="en-US" altLang="en-US" dirty="0" smtClean="0"/>
              <a:t> and a </a:t>
            </a:r>
            <a:r>
              <a:rPr lang="en-US" altLang="en-US" dirty="0" smtClean="0">
                <a:solidFill>
                  <a:srgbClr val="00B050"/>
                </a:solidFill>
              </a:rPr>
              <a:t>1 on every right branch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 smtClean="0"/>
              <a:t>A traversal of the tree from root to leaf give the Huffman code for that particular leaf character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 smtClean="0"/>
              <a:t>Note that no code is the prefix of another code</a:t>
            </a:r>
          </a:p>
        </p:txBody>
      </p:sp>
    </p:spTree>
    <p:extLst>
      <p:ext uri="{BB962C8B-B14F-4D97-AF65-F5344CB8AC3E}">
        <p14:creationId xmlns:p14="http://schemas.microsoft.com/office/powerpoint/2010/main" val="127212121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Huffman Coding</a:t>
            </a:r>
          </a:p>
        </p:txBody>
      </p:sp>
      <p:sp>
        <p:nvSpPr>
          <p:cNvPr id="17411" name="Oval 3"/>
          <p:cNvSpPr>
            <a:spLocks noChangeArrowheads="1"/>
          </p:cNvSpPr>
          <p:nvPr/>
        </p:nvSpPr>
        <p:spPr bwMode="auto">
          <a:xfrm>
            <a:off x="152400" y="2895600"/>
            <a:ext cx="533400" cy="533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US" altLang="en-US"/>
              <a:t>e,3</a:t>
            </a:r>
          </a:p>
        </p:txBody>
      </p:sp>
      <p:sp>
        <p:nvSpPr>
          <p:cNvPr id="17412" name="Oval 4"/>
          <p:cNvSpPr>
            <a:spLocks noChangeArrowheads="1"/>
          </p:cNvSpPr>
          <p:nvPr/>
        </p:nvSpPr>
        <p:spPr bwMode="auto">
          <a:xfrm>
            <a:off x="914400" y="3657600"/>
            <a:ext cx="533400" cy="533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US" altLang="en-US"/>
              <a:t>d,2</a:t>
            </a:r>
          </a:p>
        </p:txBody>
      </p:sp>
      <p:sp>
        <p:nvSpPr>
          <p:cNvPr id="17413" name="Oval 5"/>
          <p:cNvSpPr>
            <a:spLocks noChangeArrowheads="1"/>
          </p:cNvSpPr>
          <p:nvPr/>
        </p:nvSpPr>
        <p:spPr bwMode="auto">
          <a:xfrm>
            <a:off x="1676400" y="3657600"/>
            <a:ext cx="533400" cy="533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US" altLang="en-US"/>
              <a:t>u,2</a:t>
            </a:r>
          </a:p>
        </p:txBody>
      </p:sp>
      <p:sp>
        <p:nvSpPr>
          <p:cNvPr id="17414" name="Oval 6"/>
          <p:cNvSpPr>
            <a:spLocks noChangeArrowheads="1"/>
          </p:cNvSpPr>
          <p:nvPr/>
        </p:nvSpPr>
        <p:spPr bwMode="auto">
          <a:xfrm>
            <a:off x="2438400" y="3657600"/>
            <a:ext cx="533400" cy="533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US" altLang="en-US"/>
              <a:t>l,2</a:t>
            </a:r>
          </a:p>
        </p:txBody>
      </p:sp>
      <p:sp>
        <p:nvSpPr>
          <p:cNvPr id="17415" name="Oval 7"/>
          <p:cNvSpPr>
            <a:spLocks noChangeArrowheads="1"/>
          </p:cNvSpPr>
          <p:nvPr/>
        </p:nvSpPr>
        <p:spPr bwMode="auto">
          <a:xfrm>
            <a:off x="3124200" y="3657600"/>
            <a:ext cx="533400" cy="533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US" altLang="en-US"/>
              <a:t>sp,2</a:t>
            </a:r>
          </a:p>
        </p:txBody>
      </p:sp>
      <p:sp>
        <p:nvSpPr>
          <p:cNvPr id="17416" name="Oval 8"/>
          <p:cNvSpPr>
            <a:spLocks noChangeArrowheads="1"/>
          </p:cNvSpPr>
          <p:nvPr/>
        </p:nvSpPr>
        <p:spPr bwMode="auto">
          <a:xfrm>
            <a:off x="5791200" y="4419600"/>
            <a:ext cx="533400" cy="533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US" altLang="en-US"/>
              <a:t>k,1</a:t>
            </a:r>
          </a:p>
        </p:txBody>
      </p:sp>
      <p:grpSp>
        <p:nvGrpSpPr>
          <p:cNvPr id="17417" name="Group 9"/>
          <p:cNvGrpSpPr>
            <a:grpSpLocks/>
          </p:cNvGrpSpPr>
          <p:nvPr/>
        </p:nvGrpSpPr>
        <p:grpSpPr bwMode="auto">
          <a:xfrm>
            <a:off x="4114800" y="3657600"/>
            <a:ext cx="1219200" cy="1295400"/>
            <a:chOff x="4272" y="1248"/>
            <a:chExt cx="768" cy="816"/>
          </a:xfrm>
        </p:grpSpPr>
        <p:sp>
          <p:nvSpPr>
            <p:cNvPr id="17498" name="Oval 10"/>
            <p:cNvSpPr>
              <a:spLocks noChangeArrowheads="1"/>
            </p:cNvSpPr>
            <p:nvPr/>
          </p:nvSpPr>
          <p:spPr bwMode="auto">
            <a:xfrm>
              <a:off x="4272" y="1728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/>
              <a:r>
                <a:rPr lang="en-US" altLang="en-US"/>
                <a:t>i,1</a:t>
              </a:r>
            </a:p>
          </p:txBody>
        </p:sp>
        <p:sp>
          <p:nvSpPr>
            <p:cNvPr id="17499" name="Oval 11"/>
            <p:cNvSpPr>
              <a:spLocks noChangeArrowheads="1"/>
            </p:cNvSpPr>
            <p:nvPr/>
          </p:nvSpPr>
          <p:spPr bwMode="auto">
            <a:xfrm>
              <a:off x="4704" y="1728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/>
              <a:r>
                <a:rPr lang="en-US" altLang="en-US"/>
                <a:t>s,1</a:t>
              </a:r>
            </a:p>
          </p:txBody>
        </p:sp>
        <p:sp>
          <p:nvSpPr>
            <p:cNvPr id="17500" name="Oval 12"/>
            <p:cNvSpPr>
              <a:spLocks noChangeArrowheads="1"/>
            </p:cNvSpPr>
            <p:nvPr/>
          </p:nvSpPr>
          <p:spPr bwMode="auto">
            <a:xfrm>
              <a:off x="4464" y="1248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/>
              <a:r>
                <a:rPr lang="en-US" altLang="en-US"/>
                <a:t>2</a:t>
              </a:r>
            </a:p>
          </p:txBody>
        </p:sp>
        <p:sp>
          <p:nvSpPr>
            <p:cNvPr id="17501" name="Line 13"/>
            <p:cNvSpPr>
              <a:spLocks noChangeShapeType="1"/>
            </p:cNvSpPr>
            <p:nvPr/>
          </p:nvSpPr>
          <p:spPr bwMode="auto">
            <a:xfrm flipH="1">
              <a:off x="4464" y="1536"/>
              <a:ext cx="96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02" name="Line 14"/>
            <p:cNvSpPr>
              <a:spLocks noChangeShapeType="1"/>
            </p:cNvSpPr>
            <p:nvPr/>
          </p:nvSpPr>
          <p:spPr bwMode="auto">
            <a:xfrm>
              <a:off x="4704" y="1536"/>
              <a:ext cx="144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7418" name="Group 15"/>
          <p:cNvGrpSpPr>
            <a:grpSpLocks/>
          </p:cNvGrpSpPr>
          <p:nvPr/>
        </p:nvGrpSpPr>
        <p:grpSpPr bwMode="auto">
          <a:xfrm>
            <a:off x="6477000" y="4419600"/>
            <a:ext cx="1219200" cy="1295400"/>
            <a:chOff x="3408" y="1248"/>
            <a:chExt cx="768" cy="816"/>
          </a:xfrm>
        </p:grpSpPr>
        <p:sp>
          <p:nvSpPr>
            <p:cNvPr id="17493" name="Oval 16"/>
            <p:cNvSpPr>
              <a:spLocks noChangeArrowheads="1"/>
            </p:cNvSpPr>
            <p:nvPr/>
          </p:nvSpPr>
          <p:spPr bwMode="auto">
            <a:xfrm>
              <a:off x="3408" y="1728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/>
              <a:r>
                <a:rPr lang="en-US" altLang="en-US"/>
                <a:t>b,1</a:t>
              </a:r>
            </a:p>
          </p:txBody>
        </p:sp>
        <p:sp>
          <p:nvSpPr>
            <p:cNvPr id="17494" name="Oval 17"/>
            <p:cNvSpPr>
              <a:spLocks noChangeArrowheads="1"/>
            </p:cNvSpPr>
            <p:nvPr/>
          </p:nvSpPr>
          <p:spPr bwMode="auto">
            <a:xfrm>
              <a:off x="3840" y="1728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/>
              <a:r>
                <a:rPr lang="en-US" altLang="en-US"/>
                <a:t>v,1</a:t>
              </a:r>
            </a:p>
          </p:txBody>
        </p:sp>
        <p:sp>
          <p:nvSpPr>
            <p:cNvPr id="17495" name="Oval 18"/>
            <p:cNvSpPr>
              <a:spLocks noChangeArrowheads="1"/>
            </p:cNvSpPr>
            <p:nvPr/>
          </p:nvSpPr>
          <p:spPr bwMode="auto">
            <a:xfrm>
              <a:off x="3600" y="1248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/>
              <a:r>
                <a:rPr lang="en-US" altLang="en-US"/>
                <a:t>2</a:t>
              </a:r>
            </a:p>
          </p:txBody>
        </p:sp>
        <p:sp>
          <p:nvSpPr>
            <p:cNvPr id="17496" name="Line 19"/>
            <p:cNvSpPr>
              <a:spLocks noChangeShapeType="1"/>
            </p:cNvSpPr>
            <p:nvPr/>
          </p:nvSpPr>
          <p:spPr bwMode="auto">
            <a:xfrm flipH="1">
              <a:off x="3600" y="1536"/>
              <a:ext cx="96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97" name="Line 20"/>
            <p:cNvSpPr>
              <a:spLocks noChangeShapeType="1"/>
            </p:cNvSpPr>
            <p:nvPr/>
          </p:nvSpPr>
          <p:spPr bwMode="auto">
            <a:xfrm>
              <a:off x="3840" y="1536"/>
              <a:ext cx="144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7419" name="Oval 21"/>
          <p:cNvSpPr>
            <a:spLocks noChangeArrowheads="1"/>
          </p:cNvSpPr>
          <p:nvPr/>
        </p:nvSpPr>
        <p:spPr bwMode="auto">
          <a:xfrm>
            <a:off x="6248400" y="3657600"/>
            <a:ext cx="533400" cy="533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US" altLang="en-US"/>
              <a:t>3</a:t>
            </a:r>
          </a:p>
        </p:txBody>
      </p:sp>
      <p:sp>
        <p:nvSpPr>
          <p:cNvPr id="17420" name="Line 22"/>
          <p:cNvSpPr>
            <a:spLocks noChangeShapeType="1"/>
          </p:cNvSpPr>
          <p:nvPr/>
        </p:nvSpPr>
        <p:spPr bwMode="auto">
          <a:xfrm flipH="1">
            <a:off x="6096000" y="4114800"/>
            <a:ext cx="228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21" name="Line 23"/>
          <p:cNvSpPr>
            <a:spLocks noChangeShapeType="1"/>
          </p:cNvSpPr>
          <p:nvPr/>
        </p:nvSpPr>
        <p:spPr bwMode="auto">
          <a:xfrm>
            <a:off x="6629400" y="4114800"/>
            <a:ext cx="228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22" name="Oval 24"/>
          <p:cNvSpPr>
            <a:spLocks noChangeArrowheads="1"/>
          </p:cNvSpPr>
          <p:nvPr/>
        </p:nvSpPr>
        <p:spPr bwMode="auto">
          <a:xfrm>
            <a:off x="2819400" y="2895600"/>
            <a:ext cx="533400" cy="533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US" altLang="en-US"/>
              <a:t>4</a:t>
            </a:r>
          </a:p>
        </p:txBody>
      </p:sp>
      <p:sp>
        <p:nvSpPr>
          <p:cNvPr id="17423" name="Line 25"/>
          <p:cNvSpPr>
            <a:spLocks noChangeShapeType="1"/>
          </p:cNvSpPr>
          <p:nvPr/>
        </p:nvSpPr>
        <p:spPr bwMode="auto">
          <a:xfrm flipH="1">
            <a:off x="2667000" y="3352800"/>
            <a:ext cx="228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24" name="Line 26"/>
          <p:cNvSpPr>
            <a:spLocks noChangeShapeType="1"/>
          </p:cNvSpPr>
          <p:nvPr/>
        </p:nvSpPr>
        <p:spPr bwMode="auto">
          <a:xfrm>
            <a:off x="3200400" y="3352800"/>
            <a:ext cx="228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25" name="Oval 27"/>
          <p:cNvSpPr>
            <a:spLocks noChangeArrowheads="1"/>
          </p:cNvSpPr>
          <p:nvPr/>
        </p:nvSpPr>
        <p:spPr bwMode="auto">
          <a:xfrm>
            <a:off x="1295400" y="2895600"/>
            <a:ext cx="533400" cy="533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US" altLang="en-US"/>
              <a:t>4</a:t>
            </a:r>
          </a:p>
        </p:txBody>
      </p:sp>
      <p:sp>
        <p:nvSpPr>
          <p:cNvPr id="17426" name="Line 28"/>
          <p:cNvSpPr>
            <a:spLocks noChangeShapeType="1"/>
          </p:cNvSpPr>
          <p:nvPr/>
        </p:nvSpPr>
        <p:spPr bwMode="auto">
          <a:xfrm flipH="1">
            <a:off x="1143000" y="3352800"/>
            <a:ext cx="228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27" name="Line 29"/>
          <p:cNvSpPr>
            <a:spLocks noChangeShapeType="1"/>
          </p:cNvSpPr>
          <p:nvPr/>
        </p:nvSpPr>
        <p:spPr bwMode="auto">
          <a:xfrm>
            <a:off x="1676400" y="3352800"/>
            <a:ext cx="228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28" name="Oval 30"/>
          <p:cNvSpPr>
            <a:spLocks noChangeArrowheads="1"/>
          </p:cNvSpPr>
          <p:nvPr/>
        </p:nvSpPr>
        <p:spPr bwMode="auto">
          <a:xfrm>
            <a:off x="5334000" y="2895600"/>
            <a:ext cx="533400" cy="533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US" altLang="en-US"/>
              <a:t>5</a:t>
            </a:r>
          </a:p>
        </p:txBody>
      </p:sp>
      <p:sp>
        <p:nvSpPr>
          <p:cNvPr id="17429" name="Line 31"/>
          <p:cNvSpPr>
            <a:spLocks noChangeShapeType="1"/>
          </p:cNvSpPr>
          <p:nvPr/>
        </p:nvSpPr>
        <p:spPr bwMode="auto">
          <a:xfrm flipH="1">
            <a:off x="4800600" y="3276600"/>
            <a:ext cx="6096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30" name="Line 32"/>
          <p:cNvSpPr>
            <a:spLocks noChangeShapeType="1"/>
          </p:cNvSpPr>
          <p:nvPr/>
        </p:nvSpPr>
        <p:spPr bwMode="auto">
          <a:xfrm>
            <a:off x="5791200" y="3276600"/>
            <a:ext cx="6858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31" name="Oval 33"/>
          <p:cNvSpPr>
            <a:spLocks noChangeArrowheads="1"/>
          </p:cNvSpPr>
          <p:nvPr/>
        </p:nvSpPr>
        <p:spPr bwMode="auto">
          <a:xfrm>
            <a:off x="685800" y="2133600"/>
            <a:ext cx="533400" cy="533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US" altLang="en-US"/>
              <a:t>7</a:t>
            </a:r>
          </a:p>
        </p:txBody>
      </p:sp>
      <p:sp>
        <p:nvSpPr>
          <p:cNvPr id="17432" name="Line 34"/>
          <p:cNvSpPr>
            <a:spLocks noChangeShapeType="1"/>
          </p:cNvSpPr>
          <p:nvPr/>
        </p:nvSpPr>
        <p:spPr bwMode="auto">
          <a:xfrm flipH="1">
            <a:off x="533400" y="2590800"/>
            <a:ext cx="3048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33" name="Line 35"/>
          <p:cNvSpPr>
            <a:spLocks noChangeShapeType="1"/>
          </p:cNvSpPr>
          <p:nvPr/>
        </p:nvSpPr>
        <p:spPr bwMode="auto">
          <a:xfrm>
            <a:off x="1066800" y="2590800"/>
            <a:ext cx="3810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34" name="Oval 36"/>
          <p:cNvSpPr>
            <a:spLocks noChangeArrowheads="1"/>
          </p:cNvSpPr>
          <p:nvPr/>
        </p:nvSpPr>
        <p:spPr bwMode="auto">
          <a:xfrm>
            <a:off x="4038600" y="2133600"/>
            <a:ext cx="533400" cy="533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US" altLang="en-US"/>
              <a:t>9</a:t>
            </a:r>
          </a:p>
        </p:txBody>
      </p:sp>
      <p:sp>
        <p:nvSpPr>
          <p:cNvPr id="17435" name="Line 37"/>
          <p:cNvSpPr>
            <a:spLocks noChangeShapeType="1"/>
          </p:cNvSpPr>
          <p:nvPr/>
        </p:nvSpPr>
        <p:spPr bwMode="auto">
          <a:xfrm flipH="1">
            <a:off x="3200400" y="2514600"/>
            <a:ext cx="9144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36" name="Line 38"/>
          <p:cNvSpPr>
            <a:spLocks noChangeShapeType="1"/>
          </p:cNvSpPr>
          <p:nvPr/>
        </p:nvSpPr>
        <p:spPr bwMode="auto">
          <a:xfrm>
            <a:off x="4495800" y="2514600"/>
            <a:ext cx="9144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37" name="Oval 39"/>
          <p:cNvSpPr>
            <a:spLocks noChangeArrowheads="1"/>
          </p:cNvSpPr>
          <p:nvPr/>
        </p:nvSpPr>
        <p:spPr bwMode="auto">
          <a:xfrm>
            <a:off x="2514600" y="1447800"/>
            <a:ext cx="533400" cy="533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US" altLang="en-US"/>
              <a:t>16</a:t>
            </a:r>
          </a:p>
        </p:txBody>
      </p:sp>
      <p:sp>
        <p:nvSpPr>
          <p:cNvPr id="17438" name="Line 40"/>
          <p:cNvSpPr>
            <a:spLocks noChangeShapeType="1"/>
          </p:cNvSpPr>
          <p:nvPr/>
        </p:nvSpPr>
        <p:spPr bwMode="auto">
          <a:xfrm flipH="1">
            <a:off x="1143000" y="1828800"/>
            <a:ext cx="13716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39" name="Line 41"/>
          <p:cNvSpPr>
            <a:spLocks noChangeShapeType="1"/>
          </p:cNvSpPr>
          <p:nvPr/>
        </p:nvSpPr>
        <p:spPr bwMode="auto">
          <a:xfrm>
            <a:off x="3048000" y="1828800"/>
            <a:ext cx="10668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40" name="WordArt 43"/>
          <p:cNvSpPr>
            <a:spLocks noChangeArrowheads="1" noChangeShapeType="1" noTextEdit="1"/>
          </p:cNvSpPr>
          <p:nvPr/>
        </p:nvSpPr>
        <p:spPr bwMode="auto">
          <a:xfrm>
            <a:off x="457200" y="2514600"/>
            <a:ext cx="228600" cy="3048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latin typeface="Arial Black"/>
              </a:rPr>
              <a:t>0</a:t>
            </a:r>
          </a:p>
        </p:txBody>
      </p:sp>
      <p:sp>
        <p:nvSpPr>
          <p:cNvPr id="17441" name="WordArt 44"/>
          <p:cNvSpPr>
            <a:spLocks noChangeArrowheads="1" noChangeShapeType="1" noTextEdit="1"/>
          </p:cNvSpPr>
          <p:nvPr/>
        </p:nvSpPr>
        <p:spPr bwMode="auto">
          <a:xfrm>
            <a:off x="3429000" y="1676400"/>
            <a:ext cx="152400" cy="3048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latin typeface="Arial Black"/>
              </a:rPr>
              <a:t>1</a:t>
            </a:r>
          </a:p>
        </p:txBody>
      </p:sp>
      <p:sp>
        <p:nvSpPr>
          <p:cNvPr id="17442" name="WordArt 45"/>
          <p:cNvSpPr>
            <a:spLocks noChangeArrowheads="1" noChangeShapeType="1" noTextEdit="1"/>
          </p:cNvSpPr>
          <p:nvPr/>
        </p:nvSpPr>
        <p:spPr bwMode="auto">
          <a:xfrm>
            <a:off x="1828800" y="1676400"/>
            <a:ext cx="228600" cy="3048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latin typeface="Arial Black"/>
              </a:rPr>
              <a:t>0</a:t>
            </a:r>
          </a:p>
        </p:txBody>
      </p:sp>
      <p:sp>
        <p:nvSpPr>
          <p:cNvPr id="17443" name="WordArt 46"/>
          <p:cNvSpPr>
            <a:spLocks noChangeArrowheads="1" noChangeShapeType="1" noTextEdit="1"/>
          </p:cNvSpPr>
          <p:nvPr/>
        </p:nvSpPr>
        <p:spPr bwMode="auto">
          <a:xfrm>
            <a:off x="990600" y="3276600"/>
            <a:ext cx="228600" cy="3048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latin typeface="Arial Black"/>
              </a:rPr>
              <a:t>0</a:t>
            </a:r>
          </a:p>
        </p:txBody>
      </p:sp>
      <p:sp>
        <p:nvSpPr>
          <p:cNvPr id="17444" name="WordArt 47"/>
          <p:cNvSpPr>
            <a:spLocks noChangeArrowheads="1" noChangeShapeType="1" noTextEdit="1"/>
          </p:cNvSpPr>
          <p:nvPr/>
        </p:nvSpPr>
        <p:spPr bwMode="auto">
          <a:xfrm>
            <a:off x="2590800" y="3276600"/>
            <a:ext cx="228600" cy="3048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latin typeface="Arial Black"/>
              </a:rPr>
              <a:t>0</a:t>
            </a:r>
          </a:p>
        </p:txBody>
      </p:sp>
      <p:sp>
        <p:nvSpPr>
          <p:cNvPr id="17445" name="WordArt 48"/>
          <p:cNvSpPr>
            <a:spLocks noChangeArrowheads="1" noChangeShapeType="1" noTextEdit="1"/>
          </p:cNvSpPr>
          <p:nvPr/>
        </p:nvSpPr>
        <p:spPr bwMode="auto">
          <a:xfrm>
            <a:off x="3505200" y="2438400"/>
            <a:ext cx="228600" cy="3048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latin typeface="Arial Black"/>
              </a:rPr>
              <a:t>0</a:t>
            </a:r>
          </a:p>
        </p:txBody>
      </p:sp>
      <p:sp>
        <p:nvSpPr>
          <p:cNvPr id="17446" name="WordArt 49"/>
          <p:cNvSpPr>
            <a:spLocks noChangeArrowheads="1" noChangeShapeType="1" noTextEdit="1"/>
          </p:cNvSpPr>
          <p:nvPr/>
        </p:nvSpPr>
        <p:spPr bwMode="auto">
          <a:xfrm>
            <a:off x="4953000" y="3276600"/>
            <a:ext cx="228600" cy="3048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latin typeface="Arial Black"/>
              </a:rPr>
              <a:t>0</a:t>
            </a:r>
          </a:p>
        </p:txBody>
      </p:sp>
      <p:sp>
        <p:nvSpPr>
          <p:cNvPr id="17447" name="WordArt 50"/>
          <p:cNvSpPr>
            <a:spLocks noChangeArrowheads="1" noChangeShapeType="1" noTextEdit="1"/>
          </p:cNvSpPr>
          <p:nvPr/>
        </p:nvSpPr>
        <p:spPr bwMode="auto">
          <a:xfrm>
            <a:off x="4267200" y="4114800"/>
            <a:ext cx="228600" cy="3048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latin typeface="Arial Black"/>
              </a:rPr>
              <a:t>0</a:t>
            </a:r>
          </a:p>
        </p:txBody>
      </p:sp>
      <p:sp>
        <p:nvSpPr>
          <p:cNvPr id="17448" name="WordArt 51"/>
          <p:cNvSpPr>
            <a:spLocks noChangeArrowheads="1" noChangeShapeType="1" noTextEdit="1"/>
          </p:cNvSpPr>
          <p:nvPr/>
        </p:nvSpPr>
        <p:spPr bwMode="auto">
          <a:xfrm>
            <a:off x="5943600" y="4038600"/>
            <a:ext cx="228600" cy="3048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latin typeface="Arial Black"/>
              </a:rPr>
              <a:t>0</a:t>
            </a:r>
          </a:p>
        </p:txBody>
      </p:sp>
      <p:sp>
        <p:nvSpPr>
          <p:cNvPr id="17449" name="WordArt 52"/>
          <p:cNvSpPr>
            <a:spLocks noChangeArrowheads="1" noChangeShapeType="1" noTextEdit="1"/>
          </p:cNvSpPr>
          <p:nvPr/>
        </p:nvSpPr>
        <p:spPr bwMode="auto">
          <a:xfrm>
            <a:off x="6629400" y="4876800"/>
            <a:ext cx="228600" cy="3048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latin typeface="Arial Black"/>
              </a:rPr>
              <a:t>0</a:t>
            </a:r>
          </a:p>
        </p:txBody>
      </p:sp>
      <p:sp>
        <p:nvSpPr>
          <p:cNvPr id="17450" name="WordArt 54"/>
          <p:cNvSpPr>
            <a:spLocks noChangeArrowheads="1" noChangeShapeType="1" noTextEdit="1"/>
          </p:cNvSpPr>
          <p:nvPr/>
        </p:nvSpPr>
        <p:spPr bwMode="auto">
          <a:xfrm>
            <a:off x="1295400" y="2514600"/>
            <a:ext cx="152400" cy="3048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latin typeface="Arial Black"/>
              </a:rPr>
              <a:t>1</a:t>
            </a:r>
          </a:p>
        </p:txBody>
      </p:sp>
      <p:sp>
        <p:nvSpPr>
          <p:cNvPr id="17451" name="WordArt 55"/>
          <p:cNvSpPr>
            <a:spLocks noChangeArrowheads="1" noChangeShapeType="1" noTextEdit="1"/>
          </p:cNvSpPr>
          <p:nvPr/>
        </p:nvSpPr>
        <p:spPr bwMode="auto">
          <a:xfrm>
            <a:off x="1828800" y="3276600"/>
            <a:ext cx="152400" cy="3048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latin typeface="Arial Black"/>
              </a:rPr>
              <a:t>1</a:t>
            </a:r>
          </a:p>
        </p:txBody>
      </p:sp>
      <p:sp>
        <p:nvSpPr>
          <p:cNvPr id="17452" name="WordArt 56"/>
          <p:cNvSpPr>
            <a:spLocks noChangeArrowheads="1" noChangeShapeType="1" noTextEdit="1"/>
          </p:cNvSpPr>
          <p:nvPr/>
        </p:nvSpPr>
        <p:spPr bwMode="auto">
          <a:xfrm>
            <a:off x="3352800" y="3276600"/>
            <a:ext cx="152400" cy="3048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latin typeface="Arial Black"/>
              </a:rPr>
              <a:t>1</a:t>
            </a:r>
          </a:p>
        </p:txBody>
      </p:sp>
      <p:sp>
        <p:nvSpPr>
          <p:cNvPr id="17453" name="WordArt 57"/>
          <p:cNvSpPr>
            <a:spLocks noChangeArrowheads="1" noChangeShapeType="1" noTextEdit="1"/>
          </p:cNvSpPr>
          <p:nvPr/>
        </p:nvSpPr>
        <p:spPr bwMode="auto">
          <a:xfrm>
            <a:off x="4876800" y="2438400"/>
            <a:ext cx="152400" cy="3048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latin typeface="Arial Black"/>
              </a:rPr>
              <a:t>1</a:t>
            </a:r>
          </a:p>
        </p:txBody>
      </p:sp>
      <p:sp>
        <p:nvSpPr>
          <p:cNvPr id="17454" name="WordArt 58"/>
          <p:cNvSpPr>
            <a:spLocks noChangeArrowheads="1" noChangeShapeType="1" noTextEdit="1"/>
          </p:cNvSpPr>
          <p:nvPr/>
        </p:nvSpPr>
        <p:spPr bwMode="auto">
          <a:xfrm>
            <a:off x="6019800" y="3200400"/>
            <a:ext cx="152400" cy="3048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latin typeface="Arial Black"/>
              </a:rPr>
              <a:t>1</a:t>
            </a:r>
          </a:p>
        </p:txBody>
      </p:sp>
      <p:sp>
        <p:nvSpPr>
          <p:cNvPr id="17455" name="WordArt 59"/>
          <p:cNvSpPr>
            <a:spLocks noChangeArrowheads="1" noChangeShapeType="1" noTextEdit="1"/>
          </p:cNvSpPr>
          <p:nvPr/>
        </p:nvSpPr>
        <p:spPr bwMode="auto">
          <a:xfrm>
            <a:off x="6781800" y="4114800"/>
            <a:ext cx="152400" cy="3048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latin typeface="Arial Black"/>
              </a:rPr>
              <a:t>1</a:t>
            </a:r>
          </a:p>
        </p:txBody>
      </p:sp>
      <p:sp>
        <p:nvSpPr>
          <p:cNvPr id="17456" name="WordArt 60"/>
          <p:cNvSpPr>
            <a:spLocks noChangeArrowheads="1" noChangeShapeType="1" noTextEdit="1"/>
          </p:cNvSpPr>
          <p:nvPr/>
        </p:nvSpPr>
        <p:spPr bwMode="auto">
          <a:xfrm>
            <a:off x="7315200" y="4800600"/>
            <a:ext cx="152400" cy="3048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latin typeface="Arial Black"/>
              </a:rPr>
              <a:t>1</a:t>
            </a:r>
          </a:p>
        </p:txBody>
      </p:sp>
      <p:graphicFrame>
        <p:nvGraphicFramePr>
          <p:cNvPr id="57466" name="Group 122"/>
          <p:cNvGraphicFramePr>
            <a:graphicFrameLocks noGrp="1"/>
          </p:cNvGraphicFramePr>
          <p:nvPr/>
        </p:nvGraphicFramePr>
        <p:xfrm>
          <a:off x="7620000" y="304800"/>
          <a:ext cx="1371600" cy="3962400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25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25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1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u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25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l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25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sp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101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25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i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1100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25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1101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1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k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1110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25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b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11110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25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v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11111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7492" name="WordArt 116"/>
          <p:cNvSpPr>
            <a:spLocks noChangeArrowheads="1" noChangeShapeType="1" noTextEdit="1"/>
          </p:cNvSpPr>
          <p:nvPr/>
        </p:nvSpPr>
        <p:spPr bwMode="auto">
          <a:xfrm>
            <a:off x="4953000" y="4114800"/>
            <a:ext cx="152400" cy="3048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latin typeface="Arial Black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19701245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Huffman Coding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981200"/>
            <a:ext cx="8610600" cy="4114800"/>
          </a:xfrm>
        </p:spPr>
        <p:txBody>
          <a:bodyPr/>
          <a:lstStyle/>
          <a:p>
            <a:pPr eaLnBrk="1" hangingPunct="1"/>
            <a:r>
              <a:rPr lang="en-US" altLang="en-US" smtClean="0"/>
              <a:t>These codes are then used to encode the string</a:t>
            </a:r>
          </a:p>
          <a:p>
            <a:pPr eaLnBrk="1" hangingPunct="1"/>
            <a:r>
              <a:rPr lang="en-US" altLang="en-US" smtClean="0"/>
              <a:t>Thus, “duke blue devils” turns into:</a:t>
            </a:r>
          </a:p>
          <a:p>
            <a:pPr eaLnBrk="1" hangingPunct="1">
              <a:buFontTx/>
              <a:buNone/>
            </a:pPr>
            <a:r>
              <a:rPr lang="en-US" altLang="en-US" sz="2000" smtClean="0"/>
              <a:t>010 011 1110 00 101 11110 100 011 00 101 010 00 11111 1100 100 1101</a:t>
            </a:r>
          </a:p>
          <a:p>
            <a:pPr eaLnBrk="1" hangingPunct="1"/>
            <a:r>
              <a:rPr lang="en-US" altLang="en-US" smtClean="0"/>
              <a:t>When grouped into 8-bit bytes:</a:t>
            </a:r>
          </a:p>
          <a:p>
            <a:pPr eaLnBrk="1" hangingPunct="1">
              <a:buFontTx/>
              <a:buNone/>
            </a:pPr>
            <a:r>
              <a:rPr lang="en-US" altLang="en-US" sz="2000" smtClean="0"/>
              <a:t>01001111  10001011  11101000  11001010  10001111  11100100   1101xxxx</a:t>
            </a:r>
          </a:p>
          <a:p>
            <a:pPr eaLnBrk="1" hangingPunct="1"/>
            <a:r>
              <a:rPr lang="en-US" altLang="en-US" smtClean="0"/>
              <a:t>Thus it takes 7 bytes of space compared to 16 characters * 1 byte/char = 16 bytes uncompressed</a:t>
            </a:r>
          </a:p>
        </p:txBody>
      </p:sp>
    </p:spTree>
    <p:extLst>
      <p:ext uri="{BB962C8B-B14F-4D97-AF65-F5344CB8AC3E}">
        <p14:creationId xmlns:p14="http://schemas.microsoft.com/office/powerpoint/2010/main" val="23226002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Huffman Coding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981200"/>
            <a:ext cx="8305800" cy="4114800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2800" smtClean="0"/>
              <a:t>Uncompressing works by reading in the file bit by bit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smtClean="0"/>
              <a:t>Start at the root of the tree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smtClean="0"/>
              <a:t>If a 0 is read, head left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smtClean="0"/>
              <a:t>If a 1 is read, head right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smtClean="0"/>
              <a:t>When a leaf is reached decode that character and start over again at the root of the tree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smtClean="0"/>
              <a:t>Thus, we need to save Huffman table information as a header in the compressed file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smtClean="0"/>
              <a:t>Doesn’t add a significant amount of size to the file for large files (which are the ones you want to compress anyway)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smtClean="0"/>
              <a:t>Or we could use a fixed universal set of codes/freqencies</a:t>
            </a:r>
          </a:p>
        </p:txBody>
      </p:sp>
    </p:spTree>
    <p:extLst>
      <p:ext uri="{BB962C8B-B14F-4D97-AF65-F5344CB8AC3E}">
        <p14:creationId xmlns:p14="http://schemas.microsoft.com/office/powerpoint/2010/main" val="30088698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exercise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Use Huffman encoding for the following string</a:t>
            </a:r>
          </a:p>
          <a:p>
            <a:r>
              <a:rPr lang="en-US" dirty="0" smtClean="0"/>
              <a:t>SSSIHL</a:t>
            </a:r>
          </a:p>
          <a:p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2979698"/>
            <a:ext cx="6925642" cy="3162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88684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1800" y="685800"/>
            <a:ext cx="2857500" cy="381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/>
          <p:nvPr/>
        </p:nvSpPr>
        <p:spPr>
          <a:xfrm>
            <a:off x="2514600" y="4953000"/>
            <a:ext cx="4572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en-US" dirty="0">
                <a:solidFill>
                  <a:srgbClr val="444444"/>
                </a:solidFill>
                <a:latin typeface="Arial" pitchFamily="34" charset="0"/>
              </a:rPr>
              <a:t>"Computer Science is no more about computers than astronomy is about telescopes."</a:t>
            </a:r>
            <a:endParaRPr lang="en-IN" dirty="0"/>
          </a:p>
        </p:txBody>
      </p:sp>
      <p:sp>
        <p:nvSpPr>
          <p:cNvPr id="6" name="Rectangle 1"/>
          <p:cNvSpPr>
            <a:spLocks noGrp="1" noChangeArrowheads="1"/>
          </p:cNvSpPr>
          <p:nvPr>
            <p:ph type="title"/>
          </p:nvPr>
        </p:nvSpPr>
        <p:spPr>
          <a:xfrm>
            <a:off x="228600" y="6019800"/>
            <a:ext cx="7307580" cy="411480"/>
          </a:xfrm>
        </p:spPr>
        <p:txBody>
          <a:bodyPr lIns="0" tIns="0" rIns="0" bIns="0" anchor="t">
            <a:normAutofit fontScale="90000"/>
          </a:bodyPr>
          <a:lstStyle/>
          <a:p>
            <a:pPr>
              <a:lnSpc>
                <a:spcPct val="95000"/>
              </a:lnSpc>
              <a:defRPr/>
            </a:pPr>
            <a:r>
              <a:rPr lang="en-US" sz="3900" b="1" dirty="0" smtClean="0">
                <a:solidFill>
                  <a:srgbClr val="0B5394"/>
                </a:solidFill>
                <a:latin typeface="Arial" charset="0"/>
              </a:rPr>
              <a:t> </a:t>
            </a:r>
            <a:r>
              <a:rPr lang="en-US" sz="3900" b="1" dirty="0" err="1">
                <a:solidFill>
                  <a:srgbClr val="0B5394"/>
                </a:solidFill>
                <a:latin typeface="Arial" charset="0"/>
              </a:rPr>
              <a:t>Edsger</a:t>
            </a:r>
            <a:r>
              <a:rPr lang="en-US" sz="3900" b="1" dirty="0">
                <a:solidFill>
                  <a:srgbClr val="0B5394"/>
                </a:solidFill>
                <a:latin typeface="Arial" charset="0"/>
              </a:rPr>
              <a:t> </a:t>
            </a:r>
            <a:r>
              <a:rPr lang="en-US" sz="3900" b="1" dirty="0" err="1">
                <a:solidFill>
                  <a:srgbClr val="0B5394"/>
                </a:solidFill>
                <a:latin typeface="Arial" charset="0"/>
              </a:rPr>
              <a:t>Wybe</a:t>
            </a:r>
            <a:r>
              <a:rPr lang="en-US" sz="3900" b="1" dirty="0">
                <a:solidFill>
                  <a:srgbClr val="0B5394"/>
                </a:solidFill>
                <a:latin typeface="Arial" charset="0"/>
              </a:rPr>
              <a:t> </a:t>
            </a:r>
            <a:r>
              <a:rPr lang="en-US" sz="3900" b="1" dirty="0" err="1" smtClean="0">
                <a:solidFill>
                  <a:srgbClr val="0B5394"/>
                </a:solidFill>
                <a:latin typeface="Arial" charset="0"/>
              </a:rPr>
              <a:t>Dijkstra</a:t>
            </a:r>
            <a:r>
              <a:rPr lang="en-US" sz="3900" b="1" dirty="0" smtClean="0">
                <a:solidFill>
                  <a:srgbClr val="0B5394"/>
                </a:solidFill>
                <a:latin typeface="Arial" charset="0"/>
              </a:rPr>
              <a:t> </a:t>
            </a:r>
            <a:endParaRPr lang="en-US" sz="3900" b="1" dirty="0">
              <a:solidFill>
                <a:srgbClr val="0B5394"/>
              </a:solidFill>
              <a:latin typeface="Arial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772400" y="3810000"/>
            <a:ext cx="1143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Dike </a:t>
            </a:r>
            <a:r>
              <a:rPr lang="en-US" dirty="0" err="1" smtClean="0"/>
              <a:t>struh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914904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Single source shortest path-5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057400"/>
            <a:ext cx="8229600" cy="3429000"/>
          </a:xfrm>
        </p:spPr>
        <p:txBody>
          <a:bodyPr>
            <a:normAutofit/>
          </a:bodyPr>
          <a:lstStyle/>
          <a:p>
            <a:r>
              <a:rPr lang="en-US" sz="2800" dirty="0" smtClean="0"/>
              <a:t>The shortest distance from a single vertex (source) to a destination is found.</a:t>
            </a:r>
          </a:p>
          <a:p>
            <a:r>
              <a:rPr lang="en-US" sz="2800" dirty="0" smtClean="0"/>
              <a:t>It is also called as Dijkstra’s algorithm</a:t>
            </a:r>
          </a:p>
          <a:p>
            <a:r>
              <a:rPr lang="en-US" sz="2800" dirty="0" smtClean="0"/>
              <a:t>It is assumed all the distances are positive.</a:t>
            </a:r>
          </a:p>
          <a:p>
            <a:r>
              <a:rPr lang="en-US" sz="2800" dirty="0" smtClean="0"/>
              <a:t>It does not work on negative values.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142704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" name="Rectangle 1"/>
          <p:cNvSpPr>
            <a:spLocks noGrp="1" noChangeArrowheads="1"/>
          </p:cNvSpPr>
          <p:nvPr>
            <p:ph type="title"/>
          </p:nvPr>
        </p:nvSpPr>
        <p:spPr>
          <a:xfrm>
            <a:off x="222885" y="274320"/>
            <a:ext cx="8698230" cy="822960"/>
          </a:xfrm>
        </p:spPr>
        <p:txBody>
          <a:bodyPr lIns="0" tIns="0" rIns="0" bIns="0" anchor="t"/>
          <a:lstStyle/>
          <a:p>
            <a:pPr>
              <a:lnSpc>
                <a:spcPct val="95000"/>
              </a:lnSpc>
              <a:defRPr/>
            </a:pPr>
            <a:r>
              <a:rPr lang="en-US" sz="3900" b="1">
                <a:solidFill>
                  <a:srgbClr val="0B5394"/>
                </a:solidFill>
                <a:latin typeface="Arial" charset="0"/>
              </a:rPr>
              <a:t>Edsger Wybe Dijkstra</a:t>
            </a:r>
          </a:p>
        </p:txBody>
      </p:sp>
      <p:sp>
        <p:nvSpPr>
          <p:cNvPr id="10243" name="Rectangle 2"/>
          <p:cNvSpPr>
            <a:spLocks noGrp="1" noChangeArrowheads="1"/>
          </p:cNvSpPr>
          <p:nvPr>
            <p:ph sz="quarter" idx="1"/>
          </p:nvPr>
        </p:nvSpPr>
        <p:spPr>
          <a:xfrm>
            <a:off x="240030" y="1291590"/>
            <a:ext cx="8703945" cy="4940618"/>
          </a:xfrm>
        </p:spPr>
        <p:txBody>
          <a:bodyPr lIns="0" tIns="0" rIns="0" bIns="0">
            <a:normAutofit fontScale="85000" lnSpcReduction="20000"/>
          </a:bodyPr>
          <a:lstStyle/>
          <a:p>
            <a:pPr marL="0" indent="0">
              <a:lnSpc>
                <a:spcPct val="95000"/>
              </a:lnSpc>
              <a:spcBef>
                <a:spcPct val="0"/>
              </a:spcBef>
              <a:buNone/>
            </a:pPr>
            <a:r>
              <a:rPr lang="en-US" altLang="en-US" smtClean="0">
                <a:solidFill>
                  <a:srgbClr val="444444"/>
                </a:solidFill>
                <a:latin typeface="Arial" pitchFamily="34" charset="0"/>
              </a:rPr>
              <a:t>- May 11, 1930 – August 6, 2002</a:t>
            </a:r>
            <a:endParaRPr lang="en-US" altLang="en-US" smtClean="0"/>
          </a:p>
          <a:p>
            <a:pPr marL="0" indent="0">
              <a:lnSpc>
                <a:spcPct val="95000"/>
              </a:lnSpc>
              <a:spcBef>
                <a:spcPct val="0"/>
              </a:spcBef>
              <a:buNone/>
            </a:pPr>
            <a:r>
              <a:rPr lang="en-US" altLang="en-US" smtClean="0">
                <a:solidFill>
                  <a:srgbClr val="444444"/>
                </a:solidFill>
                <a:latin typeface="Arial" pitchFamily="34" charset="0"/>
              </a:rPr>
              <a:t> </a:t>
            </a:r>
            <a:endParaRPr lang="en-US" altLang="en-US" smtClean="0"/>
          </a:p>
          <a:p>
            <a:pPr marL="0" indent="0">
              <a:lnSpc>
                <a:spcPct val="95000"/>
              </a:lnSpc>
              <a:spcBef>
                <a:spcPct val="0"/>
              </a:spcBef>
              <a:buNone/>
            </a:pPr>
            <a:r>
              <a:rPr lang="en-US" altLang="en-US" smtClean="0">
                <a:solidFill>
                  <a:srgbClr val="444444"/>
                </a:solidFill>
                <a:latin typeface="Arial" pitchFamily="34" charset="0"/>
              </a:rPr>
              <a:t>- Received the 1972 A. M. Turing Award, widely considered the most prestigious award in computer science.  </a:t>
            </a:r>
            <a:endParaRPr lang="en-US" altLang="en-US" smtClean="0"/>
          </a:p>
          <a:p>
            <a:pPr marL="0" indent="0">
              <a:lnSpc>
                <a:spcPct val="95000"/>
              </a:lnSpc>
              <a:spcBef>
                <a:spcPct val="0"/>
              </a:spcBef>
              <a:buNone/>
            </a:pPr>
            <a:endParaRPr lang="en-US" altLang="en-US" smtClean="0">
              <a:solidFill>
                <a:srgbClr val="444444"/>
              </a:solidFill>
              <a:latin typeface="Arial" pitchFamily="34" charset="0"/>
            </a:endParaRPr>
          </a:p>
          <a:p>
            <a:pPr marL="0" indent="0">
              <a:lnSpc>
                <a:spcPct val="95000"/>
              </a:lnSpc>
              <a:spcBef>
                <a:spcPct val="0"/>
              </a:spcBef>
              <a:buNone/>
            </a:pPr>
            <a:r>
              <a:rPr lang="en-US" altLang="en-US" smtClean="0">
                <a:solidFill>
                  <a:srgbClr val="444444"/>
                </a:solidFill>
                <a:latin typeface="Arial" pitchFamily="34" charset="0"/>
              </a:rPr>
              <a:t>- The Schlumberger Centennial Chair of Computer Sciences at The University of Texas at Austin from 1984 until 2000</a:t>
            </a:r>
            <a:endParaRPr lang="en-US" altLang="en-US" smtClean="0"/>
          </a:p>
          <a:p>
            <a:pPr marL="0" indent="0">
              <a:lnSpc>
                <a:spcPct val="95000"/>
              </a:lnSpc>
              <a:spcBef>
                <a:spcPct val="0"/>
              </a:spcBef>
              <a:buNone/>
            </a:pPr>
            <a:r>
              <a:rPr lang="en-US" altLang="en-US" smtClean="0">
                <a:solidFill>
                  <a:srgbClr val="444444"/>
                </a:solidFill>
                <a:latin typeface="Arial" pitchFamily="34" charset="0"/>
              </a:rPr>
              <a:t> </a:t>
            </a:r>
            <a:endParaRPr lang="en-US" altLang="en-US" smtClean="0"/>
          </a:p>
          <a:p>
            <a:pPr marL="0" indent="0">
              <a:lnSpc>
                <a:spcPct val="95000"/>
              </a:lnSpc>
              <a:spcBef>
                <a:spcPct val="0"/>
              </a:spcBef>
              <a:buNone/>
            </a:pPr>
            <a:r>
              <a:rPr lang="en-US" altLang="en-US" smtClean="0">
                <a:solidFill>
                  <a:srgbClr val="444444"/>
                </a:solidFill>
                <a:latin typeface="Arial" pitchFamily="34" charset="0"/>
              </a:rPr>
              <a:t>- Made a strong case against use of the GOTO statement in programming languages and helped lead to its deprecation.</a:t>
            </a:r>
            <a:endParaRPr lang="en-US" altLang="en-US" smtClean="0"/>
          </a:p>
          <a:p>
            <a:pPr marL="0" indent="0">
              <a:lnSpc>
                <a:spcPct val="95000"/>
              </a:lnSpc>
              <a:spcBef>
                <a:spcPct val="0"/>
              </a:spcBef>
              <a:buNone/>
            </a:pPr>
            <a:r>
              <a:rPr lang="en-US" altLang="en-US" smtClean="0">
                <a:solidFill>
                  <a:srgbClr val="444444"/>
                </a:solidFill>
                <a:latin typeface="Arial" pitchFamily="34" charset="0"/>
              </a:rPr>
              <a:t> </a:t>
            </a:r>
            <a:endParaRPr lang="en-US" altLang="en-US" smtClean="0"/>
          </a:p>
          <a:p>
            <a:pPr marL="0" indent="0">
              <a:lnSpc>
                <a:spcPct val="95000"/>
              </a:lnSpc>
              <a:spcBef>
                <a:spcPct val="0"/>
              </a:spcBef>
              <a:buNone/>
            </a:pPr>
            <a:r>
              <a:rPr lang="en-US" altLang="en-US" smtClean="0">
                <a:solidFill>
                  <a:srgbClr val="444444"/>
                </a:solidFill>
                <a:latin typeface="Arial" pitchFamily="34" charset="0"/>
              </a:rPr>
              <a:t>- Known for his many essays on programming.</a:t>
            </a:r>
            <a:endParaRPr lang="en-US" altLang="en-US" smtClean="0"/>
          </a:p>
          <a:p>
            <a:pPr marL="0" indent="0">
              <a:lnSpc>
                <a:spcPct val="95000"/>
              </a:lnSpc>
              <a:spcBef>
                <a:spcPct val="0"/>
              </a:spcBef>
              <a:buNone/>
            </a:pPr>
            <a:endParaRPr lang="en-US" altLang="en-US" smtClean="0">
              <a:solidFill>
                <a:srgbClr val="444444"/>
              </a:solidFill>
              <a:latin typeface="Arial" pitchFamily="34" charset="0"/>
            </a:endParaRPr>
          </a:p>
          <a:p>
            <a:pPr marL="0" indent="0">
              <a:lnSpc>
                <a:spcPct val="95000"/>
              </a:lnSpc>
              <a:spcBef>
                <a:spcPct val="0"/>
              </a:spcBef>
              <a:buNone/>
            </a:pPr>
            <a:endParaRPr lang="en-US" altLang="en-US" smtClean="0">
              <a:solidFill>
                <a:srgbClr val="444444"/>
              </a:solidFill>
              <a:latin typeface="Arial" pitchFamily="34" charset="0"/>
            </a:endParaRPr>
          </a:p>
          <a:p>
            <a:pPr marL="0" indent="0">
              <a:lnSpc>
                <a:spcPct val="95000"/>
              </a:lnSpc>
              <a:spcBef>
                <a:spcPct val="0"/>
              </a:spcBef>
              <a:buNone/>
            </a:pPr>
            <a:endParaRPr lang="en-US" altLang="en-US" smtClean="0">
              <a:solidFill>
                <a:srgbClr val="444444"/>
              </a:solidFill>
              <a:latin typeface="Arial" pitchFamily="34" charset="0"/>
            </a:endParaRPr>
          </a:p>
          <a:p>
            <a:pPr marL="0" indent="0">
              <a:lnSpc>
                <a:spcPct val="95000"/>
              </a:lnSpc>
              <a:spcBef>
                <a:spcPct val="0"/>
              </a:spcBef>
              <a:buNone/>
            </a:pPr>
            <a:endParaRPr lang="en-US" altLang="en-US" smtClean="0">
              <a:solidFill>
                <a:srgbClr val="444444"/>
              </a:solidFill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491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1"/>
          <p:cNvSpPr>
            <a:spLocks noGrp="1" noChangeArrowheads="1"/>
          </p:cNvSpPr>
          <p:nvPr>
            <p:ph type="title"/>
          </p:nvPr>
        </p:nvSpPr>
        <p:spPr>
          <a:xfrm>
            <a:off x="222885" y="274320"/>
            <a:ext cx="8698230" cy="822960"/>
          </a:xfrm>
        </p:spPr>
        <p:txBody>
          <a:bodyPr lIns="0" tIns="0" rIns="0" bIns="0" anchor="t">
            <a:normAutofit fontScale="90000"/>
          </a:bodyPr>
          <a:lstStyle/>
          <a:p>
            <a:pPr>
              <a:lnSpc>
                <a:spcPct val="95000"/>
              </a:lnSpc>
              <a:defRPr/>
            </a:pPr>
            <a:r>
              <a:rPr lang="en-US" sz="3900" b="1">
                <a:solidFill>
                  <a:srgbClr val="3B62AF"/>
                </a:solidFill>
                <a:latin typeface="Arial" charset="0"/>
              </a:rPr>
              <a:t>Single-Source Shortest Path Problem </a:t>
            </a:r>
          </a:p>
        </p:txBody>
      </p:sp>
      <p:sp>
        <p:nvSpPr>
          <p:cNvPr id="11267" name="Rectangle 2"/>
          <p:cNvSpPr>
            <a:spLocks noGrp="1" noChangeArrowheads="1"/>
          </p:cNvSpPr>
          <p:nvPr>
            <p:ph sz="quarter" idx="1"/>
          </p:nvPr>
        </p:nvSpPr>
        <p:spPr>
          <a:xfrm>
            <a:off x="320040" y="1440180"/>
            <a:ext cx="8698230" cy="4937760"/>
          </a:xfrm>
        </p:spPr>
        <p:txBody>
          <a:bodyPr lIns="0" tIns="0" rIns="0" bIns="0"/>
          <a:lstStyle/>
          <a:p>
            <a:pPr marL="0" indent="0">
              <a:lnSpc>
                <a:spcPct val="95000"/>
              </a:lnSpc>
              <a:spcBef>
                <a:spcPct val="0"/>
              </a:spcBef>
              <a:buNone/>
            </a:pPr>
            <a:r>
              <a:rPr lang="en-US" altLang="en-US" b="1" u="sng" smtClean="0">
                <a:solidFill>
                  <a:srgbClr val="444444"/>
                </a:solidFill>
                <a:latin typeface="Arial" pitchFamily="34" charset="0"/>
              </a:rPr>
              <a:t>Single-Source Shortest Path Problem</a:t>
            </a:r>
            <a:r>
              <a:rPr lang="en-US" altLang="en-US" b="1" smtClean="0">
                <a:solidFill>
                  <a:srgbClr val="444444"/>
                </a:solidFill>
                <a:latin typeface="Arial" pitchFamily="34" charset="0"/>
              </a:rPr>
              <a:t> </a:t>
            </a:r>
            <a:r>
              <a:rPr lang="en-US" altLang="en-US" smtClean="0">
                <a:solidFill>
                  <a:srgbClr val="444444"/>
                </a:solidFill>
                <a:latin typeface="Arial" pitchFamily="34" charset="0"/>
              </a:rPr>
              <a:t>- The problem of finding shortest paths from a source vertex </a:t>
            </a:r>
            <a:r>
              <a:rPr lang="en-US" altLang="en-US" i="1" smtClean="0">
                <a:solidFill>
                  <a:srgbClr val="444444"/>
                </a:solidFill>
                <a:latin typeface="Arial" pitchFamily="34" charset="0"/>
              </a:rPr>
              <a:t>v</a:t>
            </a:r>
            <a:r>
              <a:rPr lang="en-US" altLang="en-US" smtClean="0">
                <a:solidFill>
                  <a:srgbClr val="444444"/>
                </a:solidFill>
                <a:latin typeface="Arial" pitchFamily="34" charset="0"/>
              </a:rPr>
              <a:t> to all other vertices in the graph.</a:t>
            </a:r>
          </a:p>
        </p:txBody>
      </p:sp>
      <p:pic>
        <p:nvPicPr>
          <p:cNvPr id="1126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3086100"/>
            <a:ext cx="5638800" cy="3162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917887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Shortest Path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 </a:t>
            </a:r>
            <a:r>
              <a:rPr lang="en-US" b="1" dirty="0"/>
              <a:t>single</a:t>
            </a:r>
            <a:r>
              <a:rPr lang="en-US" dirty="0"/>
              <a:t>-</a:t>
            </a:r>
            <a:r>
              <a:rPr lang="en-US" b="1" dirty="0"/>
              <a:t>source shortest path</a:t>
            </a:r>
            <a:r>
              <a:rPr lang="en-US" dirty="0"/>
              <a:t> problem, in which we have to find </a:t>
            </a:r>
            <a:r>
              <a:rPr lang="en-US" b="1" dirty="0"/>
              <a:t>shortest paths</a:t>
            </a:r>
            <a:r>
              <a:rPr lang="en-US" dirty="0"/>
              <a:t> from a </a:t>
            </a:r>
            <a:r>
              <a:rPr lang="en-US" b="1" dirty="0"/>
              <a:t>source</a:t>
            </a:r>
            <a:r>
              <a:rPr lang="en-US" dirty="0"/>
              <a:t> vertex v to all other vertices in the graph. The </a:t>
            </a:r>
            <a:r>
              <a:rPr lang="en-US" b="1" dirty="0"/>
              <a:t>single</a:t>
            </a:r>
            <a:r>
              <a:rPr lang="en-US" dirty="0"/>
              <a:t>-destination </a:t>
            </a:r>
            <a:r>
              <a:rPr lang="en-US" b="1" dirty="0"/>
              <a:t>shortest path</a:t>
            </a:r>
            <a:r>
              <a:rPr lang="en-US" dirty="0"/>
              <a:t> problem, in which we have to find </a:t>
            </a:r>
            <a:r>
              <a:rPr lang="en-US" b="1" dirty="0"/>
              <a:t>shortest paths</a:t>
            </a:r>
            <a:r>
              <a:rPr lang="en-US" dirty="0"/>
              <a:t> from all vertices in the directed graph to a </a:t>
            </a:r>
            <a:r>
              <a:rPr lang="en-US" b="1" dirty="0"/>
              <a:t>single</a:t>
            </a:r>
            <a:r>
              <a:rPr lang="en-US" dirty="0"/>
              <a:t> destination vertex v.</a:t>
            </a:r>
          </a:p>
        </p:txBody>
      </p:sp>
    </p:spTree>
    <p:extLst>
      <p:ext uri="{BB962C8B-B14F-4D97-AF65-F5344CB8AC3E}">
        <p14:creationId xmlns:p14="http://schemas.microsoft.com/office/powerpoint/2010/main" val="1265923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Rectangle 1"/>
          <p:cNvSpPr>
            <a:spLocks noGrp="1" noChangeArrowheads="1"/>
          </p:cNvSpPr>
          <p:nvPr>
            <p:ph type="title"/>
          </p:nvPr>
        </p:nvSpPr>
        <p:spPr>
          <a:xfrm>
            <a:off x="222885" y="274320"/>
            <a:ext cx="8698230" cy="822960"/>
          </a:xfrm>
        </p:spPr>
        <p:txBody>
          <a:bodyPr lIns="0" tIns="0" rIns="0" bIns="0" anchor="t"/>
          <a:lstStyle/>
          <a:p>
            <a:pPr>
              <a:lnSpc>
                <a:spcPct val="95000"/>
              </a:lnSpc>
              <a:defRPr/>
            </a:pPr>
            <a:r>
              <a:rPr lang="en-US" sz="3900" b="1">
                <a:solidFill>
                  <a:srgbClr val="3B62AF"/>
                </a:solidFill>
                <a:latin typeface="Arial" charset="0"/>
              </a:rPr>
              <a:t>Dijkstra's algorithm </a:t>
            </a:r>
          </a:p>
        </p:txBody>
      </p:sp>
      <p:sp>
        <p:nvSpPr>
          <p:cNvPr id="12291" name="Rectangle 2"/>
          <p:cNvSpPr>
            <a:spLocks noGrp="1" noChangeArrowheads="1"/>
          </p:cNvSpPr>
          <p:nvPr>
            <p:ph sz="quarter" idx="1"/>
          </p:nvPr>
        </p:nvSpPr>
        <p:spPr>
          <a:xfrm>
            <a:off x="220028" y="1171575"/>
            <a:ext cx="8398193" cy="4939189"/>
          </a:xfrm>
        </p:spPr>
        <p:txBody>
          <a:bodyPr lIns="0" tIns="0" rIns="0" bIns="0">
            <a:normAutofit fontScale="85000" lnSpcReduction="10000"/>
          </a:bodyPr>
          <a:lstStyle/>
          <a:p>
            <a:pPr marL="0" indent="0">
              <a:lnSpc>
                <a:spcPct val="95000"/>
              </a:lnSpc>
              <a:spcBef>
                <a:spcPct val="0"/>
              </a:spcBef>
              <a:buNone/>
            </a:pPr>
            <a:r>
              <a:rPr lang="en-US" altLang="en-US" b="1" u="sng" smtClean="0">
                <a:solidFill>
                  <a:srgbClr val="444444"/>
                </a:solidFill>
                <a:latin typeface="Arial" pitchFamily="34" charset="0"/>
              </a:rPr>
              <a:t>Dijkstra's algorithm</a:t>
            </a:r>
            <a:r>
              <a:rPr lang="en-US" altLang="en-US" b="1" smtClean="0">
                <a:solidFill>
                  <a:srgbClr val="444444"/>
                </a:solidFill>
                <a:latin typeface="Arial" pitchFamily="34" charset="0"/>
              </a:rPr>
              <a:t> </a:t>
            </a:r>
            <a:r>
              <a:rPr lang="en-US" altLang="en-US" smtClean="0">
                <a:solidFill>
                  <a:srgbClr val="444444"/>
                </a:solidFill>
                <a:latin typeface="Arial" pitchFamily="34" charset="0"/>
              </a:rPr>
              <a:t>-</a:t>
            </a:r>
            <a:r>
              <a:rPr lang="en-US" altLang="en-US" b="1" smtClean="0">
                <a:solidFill>
                  <a:srgbClr val="444444"/>
                </a:solidFill>
                <a:latin typeface="Arial" pitchFamily="34" charset="0"/>
              </a:rPr>
              <a:t> </a:t>
            </a:r>
            <a:r>
              <a:rPr lang="en-US" altLang="en-US" smtClean="0">
                <a:solidFill>
                  <a:srgbClr val="444444"/>
                </a:solidFill>
                <a:latin typeface="Arial" pitchFamily="34" charset="0"/>
              </a:rPr>
              <a:t>is a solution to the single-source shortest path problem in graph theory. </a:t>
            </a:r>
            <a:endParaRPr lang="en-US" altLang="en-US" smtClean="0"/>
          </a:p>
          <a:p>
            <a:pPr marL="0" indent="0">
              <a:lnSpc>
                <a:spcPct val="95000"/>
              </a:lnSpc>
              <a:spcBef>
                <a:spcPct val="0"/>
              </a:spcBef>
              <a:buNone/>
            </a:pPr>
            <a:r>
              <a:rPr lang="en-US" altLang="en-US" smtClean="0">
                <a:solidFill>
                  <a:srgbClr val="444444"/>
                </a:solidFill>
                <a:latin typeface="Arial" pitchFamily="34" charset="0"/>
              </a:rPr>
              <a:t> </a:t>
            </a:r>
            <a:endParaRPr lang="en-US" altLang="en-US" smtClean="0"/>
          </a:p>
          <a:p>
            <a:pPr marL="0" indent="0">
              <a:lnSpc>
                <a:spcPct val="95000"/>
              </a:lnSpc>
              <a:spcBef>
                <a:spcPct val="0"/>
              </a:spcBef>
              <a:buNone/>
            </a:pPr>
            <a:r>
              <a:rPr lang="en-US" altLang="en-US" smtClean="0">
                <a:solidFill>
                  <a:srgbClr val="444444"/>
                </a:solidFill>
                <a:latin typeface="Arial" pitchFamily="34" charset="0"/>
              </a:rPr>
              <a:t>Works on both directed and undirected graphs. However, all edges must have nonnegative weights.</a:t>
            </a:r>
          </a:p>
          <a:p>
            <a:pPr marL="0" indent="0">
              <a:lnSpc>
                <a:spcPct val="95000"/>
              </a:lnSpc>
              <a:spcBef>
                <a:spcPct val="0"/>
              </a:spcBef>
              <a:buNone/>
            </a:pPr>
            <a:endParaRPr lang="en-US" altLang="en-US" smtClean="0">
              <a:solidFill>
                <a:srgbClr val="444444"/>
              </a:solidFill>
              <a:latin typeface="Arial" pitchFamily="34" charset="0"/>
            </a:endParaRPr>
          </a:p>
          <a:p>
            <a:pPr marL="0" indent="0">
              <a:lnSpc>
                <a:spcPct val="95000"/>
              </a:lnSpc>
              <a:spcBef>
                <a:spcPct val="0"/>
              </a:spcBef>
              <a:buNone/>
            </a:pPr>
            <a:r>
              <a:rPr lang="en-US" altLang="en-US" smtClean="0">
                <a:solidFill>
                  <a:srgbClr val="990000"/>
                </a:solidFill>
                <a:latin typeface="Arial" pitchFamily="34" charset="0"/>
              </a:rPr>
              <a:t>Approach:</a:t>
            </a:r>
            <a:r>
              <a:rPr lang="en-US" altLang="en-US" smtClean="0">
                <a:solidFill>
                  <a:srgbClr val="444444"/>
                </a:solidFill>
                <a:latin typeface="Arial" pitchFamily="34" charset="0"/>
              </a:rPr>
              <a:t> Greedy</a:t>
            </a:r>
          </a:p>
          <a:p>
            <a:pPr marL="0" indent="0">
              <a:lnSpc>
                <a:spcPct val="95000"/>
              </a:lnSpc>
              <a:spcBef>
                <a:spcPct val="0"/>
              </a:spcBef>
              <a:buNone/>
            </a:pPr>
            <a:endParaRPr lang="en-US" altLang="en-US" smtClean="0">
              <a:solidFill>
                <a:srgbClr val="444444"/>
              </a:solidFill>
              <a:latin typeface="Arial" pitchFamily="34" charset="0"/>
            </a:endParaRPr>
          </a:p>
          <a:p>
            <a:pPr marL="0" indent="0">
              <a:lnSpc>
                <a:spcPct val="95000"/>
              </a:lnSpc>
              <a:spcBef>
                <a:spcPct val="0"/>
              </a:spcBef>
              <a:buNone/>
            </a:pPr>
            <a:r>
              <a:rPr lang="en-US" altLang="en-US" smtClean="0">
                <a:solidFill>
                  <a:srgbClr val="990000"/>
                </a:solidFill>
                <a:latin typeface="Arial" pitchFamily="34" charset="0"/>
              </a:rPr>
              <a:t>Input:</a:t>
            </a:r>
            <a:r>
              <a:rPr lang="en-US" altLang="en-US" smtClean="0">
                <a:solidFill>
                  <a:srgbClr val="444444"/>
                </a:solidFill>
                <a:latin typeface="Arial" pitchFamily="34" charset="0"/>
              </a:rPr>
              <a:t> Weighted graph G={E,V} and source vertex </a:t>
            </a:r>
            <a:r>
              <a:rPr lang="en-US" altLang="en-US" i="1" smtClean="0">
                <a:solidFill>
                  <a:srgbClr val="444444"/>
                </a:solidFill>
                <a:latin typeface="Arial" pitchFamily="34" charset="0"/>
              </a:rPr>
              <a:t>v</a:t>
            </a:r>
            <a:r>
              <a:rPr lang="en-US" altLang="en-US" smtClean="0">
                <a:latin typeface="Constantia" pitchFamily="18" charset="0"/>
              </a:rPr>
              <a:t>∈</a:t>
            </a:r>
            <a:r>
              <a:rPr lang="en-US" altLang="en-US" smtClean="0">
                <a:solidFill>
                  <a:srgbClr val="444444"/>
                </a:solidFill>
                <a:latin typeface="Arial" pitchFamily="34" charset="0"/>
              </a:rPr>
              <a:t>V, such that all edge weights are nonnegative</a:t>
            </a:r>
            <a:endParaRPr lang="en-US" altLang="en-US" smtClean="0"/>
          </a:p>
          <a:p>
            <a:pPr marL="0" indent="0">
              <a:lnSpc>
                <a:spcPct val="95000"/>
              </a:lnSpc>
              <a:spcBef>
                <a:spcPct val="0"/>
              </a:spcBef>
              <a:buNone/>
            </a:pPr>
            <a:r>
              <a:rPr lang="en-US" altLang="en-US" smtClean="0">
                <a:solidFill>
                  <a:srgbClr val="444444"/>
                </a:solidFill>
                <a:latin typeface="Arial" pitchFamily="34" charset="0"/>
              </a:rPr>
              <a:t> </a:t>
            </a:r>
            <a:endParaRPr lang="en-US" altLang="en-US" smtClean="0"/>
          </a:p>
          <a:p>
            <a:pPr marL="0" indent="0">
              <a:lnSpc>
                <a:spcPct val="95000"/>
              </a:lnSpc>
              <a:spcBef>
                <a:spcPct val="0"/>
              </a:spcBef>
              <a:buNone/>
            </a:pPr>
            <a:r>
              <a:rPr lang="en-US" altLang="en-US" smtClean="0">
                <a:solidFill>
                  <a:srgbClr val="990000"/>
                </a:solidFill>
                <a:latin typeface="Arial" pitchFamily="34" charset="0"/>
              </a:rPr>
              <a:t>Output:</a:t>
            </a:r>
            <a:r>
              <a:rPr lang="en-US" altLang="en-US" smtClean="0">
                <a:solidFill>
                  <a:srgbClr val="444444"/>
                </a:solidFill>
                <a:latin typeface="Arial" pitchFamily="34" charset="0"/>
              </a:rPr>
              <a:t> Lengths of shortest paths (or the shortest paths themselves) from a given source vertex</a:t>
            </a:r>
            <a:r>
              <a:rPr lang="en-US" altLang="en-US" i="1" smtClean="0">
                <a:solidFill>
                  <a:srgbClr val="444444"/>
                </a:solidFill>
                <a:latin typeface="Arial" pitchFamily="34" charset="0"/>
              </a:rPr>
              <a:t> v</a:t>
            </a:r>
            <a:r>
              <a:rPr lang="en-US" altLang="en-US" smtClean="0">
                <a:latin typeface="Constantia" pitchFamily="18" charset="0"/>
              </a:rPr>
              <a:t>∈</a:t>
            </a:r>
            <a:r>
              <a:rPr lang="en-US" altLang="en-US" smtClean="0">
                <a:solidFill>
                  <a:srgbClr val="444444"/>
                </a:solidFill>
                <a:latin typeface="Arial" pitchFamily="34" charset="0"/>
              </a:rPr>
              <a:t>V  to all other vertices</a:t>
            </a:r>
            <a:endParaRPr lang="en-US" altLang="en-US" smtClean="0"/>
          </a:p>
          <a:p>
            <a:pPr marL="0" indent="0">
              <a:lnSpc>
                <a:spcPct val="95000"/>
              </a:lnSpc>
              <a:spcBef>
                <a:spcPct val="0"/>
              </a:spcBef>
              <a:buNone/>
            </a:pPr>
            <a:endParaRPr lang="en-US" altLang="en-US" b="1" smtClean="0">
              <a:solidFill>
                <a:srgbClr val="444444"/>
              </a:solidFill>
              <a:latin typeface="Arial" pitchFamily="34" charset="0"/>
            </a:endParaRPr>
          </a:p>
          <a:p>
            <a:pPr marL="0" indent="0">
              <a:lnSpc>
                <a:spcPct val="95000"/>
              </a:lnSpc>
              <a:spcBef>
                <a:spcPct val="0"/>
              </a:spcBef>
              <a:buNone/>
            </a:pPr>
            <a:endParaRPr lang="en-US" altLang="en-US" b="1" u="sng" smtClean="0">
              <a:solidFill>
                <a:srgbClr val="444444"/>
              </a:solidFill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08088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The steps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562600"/>
          </a:xfrm>
        </p:spPr>
        <p:txBody>
          <a:bodyPr>
            <a:normAutofit fontScale="77500" lnSpcReduction="20000"/>
          </a:bodyPr>
          <a:lstStyle/>
          <a:p>
            <a:r>
              <a:rPr lang="en-US" dirty="0" smtClean="0"/>
              <a:t>Algorithm</a:t>
            </a:r>
          </a:p>
          <a:p>
            <a:pPr lvl="1"/>
            <a:r>
              <a:rPr lang="en-US" dirty="0" smtClean="0"/>
              <a:t>Create </a:t>
            </a:r>
            <a:r>
              <a:rPr lang="en-US" dirty="0"/>
              <a:t>a set </a:t>
            </a:r>
            <a:r>
              <a:rPr lang="en-US" i="1" dirty="0" err="1"/>
              <a:t>sptSet</a:t>
            </a:r>
            <a:r>
              <a:rPr lang="en-US" dirty="0"/>
              <a:t> (shortest path tree set) that keeps track of vertices included in shortest path tree, i.e., whose minimum distance from source is calculated and finalized. Initially, this set is empty</a:t>
            </a:r>
            <a:r>
              <a:rPr lang="en-US" dirty="0" smtClean="0"/>
              <a:t>.</a:t>
            </a:r>
          </a:p>
          <a:p>
            <a:pPr marL="457200" lvl="1" indent="0">
              <a:buNone/>
            </a:pPr>
            <a:endParaRPr lang="en-US" dirty="0" smtClean="0"/>
          </a:p>
          <a:p>
            <a:pPr lvl="1"/>
            <a:r>
              <a:rPr lang="en-US" dirty="0" smtClean="0"/>
              <a:t>Assign </a:t>
            </a:r>
            <a:r>
              <a:rPr lang="en-US" dirty="0"/>
              <a:t>a distance value to all vertices in the input graph. Initialize all distance values as INFINITE. Assign distance value as 0 for the source vertex so that it is picked </a:t>
            </a:r>
            <a:r>
              <a:rPr lang="en-US" dirty="0" smtClean="0"/>
              <a:t>first.</a:t>
            </a:r>
          </a:p>
          <a:p>
            <a:pPr marL="457200" lvl="1" indent="0">
              <a:buNone/>
            </a:pPr>
            <a:endParaRPr lang="en-US" dirty="0" smtClean="0"/>
          </a:p>
          <a:p>
            <a:pPr lvl="1"/>
            <a:r>
              <a:rPr lang="en-US" dirty="0" smtClean="0"/>
              <a:t>While</a:t>
            </a:r>
            <a:r>
              <a:rPr lang="en-US" dirty="0"/>
              <a:t> </a:t>
            </a:r>
            <a:r>
              <a:rPr lang="en-US" i="1" dirty="0" err="1"/>
              <a:t>sptSet</a:t>
            </a:r>
            <a:r>
              <a:rPr lang="en-US" dirty="0"/>
              <a:t> doesn’t include all vertices</a:t>
            </a:r>
            <a:br>
              <a:rPr lang="en-US" dirty="0"/>
            </a:br>
            <a:r>
              <a:rPr lang="en-US" dirty="0"/>
              <a:t>….</a:t>
            </a:r>
            <a:r>
              <a:rPr lang="en-US" b="1" dirty="0"/>
              <a:t>a)</a:t>
            </a:r>
            <a:r>
              <a:rPr lang="en-US" dirty="0"/>
              <a:t> Pick a vertex u which is not there in </a:t>
            </a:r>
            <a:r>
              <a:rPr lang="en-US" i="1" dirty="0" err="1"/>
              <a:t>sptSet</a:t>
            </a:r>
            <a:r>
              <a:rPr lang="en-US" dirty="0"/>
              <a:t> and has minimum distance value.</a:t>
            </a:r>
            <a:br>
              <a:rPr lang="en-US" dirty="0"/>
            </a:br>
            <a:r>
              <a:rPr lang="en-US" dirty="0"/>
              <a:t>….</a:t>
            </a:r>
            <a:r>
              <a:rPr lang="en-US" b="1" dirty="0"/>
              <a:t>b)</a:t>
            </a:r>
            <a:r>
              <a:rPr lang="en-US" dirty="0"/>
              <a:t> Include u to </a:t>
            </a:r>
            <a:r>
              <a:rPr lang="en-US" i="1" dirty="0" err="1"/>
              <a:t>sptSet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….</a:t>
            </a:r>
            <a:r>
              <a:rPr lang="en-US" b="1" dirty="0"/>
              <a:t>c)</a:t>
            </a:r>
            <a:r>
              <a:rPr lang="en-US" dirty="0"/>
              <a:t> Update distance value of all adjacent vertices of u. To update the distance values, iterate through all adjacent vertices. For every adjacent vertex v, if sum of distance value of u (from source) and weight of edge u-v, is less than the distance value of v, then update the distance value of v.</a:t>
            </a:r>
          </a:p>
        </p:txBody>
      </p:sp>
    </p:spTree>
    <p:extLst>
      <p:ext uri="{BB962C8B-B14F-4D97-AF65-F5344CB8AC3E}">
        <p14:creationId xmlns:p14="http://schemas.microsoft.com/office/powerpoint/2010/main" val="34520633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Rectangle 1"/>
          <p:cNvSpPr>
            <a:spLocks noGrp="1" noChangeArrowheads="1"/>
          </p:cNvSpPr>
          <p:nvPr>
            <p:ph type="title"/>
          </p:nvPr>
        </p:nvSpPr>
        <p:spPr>
          <a:xfrm>
            <a:off x="222885" y="274320"/>
            <a:ext cx="8698230" cy="822960"/>
          </a:xfrm>
        </p:spPr>
        <p:txBody>
          <a:bodyPr lIns="0" tIns="0" rIns="0" bIns="0" anchor="t"/>
          <a:lstStyle/>
          <a:p>
            <a:pPr>
              <a:lnSpc>
                <a:spcPct val="95000"/>
              </a:lnSpc>
              <a:defRPr/>
            </a:pPr>
            <a:r>
              <a:rPr lang="en-US" sz="3900" b="1" dirty="0" err="1">
                <a:solidFill>
                  <a:srgbClr val="3B62AF"/>
                </a:solidFill>
                <a:latin typeface="Arial" charset="0"/>
              </a:rPr>
              <a:t>Dijkstra's</a:t>
            </a:r>
            <a:r>
              <a:rPr lang="en-US" sz="3900" b="1" dirty="0">
                <a:solidFill>
                  <a:srgbClr val="3B62AF"/>
                </a:solidFill>
                <a:latin typeface="Arial" charset="0"/>
              </a:rPr>
              <a:t> algorithm - </a:t>
            </a:r>
            <a:r>
              <a:rPr lang="en-US" sz="3900" b="1" dirty="0" err="1">
                <a:solidFill>
                  <a:srgbClr val="3B62AF"/>
                </a:solidFill>
                <a:latin typeface="Arial" charset="0"/>
              </a:rPr>
              <a:t>Pseudocode</a:t>
            </a:r>
            <a:endParaRPr lang="en-US" sz="3900" b="1" dirty="0">
              <a:solidFill>
                <a:srgbClr val="3B62AF"/>
              </a:solidFill>
              <a:latin typeface="Arial" charset="0"/>
            </a:endParaRPr>
          </a:p>
        </p:txBody>
      </p:sp>
      <p:sp>
        <p:nvSpPr>
          <p:cNvPr id="13315" name="Text Box 4"/>
          <p:cNvSpPr txBox="1">
            <a:spLocks noChangeArrowheads="1"/>
          </p:cNvSpPr>
          <p:nvPr/>
        </p:nvSpPr>
        <p:spPr bwMode="auto">
          <a:xfrm>
            <a:off x="388620" y="1714500"/>
            <a:ext cx="8298180" cy="42103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lnSpc>
                <a:spcPct val="95000"/>
              </a:lnSpc>
            </a:pPr>
            <a:r>
              <a:rPr lang="en-US" altLang="en-US" sz="1800">
                <a:solidFill>
                  <a:srgbClr val="674EA7"/>
                </a:solidFill>
                <a:latin typeface="Constantia" pitchFamily="18" charset="0"/>
              </a:rPr>
              <a:t>dist[s] ←0        			</a:t>
            </a:r>
            <a:r>
              <a:rPr lang="en-US" altLang="en-US" sz="1800">
                <a:solidFill>
                  <a:srgbClr val="C00000"/>
                </a:solidFill>
                <a:latin typeface="Constantia" pitchFamily="18" charset="0"/>
              </a:rPr>
              <a:t>(distance to source vertex is zero)</a:t>
            </a:r>
            <a:r>
              <a:rPr lang="en-US" altLang="en-US" sz="1800">
                <a:solidFill>
                  <a:srgbClr val="444444"/>
                </a:solidFill>
                <a:latin typeface="Constantia" pitchFamily="18" charset="0"/>
              </a:rPr>
              <a:t/>
            </a:r>
            <a:br>
              <a:rPr lang="en-US" altLang="en-US" sz="1800">
                <a:solidFill>
                  <a:srgbClr val="444444"/>
                </a:solidFill>
                <a:latin typeface="Constantia" pitchFamily="18" charset="0"/>
              </a:rPr>
            </a:br>
            <a:r>
              <a:rPr lang="en-US" altLang="en-US" sz="1800">
                <a:solidFill>
                  <a:srgbClr val="444444"/>
                </a:solidFill>
                <a:latin typeface="Constantia" pitchFamily="18" charset="0"/>
              </a:rPr>
              <a:t>for  all </a:t>
            </a:r>
            <a:r>
              <a:rPr lang="en-US" altLang="en-US" sz="1800">
                <a:solidFill>
                  <a:srgbClr val="674EA7"/>
                </a:solidFill>
                <a:latin typeface="Constantia" pitchFamily="18" charset="0"/>
              </a:rPr>
              <a:t>v ∈ V–{s}</a:t>
            </a:r>
            <a:r>
              <a:rPr lang="en-US" altLang="en-US" sz="1800">
                <a:solidFill>
                  <a:srgbClr val="444444"/>
                </a:solidFill>
                <a:latin typeface="Constantia" pitchFamily="18" charset="0"/>
              </a:rPr>
              <a:t/>
            </a:r>
            <a:br>
              <a:rPr lang="en-US" altLang="en-US" sz="1800">
                <a:solidFill>
                  <a:srgbClr val="444444"/>
                </a:solidFill>
                <a:latin typeface="Constantia" pitchFamily="18" charset="0"/>
              </a:rPr>
            </a:br>
            <a:r>
              <a:rPr lang="en-US" altLang="en-US" sz="1800">
                <a:solidFill>
                  <a:srgbClr val="444444"/>
                </a:solidFill>
                <a:latin typeface="Constantia" pitchFamily="18" charset="0"/>
              </a:rPr>
              <a:t>        do  </a:t>
            </a:r>
            <a:r>
              <a:rPr lang="en-US" altLang="en-US" sz="1800">
                <a:solidFill>
                  <a:srgbClr val="674EA7"/>
                </a:solidFill>
                <a:latin typeface="Constantia" pitchFamily="18" charset="0"/>
              </a:rPr>
              <a:t>dist[v] ←∞ 		</a:t>
            </a:r>
            <a:r>
              <a:rPr lang="en-US" altLang="en-US" sz="1800">
                <a:solidFill>
                  <a:srgbClr val="C00000"/>
                </a:solidFill>
                <a:latin typeface="Constantia" pitchFamily="18" charset="0"/>
              </a:rPr>
              <a:t>(set all other distances to infinity) </a:t>
            </a:r>
            <a:r>
              <a:rPr lang="en-US" altLang="en-US" sz="1800">
                <a:solidFill>
                  <a:srgbClr val="444444"/>
                </a:solidFill>
                <a:latin typeface="Constantia" pitchFamily="18" charset="0"/>
              </a:rPr>
              <a:t/>
            </a:r>
            <a:br>
              <a:rPr lang="en-US" altLang="en-US" sz="1800">
                <a:solidFill>
                  <a:srgbClr val="444444"/>
                </a:solidFill>
                <a:latin typeface="Constantia" pitchFamily="18" charset="0"/>
              </a:rPr>
            </a:br>
            <a:r>
              <a:rPr lang="en-US" altLang="en-US" sz="1800">
                <a:solidFill>
                  <a:srgbClr val="674EA7"/>
                </a:solidFill>
                <a:latin typeface="Constantia" pitchFamily="18" charset="0"/>
              </a:rPr>
              <a:t>S←∅ 				</a:t>
            </a:r>
            <a:r>
              <a:rPr lang="en-US" altLang="en-US" sz="1800">
                <a:solidFill>
                  <a:srgbClr val="C00000"/>
                </a:solidFill>
                <a:latin typeface="Constantia" pitchFamily="18" charset="0"/>
              </a:rPr>
              <a:t>(S, the set of visited vertices is initially empty) </a:t>
            </a:r>
            <a:r>
              <a:rPr lang="en-US" altLang="en-US" sz="1800">
                <a:solidFill>
                  <a:srgbClr val="444444"/>
                </a:solidFill>
                <a:latin typeface="Constantia" pitchFamily="18" charset="0"/>
              </a:rPr>
              <a:t/>
            </a:r>
            <a:br>
              <a:rPr lang="en-US" altLang="en-US" sz="1800">
                <a:solidFill>
                  <a:srgbClr val="444444"/>
                </a:solidFill>
                <a:latin typeface="Constantia" pitchFamily="18" charset="0"/>
              </a:rPr>
            </a:br>
            <a:r>
              <a:rPr lang="en-US" altLang="en-US" sz="1800">
                <a:solidFill>
                  <a:srgbClr val="674EA7"/>
                </a:solidFill>
                <a:latin typeface="Constantia" pitchFamily="18" charset="0"/>
              </a:rPr>
              <a:t>Q←V </a:t>
            </a:r>
            <a:r>
              <a:rPr lang="en-US" altLang="en-US" sz="1800">
                <a:solidFill>
                  <a:srgbClr val="C00000"/>
                </a:solidFill>
                <a:latin typeface="Constantia" pitchFamily="18" charset="0"/>
              </a:rPr>
              <a:t> 				(Q, the queue initially contains all vertices) </a:t>
            </a:r>
            <a:r>
              <a:rPr lang="en-US" altLang="en-US" sz="1800">
                <a:solidFill>
                  <a:srgbClr val="674EA7"/>
                </a:solidFill>
                <a:latin typeface="Constantia" pitchFamily="18" charset="0"/>
              </a:rPr>
              <a:t>              </a:t>
            </a:r>
            <a:r>
              <a:rPr lang="en-US" altLang="en-US" sz="1800">
                <a:solidFill>
                  <a:srgbClr val="444444"/>
                </a:solidFill>
                <a:latin typeface="Constantia" pitchFamily="18" charset="0"/>
              </a:rPr>
              <a:t/>
            </a:r>
            <a:br>
              <a:rPr lang="en-US" altLang="en-US" sz="1800">
                <a:solidFill>
                  <a:srgbClr val="444444"/>
                </a:solidFill>
                <a:latin typeface="Constantia" pitchFamily="18" charset="0"/>
              </a:rPr>
            </a:br>
            <a:r>
              <a:rPr lang="en-US" altLang="en-US" sz="1800">
                <a:solidFill>
                  <a:srgbClr val="444444"/>
                </a:solidFill>
                <a:latin typeface="Constantia" pitchFamily="18" charset="0"/>
              </a:rPr>
              <a:t>while </a:t>
            </a:r>
            <a:r>
              <a:rPr lang="en-US" altLang="en-US" sz="1800">
                <a:solidFill>
                  <a:srgbClr val="674EA7"/>
                </a:solidFill>
                <a:latin typeface="Constantia" pitchFamily="18" charset="0"/>
              </a:rPr>
              <a:t>Q ≠∅ 			</a:t>
            </a:r>
            <a:r>
              <a:rPr lang="en-US" altLang="en-US" sz="1800">
                <a:solidFill>
                  <a:srgbClr val="C00000"/>
                </a:solidFill>
                <a:latin typeface="Constantia" pitchFamily="18" charset="0"/>
              </a:rPr>
              <a:t>(while the queue is not empty) </a:t>
            </a:r>
            <a:r>
              <a:rPr lang="en-US" altLang="en-US" sz="1800">
                <a:solidFill>
                  <a:srgbClr val="444444"/>
                </a:solidFill>
                <a:latin typeface="Constantia" pitchFamily="18" charset="0"/>
              </a:rPr>
              <a:t/>
            </a:r>
            <a:br>
              <a:rPr lang="en-US" altLang="en-US" sz="1800">
                <a:solidFill>
                  <a:srgbClr val="444444"/>
                </a:solidFill>
                <a:latin typeface="Constantia" pitchFamily="18" charset="0"/>
              </a:rPr>
            </a:br>
            <a:r>
              <a:rPr lang="en-US" altLang="en-US" sz="1800">
                <a:solidFill>
                  <a:srgbClr val="444444"/>
                </a:solidFill>
                <a:latin typeface="Constantia" pitchFamily="18" charset="0"/>
              </a:rPr>
              <a:t>do  </a:t>
            </a:r>
            <a:r>
              <a:rPr lang="en-US" altLang="en-US" sz="1800">
                <a:solidFill>
                  <a:srgbClr val="674EA7"/>
                </a:solidFill>
                <a:latin typeface="Constantia" pitchFamily="18" charset="0"/>
              </a:rPr>
              <a:t> u ← </a:t>
            </a:r>
            <a:r>
              <a:rPr lang="en-US" altLang="en-US" sz="1800">
                <a:solidFill>
                  <a:srgbClr val="444444"/>
                </a:solidFill>
                <a:latin typeface="Constantia" pitchFamily="18" charset="0"/>
              </a:rPr>
              <a:t>mindistance</a:t>
            </a:r>
            <a:r>
              <a:rPr lang="en-US" altLang="en-US" sz="1800">
                <a:solidFill>
                  <a:srgbClr val="674EA7"/>
                </a:solidFill>
                <a:latin typeface="Constantia" pitchFamily="18" charset="0"/>
              </a:rPr>
              <a:t>(Q,dist)	</a:t>
            </a:r>
            <a:r>
              <a:rPr lang="en-US" altLang="en-US" sz="1800">
                <a:solidFill>
                  <a:srgbClr val="C00000"/>
                </a:solidFill>
                <a:latin typeface="Constantia" pitchFamily="18" charset="0"/>
              </a:rPr>
              <a:t>(select the element of Q with the min. distance) </a:t>
            </a:r>
            <a:r>
              <a:rPr lang="en-US" altLang="en-US" sz="1800">
                <a:solidFill>
                  <a:srgbClr val="444444"/>
                </a:solidFill>
                <a:latin typeface="Constantia" pitchFamily="18" charset="0"/>
              </a:rPr>
              <a:t/>
            </a:r>
            <a:br>
              <a:rPr lang="en-US" altLang="en-US" sz="1800">
                <a:solidFill>
                  <a:srgbClr val="444444"/>
                </a:solidFill>
                <a:latin typeface="Constantia" pitchFamily="18" charset="0"/>
              </a:rPr>
            </a:br>
            <a:r>
              <a:rPr lang="en-US" altLang="en-US" sz="1800">
                <a:solidFill>
                  <a:srgbClr val="444444"/>
                </a:solidFill>
                <a:latin typeface="Constantia" pitchFamily="18" charset="0"/>
              </a:rPr>
              <a:t>    </a:t>
            </a:r>
            <a:r>
              <a:rPr lang="en-US" altLang="en-US" sz="1800">
                <a:solidFill>
                  <a:srgbClr val="674EA7"/>
                </a:solidFill>
                <a:latin typeface="Constantia" pitchFamily="18" charset="0"/>
              </a:rPr>
              <a:t>  S←S∪{u} 			</a:t>
            </a:r>
            <a:r>
              <a:rPr lang="en-US" altLang="en-US" sz="1800">
                <a:solidFill>
                  <a:srgbClr val="C00000"/>
                </a:solidFill>
                <a:latin typeface="Constantia" pitchFamily="18" charset="0"/>
              </a:rPr>
              <a:t>(add u to list of visited vertices) </a:t>
            </a:r>
            <a:r>
              <a:rPr lang="en-US" altLang="en-US" sz="1800">
                <a:solidFill>
                  <a:srgbClr val="444444"/>
                </a:solidFill>
                <a:latin typeface="Constantia" pitchFamily="18" charset="0"/>
              </a:rPr>
              <a:t/>
            </a:r>
            <a:br>
              <a:rPr lang="en-US" altLang="en-US" sz="1800">
                <a:solidFill>
                  <a:srgbClr val="444444"/>
                </a:solidFill>
                <a:latin typeface="Constantia" pitchFamily="18" charset="0"/>
              </a:rPr>
            </a:br>
            <a:r>
              <a:rPr lang="en-US" altLang="en-US" sz="1800">
                <a:solidFill>
                  <a:srgbClr val="444444"/>
                </a:solidFill>
                <a:latin typeface="Constantia" pitchFamily="18" charset="0"/>
              </a:rPr>
              <a:t>       for all </a:t>
            </a:r>
            <a:r>
              <a:rPr lang="en-US" altLang="en-US" sz="1800">
                <a:solidFill>
                  <a:srgbClr val="674EA7"/>
                </a:solidFill>
                <a:latin typeface="Constantia" pitchFamily="18" charset="0"/>
              </a:rPr>
              <a:t>v ∈ neighbors[u]		</a:t>
            </a:r>
            <a:r>
              <a:rPr lang="en-US" altLang="en-US" sz="1800">
                <a:solidFill>
                  <a:srgbClr val="C00000"/>
                </a:solidFill>
                <a:latin typeface="Constantia" pitchFamily="18" charset="0"/>
              </a:rPr>
              <a:t> </a:t>
            </a:r>
            <a:r>
              <a:rPr lang="en-US" altLang="en-US" sz="1800">
                <a:solidFill>
                  <a:srgbClr val="444444"/>
                </a:solidFill>
                <a:latin typeface="Constantia" pitchFamily="18" charset="0"/>
              </a:rPr>
              <a:t/>
            </a:r>
            <a:br>
              <a:rPr lang="en-US" altLang="en-US" sz="1800">
                <a:solidFill>
                  <a:srgbClr val="444444"/>
                </a:solidFill>
                <a:latin typeface="Constantia" pitchFamily="18" charset="0"/>
              </a:rPr>
            </a:br>
            <a:r>
              <a:rPr lang="en-US" altLang="en-US" sz="1800">
                <a:solidFill>
                  <a:srgbClr val="444444"/>
                </a:solidFill>
                <a:latin typeface="Constantia" pitchFamily="18" charset="0"/>
              </a:rPr>
              <a:t>              do  if   </a:t>
            </a:r>
            <a:r>
              <a:rPr lang="en-US" altLang="en-US" sz="1800">
                <a:solidFill>
                  <a:srgbClr val="674EA7"/>
                </a:solidFill>
                <a:latin typeface="Constantia" pitchFamily="18" charset="0"/>
              </a:rPr>
              <a:t>dist[v] &gt; dist[u] + w(u, v) 		</a:t>
            </a:r>
            <a:r>
              <a:rPr lang="en-US" altLang="en-US" sz="1800">
                <a:solidFill>
                  <a:srgbClr val="C00000"/>
                </a:solidFill>
                <a:latin typeface="Constantia" pitchFamily="18" charset="0"/>
              </a:rPr>
              <a:t>(if new shortest path found)</a:t>
            </a:r>
            <a:r>
              <a:rPr lang="en-US" altLang="en-US" sz="1800">
                <a:solidFill>
                  <a:srgbClr val="444444"/>
                </a:solidFill>
                <a:latin typeface="Constantia" pitchFamily="18" charset="0"/>
              </a:rPr>
              <a:t/>
            </a:r>
            <a:br>
              <a:rPr lang="en-US" altLang="en-US" sz="1800">
                <a:solidFill>
                  <a:srgbClr val="444444"/>
                </a:solidFill>
                <a:latin typeface="Constantia" pitchFamily="18" charset="0"/>
              </a:rPr>
            </a:br>
            <a:r>
              <a:rPr lang="en-US" altLang="en-US" sz="1800">
                <a:solidFill>
                  <a:srgbClr val="444444"/>
                </a:solidFill>
                <a:latin typeface="Constantia" pitchFamily="18" charset="0"/>
              </a:rPr>
              <a:t>                         then      </a:t>
            </a:r>
            <a:r>
              <a:rPr lang="en-US" altLang="en-US" sz="1800">
                <a:solidFill>
                  <a:srgbClr val="674EA7"/>
                </a:solidFill>
                <a:latin typeface="Constantia" pitchFamily="18" charset="0"/>
              </a:rPr>
              <a:t>d[v] ←d[u] + w(u, v)	</a:t>
            </a:r>
            <a:r>
              <a:rPr lang="en-US" altLang="en-US" sz="1800">
                <a:solidFill>
                  <a:srgbClr val="C00000"/>
                </a:solidFill>
                <a:latin typeface="Constantia" pitchFamily="18" charset="0"/>
              </a:rPr>
              <a:t>(set new value of shortest path)</a:t>
            </a:r>
          </a:p>
          <a:p>
            <a:pPr eaLnBrk="1" hangingPunct="1">
              <a:lnSpc>
                <a:spcPct val="95000"/>
              </a:lnSpc>
            </a:pPr>
            <a:r>
              <a:rPr lang="en-US" altLang="en-US" sz="1800">
                <a:solidFill>
                  <a:srgbClr val="444444"/>
                </a:solidFill>
                <a:latin typeface="Constantia" pitchFamily="18" charset="0"/>
              </a:rPr>
              <a:t>		</a:t>
            </a:r>
            <a:r>
              <a:rPr lang="en-US" altLang="en-US" sz="1800">
                <a:solidFill>
                  <a:srgbClr val="C00000"/>
                </a:solidFill>
                <a:latin typeface="Constantia" pitchFamily="18" charset="0"/>
              </a:rPr>
              <a:t>(if desired, add traceback code)</a:t>
            </a:r>
            <a:endParaRPr lang="en-US" altLang="en-US" sz="1800">
              <a:solidFill>
                <a:srgbClr val="444444"/>
              </a:solidFill>
              <a:latin typeface="Constantia" pitchFamily="18" charset="0"/>
            </a:endParaRPr>
          </a:p>
          <a:p>
            <a:pPr eaLnBrk="1" hangingPunct="1">
              <a:lnSpc>
                <a:spcPct val="95000"/>
              </a:lnSpc>
            </a:pPr>
            <a:r>
              <a:rPr lang="en-US" altLang="en-US" sz="1800">
                <a:solidFill>
                  <a:srgbClr val="444444"/>
                </a:solidFill>
                <a:latin typeface="Constantia" pitchFamily="18" charset="0"/>
              </a:rPr>
              <a:t>return </a:t>
            </a:r>
            <a:r>
              <a:rPr lang="en-US" altLang="en-US" sz="1800">
                <a:solidFill>
                  <a:srgbClr val="674EA7"/>
                </a:solidFill>
                <a:latin typeface="Constantia" pitchFamily="18" charset="0"/>
              </a:rPr>
              <a:t>dist</a:t>
            </a:r>
            <a:endParaRPr lang="en-US" altLang="en-US" sz="1800">
              <a:solidFill>
                <a:srgbClr val="C00000"/>
              </a:solidFill>
              <a:latin typeface="Constantia" pitchFamily="18" charset="0"/>
            </a:endParaRPr>
          </a:p>
          <a:p>
            <a:pPr eaLnBrk="1" hangingPunct="1">
              <a:lnSpc>
                <a:spcPct val="95000"/>
              </a:lnSpc>
            </a:pPr>
            <a:endParaRPr lang="en-US" altLang="en-US" sz="1800">
              <a:solidFill>
                <a:srgbClr val="674EA7"/>
              </a:solidFill>
              <a:latin typeface="Constanti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51288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1"/>
          <p:cNvSpPr>
            <a:spLocks noGrp="1" noChangeArrowheads="1"/>
          </p:cNvSpPr>
          <p:nvPr>
            <p:ph type="title"/>
          </p:nvPr>
        </p:nvSpPr>
        <p:spPr>
          <a:xfrm>
            <a:off x="222885" y="274320"/>
            <a:ext cx="8698230" cy="822960"/>
          </a:xfrm>
        </p:spPr>
        <p:txBody>
          <a:bodyPr lIns="0" tIns="0" rIns="0" bIns="0" anchor="t"/>
          <a:lstStyle/>
          <a:p>
            <a:pPr>
              <a:lnSpc>
                <a:spcPct val="95000"/>
              </a:lnSpc>
              <a:defRPr/>
            </a:pPr>
            <a:r>
              <a:rPr lang="en-US" sz="3900" dirty="0">
                <a:solidFill>
                  <a:srgbClr val="3B62AF"/>
                </a:solidFill>
                <a:latin typeface="Arial" charset="0"/>
              </a:rPr>
              <a:t>Implementations and Running Times    </a:t>
            </a:r>
          </a:p>
        </p:txBody>
      </p:sp>
      <p:sp>
        <p:nvSpPr>
          <p:cNvPr id="24579" name="Rectangle 2"/>
          <p:cNvSpPr>
            <a:spLocks noGrp="1" noChangeArrowheads="1"/>
          </p:cNvSpPr>
          <p:nvPr>
            <p:ph sz="quarter" idx="1"/>
          </p:nvPr>
        </p:nvSpPr>
        <p:spPr>
          <a:xfrm>
            <a:off x="250032" y="1291590"/>
            <a:ext cx="8589168" cy="4956810"/>
          </a:xfrm>
        </p:spPr>
        <p:txBody>
          <a:bodyPr lIns="0" tIns="0" rIns="0" bIns="0">
            <a:normAutofit/>
          </a:bodyPr>
          <a:lstStyle/>
          <a:p>
            <a:pPr marL="0" indent="0">
              <a:lnSpc>
                <a:spcPct val="95000"/>
              </a:lnSpc>
              <a:spcBef>
                <a:spcPct val="0"/>
              </a:spcBef>
              <a:buNone/>
            </a:pPr>
            <a:r>
              <a:rPr lang="en-US" altLang="en-US" dirty="0" smtClean="0">
                <a:solidFill>
                  <a:srgbClr val="444444"/>
                </a:solidFill>
                <a:latin typeface="Arial" pitchFamily="34" charset="0"/>
              </a:rPr>
              <a:t>The simplest implementation is to store vertices in an array or linked list. This will produce a running time of </a:t>
            </a:r>
            <a:endParaRPr lang="en-US" altLang="en-US" dirty="0" smtClean="0"/>
          </a:p>
          <a:p>
            <a:pPr marL="0" indent="0">
              <a:lnSpc>
                <a:spcPct val="95000"/>
              </a:lnSpc>
              <a:spcBef>
                <a:spcPct val="0"/>
              </a:spcBef>
              <a:buNone/>
            </a:pPr>
            <a:r>
              <a:rPr lang="en-US" altLang="en-US" dirty="0" smtClean="0">
                <a:solidFill>
                  <a:srgbClr val="444444"/>
                </a:solidFill>
                <a:latin typeface="Arial" pitchFamily="34" charset="0"/>
              </a:rPr>
              <a:t> </a:t>
            </a:r>
            <a:endParaRPr lang="en-US" altLang="en-US" dirty="0" smtClean="0"/>
          </a:p>
          <a:p>
            <a:pPr marL="0" indent="0">
              <a:lnSpc>
                <a:spcPct val="95000"/>
              </a:lnSpc>
              <a:spcBef>
                <a:spcPct val="0"/>
              </a:spcBef>
              <a:buNone/>
            </a:pPr>
            <a:r>
              <a:rPr lang="en-US" altLang="en-US" dirty="0" smtClean="0">
                <a:solidFill>
                  <a:srgbClr val="444444"/>
                </a:solidFill>
                <a:latin typeface="Arial" pitchFamily="34" charset="0"/>
              </a:rPr>
              <a:t>		O(|V|^2 + |E|)</a:t>
            </a:r>
          </a:p>
          <a:p>
            <a:pPr marL="0" indent="0">
              <a:lnSpc>
                <a:spcPct val="95000"/>
              </a:lnSpc>
              <a:spcBef>
                <a:spcPct val="0"/>
              </a:spcBef>
              <a:buNone/>
            </a:pPr>
            <a:endParaRPr lang="en-US" altLang="en-US" dirty="0" smtClean="0">
              <a:solidFill>
                <a:srgbClr val="444444"/>
              </a:solidFill>
              <a:latin typeface="Arial" pitchFamily="34" charset="0"/>
            </a:endParaRPr>
          </a:p>
          <a:p>
            <a:pPr marL="0" indent="0">
              <a:lnSpc>
                <a:spcPct val="95000"/>
              </a:lnSpc>
              <a:spcBef>
                <a:spcPct val="0"/>
              </a:spcBef>
              <a:buNone/>
            </a:pPr>
            <a:r>
              <a:rPr lang="en-US" dirty="0"/>
              <a:t>Time Complexity of the implementation is O(V^2</a:t>
            </a:r>
            <a:r>
              <a:rPr lang="en-US" dirty="0" smtClean="0"/>
              <a:t>).</a:t>
            </a:r>
          </a:p>
          <a:p>
            <a:pPr marL="0" indent="0">
              <a:lnSpc>
                <a:spcPct val="95000"/>
              </a:lnSpc>
              <a:spcBef>
                <a:spcPct val="0"/>
              </a:spcBef>
              <a:buNone/>
            </a:pPr>
            <a:r>
              <a:rPr lang="en-US" dirty="0" smtClean="0"/>
              <a:t> </a:t>
            </a:r>
            <a:endParaRPr lang="en-US" altLang="en-US" dirty="0" smtClean="0">
              <a:solidFill>
                <a:srgbClr val="444444"/>
              </a:solidFill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05872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8077" cy="4873467"/>
          </a:xfrm>
        </p:spPr>
        <p:txBody>
          <a:bodyPr>
            <a:normAutofit fontScale="92500" lnSpcReduction="10000"/>
          </a:bodyPr>
          <a:lstStyle/>
          <a:p>
            <a:r>
              <a:rPr lang="en-US" altLang="en-US" smtClean="0"/>
              <a:t>As mentioned, Dijkstra’s algorithm calculates the shortest path to every vertex. </a:t>
            </a:r>
          </a:p>
          <a:p>
            <a:r>
              <a:rPr lang="en-US" altLang="en-US" smtClean="0"/>
              <a:t>However, it is about as computationally expensive to calculate the shortest path from vertex </a:t>
            </a:r>
            <a:r>
              <a:rPr lang="en-US" altLang="en-US" i="1" smtClean="0"/>
              <a:t>u </a:t>
            </a:r>
            <a:r>
              <a:rPr lang="en-US" altLang="en-US" smtClean="0"/>
              <a:t>to every vertex using Dijkstra’s as it is to calculate the shortest path to some particular vertex </a:t>
            </a:r>
            <a:r>
              <a:rPr lang="en-US" altLang="en-US" i="1" smtClean="0"/>
              <a:t>v</a:t>
            </a:r>
            <a:r>
              <a:rPr lang="en-US" altLang="en-US" smtClean="0"/>
              <a:t>.</a:t>
            </a:r>
          </a:p>
          <a:p>
            <a:r>
              <a:rPr lang="en-US" altLang="en-US" smtClean="0"/>
              <a:t>Therefore, anytime we want to know the optimal path to some other vertex from a determined origin, we can use Dijkstra’s algorithm.</a:t>
            </a:r>
          </a:p>
        </p:txBody>
      </p:sp>
      <p:sp>
        <p:nvSpPr>
          <p:cNvPr id="4" name="Rectangle 1"/>
          <p:cNvSpPr txBox="1">
            <a:spLocks noChangeArrowheads="1"/>
          </p:cNvSpPr>
          <p:nvPr/>
        </p:nvSpPr>
        <p:spPr>
          <a:xfrm>
            <a:off x="222885" y="274320"/>
            <a:ext cx="8698230" cy="822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>
              <a:lnSpc>
                <a:spcPct val="95000"/>
              </a:lnSpc>
              <a:defRPr/>
            </a:pPr>
            <a:r>
              <a:rPr lang="en-US" sz="3900" cap="small" dirty="0" err="1">
                <a:solidFill>
                  <a:srgbClr val="3B62AF"/>
                </a:solidFill>
                <a:latin typeface="Arial" charset="0"/>
                <a:ea typeface="+mj-ea"/>
                <a:cs typeface="+mj-cs"/>
              </a:rPr>
              <a:t>Dijkstra's</a:t>
            </a:r>
            <a:r>
              <a:rPr lang="en-US" sz="3900" cap="small" dirty="0">
                <a:solidFill>
                  <a:srgbClr val="3B62AF"/>
                </a:solidFill>
                <a:latin typeface="Arial" charset="0"/>
                <a:ea typeface="+mj-ea"/>
                <a:cs typeface="+mj-cs"/>
              </a:rPr>
              <a:t> Algorithm - Why use it?</a:t>
            </a:r>
          </a:p>
        </p:txBody>
      </p:sp>
    </p:spTree>
    <p:extLst>
      <p:ext uri="{BB962C8B-B14F-4D97-AF65-F5344CB8AC3E}">
        <p14:creationId xmlns:p14="http://schemas.microsoft.com/office/powerpoint/2010/main" val="34645730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1"/>
          <p:cNvSpPr>
            <a:spLocks noGrp="1" noChangeArrowheads="1"/>
          </p:cNvSpPr>
          <p:nvPr>
            <p:ph type="title"/>
          </p:nvPr>
        </p:nvSpPr>
        <p:spPr>
          <a:xfrm>
            <a:off x="222885" y="274320"/>
            <a:ext cx="8698230" cy="822960"/>
          </a:xfrm>
        </p:spPr>
        <p:txBody>
          <a:bodyPr lIns="0" tIns="0" rIns="0" bIns="0" anchor="t"/>
          <a:lstStyle/>
          <a:p>
            <a:pPr>
              <a:lnSpc>
                <a:spcPct val="95000"/>
              </a:lnSpc>
              <a:defRPr/>
            </a:pPr>
            <a:r>
              <a:rPr lang="en-US" sz="3900">
                <a:solidFill>
                  <a:srgbClr val="3B62AF"/>
                </a:solidFill>
                <a:latin typeface="Arial" charset="0"/>
              </a:rPr>
              <a:t>Applications of Dijkstra's Algorithm</a:t>
            </a:r>
          </a:p>
        </p:txBody>
      </p:sp>
      <p:sp>
        <p:nvSpPr>
          <p:cNvPr id="28675" name="Rectangle 2"/>
          <p:cNvSpPr>
            <a:spLocks noGrp="1" noChangeArrowheads="1"/>
          </p:cNvSpPr>
          <p:nvPr>
            <p:ph sz="quarter" idx="1"/>
          </p:nvPr>
        </p:nvSpPr>
        <p:spPr>
          <a:xfrm>
            <a:off x="220028" y="1080135"/>
            <a:ext cx="8703945" cy="4940618"/>
          </a:xfrm>
        </p:spPr>
        <p:txBody>
          <a:bodyPr lIns="0" tIns="0" rIns="0" bIns="0"/>
          <a:lstStyle/>
          <a:p>
            <a:pPr marL="0" indent="0">
              <a:lnSpc>
                <a:spcPct val="95000"/>
              </a:lnSpc>
              <a:spcBef>
                <a:spcPct val="0"/>
              </a:spcBef>
              <a:buNone/>
            </a:pPr>
            <a:r>
              <a:rPr lang="en-US" altLang="en-US" dirty="0" smtClean="0">
                <a:solidFill>
                  <a:srgbClr val="444444"/>
                </a:solidFill>
                <a:latin typeface="Arial" pitchFamily="34" charset="0"/>
              </a:rPr>
              <a:t>- </a:t>
            </a:r>
            <a:r>
              <a:rPr lang="en-US" altLang="en-US" sz="2800" dirty="0" smtClean="0">
                <a:solidFill>
                  <a:srgbClr val="444444"/>
                </a:solidFill>
                <a:latin typeface="Arial" pitchFamily="34" charset="0"/>
              </a:rPr>
              <a:t>Traffic Information Systems are most prominent use  </a:t>
            </a:r>
            <a:endParaRPr lang="en-US" altLang="en-US" sz="2800" dirty="0" smtClean="0"/>
          </a:p>
          <a:p>
            <a:pPr marL="0" indent="0">
              <a:lnSpc>
                <a:spcPct val="95000"/>
              </a:lnSpc>
              <a:spcBef>
                <a:spcPct val="0"/>
              </a:spcBef>
              <a:buNone/>
            </a:pPr>
            <a:r>
              <a:rPr lang="en-US" altLang="en-US" sz="2800" dirty="0" smtClean="0">
                <a:solidFill>
                  <a:srgbClr val="444444"/>
                </a:solidFill>
                <a:latin typeface="Arial" pitchFamily="34" charset="0"/>
              </a:rPr>
              <a:t>- Mapping (Map Quest, Google Maps) </a:t>
            </a:r>
            <a:endParaRPr lang="en-US" altLang="en-US" sz="2800" dirty="0" smtClean="0"/>
          </a:p>
          <a:p>
            <a:pPr marL="0" indent="0">
              <a:lnSpc>
                <a:spcPct val="95000"/>
              </a:lnSpc>
              <a:spcBef>
                <a:spcPct val="0"/>
              </a:spcBef>
              <a:buNone/>
            </a:pPr>
            <a:r>
              <a:rPr lang="en-US" altLang="en-US" sz="2800" dirty="0" smtClean="0">
                <a:solidFill>
                  <a:srgbClr val="444444"/>
                </a:solidFill>
                <a:latin typeface="Arial" pitchFamily="34" charset="0"/>
              </a:rPr>
              <a:t>- Routing Systems</a:t>
            </a:r>
          </a:p>
        </p:txBody>
      </p:sp>
      <p:pic>
        <p:nvPicPr>
          <p:cNvPr id="2867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1" y="3048000"/>
            <a:ext cx="3804284" cy="3328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677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2743200"/>
            <a:ext cx="4419600" cy="381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640934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Exercise </a:t>
            </a:r>
            <a:endParaRPr lang="en-US" dirty="0"/>
          </a:p>
        </p:txBody>
      </p:sp>
      <p:pic>
        <p:nvPicPr>
          <p:cNvPr id="2050" name="Picture 2" descr="https://www.geeksforgeeks.org/wp-content/uploads/Fig-11.jp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944094"/>
            <a:ext cx="7268449" cy="33899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453045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</a:t>
            </a:r>
            <a:endParaRPr lang="en-US" dirty="0"/>
          </a:p>
        </p:txBody>
      </p:sp>
      <p:pic>
        <p:nvPicPr>
          <p:cNvPr id="1026" name="Picture 2" descr="https://www.geeksforgeeks.org/wp-content/uploads/Fig-11.jp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384981"/>
            <a:ext cx="3892520" cy="1815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ttps://www.geeksforgeeks.org/wp-content/uploads/MST1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21714" y="1630702"/>
            <a:ext cx="762000" cy="1323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ttps://www.geeksforgeeks.org/wp-content/uploads/DIJ2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0" y="1647031"/>
            <a:ext cx="1428750" cy="1323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ttps://www.geeksforgeeks.org/wp-content/uploads/DIJ3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4310743"/>
            <a:ext cx="1047750" cy="1190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https://www.geeksforgeeks.org/wp-content/uploads/DIJ4.jp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0" y="4177393"/>
            <a:ext cx="1428750" cy="1323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https://www.geeksforgeeks.org/wp-content/uploads/DIJ5.jpg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0250" y="4244067"/>
            <a:ext cx="2476500" cy="1323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817258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127986"/>
            <a:ext cx="4739701" cy="2920268"/>
          </a:xfr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9600" y="2667000"/>
            <a:ext cx="4108490" cy="377949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286000" y="6324600"/>
            <a:ext cx="2362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A – B –D - G – H = 7</a:t>
            </a:r>
            <a:endParaRPr lang="en-IN" dirty="0"/>
          </a:p>
        </p:txBody>
      </p:sp>
      <p:sp>
        <p:nvSpPr>
          <p:cNvPr id="7" name="TextBox 6"/>
          <p:cNvSpPr txBox="1"/>
          <p:nvPr/>
        </p:nvSpPr>
        <p:spPr>
          <a:xfrm>
            <a:off x="5334000" y="838200"/>
            <a:ext cx="2438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A - C – E – F = 14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957140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NewsPrint">
      <a:majorFont>
        <a:latin typeface="Impact"/>
        <a:ea typeface=""/>
        <a:cs typeface=""/>
        <a:font script="Jpan" typeface="HGP創英角ｺﾞｼｯｸUB"/>
        <a:font script="Hang" typeface="HY견고딕"/>
        <a:font script="Hans" typeface="微软雅黑"/>
        <a:font script="Hant" typeface="微軟正黑體"/>
        <a:font script="Arab" typeface="Tahoma"/>
        <a:font script="Hebr" typeface="To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imes New Roman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1766</TotalTime>
  <Words>2701</Words>
  <Application>Microsoft Office PowerPoint</Application>
  <PresentationFormat>On-screen Show (4:3)</PresentationFormat>
  <Paragraphs>993</Paragraphs>
  <Slides>74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74</vt:i4>
      </vt:variant>
    </vt:vector>
  </HeadingPairs>
  <TitlesOfParts>
    <vt:vector size="86" baseType="lpstr">
      <vt:lpstr>ＭＳ Ｐゴシック</vt:lpstr>
      <vt:lpstr>SimSun</vt:lpstr>
      <vt:lpstr>Arial</vt:lpstr>
      <vt:lpstr>Arial Black</vt:lpstr>
      <vt:lpstr>Calibri</vt:lpstr>
      <vt:lpstr>Constantia</vt:lpstr>
      <vt:lpstr>Google Sans Text</vt:lpstr>
      <vt:lpstr>Impact</vt:lpstr>
      <vt:lpstr>Monotype Sorts</vt:lpstr>
      <vt:lpstr>Times New Roman</vt:lpstr>
      <vt:lpstr>Verdana</vt:lpstr>
      <vt:lpstr>Office Theme</vt:lpstr>
      <vt:lpstr>Greedy Method</vt:lpstr>
      <vt:lpstr>Greedy Method</vt:lpstr>
      <vt:lpstr>Why they are greedy ?</vt:lpstr>
      <vt:lpstr>How it works ?</vt:lpstr>
      <vt:lpstr>Advantage of greedy method</vt:lpstr>
      <vt:lpstr>Where will u apply?</vt:lpstr>
      <vt:lpstr>Various other applications</vt:lpstr>
      <vt:lpstr>Comparison </vt:lpstr>
      <vt:lpstr>Some greedy methods</vt:lpstr>
      <vt:lpstr>Job sequencing with deadlines -1</vt:lpstr>
      <vt:lpstr>Job sequencing</vt:lpstr>
      <vt:lpstr>Job sequencing with deadlines -1</vt:lpstr>
      <vt:lpstr>Example cont..</vt:lpstr>
      <vt:lpstr>Exercise -1 </vt:lpstr>
      <vt:lpstr>Knapsack problem - 2 </vt:lpstr>
      <vt:lpstr>Knapsack problem</vt:lpstr>
      <vt:lpstr>0-1 Knapsack problem</vt:lpstr>
      <vt:lpstr>Fractional Knapsack problem</vt:lpstr>
      <vt:lpstr>Exercise -2</vt:lpstr>
      <vt:lpstr>Minimum cost spanning tree-3</vt:lpstr>
      <vt:lpstr>Minimum spanning tree</vt:lpstr>
      <vt:lpstr>Applications of spanning tree</vt:lpstr>
      <vt:lpstr>PowerPoint Presentation</vt:lpstr>
      <vt:lpstr>A cable company want to connect five villages to their network     which currently extends to the market town of A. What is the minimum length of cable needed?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Prim’s algorithm</vt:lpstr>
      <vt:lpstr>Exercise -3</vt:lpstr>
      <vt:lpstr>Exercise -3</vt:lpstr>
      <vt:lpstr>Huffman Coding - 4</vt:lpstr>
      <vt:lpstr>Huffman Coding</vt:lpstr>
      <vt:lpstr>Huffman encoding</vt:lpstr>
      <vt:lpstr>Huffman Coding</vt:lpstr>
      <vt:lpstr>Huffman Coding</vt:lpstr>
      <vt:lpstr>Huffman Coding</vt:lpstr>
      <vt:lpstr>Huffman Coding</vt:lpstr>
      <vt:lpstr>Huffman Coding</vt:lpstr>
      <vt:lpstr>Huffman Coding</vt:lpstr>
      <vt:lpstr>Huffman Coding</vt:lpstr>
      <vt:lpstr>Huffman Coding</vt:lpstr>
      <vt:lpstr>Huffman Coding</vt:lpstr>
      <vt:lpstr>Huffman Coding</vt:lpstr>
      <vt:lpstr>Huffman Coding</vt:lpstr>
      <vt:lpstr>Huffman Coding</vt:lpstr>
      <vt:lpstr>Huffman Coding</vt:lpstr>
      <vt:lpstr>Huffman Coding</vt:lpstr>
      <vt:lpstr>Huffman Coding</vt:lpstr>
      <vt:lpstr>Huffman Coding</vt:lpstr>
      <vt:lpstr>exercise</vt:lpstr>
      <vt:lpstr> Edsger Wybe Dijkstra </vt:lpstr>
      <vt:lpstr>Single source shortest path-5</vt:lpstr>
      <vt:lpstr>Edsger Wybe Dijkstra</vt:lpstr>
      <vt:lpstr>Single-Source Shortest Path Problem </vt:lpstr>
      <vt:lpstr>Shortest Path</vt:lpstr>
      <vt:lpstr>Dijkstra's algorithm </vt:lpstr>
      <vt:lpstr>The steps</vt:lpstr>
      <vt:lpstr>Dijkstra's algorithm - Pseudocode</vt:lpstr>
      <vt:lpstr>Implementations and Running Times    </vt:lpstr>
      <vt:lpstr>PowerPoint Presentation</vt:lpstr>
      <vt:lpstr>Applications of Dijkstra's Algorithm</vt:lpstr>
      <vt:lpstr>Exercise </vt:lpstr>
      <vt:lpstr>Example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B.VenkatRamana</dc:creator>
  <cp:lastModifiedBy>BVR</cp:lastModifiedBy>
  <cp:revision>74</cp:revision>
  <dcterms:created xsi:type="dcterms:W3CDTF">2015-01-22T12:39:54Z</dcterms:created>
  <dcterms:modified xsi:type="dcterms:W3CDTF">2026-01-30T05:00:08Z</dcterms:modified>
</cp:coreProperties>
</file>