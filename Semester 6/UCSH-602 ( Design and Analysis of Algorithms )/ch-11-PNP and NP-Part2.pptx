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256" r:id="rId2"/>
    <p:sldId id="322" r:id="rId3"/>
    <p:sldId id="279" r:id="rId4"/>
    <p:sldId id="280" r:id="rId5"/>
    <p:sldId id="285" r:id="rId6"/>
    <p:sldId id="286" r:id="rId7"/>
    <p:sldId id="284" r:id="rId8"/>
    <p:sldId id="323" r:id="rId9"/>
    <p:sldId id="324" r:id="rId10"/>
    <p:sldId id="326" r:id="rId11"/>
    <p:sldId id="327" r:id="rId12"/>
    <p:sldId id="328" r:id="rId13"/>
    <p:sldId id="329" r:id="rId14"/>
    <p:sldId id="325" r:id="rId15"/>
    <p:sldId id="282" r:id="rId16"/>
    <p:sldId id="283" r:id="rId17"/>
    <p:sldId id="287" r:id="rId18"/>
    <p:sldId id="288" r:id="rId19"/>
    <p:sldId id="290" r:id="rId20"/>
    <p:sldId id="289" r:id="rId21"/>
    <p:sldId id="319" r:id="rId22"/>
    <p:sldId id="321" r:id="rId23"/>
    <p:sldId id="320" r:id="rId24"/>
    <p:sldId id="291" r:id="rId25"/>
    <p:sldId id="293" r:id="rId26"/>
    <p:sldId id="295" r:id="rId27"/>
    <p:sldId id="294" r:id="rId28"/>
    <p:sldId id="301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  <p:sldId id="296" r:id="rId45"/>
    <p:sldId id="297" r:id="rId46"/>
    <p:sldId id="298" r:id="rId47"/>
    <p:sldId id="300" r:id="rId48"/>
    <p:sldId id="318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48189-87B9-42A0-9612-1643A453571B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0D18D-4F13-4331-ABD6-51DD6489A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37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25634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53367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98AE5B38-19B0-43C4-9036-CAF7C9597AB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0D7F6E8-7B3B-4C97-8A85-1D55A8CB736B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5B38-19B0-43C4-9036-CAF7C9597AB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F6E8-7B3B-4C97-8A85-1D55A8CB7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5B38-19B0-43C4-9036-CAF7C9597AB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F6E8-7B3B-4C97-8A85-1D55A8CB7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5B38-19B0-43C4-9036-CAF7C9597AB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F6E8-7B3B-4C97-8A85-1D55A8CB73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5B38-19B0-43C4-9036-CAF7C9597AB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F6E8-7B3B-4C97-8A85-1D55A8CB7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5B38-19B0-43C4-9036-CAF7C9597AB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F6E8-7B3B-4C97-8A85-1D55A8CB7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5B38-19B0-43C4-9036-CAF7C9597AB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F6E8-7B3B-4C97-8A85-1D55A8CB7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5B38-19B0-43C4-9036-CAF7C9597AB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F6E8-7B3B-4C97-8A85-1D55A8CB736B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5B38-19B0-43C4-9036-CAF7C9597AB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F6E8-7B3B-4C97-8A85-1D55A8CB7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5B38-19B0-43C4-9036-CAF7C9597AB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F6E8-7B3B-4C97-8A85-1D55A8CB7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5B38-19B0-43C4-9036-CAF7C9597AB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F6E8-7B3B-4C97-8A85-1D55A8CB7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98AE5B38-19B0-43C4-9036-CAF7C9597AB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70D7F6E8-7B3B-4C97-8A85-1D55A8CB736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TOCbreak.pp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TOCend.ppt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TOCbreak.pp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hyperlink" Target="TOCend.ppt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P,NP and NP complete problems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Final Chapter</a:t>
            </a:r>
          </a:p>
          <a:p>
            <a:r>
              <a:rPr lang="en-US" dirty="0" smtClean="0"/>
              <a:t>Part-2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53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762000" y="1295402"/>
          <a:ext cx="7619999" cy="4724399"/>
        </p:xfrm>
        <a:graphic>
          <a:graphicData uri="http://schemas.openxmlformats.org/drawingml/2006/table">
            <a:tbl>
              <a:tblPr/>
              <a:tblGrid>
                <a:gridCol w="1953295">
                  <a:extLst>
                    <a:ext uri="{9D8B030D-6E8A-4147-A177-3AD203B41FA5}">
                      <a16:colId xmlns:a16="http://schemas.microsoft.com/office/drawing/2014/main" val="3115081810"/>
                    </a:ext>
                  </a:extLst>
                </a:gridCol>
                <a:gridCol w="1953295">
                  <a:extLst>
                    <a:ext uri="{9D8B030D-6E8A-4147-A177-3AD203B41FA5}">
                      <a16:colId xmlns:a16="http://schemas.microsoft.com/office/drawing/2014/main" val="1480807137"/>
                    </a:ext>
                  </a:extLst>
                </a:gridCol>
                <a:gridCol w="1953295">
                  <a:extLst>
                    <a:ext uri="{9D8B030D-6E8A-4147-A177-3AD203B41FA5}">
                      <a16:colId xmlns:a16="http://schemas.microsoft.com/office/drawing/2014/main" val="1955740917"/>
                    </a:ext>
                  </a:extLst>
                </a:gridCol>
                <a:gridCol w="1760114">
                  <a:extLst>
                    <a:ext uri="{9D8B030D-6E8A-4147-A177-3AD203B41FA5}">
                      <a16:colId xmlns:a16="http://schemas.microsoft.com/office/drawing/2014/main" val="1450620338"/>
                    </a:ext>
                  </a:extLst>
                </a:gridCol>
              </a:tblGrid>
              <a:tr h="750560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Category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802" marR="7475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Solvable Quickly?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802" marR="7475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Verifiable Quickly?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802" marR="7475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Summary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802" marR="5980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675855"/>
                  </a:ext>
                </a:extLst>
              </a:tr>
              <a:tr h="750560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802" marR="7475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Yes</a:t>
                      </a:r>
                    </a:p>
                  </a:txBody>
                  <a:tcPr marL="59802" marR="7475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Yes</a:t>
                      </a:r>
                    </a:p>
                  </a:txBody>
                  <a:tcPr marL="59802" marR="7475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Easy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802" marR="5980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985488"/>
                  </a:ext>
                </a:extLst>
              </a:tr>
              <a:tr h="993460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NP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802" marR="7475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Maybe/Unknown</a:t>
                      </a:r>
                    </a:p>
                  </a:txBody>
                  <a:tcPr marL="59802" marR="7475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Yes</a:t>
                      </a:r>
                    </a:p>
                  </a:txBody>
                  <a:tcPr marL="59802" marR="7475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Hard to do, easy to check.</a:t>
                      </a:r>
                    </a:p>
                  </a:txBody>
                  <a:tcPr marL="59802" marR="5980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65609"/>
                  </a:ext>
                </a:extLst>
              </a:tr>
              <a:tr h="1236359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NP-Complete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802" marR="7475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Likely No</a:t>
                      </a:r>
                    </a:p>
                  </a:txBody>
                  <a:tcPr marL="59802" marR="7475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Yes</a:t>
                      </a:r>
                    </a:p>
                  </a:txBody>
                  <a:tcPr marL="59802" marR="7475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hardest "easy to check" problems.</a:t>
                      </a:r>
                    </a:p>
                  </a:txBody>
                  <a:tcPr marL="59802" marR="5980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677772"/>
                  </a:ext>
                </a:extLst>
              </a:tr>
              <a:tr h="993460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NP-Hard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802" marR="7475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Likely No</a:t>
                      </a:r>
                    </a:p>
                  </a:txBody>
                  <a:tcPr marL="59802" marR="7475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Maybe No</a:t>
                      </a:r>
                    </a:p>
                  </a:txBody>
                  <a:tcPr marL="59802" marR="7475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"Boss Level" (often impossible).</a:t>
                      </a:r>
                    </a:p>
                  </a:txBody>
                  <a:tcPr marL="59802" marR="59802" marT="99670" marB="996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332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989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881063"/>
            <a:ext cx="6743700" cy="509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542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0"/>
            <a:ext cx="7186110" cy="724936"/>
          </a:xfrm>
        </p:spPr>
        <p:txBody>
          <a:bodyPr>
            <a:normAutofit/>
          </a:bodyPr>
          <a:lstStyle/>
          <a:p>
            <a:r>
              <a:rPr lang="en-US" sz="3200" dirty="0" smtClean="0"/>
              <a:t>NP Complete: S.A Cooks Theorem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52601"/>
            <a:ext cx="8458200" cy="13716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sz="2000" dirty="0"/>
              <a:t>NP-complete problems form a certain important subclass of </a:t>
            </a:r>
            <a:r>
              <a:rPr lang="en-US" altLang="en-US" sz="2000" b="1" dirty="0">
                <a:solidFill>
                  <a:srgbClr val="0000FF"/>
                </a:solidFill>
              </a:rPr>
              <a:t>NP</a:t>
            </a:r>
            <a:r>
              <a:rPr lang="en-US" altLang="en-US" sz="2000" dirty="0"/>
              <a:t>. </a:t>
            </a:r>
            <a:endParaRPr lang="en-US" altLang="en-US" sz="2000" dirty="0" smtClean="0"/>
          </a:p>
          <a:p>
            <a:pPr>
              <a:spcBef>
                <a:spcPct val="0"/>
              </a:spcBef>
            </a:pPr>
            <a:r>
              <a:rPr lang="en-US" altLang="en-US" sz="2000" dirty="0" smtClean="0"/>
              <a:t>The</a:t>
            </a:r>
            <a:r>
              <a:rPr lang="en-US" altLang="en-US" sz="2000" b="1" dirty="0" smtClean="0">
                <a:solidFill>
                  <a:srgbClr val="0000FF"/>
                </a:solidFill>
              </a:rPr>
              <a:t> </a:t>
            </a:r>
            <a:r>
              <a:rPr lang="en-US" altLang="en-US" sz="2000" dirty="0" smtClean="0"/>
              <a:t> phenomenon </a:t>
            </a:r>
            <a:r>
              <a:rPr lang="en-US" altLang="en-US" sz="2000" dirty="0"/>
              <a:t>of NP-completeness was discovered in the early 1970s </a:t>
            </a:r>
            <a:r>
              <a:rPr lang="en-US" altLang="en-US" sz="2000" dirty="0" smtClean="0"/>
              <a:t>by </a:t>
            </a:r>
            <a:r>
              <a:rPr lang="en-US" altLang="en-US" sz="2000" dirty="0">
                <a:solidFill>
                  <a:srgbClr val="FF0000"/>
                </a:solidFill>
              </a:rPr>
              <a:t>Stephen Cook and Leonid Levin</a:t>
            </a:r>
            <a:r>
              <a:rPr lang="en-US" altLang="en-US" sz="2000" dirty="0"/>
              <a:t>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dirty="0"/>
          </a:p>
          <a:p>
            <a:endParaRPr lang="en-US" dirty="0"/>
          </a:p>
        </p:txBody>
      </p:sp>
      <p:pic>
        <p:nvPicPr>
          <p:cNvPr id="1027" name="Picture 3" descr="C:\Users\B.VenkatRamana\Desktop\leonid_lev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057525"/>
            <a:ext cx="32004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B.VenkatRamana\Desktop\Cook-Stephen-A._-460x30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38475"/>
            <a:ext cx="4381500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147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7024744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Cooks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7924800" cy="5105400"/>
          </a:xfrm>
        </p:spPr>
        <p:txBody>
          <a:bodyPr>
            <a:noAutofit/>
          </a:bodyPr>
          <a:lstStyle/>
          <a:p>
            <a:pPr marL="68580" indent="0">
              <a:spcBef>
                <a:spcPct val="0"/>
              </a:spcBef>
              <a:buNone/>
            </a:pPr>
            <a:endParaRPr lang="en-US" altLang="en-US" sz="4000" dirty="0" smtClean="0"/>
          </a:p>
          <a:p>
            <a:pPr marL="68580" indent="0">
              <a:spcBef>
                <a:spcPct val="0"/>
              </a:spcBef>
              <a:buNone/>
            </a:pPr>
            <a:r>
              <a:rPr lang="en-US" altLang="en-US" sz="4000" dirty="0" smtClean="0"/>
              <a:t>If </a:t>
            </a:r>
            <a:r>
              <a:rPr lang="en-US" altLang="en-US" sz="4000" dirty="0"/>
              <a:t>a polynomial time algorithm exists for any of the </a:t>
            </a:r>
            <a:endParaRPr lang="en-US" altLang="en-US" sz="4000" dirty="0" smtClean="0"/>
          </a:p>
          <a:p>
            <a:pPr marL="68580" indent="0">
              <a:spcBef>
                <a:spcPct val="0"/>
              </a:spcBef>
              <a:buNone/>
            </a:pPr>
            <a:r>
              <a:rPr lang="en-US" altLang="en-US" sz="4000" dirty="0" smtClean="0"/>
              <a:t>NP-complete problems</a:t>
            </a:r>
            <a:r>
              <a:rPr lang="en-US" altLang="en-US" sz="4000" dirty="0"/>
              <a:t>, </a:t>
            </a:r>
            <a:endParaRPr lang="en-US" altLang="en-US" sz="4000" dirty="0" smtClean="0"/>
          </a:p>
          <a:p>
            <a:pPr marL="68580" indent="0">
              <a:spcBef>
                <a:spcPct val="0"/>
              </a:spcBef>
              <a:buNone/>
            </a:pPr>
            <a:r>
              <a:rPr lang="en-US" altLang="en-US" sz="4000" dirty="0" smtClean="0"/>
              <a:t>all </a:t>
            </a:r>
            <a:r>
              <a:rPr lang="en-US" altLang="en-US" sz="4000" dirty="0"/>
              <a:t>problems in </a:t>
            </a:r>
            <a:r>
              <a:rPr lang="en-US" altLang="en-US" sz="4000" b="1" dirty="0">
                <a:solidFill>
                  <a:srgbClr val="0000FF"/>
                </a:solidFill>
              </a:rPr>
              <a:t>NP</a:t>
            </a:r>
            <a:r>
              <a:rPr lang="en-US" altLang="en-US" sz="4000" dirty="0"/>
              <a:t> would be polynomial time solvable. </a:t>
            </a:r>
            <a:endParaRPr lang="en-US" altLang="en-US" sz="4000" dirty="0" smtClean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49315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024744" cy="648736"/>
          </a:xfrm>
        </p:spPr>
        <p:txBody>
          <a:bodyPr>
            <a:normAutofit fontScale="90000"/>
          </a:bodyPr>
          <a:lstStyle/>
          <a:p>
            <a:r>
              <a:rPr lang="en-US" dirty="0"/>
              <a:t>Cooks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7924800" cy="5029200"/>
          </a:xfrm>
        </p:spPr>
        <p:txBody>
          <a:bodyPr>
            <a:normAutofit/>
          </a:bodyPr>
          <a:lstStyle/>
          <a:p>
            <a:pPr lvl="1">
              <a:spcBef>
                <a:spcPct val="0"/>
              </a:spcBef>
            </a:pPr>
            <a:r>
              <a:rPr lang="en-US" altLang="en-US" sz="3000" dirty="0"/>
              <a:t>To prove that </a:t>
            </a:r>
            <a:r>
              <a:rPr lang="en-US" altLang="en-US" sz="3000" b="1" dirty="0">
                <a:solidFill>
                  <a:srgbClr val="0000FF"/>
                </a:solidFill>
              </a:rPr>
              <a:t>P=NP</a:t>
            </a:r>
            <a:r>
              <a:rPr lang="en-US" altLang="en-US" sz="3000" dirty="0"/>
              <a:t>, it would be sufficient to take any particular NP-complete problem </a:t>
            </a:r>
            <a:r>
              <a:rPr lang="en-US" altLang="en-US" sz="3000" b="1" dirty="0">
                <a:solidFill>
                  <a:srgbClr val="0000FF"/>
                </a:solidFill>
              </a:rPr>
              <a:t>A</a:t>
            </a:r>
            <a:r>
              <a:rPr lang="en-US" altLang="en-US" sz="3000" dirty="0"/>
              <a:t> and show that </a:t>
            </a:r>
            <a:r>
              <a:rPr lang="en-US" altLang="en-US" sz="3000" b="1" dirty="0">
                <a:solidFill>
                  <a:srgbClr val="0000FF"/>
                </a:solidFill>
              </a:rPr>
              <a:t>A</a:t>
            </a:r>
            <a:r>
              <a:rPr lang="en-US" altLang="en-US" sz="3000" b="1" dirty="0">
                <a:solidFill>
                  <a:srgbClr val="0000FF"/>
                </a:solidFill>
                <a:sym typeface="Symbol" pitchFamily="18" charset="2"/>
              </a:rPr>
              <a:t>P</a:t>
            </a:r>
            <a:r>
              <a:rPr lang="en-US" altLang="en-US" sz="3000" dirty="0">
                <a:sym typeface="Symbol" pitchFamily="18" charset="2"/>
              </a:rPr>
              <a:t>.</a:t>
            </a:r>
            <a:r>
              <a:rPr lang="en-US" altLang="en-US" sz="3000" dirty="0"/>
              <a:t> </a:t>
            </a:r>
            <a:endParaRPr lang="en-US" altLang="en-US" sz="3000" dirty="0" smtClean="0"/>
          </a:p>
          <a:p>
            <a:pPr marL="365760" lvl="1" indent="0">
              <a:spcBef>
                <a:spcPct val="0"/>
              </a:spcBef>
              <a:buNone/>
            </a:pPr>
            <a:endParaRPr lang="en-US" altLang="en-US" sz="3000" dirty="0"/>
          </a:p>
          <a:p>
            <a:pPr lvl="1">
              <a:spcBef>
                <a:spcPct val="0"/>
              </a:spcBef>
            </a:pPr>
            <a:r>
              <a:rPr lang="en-US" altLang="en-US" sz="3000" dirty="0"/>
              <a:t> To prove that </a:t>
            </a:r>
            <a:r>
              <a:rPr lang="en-US" altLang="en-US" sz="3000" b="1" dirty="0">
                <a:solidFill>
                  <a:srgbClr val="0000FF"/>
                </a:solidFill>
              </a:rPr>
              <a:t>P</a:t>
            </a:r>
            <a:r>
              <a:rPr lang="en-US" altLang="en-US" sz="3000" b="1" dirty="0">
                <a:solidFill>
                  <a:srgbClr val="0000FF"/>
                </a:solidFill>
                <a:cs typeface="Times New Roman" pitchFamily="18" charset="0"/>
              </a:rPr>
              <a:t>≠NP</a:t>
            </a:r>
            <a:r>
              <a:rPr lang="en-US" altLang="en-US" sz="3000" dirty="0">
                <a:cs typeface="Times New Roman" pitchFamily="18" charset="0"/>
              </a:rPr>
              <a:t>, </a:t>
            </a:r>
            <a:r>
              <a:rPr lang="en-US" altLang="en-US" sz="3000" dirty="0"/>
              <a:t>it would be sufficient to take any particular NP-complete problem </a:t>
            </a:r>
            <a:r>
              <a:rPr lang="en-US" altLang="en-US" sz="3000" b="1" dirty="0">
                <a:solidFill>
                  <a:srgbClr val="0000FF"/>
                </a:solidFill>
              </a:rPr>
              <a:t>A</a:t>
            </a:r>
            <a:r>
              <a:rPr lang="en-US" altLang="en-US" sz="3000" dirty="0"/>
              <a:t> and show that </a:t>
            </a:r>
            <a:r>
              <a:rPr lang="en-US" altLang="en-US" sz="3000" b="1" dirty="0">
                <a:solidFill>
                  <a:srgbClr val="0000FF"/>
                </a:solidFill>
              </a:rPr>
              <a:t>A</a:t>
            </a:r>
            <a:r>
              <a:rPr lang="en-US" altLang="en-US" sz="3000" b="1" dirty="0">
                <a:solidFill>
                  <a:srgbClr val="0000FF"/>
                </a:solidFill>
                <a:sym typeface="Symbol" pitchFamily="18" charset="2"/>
              </a:rPr>
              <a:t>P</a:t>
            </a:r>
            <a:r>
              <a:rPr lang="en-US" altLang="en-US" sz="3000" dirty="0">
                <a:sym typeface="Symbol" pitchFamily="18" charset="2"/>
              </a:rPr>
              <a:t>.</a:t>
            </a:r>
            <a:r>
              <a:rPr lang="en-US" altLang="en-US" sz="3000" dirty="0"/>
              <a:t> </a:t>
            </a:r>
          </a:p>
          <a:p>
            <a:pPr marL="365760" lvl="1" indent="0">
              <a:spcBef>
                <a:spcPct val="0"/>
              </a:spcBef>
              <a:buNone/>
            </a:pPr>
            <a:endParaRPr lang="en-US" altLang="en-US" dirty="0"/>
          </a:p>
          <a:p>
            <a:pPr marL="896112" lvl="3" indent="0">
              <a:spcBef>
                <a:spcPct val="0"/>
              </a:spcBef>
              <a:buNone/>
            </a:pPr>
            <a:endParaRPr lang="en-US" alt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426872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024744" cy="838200"/>
          </a:xfrm>
        </p:spPr>
        <p:txBody>
          <a:bodyPr/>
          <a:lstStyle/>
          <a:p>
            <a:r>
              <a:rPr lang="en-US" dirty="0"/>
              <a:t>Cooks Theorem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2413338"/>
            <a:ext cx="7467600" cy="30469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3200" dirty="0" smtClean="0"/>
              <a:t>Cook </a:t>
            </a:r>
            <a:r>
              <a:rPr lang="en-US" sz="3200" dirty="0"/>
              <a:t>proved that a particular </a:t>
            </a:r>
            <a:r>
              <a:rPr lang="en-US" sz="3200" dirty="0">
                <a:solidFill>
                  <a:srgbClr val="FF0000"/>
                </a:solidFill>
              </a:rPr>
              <a:t>NP</a:t>
            </a:r>
            <a:r>
              <a:rPr lang="en-US" sz="3200" dirty="0"/>
              <a:t> problem known as </a:t>
            </a:r>
          </a:p>
          <a:p>
            <a:r>
              <a:rPr lang="en-US" sz="3200" dirty="0">
                <a:solidFill>
                  <a:srgbClr val="FF0000"/>
                </a:solidFill>
              </a:rPr>
              <a:t>SAT</a:t>
            </a:r>
            <a:r>
              <a:rPr lang="en-US" sz="3200" dirty="0"/>
              <a:t>( </a:t>
            </a: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satisfiability of Boolean clause</a:t>
            </a:r>
            <a:r>
              <a:rPr lang="en-US" sz="3200" dirty="0"/>
              <a:t>)has the property that, if it is solvable in </a:t>
            </a:r>
            <a:r>
              <a:rPr lang="en-US" sz="3200" dirty="0">
                <a:solidFill>
                  <a:srgbClr val="FF0000"/>
                </a:solidFill>
              </a:rPr>
              <a:t>polynomial time</a:t>
            </a:r>
            <a:r>
              <a:rPr lang="en-US" sz="3200" dirty="0"/>
              <a:t>, so as are all </a:t>
            </a:r>
            <a:r>
              <a:rPr lang="en-US" sz="3200" dirty="0">
                <a:solidFill>
                  <a:srgbClr val="FF0000"/>
                </a:solidFill>
              </a:rPr>
              <a:t>NP</a:t>
            </a:r>
            <a:r>
              <a:rPr lang="en-US" sz="3200" dirty="0"/>
              <a:t> problems.</a:t>
            </a:r>
          </a:p>
        </p:txBody>
      </p:sp>
    </p:spTree>
    <p:extLst>
      <p:ext uri="{BB962C8B-B14F-4D97-AF65-F5344CB8AC3E}">
        <p14:creationId xmlns:p14="http://schemas.microsoft.com/office/powerpoint/2010/main" val="3401630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Theorem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scientist named Stephen Cook found one specific puzzle called </a:t>
            </a:r>
            <a:r>
              <a:rPr lang="en-US" b="1" dirty="0"/>
              <a:t>SAT</a:t>
            </a:r>
            <a:r>
              <a:rPr lang="en-US" dirty="0"/>
              <a:t> (which is just a fancy way of saying "The Yes/No Logic Game").</a:t>
            </a:r>
          </a:p>
          <a:p>
            <a:r>
              <a:rPr lang="en-US" dirty="0"/>
              <a:t>He proved that </a:t>
            </a:r>
            <a:r>
              <a:rPr lang="en-US" b="1" dirty="0"/>
              <a:t>every single hard puzzle</a:t>
            </a:r>
            <a:r>
              <a:rPr lang="en-US" dirty="0"/>
              <a:t> in the "Checkable" group is actually the same thing as the SAT game.</a:t>
            </a:r>
          </a:p>
          <a:p>
            <a:pPr marL="6858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9773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Logic Game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7414708" cy="38485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Imagine I give you three rules:</a:t>
            </a:r>
          </a:p>
          <a:p>
            <a:pPr lvl="1"/>
            <a:r>
              <a:rPr lang="en-US" dirty="0"/>
              <a:t>You must wear a hat </a:t>
            </a:r>
            <a:r>
              <a:rPr lang="en-US" b="1" dirty="0"/>
              <a:t>OR</a:t>
            </a:r>
            <a:r>
              <a:rPr lang="en-US" dirty="0"/>
              <a:t> a scarf.</a:t>
            </a:r>
          </a:p>
          <a:p>
            <a:pPr lvl="1"/>
            <a:r>
              <a:rPr lang="en-US" dirty="0"/>
              <a:t>You cannot wear a hat.</a:t>
            </a:r>
          </a:p>
          <a:p>
            <a:pPr lvl="1"/>
            <a:r>
              <a:rPr lang="en-US" dirty="0"/>
              <a:t>You must wear a scarf </a:t>
            </a:r>
            <a:r>
              <a:rPr lang="en-US" b="1" dirty="0"/>
              <a:t>OR</a:t>
            </a:r>
            <a:r>
              <a:rPr lang="en-US" dirty="0"/>
              <a:t> </a:t>
            </a:r>
            <a:r>
              <a:rPr lang="en-US" dirty="0" smtClean="0"/>
              <a:t>gloves.</a:t>
            </a:r>
          </a:p>
          <a:p>
            <a:pPr lvl="1"/>
            <a:endParaRPr lang="en-US" dirty="0"/>
          </a:p>
          <a:p>
            <a:r>
              <a:rPr lang="en-US" dirty="0"/>
              <a:t>Can you follow all the rules? </a:t>
            </a:r>
            <a:r>
              <a:rPr lang="en-US" b="1" dirty="0"/>
              <a:t>Yes!</a:t>
            </a:r>
            <a:r>
              <a:rPr lang="en-US" dirty="0"/>
              <a:t> (You just wear a scarf). </a:t>
            </a:r>
            <a:endParaRPr lang="en-US" dirty="0" smtClean="0"/>
          </a:p>
          <a:p>
            <a:pPr lvl="1"/>
            <a:r>
              <a:rPr lang="en-US" dirty="0" smtClean="0"/>
              <a:t>Cook's </a:t>
            </a:r>
            <a:r>
              <a:rPr lang="en-US" dirty="0"/>
              <a:t>Theorem says if you can solve </a:t>
            </a:r>
            <a:r>
              <a:rPr lang="en-US" i="1" dirty="0"/>
              <a:t>that</a:t>
            </a:r>
            <a:r>
              <a:rPr lang="en-US" dirty="0"/>
              <a:t> kind of rule-following game, you can solve </a:t>
            </a:r>
            <a:r>
              <a:rPr lang="en-US" i="1" dirty="0"/>
              <a:t>any</a:t>
            </a:r>
            <a:r>
              <a:rPr lang="en-US" dirty="0"/>
              <a:t> hard problem in the world.</a:t>
            </a:r>
          </a:p>
          <a:p>
            <a:pPr marL="6858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5668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Birthday Party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323652"/>
            <a:ext cx="7696200" cy="3848548"/>
          </a:xfrm>
        </p:spPr>
        <p:txBody>
          <a:bodyPr>
            <a:normAutofit/>
          </a:bodyPr>
          <a:lstStyle/>
          <a:p>
            <a:r>
              <a:rPr lang="en-US" dirty="0"/>
              <a:t>Imagine you are planning a party, but your friends are being a bit dramatic. They give you a list of rules about who can come.</a:t>
            </a:r>
          </a:p>
          <a:p>
            <a:r>
              <a:rPr lang="en-US" b="1" dirty="0"/>
              <a:t>The Friends' Rules:</a:t>
            </a:r>
          </a:p>
          <a:p>
            <a:r>
              <a:rPr lang="en-US" b="1" dirty="0"/>
              <a:t>Rule 1:</a:t>
            </a:r>
            <a:r>
              <a:rPr lang="en-US" dirty="0"/>
              <a:t> "You must invite </a:t>
            </a:r>
            <a:r>
              <a:rPr lang="en-US" b="1" dirty="0" smtClean="0"/>
              <a:t>Ajay</a:t>
            </a:r>
            <a:r>
              <a:rPr lang="en-US" dirty="0" smtClean="0"/>
              <a:t> </a:t>
            </a:r>
            <a:r>
              <a:rPr lang="en-US" dirty="0"/>
              <a:t>OR </a:t>
            </a:r>
            <a:r>
              <a:rPr lang="en-US" b="1" dirty="0" smtClean="0"/>
              <a:t>Bharat</a:t>
            </a:r>
            <a:r>
              <a:rPr lang="en-US" dirty="0" smtClean="0"/>
              <a:t>."</a:t>
            </a:r>
            <a:endParaRPr lang="en-US" dirty="0"/>
          </a:p>
          <a:p>
            <a:r>
              <a:rPr lang="en-US" b="1" dirty="0"/>
              <a:t>Rule 2:</a:t>
            </a:r>
            <a:r>
              <a:rPr lang="en-US" dirty="0"/>
              <a:t> "If </a:t>
            </a:r>
            <a:r>
              <a:rPr lang="en-US" b="1" dirty="0"/>
              <a:t>Ajay</a:t>
            </a:r>
            <a:r>
              <a:rPr lang="en-US" dirty="0" smtClean="0"/>
              <a:t> </a:t>
            </a:r>
            <a:r>
              <a:rPr lang="en-US" dirty="0"/>
              <a:t>comes, </a:t>
            </a:r>
            <a:r>
              <a:rPr lang="en-US" b="1" dirty="0" smtClean="0"/>
              <a:t>Chandra</a:t>
            </a:r>
            <a:r>
              <a:rPr lang="en-US" dirty="0" smtClean="0"/>
              <a:t> </a:t>
            </a:r>
            <a:r>
              <a:rPr lang="en-US" dirty="0"/>
              <a:t>cannot come" (because they both </a:t>
            </a:r>
            <a:r>
              <a:rPr lang="en-US" dirty="0" smtClean="0"/>
              <a:t>gel well).</a:t>
            </a:r>
            <a:endParaRPr lang="en-US" dirty="0"/>
          </a:p>
          <a:p>
            <a:r>
              <a:rPr lang="en-US" b="1" dirty="0"/>
              <a:t>Rule 3:</a:t>
            </a:r>
            <a:r>
              <a:rPr lang="en-US" dirty="0"/>
              <a:t> "You must invite </a:t>
            </a:r>
            <a:r>
              <a:rPr lang="en-US" b="1" dirty="0"/>
              <a:t>Bharat</a:t>
            </a:r>
            <a:r>
              <a:rPr lang="en-US" dirty="0" smtClean="0"/>
              <a:t> </a:t>
            </a:r>
            <a:r>
              <a:rPr lang="en-US" dirty="0"/>
              <a:t>OR </a:t>
            </a:r>
            <a:r>
              <a:rPr lang="en-US" b="1" dirty="0"/>
              <a:t>Chandra</a:t>
            </a:r>
            <a:r>
              <a:rPr lang="en-US" dirty="0" smtClean="0"/>
              <a:t>."</a:t>
            </a:r>
            <a:endParaRPr lang="en-US" dirty="0"/>
          </a:p>
          <a:p>
            <a:pPr marL="6858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7910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Now it’s a </a:t>
            </a:r>
            <a:r>
              <a:rPr lang="en-IN" dirty="0"/>
              <a:t>Logic Game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9600" y="2670064"/>
            <a:ext cx="7848601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 computer science, we turn those names into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Variables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(A, B, C) and those rules into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Clauses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Ajay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= 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Bharat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= 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Chandra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= 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rules look like this to a computer: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(A or B) and (~ A or ~ C) and (B or 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658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Solving the Puzzle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7414708" cy="350897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make the party happen, you have to find a way to make </a:t>
            </a:r>
            <a:r>
              <a:rPr lang="en-US" b="1" dirty="0"/>
              <a:t>every single rule True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you invite </a:t>
            </a:r>
            <a:r>
              <a:rPr lang="en-US" b="1" dirty="0" smtClean="0"/>
              <a:t>Bharat</a:t>
            </a:r>
            <a:r>
              <a:rPr lang="en-US" dirty="0" smtClean="0"/>
              <a:t>, </a:t>
            </a:r>
            <a:r>
              <a:rPr lang="en-US" dirty="0"/>
              <a:t>Rule 1 is happy.</a:t>
            </a:r>
          </a:p>
          <a:p>
            <a:pPr lvl="1"/>
            <a:r>
              <a:rPr lang="en-US" dirty="0"/>
              <a:t>If you </a:t>
            </a:r>
            <a:r>
              <a:rPr lang="en-US" i="1" dirty="0"/>
              <a:t>don't</a:t>
            </a:r>
            <a:r>
              <a:rPr lang="en-US" dirty="0"/>
              <a:t> invite </a:t>
            </a:r>
            <a:r>
              <a:rPr lang="en-US" b="1" dirty="0" smtClean="0"/>
              <a:t>Ajay</a:t>
            </a:r>
            <a:r>
              <a:rPr lang="en-US" dirty="0" smtClean="0"/>
              <a:t>, </a:t>
            </a:r>
            <a:r>
              <a:rPr lang="en-US" dirty="0"/>
              <a:t>Rule 2 is </a:t>
            </a:r>
            <a:r>
              <a:rPr lang="en-US" dirty="0" smtClean="0"/>
              <a:t>happy</a:t>
            </a:r>
            <a:endParaRPr lang="en-US" dirty="0"/>
          </a:p>
          <a:p>
            <a:pPr lvl="1"/>
            <a:r>
              <a:rPr lang="en-US" dirty="0"/>
              <a:t>If you invite </a:t>
            </a:r>
            <a:r>
              <a:rPr lang="en-US" b="1" dirty="0" smtClean="0"/>
              <a:t>Chandra</a:t>
            </a:r>
            <a:r>
              <a:rPr lang="en-US" dirty="0" smtClean="0"/>
              <a:t>, </a:t>
            </a:r>
            <a:r>
              <a:rPr lang="en-US" dirty="0"/>
              <a:t>Rule 3 is happy</a:t>
            </a:r>
            <a:r>
              <a:rPr lang="en-US" dirty="0" smtClean="0"/>
              <a:t>.</a:t>
            </a:r>
          </a:p>
          <a:p>
            <a:pPr marL="68580" indent="0">
              <a:buNone/>
            </a:pPr>
            <a:endParaRPr lang="en-US" dirty="0"/>
          </a:p>
          <a:p>
            <a:r>
              <a:rPr lang="en-US" b="1" dirty="0"/>
              <a:t>Success!</a:t>
            </a:r>
            <a:r>
              <a:rPr lang="en-US" dirty="0"/>
              <a:t> You found a solution: (No </a:t>
            </a:r>
            <a:r>
              <a:rPr lang="en-US" dirty="0" smtClean="0"/>
              <a:t>Ajay, </a:t>
            </a:r>
            <a:r>
              <a:rPr lang="en-US" dirty="0"/>
              <a:t>Yes </a:t>
            </a:r>
            <a:r>
              <a:rPr lang="en-US" dirty="0" smtClean="0"/>
              <a:t>Bharat, </a:t>
            </a:r>
            <a:r>
              <a:rPr lang="en-US" dirty="0"/>
              <a:t>Yes </a:t>
            </a:r>
            <a:r>
              <a:rPr lang="en-US" dirty="0" smtClean="0"/>
              <a:t>Chandra). </a:t>
            </a:r>
          </a:p>
          <a:p>
            <a:r>
              <a:rPr lang="en-US" dirty="0" smtClean="0"/>
              <a:t>The </a:t>
            </a:r>
            <a:r>
              <a:rPr lang="en-US" dirty="0"/>
              <a:t>"Party Problem" is </a:t>
            </a:r>
            <a:r>
              <a:rPr lang="en-US" b="1" dirty="0"/>
              <a:t>Satisfied</a:t>
            </a:r>
            <a:r>
              <a:rPr lang="en-US" dirty="0"/>
              <a:t>.</a:t>
            </a:r>
          </a:p>
          <a:p>
            <a:pPr marL="6858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673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4873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outcome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6400"/>
            <a:ext cx="7567108" cy="4267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Stephen </a:t>
            </a:r>
            <a:r>
              <a:rPr lang="en-US" dirty="0"/>
              <a:t>Cook proved that </a:t>
            </a:r>
            <a:r>
              <a:rPr lang="en-US" b="1" dirty="0"/>
              <a:t>every hard problem</a:t>
            </a:r>
            <a:r>
              <a:rPr lang="en-US" dirty="0"/>
              <a:t>—from packing a suitcase perfectly to mapping the human genome—is just a giant version of this "Birthday Party Problem</a:t>
            </a:r>
            <a:r>
              <a:rPr lang="en-US" dirty="0" smtClean="0"/>
              <a:t>.“</a:t>
            </a:r>
          </a:p>
          <a:p>
            <a:endParaRPr lang="en-US" dirty="0"/>
          </a:p>
          <a:p>
            <a:r>
              <a:rPr lang="en-US" dirty="0"/>
              <a:t>If you have 3 friends, it's easy. If you have </a:t>
            </a:r>
            <a:r>
              <a:rPr lang="en-US" b="1" dirty="0"/>
              <a:t>3 million friends</a:t>
            </a:r>
            <a:r>
              <a:rPr lang="en-US" dirty="0"/>
              <a:t> and </a:t>
            </a:r>
            <a:r>
              <a:rPr lang="en-US" b="1" dirty="0"/>
              <a:t>10 million rules</a:t>
            </a:r>
            <a:r>
              <a:rPr lang="en-US" dirty="0"/>
              <a:t>, it becomes nearly impossible for a computer to solve quickly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Because of Cook's Theorem, we know that if we find a "cheat code" to solve the party problem for 3 million friends, we instantly solve the hardest problems in science and math at the same time.</a:t>
            </a:r>
          </a:p>
          <a:p>
            <a:pPr marL="6858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3207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4873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So, What?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905000"/>
            <a:ext cx="7414708" cy="4343400"/>
          </a:xfrm>
        </p:spPr>
        <p:txBody>
          <a:bodyPr>
            <a:normAutofit fontScale="92500"/>
          </a:bodyPr>
          <a:lstStyle/>
          <a:p>
            <a:r>
              <a:rPr lang="en-US" dirty="0"/>
              <a:t>Cook's Theorem proved that there is a </a:t>
            </a:r>
            <a:r>
              <a:rPr lang="en-US" b="1" dirty="0"/>
              <a:t>"Master Key."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If </a:t>
            </a:r>
            <a:r>
              <a:rPr lang="en-US" dirty="0"/>
              <a:t>someone ever finds a super-fast way to solve the SAT logic game, they would suddenly have the key to:</a:t>
            </a:r>
          </a:p>
          <a:p>
            <a:pPr lvl="2"/>
            <a:r>
              <a:rPr lang="en-US" dirty="0"/>
              <a:t>Crack any computer password.</a:t>
            </a:r>
          </a:p>
          <a:p>
            <a:pPr lvl="2"/>
            <a:r>
              <a:rPr lang="en-US" dirty="0"/>
              <a:t>Schedule every flight in the world perfectly.</a:t>
            </a:r>
          </a:p>
          <a:p>
            <a:pPr lvl="2"/>
            <a:r>
              <a:rPr lang="en-US" dirty="0"/>
              <a:t>Find the best way to deliver every Amazon package at once.</a:t>
            </a:r>
          </a:p>
          <a:p>
            <a:r>
              <a:rPr lang="en-US" dirty="0"/>
              <a:t>Right now, </a:t>
            </a:r>
            <a:r>
              <a:rPr lang="en-US" dirty="0" smtClean="0"/>
              <a:t>there is </a:t>
            </a:r>
            <a:r>
              <a:rPr lang="en-US" dirty="0" smtClean="0">
                <a:solidFill>
                  <a:srgbClr val="FF0000"/>
                </a:solidFill>
              </a:rPr>
              <a:t>no</a:t>
            </a:r>
            <a:r>
              <a:rPr lang="en-US" dirty="0" smtClean="0"/>
              <a:t> </a:t>
            </a:r>
            <a:r>
              <a:rPr lang="en-US" dirty="0"/>
              <a:t>fast way exists, but Cook was the one who proved that all these different "hard" problems are actually </a:t>
            </a:r>
            <a:r>
              <a:rPr lang="en-US" b="1" dirty="0"/>
              <a:t>one big family.</a:t>
            </a:r>
            <a:endParaRPr lang="en-US" dirty="0"/>
          </a:p>
          <a:p>
            <a:pPr marL="6858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4731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 altLang="en-US" sz="3600" b="1" smtClean="0">
                <a:solidFill>
                  <a:srgbClr val="00CC00"/>
                </a:solidFill>
                <a:latin typeface="Bell MT" pitchFamily="18" charset="0"/>
              </a:rPr>
              <a:t>Boolean formulas </a:t>
            </a:r>
            <a:r>
              <a:rPr lang="en-US" altLang="en-US" sz="3600" smtClean="0">
                <a:solidFill>
                  <a:srgbClr val="00CC00"/>
                </a:solidFill>
                <a:latin typeface="Bell MT" pitchFamily="18" charset="0"/>
              </a:rPr>
              <a:t> </a:t>
            </a:r>
            <a:endParaRPr lang="en-US" altLang="en-US" sz="6600" smtClean="0">
              <a:latin typeface="Bell MT" pitchFamily="18" charset="0"/>
            </a:endParaRPr>
          </a:p>
        </p:txBody>
      </p:sp>
      <p:sp>
        <p:nvSpPr>
          <p:cNvPr id="4099" name="Text Box 5">
            <a:hlinkClick r:id="rId3" action="ppaction://hlinkpres?slideindex=1&amp;slidetitle="/>
            <a:hlinkHover r:id="rId3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8991600" y="67056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  </a:t>
            </a:r>
          </a:p>
        </p:txBody>
      </p:sp>
      <p:sp>
        <p:nvSpPr>
          <p:cNvPr id="4100" name="Text Box 6">
            <a:hlinkClick r:id="rId4" action="ppaction://hlinkpres?slideindex=1&amp;slidetitle="/>
            <a:hlinkHover r:id="rId4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-152400" y="6705600"/>
            <a:ext cx="2841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Brush Script MT" pitchFamily="66" charset="0"/>
              </a:rPr>
              <a:t> </a:t>
            </a:r>
          </a:p>
        </p:txBody>
      </p:sp>
      <p:sp>
        <p:nvSpPr>
          <p:cNvPr id="4101" name="Text Box 8"/>
          <p:cNvSpPr txBox="1">
            <a:spLocks noChangeArrowheads="1"/>
          </p:cNvSpPr>
          <p:nvPr/>
        </p:nvSpPr>
        <p:spPr bwMode="auto">
          <a:xfrm>
            <a:off x="533400" y="990600"/>
            <a:ext cx="8077200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i="1" dirty="0">
                <a:solidFill>
                  <a:srgbClr val="FF0000"/>
                </a:solidFill>
              </a:rPr>
              <a:t>Boolean variables</a:t>
            </a:r>
            <a:r>
              <a:rPr lang="en-US" altLang="en-US" sz="2000" dirty="0"/>
              <a:t> </a:t>
            </a:r>
            <a:r>
              <a:rPr lang="en-US" altLang="en-US" sz="2000" b="1" dirty="0" err="1">
                <a:solidFill>
                  <a:srgbClr val="0000FF"/>
                </a:solidFill>
              </a:rPr>
              <a:t>x</a:t>
            </a:r>
            <a:r>
              <a:rPr lang="en-US" altLang="en-US" sz="2000" dirty="0" err="1"/>
              <a:t>,</a:t>
            </a:r>
            <a:r>
              <a:rPr lang="en-US" altLang="en-US" sz="2000" b="1" dirty="0" err="1">
                <a:solidFill>
                  <a:srgbClr val="0000FF"/>
                </a:solidFill>
              </a:rPr>
              <a:t>y</a:t>
            </a:r>
            <a:r>
              <a:rPr lang="en-US" altLang="en-US" sz="2000" dirty="0"/>
              <a:t>,… take one of the two values </a:t>
            </a:r>
            <a:r>
              <a:rPr lang="en-US" altLang="en-US" sz="2000" b="1" dirty="0">
                <a:solidFill>
                  <a:srgbClr val="0000FF"/>
                </a:solidFill>
              </a:rPr>
              <a:t>0</a:t>
            </a:r>
            <a:r>
              <a:rPr lang="en-US" altLang="en-US" sz="2000" dirty="0"/>
              <a:t> (</a:t>
            </a:r>
            <a:r>
              <a:rPr lang="en-US" altLang="en-US" sz="2000" i="1" dirty="0"/>
              <a:t>false</a:t>
            </a:r>
            <a:r>
              <a:rPr lang="en-US" altLang="en-US" sz="2000" dirty="0"/>
              <a:t>) or </a:t>
            </a:r>
            <a:r>
              <a:rPr lang="en-US" altLang="en-US" sz="2000" b="1" dirty="0">
                <a:solidFill>
                  <a:srgbClr val="0000FF"/>
                </a:solidFill>
              </a:rPr>
              <a:t>1</a:t>
            </a:r>
            <a:r>
              <a:rPr lang="en-US" altLang="en-US" sz="2000" dirty="0"/>
              <a:t> (</a:t>
            </a:r>
            <a:r>
              <a:rPr lang="en-US" altLang="en-US" sz="2000" i="1" dirty="0"/>
              <a:t>true</a:t>
            </a:r>
            <a:r>
              <a:rPr lang="en-US" altLang="en-US" sz="2000" dirty="0"/>
              <a:t>).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i="1" dirty="0">
                <a:solidFill>
                  <a:srgbClr val="FF0000"/>
                </a:solidFill>
              </a:rPr>
              <a:t>Boolean operations</a:t>
            </a:r>
            <a:r>
              <a:rPr lang="en-US" altLang="en-US" sz="2000" dirty="0"/>
              <a:t>: </a:t>
            </a: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</a:t>
            </a:r>
            <a:r>
              <a:rPr lang="en-US" altLang="en-US" sz="2000" dirty="0">
                <a:sym typeface="Symbol" pitchFamily="18" charset="2"/>
              </a:rPr>
              <a:t> (NOT),  </a:t>
            </a: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</a:t>
            </a:r>
            <a:r>
              <a:rPr lang="en-US" altLang="en-US" sz="2000" dirty="0">
                <a:sym typeface="Symbol" pitchFamily="18" charset="2"/>
              </a:rPr>
              <a:t> (AND),  </a:t>
            </a: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</a:t>
            </a:r>
            <a:r>
              <a:rPr lang="en-US" altLang="en-US" sz="2000" dirty="0">
                <a:sym typeface="Symbol" pitchFamily="18" charset="2"/>
              </a:rPr>
              <a:t> (OR). We write </a:t>
            </a:r>
            <a:r>
              <a:rPr lang="en-US" altLang="en-US" sz="2000" b="1" u="sng" dirty="0">
                <a:solidFill>
                  <a:srgbClr val="0000FF"/>
                </a:solidFill>
                <a:sym typeface="Symbol" pitchFamily="18" charset="2"/>
              </a:rPr>
              <a:t>A</a:t>
            </a:r>
            <a:r>
              <a:rPr lang="en-US" altLang="en-US" sz="2000" dirty="0"/>
              <a:t> for </a:t>
            </a: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A</a:t>
            </a:r>
            <a:r>
              <a:rPr lang="en-US" altLang="en-US" sz="2000" dirty="0">
                <a:sym typeface="Symbol" pitchFamily="18" charset="2"/>
              </a:rPr>
              <a:t>.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i="1" dirty="0">
                <a:solidFill>
                  <a:srgbClr val="FF0000"/>
                </a:solidFill>
                <a:sym typeface="Symbol" pitchFamily="18" charset="2"/>
              </a:rPr>
              <a:t>Boolean formulas</a:t>
            </a:r>
            <a:r>
              <a:rPr lang="en-US" altLang="en-US" sz="2000" dirty="0">
                <a:sym typeface="Symbol" pitchFamily="18" charset="2"/>
              </a:rPr>
              <a:t> are constructed from variables and operations in the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>
                <a:sym typeface="Symbol" pitchFamily="18" charset="2"/>
              </a:rPr>
              <a:t>     standard way. Once a truth assignment for variables is given, the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>
                <a:sym typeface="Symbol" pitchFamily="18" charset="2"/>
              </a:rPr>
              <a:t>     value of a compound formula is calculated as follows: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                                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u="sng" dirty="0" smtClean="0">
                <a:solidFill>
                  <a:srgbClr val="0000FF"/>
                </a:solidFill>
              </a:rPr>
              <a:t>0</a:t>
            </a:r>
            <a:r>
              <a:rPr lang="en-US" altLang="en-US" sz="2000" b="1" dirty="0" smtClean="0">
                <a:solidFill>
                  <a:srgbClr val="0000FF"/>
                </a:solidFill>
              </a:rPr>
              <a:t> </a:t>
            </a:r>
            <a:r>
              <a:rPr lang="en-US" altLang="en-US" sz="2000" b="1" dirty="0">
                <a:solidFill>
                  <a:srgbClr val="0000FF"/>
                </a:solidFill>
              </a:rPr>
              <a:t>= 1                       0 </a:t>
            </a: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 0 = 0                      </a:t>
            </a:r>
            <a:r>
              <a:rPr lang="en-US" altLang="en-US" sz="2000" b="1" dirty="0">
                <a:solidFill>
                  <a:srgbClr val="0000FF"/>
                </a:solidFill>
              </a:rPr>
              <a:t>0 </a:t>
            </a: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 0 = 0</a:t>
            </a:r>
            <a:endParaRPr lang="en-US" altLang="en-US" sz="2000" b="1" dirty="0">
              <a:solidFill>
                <a:srgbClr val="0000FF"/>
              </a:solidFill>
            </a:endParaRP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u="sng" dirty="0" smtClean="0">
                <a:solidFill>
                  <a:srgbClr val="0000FF"/>
                </a:solidFill>
              </a:rPr>
              <a:t>1 </a:t>
            </a:r>
            <a:r>
              <a:rPr lang="en-US" altLang="en-US" sz="2000" b="1" dirty="0" smtClean="0">
                <a:solidFill>
                  <a:srgbClr val="0000FF"/>
                </a:solidFill>
              </a:rPr>
              <a:t>= 0                       0 </a:t>
            </a: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 1 = 0                      </a:t>
            </a:r>
            <a:r>
              <a:rPr lang="en-US" altLang="en-US" sz="2000" b="1" dirty="0">
                <a:solidFill>
                  <a:srgbClr val="0000FF"/>
                </a:solidFill>
              </a:rPr>
              <a:t>0 </a:t>
            </a: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 1 = 1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                               </a:t>
            </a:r>
            <a:r>
              <a:rPr lang="en-US" altLang="en-US" sz="2000" b="1" dirty="0">
                <a:solidFill>
                  <a:srgbClr val="0000FF"/>
                </a:solidFill>
              </a:rPr>
              <a:t>1 </a:t>
            </a: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 0 = 0                      </a:t>
            </a:r>
            <a:r>
              <a:rPr lang="en-US" altLang="en-US" sz="2000" b="1" dirty="0">
                <a:solidFill>
                  <a:srgbClr val="0000FF"/>
                </a:solidFill>
              </a:rPr>
              <a:t>1 </a:t>
            </a: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 0 = 1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                               </a:t>
            </a:r>
            <a:r>
              <a:rPr lang="en-US" altLang="en-US" sz="2000" b="1" dirty="0">
                <a:solidFill>
                  <a:srgbClr val="0000FF"/>
                </a:solidFill>
              </a:rPr>
              <a:t>1 </a:t>
            </a: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 1 = 1                      </a:t>
            </a:r>
            <a:r>
              <a:rPr lang="en-US" altLang="en-US" sz="2000" b="1" dirty="0">
                <a:solidFill>
                  <a:srgbClr val="0000FF"/>
                </a:solidFill>
              </a:rPr>
              <a:t>1 </a:t>
            </a: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 1 = 1</a:t>
            </a:r>
          </a:p>
        </p:txBody>
      </p:sp>
      <p:sp>
        <p:nvSpPr>
          <p:cNvPr id="4102" name="Text Box 9"/>
          <p:cNvSpPr txBox="1">
            <a:spLocks noChangeArrowheads="1"/>
          </p:cNvSpPr>
          <p:nvPr/>
        </p:nvSpPr>
        <p:spPr bwMode="auto">
          <a:xfrm>
            <a:off x="533400" y="4679156"/>
            <a:ext cx="4294188" cy="161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If </a:t>
            </a:r>
            <a:r>
              <a:rPr lang="en-US" altLang="en-US" sz="2400" b="1" dirty="0">
                <a:solidFill>
                  <a:srgbClr val="0000FF"/>
                </a:solidFill>
              </a:rPr>
              <a:t>x=0</a:t>
            </a:r>
            <a:r>
              <a:rPr lang="en-US" altLang="en-US" sz="2400" dirty="0"/>
              <a:t> and </a:t>
            </a:r>
            <a:r>
              <a:rPr lang="en-US" altLang="en-US" sz="2400" b="1" dirty="0">
                <a:solidFill>
                  <a:srgbClr val="0000FF"/>
                </a:solidFill>
              </a:rPr>
              <a:t>y=1</a:t>
            </a:r>
            <a:r>
              <a:rPr lang="en-US" altLang="en-US" sz="2400" dirty="0"/>
              <a:t>, what is the value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of the following formula?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0000FF"/>
                </a:solidFill>
              </a:rPr>
              <a:t>(</a:t>
            </a:r>
            <a:r>
              <a:rPr lang="en-US" altLang="en-US" sz="2400" b="1" dirty="0">
                <a:solidFill>
                  <a:srgbClr val="0000FF"/>
                </a:solidFill>
              </a:rPr>
              <a:t>y </a:t>
            </a:r>
            <a:r>
              <a:rPr lang="en-US" altLang="en-US" sz="2400" b="1" dirty="0">
                <a:solidFill>
                  <a:srgbClr val="0000FF"/>
                </a:solidFill>
                <a:sym typeface="Symbol" pitchFamily="18" charset="2"/>
              </a:rPr>
              <a:t> (</a:t>
            </a:r>
            <a:r>
              <a:rPr lang="en-US" altLang="en-US" sz="2400" b="1" u="sng" dirty="0">
                <a:solidFill>
                  <a:srgbClr val="0000FF"/>
                </a:solidFill>
                <a:sym typeface="Symbol" pitchFamily="18" charset="2"/>
              </a:rPr>
              <a:t>x </a:t>
            </a:r>
            <a:r>
              <a:rPr lang="en-US" altLang="en-US" sz="24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altLang="en-US" sz="2400" b="1" u="sng" dirty="0">
                <a:solidFill>
                  <a:srgbClr val="0000FF"/>
                </a:solidFill>
                <a:sym typeface="Symbol" pitchFamily="18" charset="2"/>
              </a:rPr>
              <a:t>y</a:t>
            </a:r>
            <a:r>
              <a:rPr lang="en-US" altLang="en-US" sz="24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alt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altLang="en-US" sz="2400" b="1" dirty="0">
                <a:solidFill>
                  <a:srgbClr val="0000FF"/>
                </a:solidFill>
                <a:sym typeface="Symbol" pitchFamily="18" charset="2"/>
              </a:rPr>
              <a:t>  (x  </a:t>
            </a:r>
            <a:r>
              <a:rPr lang="en-US" altLang="en-US" sz="2400" b="1" u="sng" dirty="0">
                <a:solidFill>
                  <a:srgbClr val="0000FF"/>
                </a:solidFill>
                <a:sym typeface="Symbol" pitchFamily="18" charset="2"/>
              </a:rPr>
              <a:t>y</a:t>
            </a:r>
            <a:r>
              <a:rPr lang="en-US" altLang="en-US" sz="24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altLang="en-US" sz="2400" dirty="0">
                <a:sym typeface="Symbol" pitchFamily="18" charset="2"/>
              </a:rPr>
              <a:t> </a:t>
            </a:r>
          </a:p>
        </p:txBody>
      </p:sp>
      <p:sp>
        <p:nvSpPr>
          <p:cNvPr id="252938" name="Text Box 10"/>
          <p:cNvSpPr txBox="1">
            <a:spLocks noChangeArrowheads="1"/>
          </p:cNvSpPr>
          <p:nvPr/>
        </p:nvSpPr>
        <p:spPr bwMode="auto">
          <a:xfrm>
            <a:off x="5562600" y="4443535"/>
            <a:ext cx="2936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0000FF"/>
                </a:solidFill>
              </a:rPr>
              <a:t>(</a:t>
            </a:r>
            <a:r>
              <a:rPr lang="en-US" altLang="en-US" sz="2400" b="1" dirty="0">
                <a:solidFill>
                  <a:srgbClr val="0000FF"/>
                </a:solidFill>
              </a:rPr>
              <a:t>1 </a:t>
            </a:r>
            <a:r>
              <a:rPr lang="en-US" altLang="en-US" sz="2400" b="1" dirty="0">
                <a:solidFill>
                  <a:srgbClr val="0000FF"/>
                </a:solidFill>
                <a:sym typeface="Symbol" pitchFamily="18" charset="2"/>
              </a:rPr>
              <a:t> (</a:t>
            </a:r>
            <a:r>
              <a:rPr lang="en-US" altLang="en-US" sz="2400" b="1" u="sng" dirty="0">
                <a:solidFill>
                  <a:srgbClr val="0000FF"/>
                </a:solidFill>
                <a:sym typeface="Symbol" pitchFamily="18" charset="2"/>
              </a:rPr>
              <a:t>0 </a:t>
            </a:r>
            <a:r>
              <a:rPr lang="en-US" altLang="en-US" sz="24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altLang="en-US" sz="2400" b="1" u="sng" dirty="0">
                <a:solidFill>
                  <a:srgbClr val="0000FF"/>
                </a:solidFill>
                <a:sym typeface="Symbol" pitchFamily="18" charset="2"/>
              </a:rPr>
              <a:t>1</a:t>
            </a:r>
            <a:r>
              <a:rPr lang="en-US" altLang="en-US" sz="24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alt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altLang="en-US" sz="2400" b="1" dirty="0">
                <a:solidFill>
                  <a:srgbClr val="0000FF"/>
                </a:solidFill>
                <a:sym typeface="Symbol" pitchFamily="18" charset="2"/>
              </a:rPr>
              <a:t>  (0  </a:t>
            </a:r>
            <a:r>
              <a:rPr lang="en-US" altLang="en-US" sz="2400" b="1" u="sng" dirty="0">
                <a:solidFill>
                  <a:srgbClr val="0000FF"/>
                </a:solidFill>
                <a:sym typeface="Symbol" pitchFamily="18" charset="2"/>
              </a:rPr>
              <a:t>1</a:t>
            </a:r>
            <a:r>
              <a:rPr lang="en-US" altLang="en-US" sz="2400" b="1" dirty="0">
                <a:solidFill>
                  <a:srgbClr val="0000FF"/>
                </a:solidFill>
                <a:sym typeface="Symbol" pitchFamily="18" charset="2"/>
              </a:rPr>
              <a:t>)</a:t>
            </a:r>
          </a:p>
        </p:txBody>
      </p:sp>
      <p:sp>
        <p:nvSpPr>
          <p:cNvPr id="252939" name="Text Box 11"/>
          <p:cNvSpPr txBox="1">
            <a:spLocks noChangeArrowheads="1"/>
          </p:cNvSpPr>
          <p:nvPr/>
        </p:nvSpPr>
        <p:spPr bwMode="auto">
          <a:xfrm>
            <a:off x="5562600" y="4824535"/>
            <a:ext cx="2936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0000FF"/>
                </a:solidFill>
              </a:rPr>
              <a:t>(</a:t>
            </a:r>
            <a:r>
              <a:rPr lang="en-US" altLang="en-US" sz="2400" b="1" dirty="0">
                <a:solidFill>
                  <a:srgbClr val="0000FF"/>
                </a:solidFill>
              </a:rPr>
              <a:t>1 </a:t>
            </a:r>
            <a:r>
              <a:rPr lang="en-US" altLang="en-US" sz="2400" b="1" dirty="0">
                <a:solidFill>
                  <a:srgbClr val="0000FF"/>
                </a:solidFill>
                <a:sym typeface="Symbol" pitchFamily="18" charset="2"/>
              </a:rPr>
              <a:t> (1  0)</a:t>
            </a:r>
            <a:r>
              <a:rPr lang="en-US" alt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altLang="en-US" sz="2400" b="1" dirty="0">
                <a:solidFill>
                  <a:srgbClr val="0000FF"/>
                </a:solidFill>
                <a:sym typeface="Symbol" pitchFamily="18" charset="2"/>
              </a:rPr>
              <a:t>  (0  0)</a:t>
            </a:r>
          </a:p>
        </p:txBody>
      </p:sp>
      <p:sp>
        <p:nvSpPr>
          <p:cNvPr id="252940" name="Text Box 12"/>
          <p:cNvSpPr txBox="1">
            <a:spLocks noChangeArrowheads="1"/>
          </p:cNvSpPr>
          <p:nvPr/>
        </p:nvSpPr>
        <p:spPr bwMode="auto">
          <a:xfrm>
            <a:off x="5562600" y="5249985"/>
            <a:ext cx="2508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FF"/>
                </a:solidFill>
              </a:rPr>
              <a:t>(1 </a:t>
            </a:r>
            <a:r>
              <a:rPr lang="en-US" altLang="en-US" sz="2400" b="1" dirty="0">
                <a:solidFill>
                  <a:srgbClr val="0000FF"/>
                </a:solidFill>
                <a:sym typeface="Symbol" pitchFamily="18" charset="2"/>
              </a:rPr>
              <a:t>      1   )       0</a:t>
            </a:r>
          </a:p>
        </p:txBody>
      </p:sp>
      <p:sp>
        <p:nvSpPr>
          <p:cNvPr id="252941" name="Text Box 13"/>
          <p:cNvSpPr txBox="1">
            <a:spLocks noChangeArrowheads="1"/>
          </p:cNvSpPr>
          <p:nvPr/>
        </p:nvSpPr>
        <p:spPr bwMode="auto">
          <a:xfrm>
            <a:off x="5562600" y="5630985"/>
            <a:ext cx="2501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     </a:t>
            </a:r>
            <a:r>
              <a:rPr lang="en-US" altLang="en-US" sz="2400" b="1">
                <a:solidFill>
                  <a:srgbClr val="0000FF"/>
                </a:solidFill>
              </a:rPr>
              <a:t>1           </a:t>
            </a:r>
            <a:r>
              <a:rPr lang="en-US" altLang="en-US" sz="2400" b="1">
                <a:solidFill>
                  <a:srgbClr val="0000FF"/>
                </a:solidFill>
                <a:sym typeface="Symbol" pitchFamily="18" charset="2"/>
              </a:rPr>
              <a:t>        0</a:t>
            </a:r>
          </a:p>
        </p:txBody>
      </p:sp>
      <p:sp>
        <p:nvSpPr>
          <p:cNvPr id="252942" name="Text Box 14"/>
          <p:cNvSpPr txBox="1">
            <a:spLocks noChangeArrowheads="1"/>
          </p:cNvSpPr>
          <p:nvPr/>
        </p:nvSpPr>
        <p:spPr bwMode="auto">
          <a:xfrm>
            <a:off x="6016625" y="6088185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          </a:t>
            </a:r>
            <a:r>
              <a:rPr lang="en-US" altLang="en-US" sz="2400" dirty="0" smtClean="0">
                <a:sym typeface="Symbol" pitchFamily="18" charset="2"/>
              </a:rPr>
              <a:t>     </a:t>
            </a:r>
            <a:r>
              <a:rPr lang="en-US" altLang="en-US" sz="2400" b="1" dirty="0" smtClean="0">
                <a:solidFill>
                  <a:srgbClr val="0000FF"/>
                </a:solidFill>
                <a:sym typeface="Symbol" pitchFamily="18" charset="2"/>
              </a:rPr>
              <a:t> 1</a:t>
            </a:r>
            <a:r>
              <a:rPr lang="en-US" altLang="en-US" sz="2400" dirty="0" smtClean="0">
                <a:sym typeface="Symbol" pitchFamily="18" charset="2"/>
              </a:rPr>
              <a:t>   </a:t>
            </a:r>
            <a:endParaRPr lang="en-US" altLang="en-US" sz="240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2376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2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2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2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2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8" grpId="0"/>
      <p:bldP spid="252939" grpId="0"/>
      <p:bldP spid="252940" grpId="0"/>
      <p:bldP spid="252941" grpId="0"/>
      <p:bldP spid="2529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27734" y="457200"/>
            <a:ext cx="7772400" cy="762000"/>
          </a:xfrm>
        </p:spPr>
        <p:txBody>
          <a:bodyPr/>
          <a:lstStyle/>
          <a:p>
            <a:r>
              <a:rPr lang="en-US" altLang="en-US" sz="4000" b="1" dirty="0" smtClean="0">
                <a:solidFill>
                  <a:srgbClr val="00CC00"/>
                </a:solidFill>
                <a:latin typeface="Bell MT" pitchFamily="18" charset="0"/>
              </a:rPr>
              <a:t>The SAT problem </a:t>
            </a:r>
            <a:r>
              <a:rPr lang="en-US" altLang="en-US" sz="4000" dirty="0" smtClean="0">
                <a:solidFill>
                  <a:srgbClr val="00CC00"/>
                </a:solidFill>
                <a:latin typeface="Bell MT" pitchFamily="18" charset="0"/>
              </a:rPr>
              <a:t> </a:t>
            </a:r>
            <a:endParaRPr lang="en-US" altLang="en-US" sz="7200" dirty="0" smtClean="0">
              <a:latin typeface="Bell MT" pitchFamily="18" charset="0"/>
            </a:endParaRPr>
          </a:p>
        </p:txBody>
      </p:sp>
      <p:sp>
        <p:nvSpPr>
          <p:cNvPr id="5123" name="Text Box 5">
            <a:hlinkClick r:id="rId3" action="ppaction://hlinkpres?slideindex=1&amp;slidetitle="/>
            <a:hlinkHover r:id="rId3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8991600" y="67056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  </a:t>
            </a:r>
          </a:p>
        </p:txBody>
      </p:sp>
      <p:sp>
        <p:nvSpPr>
          <p:cNvPr id="5124" name="Text Box 6">
            <a:hlinkClick r:id="rId4" action="ppaction://hlinkpres?slideindex=1&amp;slidetitle="/>
            <a:hlinkHover r:id="rId4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-152400" y="6705600"/>
            <a:ext cx="2841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Brush Script MT" pitchFamily="66" charset="0"/>
              </a:rPr>
              <a:t> </a:t>
            </a:r>
          </a:p>
        </p:txBody>
      </p:sp>
      <p:sp>
        <p:nvSpPr>
          <p:cNvPr id="5125" name="Text Box 14"/>
          <p:cNvSpPr txBox="1">
            <a:spLocks noChangeArrowheads="1"/>
          </p:cNvSpPr>
          <p:nvPr/>
        </p:nvSpPr>
        <p:spPr bwMode="auto">
          <a:xfrm>
            <a:off x="114178" y="1600200"/>
            <a:ext cx="8420222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/>
              <a:t>We say that a Boolean formula is </a:t>
            </a:r>
            <a:r>
              <a:rPr lang="en-US" altLang="en-US" sz="2000" b="1" i="1" dirty="0">
                <a:solidFill>
                  <a:srgbClr val="FF0000"/>
                </a:solidFill>
              </a:rPr>
              <a:t>satisfiable </a:t>
            </a:r>
            <a:r>
              <a:rPr lang="en-US" altLang="en-US" sz="2000" dirty="0" err="1"/>
              <a:t>iff</a:t>
            </a:r>
            <a:r>
              <a:rPr lang="en-US" altLang="en-US" sz="2000" dirty="0"/>
              <a:t> there is an assignment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/>
              <a:t>of </a:t>
            </a:r>
            <a:r>
              <a:rPr lang="en-US" altLang="en-US" sz="2000" b="1" dirty="0">
                <a:solidFill>
                  <a:srgbClr val="0000FF"/>
                </a:solidFill>
              </a:rPr>
              <a:t>0</a:t>
            </a:r>
            <a:r>
              <a:rPr lang="en-US" altLang="en-US" sz="2000" dirty="0"/>
              <a:t>s and </a:t>
            </a:r>
            <a:r>
              <a:rPr lang="en-US" altLang="en-US" sz="2000" b="1" dirty="0">
                <a:solidFill>
                  <a:srgbClr val="0000FF"/>
                </a:solidFill>
              </a:rPr>
              <a:t>1</a:t>
            </a:r>
            <a:r>
              <a:rPr lang="en-US" altLang="en-US" sz="2000" dirty="0"/>
              <a:t>s to its variables that makes the formula evaluate to </a:t>
            </a:r>
            <a:r>
              <a:rPr lang="en-US" altLang="en-US" sz="2000" b="1" dirty="0">
                <a:solidFill>
                  <a:srgbClr val="0000FF"/>
                </a:solidFill>
              </a:rPr>
              <a:t>1</a:t>
            </a:r>
            <a:r>
              <a:rPr lang="en-US" altLang="en-US" sz="2000" dirty="0"/>
              <a:t>.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/>
              <a:t>     </a:t>
            </a:r>
            <a:endParaRPr lang="en-US" altLang="en-US" sz="2000" dirty="0" smtClean="0"/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 smtClean="0"/>
              <a:t>Are </a:t>
            </a:r>
            <a:r>
              <a:rPr lang="en-US" altLang="en-US" sz="2000" dirty="0"/>
              <a:t>the following formulas satisfiable?</a:t>
            </a:r>
          </a:p>
          <a:p>
            <a:pPr lvl="1"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0000FF"/>
                </a:solidFill>
              </a:rPr>
              <a:t>x</a:t>
            </a: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(</a:t>
            </a:r>
            <a:r>
              <a:rPr lang="en-US" altLang="en-US" sz="2000" b="1" dirty="0" err="1">
                <a:solidFill>
                  <a:srgbClr val="0000FF"/>
                </a:solidFill>
                <a:sym typeface="Symbol" pitchFamily="18" charset="2"/>
              </a:rPr>
              <a:t>xy</a:t>
            </a: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)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0000FF"/>
                </a:solidFill>
              </a:rPr>
              <a:t>x</a:t>
            </a: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(</a:t>
            </a:r>
            <a:r>
              <a:rPr lang="en-US" altLang="en-US" sz="2000" b="1" dirty="0" err="1">
                <a:solidFill>
                  <a:srgbClr val="0000FF"/>
                </a:solidFill>
                <a:sym typeface="Symbol" pitchFamily="18" charset="2"/>
              </a:rPr>
              <a:t>xy</a:t>
            </a:r>
            <a:r>
              <a:rPr lang="en-US" altLang="en-US" sz="2000" b="1" dirty="0">
                <a:solidFill>
                  <a:srgbClr val="0000FF"/>
                </a:solidFill>
                <a:sym typeface="Symbol" pitchFamily="18" charset="2"/>
              </a:rPr>
              <a:t>)</a:t>
            </a:r>
          </a:p>
        </p:txBody>
      </p:sp>
      <p:sp>
        <p:nvSpPr>
          <p:cNvPr id="254999" name="Text Box 23"/>
          <p:cNvSpPr txBox="1">
            <a:spLocks noChangeArrowheads="1"/>
          </p:cNvSpPr>
          <p:nvPr/>
        </p:nvSpPr>
        <p:spPr bwMode="auto">
          <a:xfrm>
            <a:off x="2057400" y="4114800"/>
            <a:ext cx="6157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FF"/>
                </a:solidFill>
              </a:rPr>
              <a:t>SAT = {&lt;</a:t>
            </a:r>
            <a:r>
              <a:rPr lang="en-US" altLang="en-US" sz="2400" b="1" dirty="0">
                <a:solidFill>
                  <a:srgbClr val="0000FF"/>
                </a:solidFill>
                <a:sym typeface="Symbol" pitchFamily="18" charset="2"/>
              </a:rPr>
              <a:t>&gt; | </a:t>
            </a:r>
            <a:r>
              <a:rPr lang="en-US" altLang="en-US" sz="2400" dirty="0">
                <a:sym typeface="Symbol" pitchFamily="18" charset="2"/>
              </a:rPr>
              <a:t> is a satisfiable Boolean formula</a:t>
            </a:r>
            <a:r>
              <a:rPr lang="en-US" altLang="en-US" sz="2400" b="1" dirty="0">
                <a:solidFill>
                  <a:srgbClr val="0000FF"/>
                </a:solidFill>
                <a:sym typeface="Symbol" pitchFamily="18" charset="2"/>
              </a:rPr>
              <a:t>}</a:t>
            </a:r>
          </a:p>
        </p:txBody>
      </p:sp>
      <p:sp>
        <p:nvSpPr>
          <p:cNvPr id="255000" name="Text Box 24"/>
          <p:cNvSpPr txBox="1">
            <a:spLocks noChangeArrowheads="1"/>
          </p:cNvSpPr>
          <p:nvPr/>
        </p:nvSpPr>
        <p:spPr bwMode="auto">
          <a:xfrm>
            <a:off x="996950" y="5105400"/>
            <a:ext cx="16891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FF"/>
                </a:solidFill>
              </a:rPr>
              <a:t>SAT </a:t>
            </a:r>
            <a:r>
              <a:rPr lang="en-US" altLang="en-US" sz="2400" b="1" dirty="0">
                <a:solidFill>
                  <a:srgbClr val="0000FF"/>
                </a:solidFill>
                <a:sym typeface="Symbol" pitchFamily="18" charset="2"/>
              </a:rPr>
              <a:t> P</a:t>
            </a:r>
            <a:r>
              <a:rPr lang="en-US" altLang="en-US" sz="2400" dirty="0">
                <a:sym typeface="Symbol" pitchFamily="18" charset="2"/>
              </a:rPr>
              <a:t>?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FF"/>
                </a:solidFill>
                <a:sym typeface="Symbol" pitchFamily="18" charset="2"/>
              </a:rPr>
              <a:t>SAT  NP</a:t>
            </a:r>
            <a:r>
              <a:rPr lang="en-US" altLang="en-US" sz="2400" dirty="0">
                <a:sym typeface="Symbol" pitchFamily="18" charset="2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3885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99" grpId="0"/>
      <p:bldP spid="25500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NP complete: reduction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7186108" cy="3508977"/>
          </a:xfrm>
        </p:spPr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FF0000"/>
                </a:solidFill>
              </a:rPr>
              <a:t>L1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L2</a:t>
            </a:r>
            <a:r>
              <a:rPr lang="en-US" dirty="0" smtClean="0"/>
              <a:t> are two problems.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L1</a:t>
            </a:r>
            <a:r>
              <a:rPr lang="en-US" dirty="0" smtClean="0"/>
              <a:t> reduces to </a:t>
            </a:r>
            <a:r>
              <a:rPr lang="en-US" dirty="0" smtClean="0">
                <a:solidFill>
                  <a:srgbClr val="FF0000"/>
                </a:solidFill>
              </a:rPr>
              <a:t>L2</a:t>
            </a:r>
            <a:r>
              <a:rPr lang="en-US" dirty="0" smtClean="0"/>
              <a:t> [ </a:t>
            </a:r>
            <a:r>
              <a:rPr lang="en-US" dirty="0" smtClean="0">
                <a:solidFill>
                  <a:srgbClr val="FF0000"/>
                </a:solidFill>
              </a:rPr>
              <a:t>Li</a:t>
            </a:r>
            <a:r>
              <a:rPr lang="en-US" dirty="0" smtClean="0"/>
              <a:t>    </a:t>
            </a:r>
            <a:r>
              <a:rPr lang="en-US" dirty="0" smtClean="0">
                <a:solidFill>
                  <a:srgbClr val="FF0000"/>
                </a:solidFill>
              </a:rPr>
              <a:t>L2</a:t>
            </a:r>
            <a:r>
              <a:rPr lang="en-US" dirty="0" smtClean="0"/>
              <a:t>] </a:t>
            </a:r>
            <a:r>
              <a:rPr lang="en-US" dirty="0" err="1" smtClean="0">
                <a:solidFill>
                  <a:srgbClr val="00B050"/>
                </a:solidFill>
              </a:rPr>
              <a:t>iff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</a:p>
          <a:p>
            <a:r>
              <a:rPr lang="en-US" dirty="0" smtClean="0"/>
              <a:t>there is a way to solve </a:t>
            </a:r>
            <a:r>
              <a:rPr lang="en-US" dirty="0" smtClean="0">
                <a:solidFill>
                  <a:srgbClr val="FF0000"/>
                </a:solidFill>
              </a:rPr>
              <a:t>L1</a:t>
            </a:r>
            <a:r>
              <a:rPr lang="en-US" dirty="0" smtClean="0"/>
              <a:t> by deterministic polynomial time algorithm that solves </a:t>
            </a:r>
            <a:r>
              <a:rPr lang="en-US" dirty="0" smtClean="0">
                <a:solidFill>
                  <a:srgbClr val="FF0000"/>
                </a:solidFill>
              </a:rPr>
              <a:t>L2</a:t>
            </a:r>
            <a:r>
              <a:rPr lang="en-US" dirty="0" smtClean="0"/>
              <a:t> in polynomial time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114" y="2895600"/>
            <a:ext cx="3238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941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NP –complete and NP Hard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743200"/>
            <a:ext cx="7620000" cy="3089429"/>
          </a:xfrm>
        </p:spPr>
        <p:txBody>
          <a:bodyPr/>
          <a:lstStyle/>
          <a:p>
            <a:r>
              <a:rPr lang="en-US" dirty="0" smtClean="0"/>
              <a:t>Generally </a:t>
            </a:r>
          </a:p>
          <a:p>
            <a:endParaRPr lang="en-US" dirty="0" smtClean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Decision Problems </a:t>
            </a:r>
            <a:r>
              <a:rPr lang="en-US" dirty="0" smtClean="0"/>
              <a:t>comes under </a:t>
            </a:r>
            <a:r>
              <a:rPr lang="en-US" dirty="0" smtClean="0">
                <a:solidFill>
                  <a:srgbClr val="FF0000"/>
                </a:solidFill>
              </a:rPr>
              <a:t>NP –complete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Optimization Problems </a:t>
            </a:r>
            <a:r>
              <a:rPr lang="en-US" dirty="0" smtClean="0"/>
              <a:t>comes under </a:t>
            </a:r>
            <a:r>
              <a:rPr lang="en-US" dirty="0" smtClean="0">
                <a:solidFill>
                  <a:srgbClr val="FF0000"/>
                </a:solidFill>
              </a:rPr>
              <a:t>NP Hard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0480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Proving NP complete problems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16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HAMILTONIAN 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286000"/>
            <a:ext cx="3376108" cy="3657600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a simple cycle in a graph G that </a:t>
            </a:r>
            <a:r>
              <a:rPr lang="en-US" dirty="0" smtClean="0">
                <a:solidFill>
                  <a:srgbClr val="FF0000"/>
                </a:solidFill>
              </a:rPr>
              <a:t>visits each vertex of G exactly once and returns</a:t>
            </a:r>
            <a:r>
              <a:rPr lang="en-US" dirty="0" smtClean="0"/>
              <a:t> to its starting vertex.</a:t>
            </a:r>
            <a:endParaRPr lang="en-US" dirty="0"/>
          </a:p>
        </p:txBody>
      </p:sp>
      <p:pic>
        <p:nvPicPr>
          <p:cNvPr id="1026" name="Picture 2" descr="C:\Users\B.VenkatRamana\Desktop\HamCyc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230" y="2362200"/>
            <a:ext cx="4109329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485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Deterministic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514600"/>
            <a:ext cx="6777317" cy="33180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Algorithm is deterministic if for a given input the output generated is same for a function.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mathematical function is deterministic. Hence the state is known at every step of the algorithm.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83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87733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non deterministic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 is non deterministic if there are more than one path the algorithm can take. </a:t>
            </a:r>
            <a:endParaRPr lang="en-US" dirty="0" smtClean="0"/>
          </a:p>
          <a:p>
            <a:r>
              <a:rPr lang="en-US" dirty="0" smtClean="0"/>
              <a:t>Due </a:t>
            </a:r>
            <a:r>
              <a:rPr lang="en-US" dirty="0"/>
              <a:t>to this, one cannot determine the next state of the machine running the algorithm. </a:t>
            </a:r>
            <a:endParaRPr lang="en-US" dirty="0" smtClean="0"/>
          </a:p>
          <a:p>
            <a:r>
              <a:rPr lang="en-US" dirty="0" smtClean="0"/>
              <a:t>Example </a:t>
            </a:r>
            <a:r>
              <a:rPr lang="en-US" dirty="0"/>
              <a:t>would be a random function.</a:t>
            </a:r>
          </a:p>
        </p:txBody>
      </p:sp>
    </p:spTree>
    <p:extLst>
      <p:ext uri="{BB962C8B-B14F-4D97-AF65-F5344CB8AC3E}">
        <p14:creationId xmlns:p14="http://schemas.microsoft.com/office/powerpoint/2010/main" val="206618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NP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 deterministic machines that can't solve problems in polynomial time are NP. Hence finding a solution to an NP problem is hard but verifying it can be done in polynomial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28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4873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HAMILTONIAN CYCLE is in NP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81200"/>
            <a:ext cx="7543800" cy="44196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Let A be some non-deterministic algorithm</a:t>
            </a:r>
          </a:p>
          <a:p>
            <a:r>
              <a:rPr lang="en-US" dirty="0" smtClean="0"/>
              <a:t>Graph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be the input to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vertices of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are numbered from </a:t>
            </a:r>
            <a:r>
              <a:rPr lang="en-US" dirty="0" smtClean="0">
                <a:solidFill>
                  <a:srgbClr val="FF0000"/>
                </a:solidFill>
              </a:rPr>
              <a:t>1 to 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Call the algorithm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recursively to get the sequence </a:t>
            </a:r>
            <a:r>
              <a:rPr lang="en-US" dirty="0" smtClean="0">
                <a:solidFill>
                  <a:srgbClr val="FF0000"/>
                </a:solidFill>
              </a:rPr>
              <a:t>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S </a:t>
            </a:r>
            <a:r>
              <a:rPr lang="en-US" dirty="0" smtClean="0"/>
              <a:t>contains all the vertices without any repetition.</a:t>
            </a:r>
          </a:p>
          <a:p>
            <a:pPr lvl="1"/>
            <a:r>
              <a:rPr lang="en-US" dirty="0" smtClean="0"/>
              <a:t>The sequence </a:t>
            </a:r>
            <a:r>
              <a:rPr lang="en-US" dirty="0" smtClean="0">
                <a:solidFill>
                  <a:srgbClr val="FF0000"/>
                </a:solidFill>
              </a:rPr>
              <a:t>must start and end at the same </a:t>
            </a:r>
            <a:r>
              <a:rPr lang="en-US" dirty="0" smtClean="0"/>
              <a:t>vertex.</a:t>
            </a:r>
          </a:p>
          <a:p>
            <a:pPr lvl="1"/>
            <a:r>
              <a:rPr lang="en-US" dirty="0" smtClean="0"/>
              <a:t>This check must be made on </a:t>
            </a:r>
            <a:r>
              <a:rPr lang="en-US" dirty="0" smtClean="0">
                <a:solidFill>
                  <a:srgbClr val="FF0000"/>
                </a:solidFill>
              </a:rPr>
              <a:t>S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FF0000"/>
                </a:solidFill>
              </a:rPr>
              <a:t>polynomial time n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there is a Hamiltonian cycle in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it will  output “</a:t>
            </a:r>
            <a:r>
              <a:rPr lang="en-US" dirty="0" smtClean="0">
                <a:solidFill>
                  <a:srgbClr val="FF0000"/>
                </a:solidFill>
              </a:rPr>
              <a:t>Y</a:t>
            </a:r>
            <a:r>
              <a:rPr lang="en-US" dirty="0" smtClean="0"/>
              <a:t> “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Based on the </a:t>
            </a:r>
            <a:r>
              <a:rPr lang="en-US" dirty="0" smtClean="0">
                <a:solidFill>
                  <a:srgbClr val="FF0000"/>
                </a:solidFill>
              </a:rPr>
              <a:t>non-deterministic algorithm </a:t>
            </a:r>
            <a:r>
              <a:rPr lang="en-US" dirty="0" smtClean="0"/>
              <a:t>we are finding the solution</a:t>
            </a:r>
          </a:p>
          <a:p>
            <a:r>
              <a:rPr lang="en-US" dirty="0" smtClean="0"/>
              <a:t>Hence it is in NP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539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024744" cy="49633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 prove DHC   TSP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752600"/>
            <a:ext cx="7543800" cy="4572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If there are two problems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. to prove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is in </a:t>
            </a:r>
            <a:r>
              <a:rPr lang="en-US" dirty="0" smtClean="0">
                <a:solidFill>
                  <a:srgbClr val="FF0000"/>
                </a:solidFill>
              </a:rPr>
              <a:t>NP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complete</a:t>
            </a:r>
            <a:r>
              <a:rPr lang="en-US" dirty="0" smtClean="0"/>
              <a:t> then</a:t>
            </a:r>
          </a:p>
          <a:p>
            <a:r>
              <a:rPr lang="en-US" dirty="0" smtClean="0"/>
              <a:t>Pickup a known </a:t>
            </a:r>
            <a:r>
              <a:rPr lang="en-US" dirty="0" smtClean="0">
                <a:solidFill>
                  <a:srgbClr val="FF0000"/>
                </a:solidFill>
              </a:rPr>
              <a:t>NP complete </a:t>
            </a:r>
            <a:r>
              <a:rPr lang="en-US" dirty="0" smtClean="0"/>
              <a:t>problem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</a:p>
          <a:p>
            <a:r>
              <a:rPr lang="en-US" dirty="0" smtClean="0"/>
              <a:t>Reduce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Map instances of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in such a way that if </a:t>
            </a:r>
            <a:r>
              <a:rPr lang="en-US" dirty="0" smtClean="0">
                <a:solidFill>
                  <a:srgbClr val="FF0000"/>
                </a:solidFill>
              </a:rPr>
              <a:t>YES for B = YES for A</a:t>
            </a:r>
          </a:p>
          <a:p>
            <a:pPr lvl="1"/>
            <a:r>
              <a:rPr lang="en-US" dirty="0" smtClean="0"/>
              <a:t>Prove that this transformation runs in polynomial time.</a:t>
            </a:r>
          </a:p>
          <a:p>
            <a:r>
              <a:rPr lang="en-US" dirty="0" smtClean="0"/>
              <a:t>This proves that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is also </a:t>
            </a:r>
            <a:r>
              <a:rPr lang="en-US" dirty="0" smtClean="0">
                <a:solidFill>
                  <a:srgbClr val="FF0000"/>
                </a:solidFill>
              </a:rPr>
              <a:t>NP complete</a:t>
            </a:r>
          </a:p>
          <a:p>
            <a:r>
              <a:rPr lang="en-US" dirty="0" smtClean="0"/>
              <a:t>If there is </a:t>
            </a:r>
            <a:r>
              <a:rPr lang="en-US" dirty="0" smtClean="0">
                <a:solidFill>
                  <a:srgbClr val="FF0000"/>
                </a:solidFill>
              </a:rPr>
              <a:t>no Hamiltonian cycle </a:t>
            </a:r>
            <a:r>
              <a:rPr lang="en-US" dirty="0" smtClean="0"/>
              <a:t>in Graph which represent TSP, that means </a:t>
            </a:r>
          </a:p>
          <a:p>
            <a:pPr marL="68580" indent="0">
              <a:buNone/>
            </a:pPr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dirty="0" smtClean="0">
                <a:solidFill>
                  <a:srgbClr val="FF0000"/>
                </a:solidFill>
              </a:rPr>
              <a:t>TSP is also NP complete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990600"/>
            <a:ext cx="3238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3501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Cooks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satisfiability problem is NP complete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370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19400"/>
            <a:ext cx="7024744" cy="724936"/>
          </a:xfrm>
        </p:spPr>
        <p:txBody>
          <a:bodyPr/>
          <a:lstStyle/>
          <a:p>
            <a:r>
              <a:rPr lang="en-US" dirty="0" smtClean="0"/>
              <a:t>Vertex cover 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30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Approximation algorithms for NPC problems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a problem is NP-complete, there is very likely no polynomial-time algorithm to find an optimal solution</a:t>
            </a:r>
          </a:p>
          <a:p>
            <a:r>
              <a:rPr lang="en-US" dirty="0" smtClean="0"/>
              <a:t>The idea of approximation algorithms is to develop polynomial-time algorithms to find a near optimal solution</a:t>
            </a:r>
          </a:p>
        </p:txBody>
      </p:sp>
    </p:spTree>
    <p:extLst>
      <p:ext uri="{BB962C8B-B14F-4D97-AF65-F5344CB8AC3E}">
        <p14:creationId xmlns:p14="http://schemas.microsoft.com/office/powerpoint/2010/main" val="3225500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2192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Vertex-cover problem </a:t>
            </a:r>
            <a:br>
              <a:rPr lang="en-US" dirty="0" smtClean="0"/>
            </a:br>
            <a:r>
              <a:rPr lang="en-US" dirty="0" smtClean="0"/>
              <a:t>and a 2-approximation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90600" y="2819400"/>
                <a:ext cx="6777317" cy="3508977"/>
              </a:xfrm>
            </p:spPr>
            <p:txBody>
              <a:bodyPr/>
              <a:lstStyle/>
              <a:p>
                <a:r>
                  <a:rPr lang="en-US" dirty="0" smtClean="0"/>
                  <a:t>What is a vertex-cover?</a:t>
                </a:r>
              </a:p>
              <a:p>
                <a:r>
                  <a:rPr lang="en-US" dirty="0"/>
                  <a:t>Given a undirected graph G=(V, </a:t>
                </a:r>
                <a:r>
                  <a:rPr lang="en-US" dirty="0" smtClean="0"/>
                  <a:t>E), </a:t>
                </a:r>
                <a:r>
                  <a:rPr lang="en-US" b="1" dirty="0"/>
                  <a:t>v</a:t>
                </a:r>
                <a:r>
                  <a:rPr lang="en-US" b="1" dirty="0" smtClean="0"/>
                  <a:t>ertex-cover</a:t>
                </a:r>
                <a:r>
                  <a:rPr lang="en-US" dirty="0" smtClean="0"/>
                  <a:t> V’: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/>
                      </a:rPr>
                      <m:t>V</m:t>
                    </m:r>
                    <m:r>
                      <a:rPr lang="en-US" i="0" dirty="0" smtClean="0">
                        <a:latin typeface="Cambria Math"/>
                      </a:rPr>
                      <m:t>’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⊆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  <a:ea typeface="Cambria Math"/>
                      </a:rPr>
                      <m:t>V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for each edge (u, v) in E, either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/>
                      </a:rPr>
                      <m:t>u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p>
                        <m:r>
                          <a:rPr lang="en-US" b="0" i="0" dirty="0" smtClean="0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  <a:ea typeface="Cambria Math"/>
                      </a:rPr>
                      <m:t>or</m:t>
                    </m:r>
                    <m:r>
                      <a:rPr lang="en-US" b="0" i="0" dirty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  <a:ea typeface="Cambria Math"/>
                      </a:rPr>
                      <m:t>v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p>
                        <m:r>
                          <a:rPr lang="en-US" dirty="0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 smtClean="0"/>
                  <a:t>(or both)</a:t>
                </a:r>
              </a:p>
              <a:p>
                <a:r>
                  <a:rPr lang="en-US" dirty="0" smtClean="0"/>
                  <a:t>The size of a vertex-cover is |V’|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0" y="2819400"/>
                <a:ext cx="6777317" cy="3508977"/>
              </a:xfrm>
              <a:blipFill rotWithShape="1">
                <a:blip r:embed="rId2"/>
                <a:stretch>
                  <a:fillRect t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064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Vertex-cover problem </a:t>
            </a:r>
            <a:br>
              <a:rPr lang="en-US" dirty="0" smtClean="0"/>
            </a:br>
            <a:r>
              <a:rPr lang="en-US" dirty="0" smtClean="0"/>
              <a:t>and a 2-approximation algorithm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8799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8799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3658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51498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5051498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3658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5281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21466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241334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3899240" y="24765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36325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5506783" y="2665085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5318198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3899240" y="40767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209800" y="4800600"/>
            <a:ext cx="458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Are the black vertices a vertex-cover?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2211224" y="53340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No. why?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2211224" y="5867400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Edges (5, 6), (3, 6) and (3, 7) are not covered by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18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Vertex-cover problem </a:t>
            </a:r>
            <a:br>
              <a:rPr lang="en-US" dirty="0" smtClean="0"/>
            </a:br>
            <a:r>
              <a:rPr lang="en-US" dirty="0" smtClean="0"/>
              <a:t>and a 2-approximation algorithm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8799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8799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3658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51498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5051498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3658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5281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21466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241334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3899240" y="24765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36325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5506783" y="2665085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5318198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3899240" y="40767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209800" y="4800600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Are the black vertices a vertex-cover?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2211224" y="53340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No. why?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2211224" y="5867400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Edge (3, 7) is not covered by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182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Vertex-cover problem </a:t>
            </a:r>
            <a:br>
              <a:rPr lang="en-US" dirty="0" smtClean="0"/>
            </a:br>
            <a:r>
              <a:rPr lang="en-US" dirty="0" smtClean="0"/>
              <a:t>and a 2-approximation algorithm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8799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8799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3658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51498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5051498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3658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52814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21466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241334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3899240" y="24765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36325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5506783" y="2665085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5318198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3899240" y="40767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209800" y="4800600"/>
            <a:ext cx="458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Are the </a:t>
            </a:r>
            <a:r>
              <a:rPr lang="en-US" dirty="0"/>
              <a:t>black </a:t>
            </a:r>
            <a:r>
              <a:rPr lang="en-US" dirty="0" smtClean="0"/>
              <a:t>vertices a vertex-cover?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2211224" y="53340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Yes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2211224" y="5867400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size?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433352" y="6084252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9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Vertex-cover problem </a:t>
            </a:r>
            <a:br>
              <a:rPr lang="en-US" dirty="0" smtClean="0"/>
            </a:br>
            <a:r>
              <a:rPr lang="en-US" dirty="0" smtClean="0"/>
              <a:t>and a 2-approximation algorithm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87994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8799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3658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51498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5051498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36584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52814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21466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241334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3899240" y="24765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36325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5506783" y="2665085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5318198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3899240" y="40767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209800" y="4800600"/>
            <a:ext cx="4851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Are the </a:t>
            </a:r>
            <a:r>
              <a:rPr lang="en-US" dirty="0"/>
              <a:t>black </a:t>
            </a:r>
            <a:r>
              <a:rPr lang="en-US" dirty="0" smtClean="0"/>
              <a:t>vertices a vertex-cover?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2211224" y="53340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Yes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2211224" y="5867400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size?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502665" y="6070604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2268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Vertex-cover problem </a:t>
            </a:r>
            <a:br>
              <a:rPr lang="en-US" dirty="0" smtClean="0"/>
            </a:br>
            <a:r>
              <a:rPr lang="en-US" dirty="0" smtClean="0"/>
              <a:t>and a 2-approximation algorithm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8799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8799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3658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51498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5051498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36584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52814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21466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241334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3899240" y="24765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36325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5506783" y="2665085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5318198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3899240" y="40767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209800" y="4800600"/>
            <a:ext cx="4851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Are the </a:t>
            </a:r>
            <a:r>
              <a:rPr lang="en-US" dirty="0"/>
              <a:t>black </a:t>
            </a:r>
            <a:r>
              <a:rPr lang="en-US" dirty="0" smtClean="0"/>
              <a:t>vertices a vertex-cover?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2211224" y="53340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Yes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2211224" y="5867400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size?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804155" y="6070604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07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Vertex-cover problem </a:t>
            </a:r>
            <a:br>
              <a:rPr lang="en-US" dirty="0" smtClean="0"/>
            </a:br>
            <a:r>
              <a:rPr lang="en-US" dirty="0" smtClean="0"/>
              <a:t>and a 2-approximation algorithm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8799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8799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365840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51498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5051498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36584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5281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21466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241334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3899240" y="24765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36325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5506783" y="2665085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5318198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3899240" y="40767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209800" y="4800600"/>
            <a:ext cx="458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Are the </a:t>
            </a:r>
            <a:r>
              <a:rPr lang="en-US" dirty="0"/>
              <a:t>black </a:t>
            </a:r>
            <a:r>
              <a:rPr lang="en-US" dirty="0" smtClean="0"/>
              <a:t>vertices a vertex-cover?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2211224" y="53340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Yes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2211224" y="5867400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size?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202695" y="6031468"/>
            <a:ext cx="608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806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Vertex-cover problem</a:t>
            </a:r>
          </a:p>
          <a:p>
            <a:pPr lvl="1"/>
            <a:r>
              <a:rPr lang="en-US" dirty="0" smtClean="0"/>
              <a:t>Given a undirected graph, find a vertex cover with minimum size.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88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Vertex-cover problem </a:t>
            </a:r>
            <a:br>
              <a:rPr lang="en-US" dirty="0" smtClean="0"/>
            </a:br>
            <a:r>
              <a:rPr lang="en-US" dirty="0" smtClean="0"/>
              <a:t>and a 2-approximation algorithm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8799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8799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365840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51498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5051498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36584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5281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21466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241334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3899240" y="24765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36325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5506783" y="2665085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5318198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3899240" y="40767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48000" y="5181600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minimum vertex-cover :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04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 smtClean="0"/>
                  <a:t>Vertex-cover problem is </a:t>
                </a:r>
                <a:r>
                  <a:rPr lang="en-US" b="1" dirty="0" smtClean="0"/>
                  <a:t>NP-complete</a:t>
                </a:r>
              </a:p>
              <a:p>
                <a:r>
                  <a:rPr lang="en-US" dirty="0" smtClean="0"/>
                  <a:t>A 2-approximation polynomial time algorithm is as the following:</a:t>
                </a:r>
              </a:p>
              <a:p>
                <a:r>
                  <a:rPr lang="en-US" b="1" dirty="0" smtClean="0"/>
                  <a:t>APPROX-VERTEX-COVER</a:t>
                </a:r>
                <a:r>
                  <a:rPr lang="en-US" dirty="0" smtClean="0"/>
                  <a:t>(G)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C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dirty="0" smtClean="0"/>
                  <a:t>;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E’=G.E;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while(E’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dirty="0" smtClean="0"/>
                  <a:t> ){</a:t>
                </a:r>
              </a:p>
              <a:p>
                <a:pPr marL="857250" lvl="2" indent="0">
                  <a:buNone/>
                </a:pPr>
                <a:r>
                  <a:rPr lang="en-US" dirty="0" smtClean="0"/>
                  <a:t>Randomly choose a edge (</a:t>
                </a:r>
                <a:r>
                  <a:rPr lang="en-US" dirty="0" err="1" smtClean="0"/>
                  <a:t>u,v</a:t>
                </a:r>
                <a:r>
                  <a:rPr lang="en-US" dirty="0" smtClean="0"/>
                  <a:t>) in E’, put u and v into C;</a:t>
                </a:r>
              </a:p>
              <a:p>
                <a:pPr marL="857250" lvl="2" indent="0">
                  <a:buNone/>
                </a:pPr>
                <a:r>
                  <a:rPr lang="en-US" dirty="0" smtClean="0"/>
                  <a:t>Remove all the edges that covered by u or v from E’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}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Return C;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3504" b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872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6" name="Oval 5"/>
          <p:cNvSpPr/>
          <p:nvPr/>
        </p:nvSpPr>
        <p:spPr>
          <a:xfrm>
            <a:off x="37541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754183" y="29708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240083" y="29708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925741" y="29708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925741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2400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84023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13" name="Straight Connector 12"/>
          <p:cNvCxnSpPr>
            <a:stCxn id="7" idx="4"/>
            <a:endCxn id="6" idx="0"/>
          </p:cNvCxnSpPr>
          <p:nvPr/>
        </p:nvCxnSpPr>
        <p:spPr>
          <a:xfrm>
            <a:off x="4020883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8" idx="2"/>
          </p:cNvCxnSpPr>
          <p:nvPr/>
        </p:nvCxnSpPr>
        <p:spPr>
          <a:xfrm>
            <a:off x="4287583" y="3237542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6"/>
            <a:endCxn id="9" idx="2"/>
          </p:cNvCxnSpPr>
          <p:nvPr/>
        </p:nvCxnSpPr>
        <p:spPr>
          <a:xfrm>
            <a:off x="5773483" y="3237542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4"/>
            <a:endCxn id="11" idx="0"/>
          </p:cNvCxnSpPr>
          <p:nvPr/>
        </p:nvCxnSpPr>
        <p:spPr>
          <a:xfrm>
            <a:off x="5506783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5"/>
            <a:endCxn id="12" idx="0"/>
          </p:cNvCxnSpPr>
          <p:nvPr/>
        </p:nvCxnSpPr>
        <p:spPr>
          <a:xfrm>
            <a:off x="7381026" y="3426127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10" idx="0"/>
          </p:cNvCxnSpPr>
          <p:nvPr/>
        </p:nvCxnSpPr>
        <p:spPr>
          <a:xfrm>
            <a:off x="7192441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6"/>
            <a:endCxn id="10" idx="2"/>
          </p:cNvCxnSpPr>
          <p:nvPr/>
        </p:nvCxnSpPr>
        <p:spPr>
          <a:xfrm>
            <a:off x="5773483" y="4837742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28600" y="2743200"/>
                <a:ext cx="3429000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APPROX-VERTEX-COVER</a:t>
                </a:r>
                <a:r>
                  <a:rPr lang="en-US" dirty="0"/>
                  <a:t>(G)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C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dirty="0"/>
                  <a:t>;</a:t>
                </a:r>
              </a:p>
              <a:p>
                <a:pPr lvl="1"/>
                <a:r>
                  <a:rPr lang="en-US" dirty="0"/>
                  <a:t>E’=G.E;</a:t>
                </a:r>
              </a:p>
              <a:p>
                <a:pPr lvl="1"/>
                <a:r>
                  <a:rPr lang="en-US" dirty="0"/>
                  <a:t>while(E’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≠∅</m:t>
                    </m:r>
                  </m:oMath>
                </a14:m>
                <a:r>
                  <a:rPr lang="en-US" dirty="0"/>
                  <a:t> ){</a:t>
                </a:r>
              </a:p>
              <a:p>
                <a:pPr marL="857250" lvl="2" indent="0">
                  <a:buNone/>
                </a:pPr>
                <a:r>
                  <a:rPr lang="en-US" dirty="0"/>
                  <a:t>Randomly choose a edge (</a:t>
                </a:r>
                <a:r>
                  <a:rPr lang="en-US" dirty="0" err="1"/>
                  <a:t>u,v</a:t>
                </a:r>
                <a:r>
                  <a:rPr lang="en-US" dirty="0"/>
                  <a:t>) in E’, put u and v into C;</a:t>
                </a:r>
              </a:p>
              <a:p>
                <a:pPr marL="857250" lvl="2" indent="0">
                  <a:buNone/>
                </a:pPr>
                <a:r>
                  <a:rPr lang="en-US" dirty="0"/>
                  <a:t>Remove all the edges that covered by u or v from E’</a:t>
                </a:r>
              </a:p>
              <a:p>
                <a:pPr lvl="1"/>
                <a:r>
                  <a:rPr lang="en-US" dirty="0"/>
                  <a:t>}</a:t>
                </a:r>
              </a:p>
              <a:p>
                <a:pPr lvl="1"/>
                <a:r>
                  <a:rPr lang="en-US" dirty="0"/>
                  <a:t>Return C;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743200"/>
                <a:ext cx="3429000" cy="3416320"/>
              </a:xfrm>
              <a:prstGeom prst="rect">
                <a:avLst/>
              </a:prstGeom>
              <a:blipFill rotWithShape="1">
                <a:blip r:embed="rId2"/>
                <a:stretch>
                  <a:fillRect l="-1601" t="-893" b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019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6" name="Oval 5"/>
          <p:cNvSpPr/>
          <p:nvPr/>
        </p:nvSpPr>
        <p:spPr>
          <a:xfrm>
            <a:off x="3754183" y="45710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754183" y="29708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240083" y="29708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925741" y="29708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925741" y="45710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240083" y="45710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84023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13" name="Straight Connector 12"/>
          <p:cNvCxnSpPr>
            <a:stCxn id="7" idx="4"/>
            <a:endCxn id="6" idx="0"/>
          </p:cNvCxnSpPr>
          <p:nvPr/>
        </p:nvCxnSpPr>
        <p:spPr>
          <a:xfrm>
            <a:off x="4020883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8" idx="2"/>
          </p:cNvCxnSpPr>
          <p:nvPr/>
        </p:nvCxnSpPr>
        <p:spPr>
          <a:xfrm>
            <a:off x="4287583" y="3237542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6"/>
            <a:endCxn id="9" idx="2"/>
          </p:cNvCxnSpPr>
          <p:nvPr/>
        </p:nvCxnSpPr>
        <p:spPr>
          <a:xfrm>
            <a:off x="5773483" y="3237542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4"/>
            <a:endCxn id="11" idx="0"/>
          </p:cNvCxnSpPr>
          <p:nvPr/>
        </p:nvCxnSpPr>
        <p:spPr>
          <a:xfrm>
            <a:off x="5506783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5"/>
            <a:endCxn id="12" idx="0"/>
          </p:cNvCxnSpPr>
          <p:nvPr/>
        </p:nvCxnSpPr>
        <p:spPr>
          <a:xfrm>
            <a:off x="7381026" y="3426127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10" idx="0"/>
          </p:cNvCxnSpPr>
          <p:nvPr/>
        </p:nvCxnSpPr>
        <p:spPr>
          <a:xfrm>
            <a:off x="7192441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6"/>
            <a:endCxn id="10" idx="2"/>
          </p:cNvCxnSpPr>
          <p:nvPr/>
        </p:nvCxnSpPr>
        <p:spPr>
          <a:xfrm>
            <a:off x="5773483" y="4837742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657600" y="54102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It is then a vertex cover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109011" y="5859347"/>
            <a:ext cx="79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7475" y="587002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Size?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754182" y="6324600"/>
            <a:ext cx="3027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far from optimal one?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511245" y="6139934"/>
            <a:ext cx="248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Max(6/3, 3/6) =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04446" y="2363212"/>
                <a:ext cx="3048000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APPROX-VERTEX-COVER</a:t>
                </a:r>
                <a:r>
                  <a:rPr lang="en-US" dirty="0"/>
                  <a:t>(G)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C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dirty="0"/>
                  <a:t>;</a:t>
                </a:r>
              </a:p>
              <a:p>
                <a:pPr lvl="1"/>
                <a:r>
                  <a:rPr lang="en-US" dirty="0"/>
                  <a:t>E’=G.E;</a:t>
                </a:r>
              </a:p>
              <a:p>
                <a:pPr lvl="1"/>
                <a:r>
                  <a:rPr lang="en-US" dirty="0"/>
                  <a:t>while(E’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≠∅</m:t>
                    </m:r>
                  </m:oMath>
                </a14:m>
                <a:r>
                  <a:rPr lang="en-US" dirty="0"/>
                  <a:t> ){</a:t>
                </a:r>
              </a:p>
              <a:p>
                <a:pPr marL="857250" lvl="2" indent="0">
                  <a:buNone/>
                </a:pPr>
                <a:r>
                  <a:rPr lang="en-US" dirty="0"/>
                  <a:t>Randomly choose a edge (</a:t>
                </a:r>
                <a:r>
                  <a:rPr lang="en-US" dirty="0" err="1"/>
                  <a:t>u,v</a:t>
                </a:r>
                <a:r>
                  <a:rPr lang="en-US" dirty="0"/>
                  <a:t>) in E’, put u and v into C;</a:t>
                </a:r>
              </a:p>
              <a:p>
                <a:pPr marL="857250" lvl="2" indent="0">
                  <a:buNone/>
                </a:pPr>
                <a:r>
                  <a:rPr lang="en-US" dirty="0"/>
                  <a:t>Remove all the edges that covered by u or v from E’</a:t>
                </a:r>
              </a:p>
              <a:p>
                <a:pPr lvl="1"/>
                <a:r>
                  <a:rPr lang="en-US" dirty="0"/>
                  <a:t>}</a:t>
                </a:r>
              </a:p>
              <a:p>
                <a:pPr lvl="1"/>
                <a:r>
                  <a:rPr lang="en-US" dirty="0"/>
                  <a:t>Return C;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46" y="2363212"/>
                <a:ext cx="3048000" cy="3416320"/>
              </a:xfrm>
              <a:prstGeom prst="rect">
                <a:avLst/>
              </a:prstGeom>
              <a:blipFill rotWithShape="1">
                <a:blip r:embed="rId2"/>
                <a:stretch>
                  <a:fillRect l="-1600" t="-893" r="-2600" b="-2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740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762000"/>
            <a:ext cx="756711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Vertex-cover problem </a:t>
            </a:r>
            <a:br>
              <a:rPr lang="en-US" sz="2800" dirty="0"/>
            </a:br>
            <a:r>
              <a:rPr lang="en-US" sz="2800" dirty="0"/>
              <a:t>and a 2-approximation algorithm</a:t>
            </a:r>
          </a:p>
        </p:txBody>
      </p:sp>
      <p:sp>
        <p:nvSpPr>
          <p:cNvPr id="6" name="Oval 5"/>
          <p:cNvSpPr/>
          <p:nvPr/>
        </p:nvSpPr>
        <p:spPr>
          <a:xfrm>
            <a:off x="37541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754183" y="29708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240083" y="29708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925741" y="29708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925741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2400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84023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13" name="Straight Connector 12"/>
          <p:cNvCxnSpPr>
            <a:stCxn id="7" idx="4"/>
            <a:endCxn id="6" idx="0"/>
          </p:cNvCxnSpPr>
          <p:nvPr/>
        </p:nvCxnSpPr>
        <p:spPr>
          <a:xfrm>
            <a:off x="4020883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8" idx="2"/>
          </p:cNvCxnSpPr>
          <p:nvPr/>
        </p:nvCxnSpPr>
        <p:spPr>
          <a:xfrm>
            <a:off x="4287583" y="3237542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6"/>
            <a:endCxn id="9" idx="2"/>
          </p:cNvCxnSpPr>
          <p:nvPr/>
        </p:nvCxnSpPr>
        <p:spPr>
          <a:xfrm>
            <a:off x="5773483" y="3237542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4"/>
            <a:endCxn id="11" idx="0"/>
          </p:cNvCxnSpPr>
          <p:nvPr/>
        </p:nvCxnSpPr>
        <p:spPr>
          <a:xfrm>
            <a:off x="5506783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5"/>
            <a:endCxn id="12" idx="0"/>
          </p:cNvCxnSpPr>
          <p:nvPr/>
        </p:nvCxnSpPr>
        <p:spPr>
          <a:xfrm>
            <a:off x="7381026" y="3426127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10" idx="0"/>
          </p:cNvCxnSpPr>
          <p:nvPr/>
        </p:nvCxnSpPr>
        <p:spPr>
          <a:xfrm>
            <a:off x="7192441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6"/>
            <a:endCxn id="10" idx="2"/>
          </p:cNvCxnSpPr>
          <p:nvPr/>
        </p:nvCxnSpPr>
        <p:spPr>
          <a:xfrm>
            <a:off x="5773483" y="4837742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381000" y="1905000"/>
                <a:ext cx="3048000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APPROX-VERTEX-COVER</a:t>
                </a:r>
                <a:r>
                  <a:rPr lang="en-US" dirty="0"/>
                  <a:t>(G)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C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dirty="0"/>
                  <a:t>;</a:t>
                </a:r>
              </a:p>
              <a:p>
                <a:pPr lvl="1"/>
                <a:r>
                  <a:rPr lang="en-US" dirty="0"/>
                  <a:t>E’=G.E;</a:t>
                </a:r>
              </a:p>
              <a:p>
                <a:pPr lvl="1"/>
                <a:r>
                  <a:rPr lang="en-US" dirty="0"/>
                  <a:t>while(E’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≠∅</m:t>
                    </m:r>
                  </m:oMath>
                </a14:m>
                <a:r>
                  <a:rPr lang="en-US" dirty="0"/>
                  <a:t> ){</a:t>
                </a:r>
              </a:p>
              <a:p>
                <a:pPr marL="857250" lvl="2" indent="0">
                  <a:buNone/>
                </a:pPr>
                <a:r>
                  <a:rPr lang="en-US" dirty="0"/>
                  <a:t>Randomly choose a edge (</a:t>
                </a:r>
                <a:r>
                  <a:rPr lang="en-US" dirty="0" err="1"/>
                  <a:t>u,v</a:t>
                </a:r>
                <a:r>
                  <a:rPr lang="en-US" dirty="0"/>
                  <a:t>) in E’, put u and v into C;</a:t>
                </a:r>
              </a:p>
              <a:p>
                <a:pPr marL="857250" lvl="2" indent="0">
                  <a:buNone/>
                </a:pPr>
                <a:r>
                  <a:rPr lang="en-US" dirty="0"/>
                  <a:t>Remove all the edges that covered by u or v from E’</a:t>
                </a:r>
              </a:p>
              <a:p>
                <a:pPr lvl="1"/>
                <a:r>
                  <a:rPr lang="en-US" dirty="0"/>
                  <a:t>}</a:t>
                </a:r>
              </a:p>
              <a:p>
                <a:pPr lvl="1"/>
                <a:r>
                  <a:rPr lang="en-US" dirty="0"/>
                  <a:t>Return C;</a:t>
                </a: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905000"/>
                <a:ext cx="3048000" cy="3416320"/>
              </a:xfrm>
              <a:prstGeom prst="rect">
                <a:avLst/>
              </a:prstGeom>
              <a:blipFill rotWithShape="1">
                <a:blip r:embed="rId2"/>
                <a:stretch>
                  <a:fillRect l="-1800" t="-893" r="-2400" b="-25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3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6" name="Oval 5"/>
          <p:cNvSpPr/>
          <p:nvPr/>
        </p:nvSpPr>
        <p:spPr>
          <a:xfrm>
            <a:off x="37541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754183" y="29708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240083" y="29708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925741" y="29708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925741" y="45710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2400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84023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13" name="Straight Connector 12"/>
          <p:cNvCxnSpPr>
            <a:stCxn id="7" idx="4"/>
            <a:endCxn id="6" idx="0"/>
          </p:cNvCxnSpPr>
          <p:nvPr/>
        </p:nvCxnSpPr>
        <p:spPr>
          <a:xfrm>
            <a:off x="4020883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8" idx="2"/>
          </p:cNvCxnSpPr>
          <p:nvPr/>
        </p:nvCxnSpPr>
        <p:spPr>
          <a:xfrm>
            <a:off x="4287583" y="3237542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6"/>
            <a:endCxn id="9" idx="2"/>
          </p:cNvCxnSpPr>
          <p:nvPr/>
        </p:nvCxnSpPr>
        <p:spPr>
          <a:xfrm>
            <a:off x="5773483" y="3237542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4"/>
            <a:endCxn id="11" idx="0"/>
          </p:cNvCxnSpPr>
          <p:nvPr/>
        </p:nvCxnSpPr>
        <p:spPr>
          <a:xfrm>
            <a:off x="5506783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5"/>
            <a:endCxn id="12" idx="0"/>
          </p:cNvCxnSpPr>
          <p:nvPr/>
        </p:nvCxnSpPr>
        <p:spPr>
          <a:xfrm>
            <a:off x="7381026" y="3426127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10" idx="0"/>
          </p:cNvCxnSpPr>
          <p:nvPr/>
        </p:nvCxnSpPr>
        <p:spPr>
          <a:xfrm>
            <a:off x="7192441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6"/>
            <a:endCxn id="10" idx="2"/>
          </p:cNvCxnSpPr>
          <p:nvPr/>
        </p:nvCxnSpPr>
        <p:spPr>
          <a:xfrm>
            <a:off x="5773483" y="4837742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657600" y="54102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It is then a vertex cover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109011" y="5859347"/>
            <a:ext cx="79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757475" y="587002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Size?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754182" y="6324600"/>
            <a:ext cx="3027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far from optimal one?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511245" y="6324600"/>
            <a:ext cx="248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Max(4/3, 3/4) = 1.33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381000" y="2290424"/>
                <a:ext cx="3048000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APPROX-VERTEX-COVER</a:t>
                </a:r>
                <a:r>
                  <a:rPr lang="en-US" dirty="0"/>
                  <a:t>(G)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C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dirty="0"/>
                  <a:t>;</a:t>
                </a:r>
              </a:p>
              <a:p>
                <a:pPr lvl="1"/>
                <a:r>
                  <a:rPr lang="en-US" dirty="0"/>
                  <a:t>E’=G.E;</a:t>
                </a:r>
              </a:p>
              <a:p>
                <a:pPr lvl="1"/>
                <a:r>
                  <a:rPr lang="en-US" dirty="0"/>
                  <a:t>while(E’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≠∅</m:t>
                    </m:r>
                  </m:oMath>
                </a14:m>
                <a:r>
                  <a:rPr lang="en-US" dirty="0"/>
                  <a:t> ){</a:t>
                </a:r>
              </a:p>
              <a:p>
                <a:pPr marL="857250" lvl="2" indent="0">
                  <a:buNone/>
                </a:pPr>
                <a:r>
                  <a:rPr lang="en-US" dirty="0"/>
                  <a:t>Randomly choose a edge (</a:t>
                </a:r>
                <a:r>
                  <a:rPr lang="en-US" dirty="0" err="1"/>
                  <a:t>u,v</a:t>
                </a:r>
                <a:r>
                  <a:rPr lang="en-US" dirty="0"/>
                  <a:t>) in E’, put u and v into C;</a:t>
                </a:r>
              </a:p>
              <a:p>
                <a:pPr marL="857250" lvl="2" indent="0">
                  <a:buNone/>
                </a:pPr>
                <a:r>
                  <a:rPr lang="en-US" dirty="0"/>
                  <a:t>Remove all the edges that covered by u or v from E’</a:t>
                </a:r>
              </a:p>
              <a:p>
                <a:pPr lvl="1"/>
                <a:r>
                  <a:rPr lang="en-US" dirty="0"/>
                  <a:t>}</a:t>
                </a:r>
              </a:p>
              <a:p>
                <a:pPr lvl="1"/>
                <a:r>
                  <a:rPr lang="en-US" dirty="0"/>
                  <a:t>Return C;</a:t>
                </a: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290424"/>
                <a:ext cx="3048000" cy="3416320"/>
              </a:xfrm>
              <a:prstGeom prst="rect">
                <a:avLst/>
              </a:prstGeom>
              <a:blipFill rotWithShape="1">
                <a:blip r:embed="rId2"/>
                <a:stretch>
                  <a:fillRect l="-1800" t="-893" r="-2400" b="-2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431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APPROX-VERTEX-COVER</a:t>
            </a:r>
            <a:r>
              <a:rPr lang="en-US" dirty="0" smtClean="0"/>
              <a:t>(G) is a 2-approximation algorithm </a:t>
            </a:r>
          </a:p>
          <a:p>
            <a:r>
              <a:rPr lang="en-US" dirty="0" smtClean="0"/>
              <a:t>When the size of minimum vertex-cover is </a:t>
            </a:r>
            <a:r>
              <a:rPr lang="en-US" i="1" dirty="0" smtClean="0"/>
              <a:t>s</a:t>
            </a:r>
          </a:p>
          <a:p>
            <a:r>
              <a:rPr lang="en-US" dirty="0" smtClean="0"/>
              <a:t>The vertex-cover produced by </a:t>
            </a:r>
            <a:r>
              <a:rPr lang="en-US" b="1" dirty="0" smtClean="0"/>
              <a:t>APPROX-VERTEX-COVER </a:t>
            </a:r>
            <a:r>
              <a:rPr lang="en-US" dirty="0" smtClean="0"/>
              <a:t>is at most 2</a:t>
            </a:r>
            <a:r>
              <a:rPr lang="en-US" i="1" dirty="0" smtClean="0"/>
              <a:t>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95271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048000"/>
            <a:ext cx="7024744" cy="1143000"/>
          </a:xfrm>
        </p:spPr>
        <p:txBody>
          <a:bodyPr/>
          <a:lstStyle/>
          <a:p>
            <a:r>
              <a:rPr lang="en-US" dirty="0" smtClean="0"/>
              <a:t>NP Hard problems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72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72493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 prove a problem is NP Hard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7262308" cy="3924748"/>
          </a:xfrm>
        </p:spPr>
        <p:txBody>
          <a:bodyPr>
            <a:normAutofit/>
          </a:bodyPr>
          <a:lstStyle/>
          <a:p>
            <a:pPr marL="525780" indent="-457200">
              <a:buFont typeface="+mj-lt"/>
              <a:buAutoNum type="arabicPeriod"/>
            </a:pPr>
            <a:r>
              <a:rPr lang="en-US" dirty="0" smtClean="0"/>
              <a:t>Pick a problem </a:t>
            </a:r>
            <a:r>
              <a:rPr lang="en-US" dirty="0" smtClean="0">
                <a:solidFill>
                  <a:srgbClr val="FF0000"/>
                </a:solidFill>
              </a:rPr>
              <a:t>P1</a:t>
            </a:r>
            <a:r>
              <a:rPr lang="en-US" dirty="0" smtClean="0"/>
              <a:t> which is already in </a:t>
            </a:r>
            <a:r>
              <a:rPr lang="en-US" dirty="0" smtClean="0">
                <a:solidFill>
                  <a:srgbClr val="FF0000"/>
                </a:solidFill>
              </a:rPr>
              <a:t>NP Hard</a:t>
            </a:r>
            <a:r>
              <a:rPr lang="en-US" dirty="0" smtClean="0"/>
              <a:t>.</a:t>
            </a:r>
          </a:p>
          <a:p>
            <a:pPr marL="525780" indent="-457200">
              <a:buFont typeface="+mj-lt"/>
              <a:buAutoNum type="arabicPeriod"/>
            </a:pPr>
            <a:r>
              <a:rPr lang="en-US" dirty="0" smtClean="0"/>
              <a:t>Obtain an instance( </a:t>
            </a:r>
            <a:r>
              <a:rPr lang="en-US" dirty="0" smtClean="0">
                <a:solidFill>
                  <a:srgbClr val="FF0000"/>
                </a:solidFill>
              </a:rPr>
              <a:t>in polynomial time</a:t>
            </a:r>
            <a:r>
              <a:rPr lang="en-US" dirty="0" smtClean="0"/>
              <a:t>)    </a:t>
            </a:r>
            <a:r>
              <a:rPr lang="en-US" dirty="0" smtClean="0">
                <a:solidFill>
                  <a:srgbClr val="FF0000"/>
                </a:solidFill>
              </a:rPr>
              <a:t>I`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P2</a:t>
            </a:r>
            <a:r>
              <a:rPr lang="en-US" dirty="0" smtClean="0"/>
              <a:t> from any instance </a:t>
            </a:r>
            <a:r>
              <a:rPr lang="en-US" dirty="0" smtClean="0">
                <a:solidFill>
                  <a:srgbClr val="FF0000"/>
                </a:solidFill>
              </a:rPr>
              <a:t>I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P1</a:t>
            </a:r>
            <a:r>
              <a:rPr lang="en-US" dirty="0" smtClean="0"/>
              <a:t>.</a:t>
            </a:r>
          </a:p>
          <a:p>
            <a:pPr marL="525780" indent="-45720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I`</a:t>
            </a:r>
            <a:r>
              <a:rPr lang="en-US" dirty="0" smtClean="0"/>
              <a:t> should  determine the solution of </a:t>
            </a:r>
            <a:r>
              <a:rPr lang="en-US" dirty="0" smtClean="0">
                <a:solidFill>
                  <a:srgbClr val="FF0000"/>
                </a:solidFill>
              </a:rPr>
              <a:t>I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FF0000"/>
                </a:solidFill>
              </a:rPr>
              <a:t>P1</a:t>
            </a:r>
            <a:r>
              <a:rPr lang="en-US" dirty="0" smtClean="0"/>
              <a:t>.</a:t>
            </a:r>
          </a:p>
          <a:p>
            <a:pPr marL="525780" indent="-457200">
              <a:buFont typeface="+mj-lt"/>
              <a:buAutoNum type="arabicPeriod"/>
            </a:pPr>
            <a:r>
              <a:rPr lang="en-US" dirty="0" smtClean="0"/>
              <a:t>From step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conclude that </a:t>
            </a:r>
            <a:r>
              <a:rPr lang="en-US" dirty="0" smtClean="0">
                <a:solidFill>
                  <a:srgbClr val="FF0000"/>
                </a:solidFill>
              </a:rPr>
              <a:t>P1</a:t>
            </a:r>
            <a:r>
              <a:rPr lang="en-US" dirty="0" smtClean="0"/>
              <a:t>    </a:t>
            </a:r>
            <a:r>
              <a:rPr lang="en-US" dirty="0" smtClean="0">
                <a:solidFill>
                  <a:srgbClr val="FF0000"/>
                </a:solidFill>
              </a:rPr>
              <a:t>P2</a:t>
            </a:r>
            <a:r>
              <a:rPr lang="en-US" dirty="0" smtClean="0"/>
              <a:t>.</a:t>
            </a:r>
          </a:p>
          <a:p>
            <a:pPr marL="525780" indent="-457200">
              <a:buFont typeface="+mj-lt"/>
              <a:buAutoNum type="arabicPeriod"/>
            </a:pPr>
            <a:r>
              <a:rPr lang="en-US" dirty="0" smtClean="0"/>
              <a:t>From above steps conclude that </a:t>
            </a:r>
            <a:r>
              <a:rPr lang="en-US" dirty="0" smtClean="0">
                <a:solidFill>
                  <a:srgbClr val="FF0000"/>
                </a:solidFill>
              </a:rPr>
              <a:t>P2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FF0000"/>
                </a:solidFill>
              </a:rPr>
              <a:t>NP Hard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419600"/>
            <a:ext cx="3238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690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Clique Decision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356338"/>
            <a:ext cx="4061907" cy="3508977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Clique is a sub graph which is a complete graph</a:t>
            </a:r>
          </a:p>
          <a:p>
            <a:r>
              <a:rPr lang="en-US" dirty="0" smtClean="0"/>
              <a:t>Complete graph: a graph with n vertices and an edge between every two edges.</a:t>
            </a:r>
          </a:p>
          <a:p>
            <a:pPr lvl="2"/>
            <a:r>
              <a:rPr lang="en-US" dirty="0" smtClean="0"/>
              <a:t>There are no loops</a:t>
            </a:r>
          </a:p>
          <a:p>
            <a:pPr lvl="2"/>
            <a:r>
              <a:rPr lang="en-US" dirty="0" smtClean="0"/>
              <a:t>Every two vertices share exactly one edge.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Finding the maximum clique is NP complete problem</a:t>
            </a:r>
            <a:endParaRPr lang="en-US" dirty="0" smtClean="0"/>
          </a:p>
          <a:p>
            <a:pPr marL="685800" lvl="2" indent="0">
              <a:buNone/>
            </a:pPr>
            <a:endParaRPr lang="en-US" dirty="0"/>
          </a:p>
        </p:txBody>
      </p:sp>
      <p:pic>
        <p:nvPicPr>
          <p:cNvPr id="1026" name="Picture 2" descr="C:\Users\B.VenkatRamana\Desktop\24108_Complete Graph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362200"/>
            <a:ext cx="3429000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775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 generation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code generation phase of compiler </a:t>
            </a:r>
            <a:r>
              <a:rPr lang="en-US" dirty="0" smtClean="0">
                <a:solidFill>
                  <a:srgbClr val="FF0000"/>
                </a:solidFill>
              </a:rPr>
              <a:t>produces an optimal code </a:t>
            </a:r>
            <a:r>
              <a:rPr lang="en-US" dirty="0" smtClean="0"/>
              <a:t>if</a:t>
            </a:r>
          </a:p>
          <a:p>
            <a:pPr lvl="1"/>
            <a:r>
              <a:rPr lang="en-US" dirty="0" smtClean="0"/>
              <a:t>The number of instructions are minimum.</a:t>
            </a:r>
          </a:p>
          <a:p>
            <a:pPr lvl="1"/>
            <a:r>
              <a:rPr lang="en-US" dirty="0" smtClean="0"/>
              <a:t>The number of required registers are minimum.</a:t>
            </a:r>
          </a:p>
          <a:p>
            <a:r>
              <a:rPr lang="en-US" dirty="0" smtClean="0"/>
              <a:t>Finding the minimum code or minimum number of registers required is </a:t>
            </a:r>
            <a:r>
              <a:rPr lang="en-US" dirty="0" smtClean="0">
                <a:solidFill>
                  <a:srgbClr val="FF0000"/>
                </a:solidFill>
              </a:rPr>
              <a:t>NP Hard problem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67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Some other NP Hard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6777317" cy="3924748"/>
          </a:xfrm>
        </p:spPr>
        <p:txBody>
          <a:bodyPr/>
          <a:lstStyle/>
          <a:p>
            <a:r>
              <a:rPr lang="en-US" dirty="0" smtClean="0"/>
              <a:t>CNF satisfiability problem (conjunctive normal form) with 3 literals</a:t>
            </a:r>
          </a:p>
          <a:p>
            <a:r>
              <a:rPr lang="en-US" dirty="0" smtClean="0"/>
              <a:t>Determining whether a planar graph is 3 colorable is NP Hard</a:t>
            </a:r>
          </a:p>
          <a:p>
            <a:r>
              <a:rPr lang="en-US" dirty="0" smtClean="0"/>
              <a:t>Generating optimal code for given expression.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We can solve NP Hard problems if some restrictions are relaxed.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9568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982</TotalTime>
  <Words>2258</Words>
  <Application>Microsoft Office PowerPoint</Application>
  <PresentationFormat>On-screen Show (4:3)</PresentationFormat>
  <Paragraphs>368</Paragraphs>
  <Slides>48</Slides>
  <Notes>2</Notes>
  <HiddenSlides>9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Arial</vt:lpstr>
      <vt:lpstr>Bell MT</vt:lpstr>
      <vt:lpstr>Brush Script MT</vt:lpstr>
      <vt:lpstr>Calibri</vt:lpstr>
      <vt:lpstr>Cambria Math</vt:lpstr>
      <vt:lpstr>Century Gothic</vt:lpstr>
      <vt:lpstr>Google Sans Text</vt:lpstr>
      <vt:lpstr>Symbol</vt:lpstr>
      <vt:lpstr>Times New Roman</vt:lpstr>
      <vt:lpstr>Wingdings 2</vt:lpstr>
      <vt:lpstr>Austin</vt:lpstr>
      <vt:lpstr>P,NP and NP complete problems</vt:lpstr>
      <vt:lpstr>PowerPoint Presentation</vt:lpstr>
      <vt:lpstr>PowerPoint Presentation</vt:lpstr>
      <vt:lpstr>NP Complete: S.A Cooks Theorem </vt:lpstr>
      <vt:lpstr>Cooks Theorem</vt:lpstr>
      <vt:lpstr>Cooks Theorem</vt:lpstr>
      <vt:lpstr>Cooks Theorem</vt:lpstr>
      <vt:lpstr>The Theorem</vt:lpstr>
      <vt:lpstr>The Logic Game Example</vt:lpstr>
      <vt:lpstr>Birthday Party Problem</vt:lpstr>
      <vt:lpstr>Now it’s a Logic Game</vt:lpstr>
      <vt:lpstr>Solving the Puzzle</vt:lpstr>
      <vt:lpstr>The outcome</vt:lpstr>
      <vt:lpstr>So, What?</vt:lpstr>
      <vt:lpstr>Boolean formulas  </vt:lpstr>
      <vt:lpstr>The SAT problem  </vt:lpstr>
      <vt:lpstr>NP complete: reduction</vt:lpstr>
      <vt:lpstr>NP –complete and NP Hard</vt:lpstr>
      <vt:lpstr>Proving NP complete problems</vt:lpstr>
      <vt:lpstr>HAMILTONIAN CYCLE</vt:lpstr>
      <vt:lpstr>Deterministic algorithms</vt:lpstr>
      <vt:lpstr>non deterministic algorithms</vt:lpstr>
      <vt:lpstr>NP problems</vt:lpstr>
      <vt:lpstr>HAMILTONIAN CYCLE is in NP</vt:lpstr>
      <vt:lpstr>To prove DHC   TSP</vt:lpstr>
      <vt:lpstr>Cooks Theorem</vt:lpstr>
      <vt:lpstr>Vertex cover problem</vt:lpstr>
      <vt:lpstr>Approximation algorithms for NPC problems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NP Hard problems</vt:lpstr>
      <vt:lpstr>To prove a problem is NP Hard</vt:lpstr>
      <vt:lpstr>Clique Decision problem</vt:lpstr>
      <vt:lpstr>Code generation problem</vt:lpstr>
      <vt:lpstr>Some other NP Hard problems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P,NP and NP complete problems</dc:title>
  <dc:creator>B.VenkatRamana</dc:creator>
  <cp:lastModifiedBy>BVR</cp:lastModifiedBy>
  <cp:revision>64</cp:revision>
  <dcterms:created xsi:type="dcterms:W3CDTF">2015-03-09T10:45:08Z</dcterms:created>
  <dcterms:modified xsi:type="dcterms:W3CDTF">2026-03-26T05:47:11Z</dcterms:modified>
</cp:coreProperties>
</file>