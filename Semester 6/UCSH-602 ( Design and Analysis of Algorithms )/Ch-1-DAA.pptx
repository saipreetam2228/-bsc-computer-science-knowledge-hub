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78" r:id="rId16"/>
    <p:sldId id="279" r:id="rId17"/>
    <p:sldId id="270" r:id="rId18"/>
    <p:sldId id="272" r:id="rId19"/>
    <p:sldId id="273" r:id="rId20"/>
    <p:sldId id="275" r:id="rId21"/>
    <p:sldId id="271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0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51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91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8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2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65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82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148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15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15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DE291-5D08-4C6B-9E60-542074D691D4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11A0F-C088-463C-8440-A74C0E8E7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79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Analysis of Algorithms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Chapter 1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43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finite set of instructions to accomplish a particular task.</a:t>
            </a:r>
          </a:p>
          <a:p>
            <a:r>
              <a:rPr lang="en-US" dirty="0" smtClean="0"/>
              <a:t>It must have</a:t>
            </a:r>
          </a:p>
          <a:p>
            <a:pPr lvl="1"/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Definiteness</a:t>
            </a:r>
          </a:p>
          <a:p>
            <a:pPr lvl="1"/>
            <a:r>
              <a:rPr lang="en-US" dirty="0" smtClean="0"/>
              <a:t>Finiteness</a:t>
            </a:r>
          </a:p>
          <a:p>
            <a:pPr lvl="1"/>
            <a:r>
              <a:rPr lang="en-US" dirty="0" smtClean="0"/>
              <a:t>Effectiveness </a:t>
            </a:r>
          </a:p>
          <a:p>
            <a:r>
              <a:rPr lang="en-US" dirty="0" smtClean="0"/>
              <a:t>Computational procedure:</a:t>
            </a:r>
          </a:p>
          <a:p>
            <a:pPr lvl="1"/>
            <a:r>
              <a:rPr lang="en-US" dirty="0" smtClean="0"/>
              <a:t>Algorithm that is finite and effective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64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Study of Algorithm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913" y="1550417"/>
            <a:ext cx="10515600" cy="497466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How to </a:t>
            </a:r>
          </a:p>
          <a:p>
            <a:pPr lvl="1"/>
            <a:r>
              <a:rPr lang="en-US" dirty="0" smtClean="0"/>
              <a:t>write an algorithm</a:t>
            </a:r>
          </a:p>
          <a:p>
            <a:pPr lvl="1"/>
            <a:r>
              <a:rPr lang="en-US" dirty="0" smtClean="0"/>
              <a:t>Validate an algorithm</a:t>
            </a:r>
          </a:p>
          <a:p>
            <a:pPr lvl="1"/>
            <a:r>
              <a:rPr lang="en-US" dirty="0" smtClean="0"/>
              <a:t>Analyze an algorithm</a:t>
            </a:r>
          </a:p>
          <a:p>
            <a:pPr lvl="1"/>
            <a:r>
              <a:rPr lang="en-US" dirty="0" smtClean="0"/>
              <a:t>Test or debug an algorithm</a:t>
            </a:r>
          </a:p>
          <a:p>
            <a:r>
              <a:rPr lang="en-US" dirty="0" smtClean="0"/>
              <a:t>Debugging: testing with sample data to check for errors</a:t>
            </a:r>
          </a:p>
          <a:p>
            <a:pPr lvl="1"/>
            <a:r>
              <a:rPr lang="en-US" dirty="0" smtClean="0"/>
              <a:t>It points out the presence of errors but not absence of errors.</a:t>
            </a:r>
          </a:p>
          <a:p>
            <a:r>
              <a:rPr lang="en-US" dirty="0" smtClean="0"/>
              <a:t>Prof of correction:</a:t>
            </a:r>
          </a:p>
          <a:p>
            <a:pPr lvl="1"/>
            <a:r>
              <a:rPr lang="en-US" dirty="0" smtClean="0"/>
              <a:t>To check the program works for all possible inputs.</a:t>
            </a:r>
          </a:p>
          <a:p>
            <a:r>
              <a:rPr lang="en-US" dirty="0" smtClean="0"/>
              <a:t>Performance measurements or profiling:</a:t>
            </a:r>
          </a:p>
          <a:p>
            <a:pPr lvl="1"/>
            <a:r>
              <a:rPr lang="en-US" dirty="0" smtClean="0"/>
              <a:t>Is a process of executing correct program on the datasets and measuring time and space it takes.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</a:t>
            </a:r>
            <a:r>
              <a:rPr lang="en-US" dirty="0" smtClean="0">
                <a:solidFill>
                  <a:srgbClr val="FF0000"/>
                </a:solidFill>
              </a:rPr>
              <a:t>Specifications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162" y="1825625"/>
            <a:ext cx="9133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3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an </a:t>
            </a:r>
            <a:r>
              <a:rPr lang="en-US" dirty="0" smtClean="0">
                <a:solidFill>
                  <a:srgbClr val="FF0000"/>
                </a:solidFill>
              </a:rPr>
              <a:t>example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204" y="1825625"/>
            <a:ext cx="87995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96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Tower</a:t>
            </a:r>
            <a:r>
              <a:rPr lang="en-US" dirty="0" smtClean="0"/>
              <a:t> of Hanoi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8740"/>
            <a:ext cx="10515600" cy="434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4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– </a:t>
            </a:r>
            <a:r>
              <a:rPr lang="en-US" dirty="0" smtClean="0">
                <a:solidFill>
                  <a:srgbClr val="FF0000"/>
                </a:solidFill>
              </a:rPr>
              <a:t>Recursive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1237" y="1825625"/>
            <a:ext cx="86095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5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Permutation </a:t>
            </a:r>
            <a:r>
              <a:rPr lang="en-US" dirty="0" smtClean="0">
                <a:solidFill>
                  <a:srgbClr val="FF0000"/>
                </a:solidFill>
              </a:rPr>
              <a:t>Generator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758" y="1825625"/>
            <a:ext cx="76124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Exercise</a:t>
            </a: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869" y="1690688"/>
            <a:ext cx="10515600" cy="742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9499" y="2521258"/>
            <a:ext cx="1081300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2000" dirty="0" smtClean="0">
                <a:latin typeface="Arial" panose="020B0604020202020204" pitchFamily="34" charset="0"/>
              </a:rPr>
              <a:t>Algorithm Sort ( </a:t>
            </a:r>
            <a:r>
              <a:rPr lang="en-US" altLang="en-US" sz="2000" dirty="0">
                <a:latin typeface="Arial" panose="020B0604020202020204" pitchFamily="34" charset="0"/>
              </a:rPr>
              <a:t>a, b, </a:t>
            </a:r>
            <a:r>
              <a:rPr lang="en-US" altLang="en-US" sz="2000" dirty="0" smtClean="0">
                <a:latin typeface="Arial" panose="020B0604020202020204" pitchFamily="34" charset="0"/>
              </a:rPr>
              <a:t>c)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{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3. if </a:t>
            </a:r>
            <a:r>
              <a:rPr lang="en-US" altLang="en-US" sz="2000" dirty="0">
                <a:latin typeface="Arial" panose="020B0604020202020204" pitchFamily="34" charset="0"/>
              </a:rPr>
              <a:t>a &gt; b: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4. a:= b;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5. if </a:t>
            </a:r>
            <a:r>
              <a:rPr lang="en-US" altLang="en-US" sz="2000" dirty="0">
                <a:latin typeface="Arial" panose="020B0604020202020204" pitchFamily="34" charset="0"/>
              </a:rPr>
              <a:t>b &gt; c: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6. b:= c;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7.  // </a:t>
            </a:r>
            <a:r>
              <a:rPr lang="en-US" altLang="en-US" sz="2000" dirty="0">
                <a:latin typeface="Arial" panose="020B0604020202020204" pitchFamily="34" charset="0"/>
              </a:rPr>
              <a:t>it's possible that a &gt; b again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8. if </a:t>
            </a:r>
            <a:r>
              <a:rPr lang="en-US" altLang="en-US" sz="2000" dirty="0">
                <a:latin typeface="Arial" panose="020B0604020202020204" pitchFamily="34" charset="0"/>
              </a:rPr>
              <a:t>a &gt; b: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9. a:= b;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10. write</a:t>
            </a:r>
            <a:r>
              <a:rPr lang="en-US" altLang="en-US" sz="2000" dirty="0">
                <a:latin typeface="Arial" panose="020B0604020202020204" pitchFamily="34" charset="0"/>
              </a:rPr>
              <a:t>: a, b, </a:t>
            </a:r>
            <a:r>
              <a:rPr lang="en-US" altLang="en-US" sz="2000" dirty="0" smtClean="0">
                <a:latin typeface="Arial" panose="020B0604020202020204" pitchFamily="34" charset="0"/>
              </a:rPr>
              <a:t>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11. }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58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</a:t>
            </a:r>
            <a:r>
              <a:rPr lang="en-US" dirty="0" smtClean="0">
                <a:solidFill>
                  <a:srgbClr val="FF0000"/>
                </a:solidFill>
              </a:rPr>
              <a:t>Analysis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727" y="2034481"/>
            <a:ext cx="10515600" cy="16763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75" y="3989698"/>
            <a:ext cx="11514338" cy="973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8576" y="5308847"/>
            <a:ext cx="111052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The time requirement T(P) of any algorithm P may therefore be written as T(P) = c + T</a:t>
            </a:r>
            <a:r>
              <a:rPr lang="en-US" sz="2800" baseline="-25000" dirty="0" smtClean="0"/>
              <a:t>P</a:t>
            </a:r>
            <a:r>
              <a:rPr lang="en-US" sz="2800" dirty="0" smtClean="0"/>
              <a:t> ,where c is a constant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3466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Time</a:t>
            </a:r>
            <a:r>
              <a:rPr lang="en-US" dirty="0" smtClean="0"/>
              <a:t> complexity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a way to describe how the running time of an algorithm grows as the size of its input increases. It helps us understand the efficiency of an algorithm.</a:t>
            </a:r>
          </a:p>
          <a:p>
            <a:r>
              <a:rPr lang="en-US" dirty="0" smtClean="0"/>
              <a:t>It focuses on the </a:t>
            </a:r>
            <a:r>
              <a:rPr lang="en-US" dirty="0" smtClean="0">
                <a:solidFill>
                  <a:srgbClr val="FF0000"/>
                </a:solidFill>
              </a:rPr>
              <a:t>number of operations</a:t>
            </a:r>
            <a:r>
              <a:rPr lang="en-US" dirty="0" smtClean="0"/>
              <a:t>, not the actual time in seconds.</a:t>
            </a:r>
          </a:p>
          <a:p>
            <a:r>
              <a:rPr lang="en-US" dirty="0" smtClean="0"/>
              <a:t>It ignores constants and lower-order terms because we care about growth rate as input size becomes large.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80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Space</a:t>
            </a:r>
            <a:r>
              <a:rPr lang="en-US" dirty="0" smtClean="0"/>
              <a:t> complexity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measures </a:t>
            </a:r>
            <a:r>
              <a:rPr lang="en-US" dirty="0" smtClean="0">
                <a:solidFill>
                  <a:srgbClr val="FF0000"/>
                </a:solidFill>
              </a:rPr>
              <a:t>how much memory an algorithm uses</a:t>
            </a:r>
            <a:r>
              <a:rPr lang="en-US" dirty="0" smtClean="0"/>
              <a:t> as the input size grows. </a:t>
            </a:r>
          </a:p>
          <a:p>
            <a:r>
              <a:rPr lang="en-US" dirty="0" smtClean="0"/>
              <a:t>It includes:</a:t>
            </a:r>
          </a:p>
          <a:p>
            <a:r>
              <a:rPr lang="en-US" dirty="0" smtClean="0"/>
              <a:t>Fixed part: Memory for constants, program code, and fixed-size variables.</a:t>
            </a:r>
          </a:p>
          <a:p>
            <a:r>
              <a:rPr lang="en-US" dirty="0" smtClean="0"/>
              <a:t>Variable part: Memory for input data, temporary variables, and any additional data structures (arrays, lists, etc.).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59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</a:t>
            </a:r>
            <a:r>
              <a:rPr lang="en-US" dirty="0" smtClean="0"/>
              <a:t> count Method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243"/>
            <a:ext cx="10515600" cy="41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7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72" y="122932"/>
            <a:ext cx="5820587" cy="29487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54" y="122932"/>
            <a:ext cx="5563376" cy="29487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96" y="3561833"/>
            <a:ext cx="5515745" cy="2830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990" y="3227753"/>
            <a:ext cx="4916504" cy="3164169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10626571" y="3746377"/>
            <a:ext cx="1358283" cy="173114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O(n)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8596" y="3071674"/>
            <a:ext cx="6194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s/e</a:t>
            </a:r>
            <a:r>
              <a:rPr lang="en-US" sz="1600" dirty="0" smtClean="0"/>
              <a:t> : steps per execution;  </a:t>
            </a:r>
            <a:r>
              <a:rPr lang="en-US" sz="1600" dirty="0" smtClean="0">
                <a:solidFill>
                  <a:srgbClr val="FF0000"/>
                </a:solidFill>
              </a:rPr>
              <a:t>frequency</a:t>
            </a:r>
            <a:r>
              <a:rPr lang="en-US" sz="1600" dirty="0" smtClean="0"/>
              <a:t>: total number of times of execution;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9563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Magic </a:t>
            </a:r>
            <a:r>
              <a:rPr lang="en-US" dirty="0" smtClean="0">
                <a:solidFill>
                  <a:srgbClr val="FF0000"/>
                </a:solidFill>
              </a:rPr>
              <a:t>square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8166"/>
            <a:ext cx="5563376" cy="2743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277" y="2725445"/>
            <a:ext cx="76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r>
              <a:rPr lang="en-US" dirty="0" smtClean="0"/>
              <a:t> = 5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99328"/>
            <a:ext cx="5506218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7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38656" y="4696287"/>
            <a:ext cx="5521911" cy="1935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67635" y="2645546"/>
            <a:ext cx="4669654" cy="1553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041186" y="257452"/>
            <a:ext cx="5691917" cy="1882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Magic</a:t>
            </a:r>
            <a:r>
              <a:rPr lang="en-US" dirty="0" smtClean="0"/>
              <a:t> Square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General Algorithm</a:t>
            </a:r>
            <a:endParaRPr lang="en-IN" sz="2000" dirty="0"/>
          </a:p>
          <a:p>
            <a:pPr lvl="0"/>
            <a:r>
              <a:rPr lang="en-IN" b="1" dirty="0"/>
              <a:t>Check ( n )</a:t>
            </a:r>
            <a:r>
              <a:rPr lang="en-IN" dirty="0"/>
              <a:t>:</a:t>
            </a:r>
            <a:endParaRPr lang="en-IN" sz="3200" dirty="0"/>
          </a:p>
          <a:p>
            <a:pPr lvl="1"/>
            <a:r>
              <a:rPr lang="en-IN" dirty="0"/>
              <a:t>If odd → </a:t>
            </a:r>
            <a:r>
              <a:rPr lang="en-IN" dirty="0">
                <a:solidFill>
                  <a:schemeClr val="accent1"/>
                </a:solidFill>
              </a:rPr>
              <a:t>Siamese</a:t>
            </a:r>
            <a:r>
              <a:rPr lang="en-IN" dirty="0"/>
              <a:t> method.</a:t>
            </a:r>
            <a:endParaRPr lang="en-IN" sz="2800" dirty="0"/>
          </a:p>
          <a:p>
            <a:pPr lvl="1"/>
            <a:r>
              <a:rPr lang="en-IN" dirty="0"/>
              <a:t>If doubly even → </a:t>
            </a:r>
            <a:r>
              <a:rPr lang="en-IN" dirty="0">
                <a:solidFill>
                  <a:srgbClr val="00B050"/>
                </a:solidFill>
              </a:rPr>
              <a:t>Strachey</a:t>
            </a:r>
            <a:r>
              <a:rPr lang="en-IN" dirty="0"/>
              <a:t> method.</a:t>
            </a:r>
            <a:endParaRPr lang="en-IN" sz="2800" dirty="0"/>
          </a:p>
          <a:p>
            <a:pPr lvl="1"/>
            <a:r>
              <a:rPr lang="en-IN" dirty="0"/>
              <a:t>If singly even → </a:t>
            </a:r>
            <a:r>
              <a:rPr lang="en-IN" dirty="0">
                <a:solidFill>
                  <a:schemeClr val="accent4"/>
                </a:solidFill>
              </a:rPr>
              <a:t>Composite</a:t>
            </a:r>
            <a:r>
              <a:rPr lang="en-IN" dirty="0"/>
              <a:t> method.</a:t>
            </a:r>
            <a:endParaRPr lang="en-IN" sz="2800" dirty="0"/>
          </a:p>
          <a:p>
            <a:pPr lvl="0"/>
            <a:r>
              <a:rPr lang="en-IN" dirty="0"/>
              <a:t>Compute </a:t>
            </a:r>
            <a:r>
              <a:rPr lang="en-IN" b="1" dirty="0"/>
              <a:t>magic constant</a:t>
            </a:r>
            <a:r>
              <a:rPr lang="en-IN" dirty="0"/>
              <a:t>: </a:t>
            </a:r>
            <a:endParaRPr lang="en-IN" dirty="0" smtClean="0"/>
          </a:p>
          <a:p>
            <a:pPr marL="457200" lvl="1" indent="0">
              <a:buNone/>
            </a:pPr>
            <a:r>
              <a:rPr lang="en-IN" dirty="0" smtClean="0"/>
              <a:t>Magic Sum </a:t>
            </a:r>
            <a:r>
              <a:rPr lang="en-IN" dirty="0"/>
              <a:t>= </a:t>
            </a:r>
            <a:r>
              <a:rPr lang="en-IN" dirty="0" smtClean="0"/>
              <a:t>n(n</a:t>
            </a:r>
            <a:r>
              <a:rPr lang="en-IN" baseline="30000" dirty="0" smtClean="0"/>
              <a:t>2</a:t>
            </a:r>
            <a:r>
              <a:rPr lang="en-IN" dirty="0" smtClean="0"/>
              <a:t>+1)/2</a:t>
            </a:r>
            <a:endParaRPr lang="en-IN" sz="2800" dirty="0"/>
          </a:p>
          <a:p>
            <a:pPr lvl="0"/>
            <a:r>
              <a:rPr lang="en-IN" dirty="0"/>
              <a:t>Apply the respective filling logic.</a:t>
            </a:r>
            <a:endParaRPr lang="en-IN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211192" y="365125"/>
            <a:ext cx="603681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smtClean="0"/>
              <a:t>Odd </a:t>
            </a:r>
            <a:r>
              <a:rPr lang="en-IN" sz="1400" b="1" dirty="0"/>
              <a:t>( n ) (e.g., 3, 5, 7…)</a:t>
            </a:r>
            <a:endParaRPr lang="en-IN" sz="1400" dirty="0"/>
          </a:p>
          <a:p>
            <a:r>
              <a:rPr lang="en-IN" sz="1400" dirty="0"/>
              <a:t>Use the </a:t>
            </a:r>
            <a:r>
              <a:rPr lang="en-IN" sz="1400" b="1" dirty="0"/>
              <a:t>Siamese method</a:t>
            </a:r>
            <a:r>
              <a:rPr lang="en-IN" sz="1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Start with 1 in the middle of the top row.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 smtClean="0"/>
              <a:t>Move </a:t>
            </a:r>
            <a:r>
              <a:rPr lang="en-IN" sz="1400" b="1" dirty="0"/>
              <a:t>up and right</a:t>
            </a:r>
            <a:r>
              <a:rPr lang="en-IN" sz="1400" dirty="0"/>
              <a:t> for each next number.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Wrap around if you go out of bounds.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If the cell is occupied, move </a:t>
            </a:r>
            <a:r>
              <a:rPr lang="en-IN" sz="1400" b="1" dirty="0"/>
              <a:t>down one step</a:t>
            </a:r>
            <a:r>
              <a:rPr lang="en-IN" sz="1400" dirty="0"/>
              <a:t> instead.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267635" y="2645546"/>
            <a:ext cx="4980373" cy="1661993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2. Doubly Even ( n ) (multiple of 4, e.g., 4, 8, 12…)</a:t>
            </a:r>
            <a:endParaRPr lang="en-IN" sz="1400" dirty="0"/>
          </a:p>
          <a:p>
            <a:r>
              <a:rPr lang="en-IN" sz="1400" dirty="0"/>
              <a:t>Use the </a:t>
            </a:r>
            <a:r>
              <a:rPr lang="en-IN" sz="1400" b="1" dirty="0"/>
              <a:t>Strachey method</a:t>
            </a:r>
            <a:r>
              <a:rPr lang="en-IN" sz="1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Fill numbers 1 to ( </a:t>
            </a:r>
            <a:r>
              <a:rPr lang="en-IN" sz="1400" dirty="0" smtClean="0"/>
              <a:t>n</a:t>
            </a:r>
            <a:r>
              <a:rPr lang="en-IN" sz="1400" baseline="30000" dirty="0" smtClean="0"/>
              <a:t>2</a:t>
            </a:r>
            <a:r>
              <a:rPr lang="en-IN" sz="1400" dirty="0" smtClean="0"/>
              <a:t> </a:t>
            </a:r>
            <a:r>
              <a:rPr lang="en-IN" sz="1400" dirty="0"/>
              <a:t>) in order.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In cells where both row and column indices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both divisible by 4, or both not divisible by 4</a:t>
            </a:r>
            <a:br>
              <a:rPr lang="en-IN" sz="1400" dirty="0"/>
            </a:br>
            <a:r>
              <a:rPr lang="en-IN" sz="1400" dirty="0"/>
              <a:t>Replace the number with ( </a:t>
            </a:r>
            <a:r>
              <a:rPr lang="en-IN" sz="1400" dirty="0" smtClean="0"/>
              <a:t>n</a:t>
            </a:r>
            <a:r>
              <a:rPr lang="en-IN" sz="1400" baseline="30000" dirty="0" smtClean="0"/>
              <a:t>2</a:t>
            </a:r>
            <a:r>
              <a:rPr lang="en-IN" sz="1400" dirty="0" smtClean="0"/>
              <a:t> </a:t>
            </a:r>
            <a:r>
              <a:rPr lang="en-IN" sz="1400" dirty="0"/>
              <a:t>+ 1 </a:t>
            </a:r>
            <a:r>
              <a:rPr lang="en-IN" sz="1400" dirty="0" smtClean="0"/>
              <a:t>- original number).</a:t>
            </a:r>
            <a:endParaRPr lang="en-IN" sz="1400" dirty="0"/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445188" y="4829452"/>
            <a:ext cx="517568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Singly Even ( n ) (even but not multiple of 4, e.g., 6, 10…)</a:t>
            </a:r>
            <a:endParaRPr lang="en-IN" sz="1400" dirty="0"/>
          </a:p>
          <a:p>
            <a:r>
              <a:rPr lang="en-IN" sz="1400" dirty="0" smtClean="0"/>
              <a:t>Use </a:t>
            </a:r>
            <a:r>
              <a:rPr lang="en-IN" sz="1400" dirty="0"/>
              <a:t>the </a:t>
            </a:r>
            <a:r>
              <a:rPr lang="en-IN" sz="1400" b="1" dirty="0"/>
              <a:t>Strachey + Complementary </a:t>
            </a:r>
            <a:r>
              <a:rPr lang="en-IN" sz="1400" b="1" dirty="0" smtClean="0"/>
              <a:t>(composite) method</a:t>
            </a:r>
            <a:r>
              <a:rPr lang="en-IN" sz="14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Divide the square into four equal quadrants.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Fill each quadrant using the odd-order method.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Swap certain columns and rows between quadrants according to a pattern.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97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Amortized</a:t>
            </a:r>
            <a:r>
              <a:rPr lang="en-US" dirty="0" smtClean="0"/>
              <a:t> complexity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Analyzing the average cost per operation over a sequence of operations, rather than focusing only on the single step of operation.</a:t>
            </a:r>
          </a:p>
          <a:p>
            <a:endParaRPr lang="en-US" dirty="0"/>
          </a:p>
          <a:p>
            <a:r>
              <a:rPr lang="en-US" dirty="0" smtClean="0"/>
              <a:t>Three popular methods available for finding the amortized cost</a:t>
            </a:r>
          </a:p>
          <a:p>
            <a:pPr lvl="1"/>
            <a:r>
              <a:rPr lang="en-US" dirty="0" smtClean="0"/>
              <a:t>Aggregate methods</a:t>
            </a:r>
          </a:p>
          <a:p>
            <a:pPr lvl="1"/>
            <a:r>
              <a:rPr lang="en-US" dirty="0" smtClean="0"/>
              <a:t>Accounting method</a:t>
            </a:r>
          </a:p>
          <a:p>
            <a:pPr lvl="1"/>
            <a:r>
              <a:rPr lang="en-US" dirty="0" smtClean="0"/>
              <a:t>Potential method</a:t>
            </a:r>
          </a:p>
          <a:p>
            <a:pPr lvl="1"/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574909"/>
              </p:ext>
            </p:extLst>
          </p:nvPr>
        </p:nvGraphicFramePr>
        <p:xfrm>
          <a:off x="838200" y="5225524"/>
          <a:ext cx="10515600" cy="1280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498845984"/>
                    </a:ext>
                  </a:extLst>
                </a:gridCol>
              </a:tblGrid>
              <a:tr h="679599">
                <a:tc>
                  <a:txBody>
                    <a:bodyPr/>
                    <a:lstStyle/>
                    <a:p>
                      <a:pPr fontAlgn="t"/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Aggregate: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Imagine one big bucket collecting all costs, then evenly pouring into cups. </a:t>
                      </a: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Accounting: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Each operation pays a little extra coin into a piggy bank for future expensive steps. </a:t>
                      </a:r>
                      <a:r>
                        <a:rPr lang="en-US" b="1" i="0">
                          <a:effectLst/>
                          <a:latin typeface="Segoe UI" panose="020B0502040204020203" pitchFamily="34" charset="0"/>
                        </a:rPr>
                        <a:t>Potential:</a:t>
                      </a:r>
                      <a:r>
                        <a:rPr lang="en-US" b="0" i="0">
                          <a:effectLst/>
                          <a:latin typeface="Segoe UI" panose="020B0502040204020203" pitchFamily="34" charset="0"/>
                        </a:rPr>
                        <a:t> A battery stores energy; when a costly operation happens, the battery discharges.</a:t>
                      </a: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362364"/>
                  </a:ext>
                </a:extLst>
              </a:tr>
              <a:tr h="271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85606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8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0737"/>
            <a:ext cx="10515600" cy="1325563"/>
          </a:xfrm>
        </p:spPr>
        <p:txBody>
          <a:bodyPr/>
          <a:lstStyle/>
          <a:p>
            <a:r>
              <a:rPr lang="en-US" dirty="0" smtClean="0"/>
              <a:t>Rate of </a:t>
            </a:r>
            <a:r>
              <a:rPr lang="en-US" dirty="0" smtClean="0">
                <a:solidFill>
                  <a:srgbClr val="FF0000"/>
                </a:solidFill>
              </a:rPr>
              <a:t>growth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rate at witch the running time increases as a function of input</a:t>
            </a:r>
          </a:p>
          <a:p>
            <a:r>
              <a:rPr lang="en-US" dirty="0" smtClean="0"/>
              <a:t>Running time analysis</a:t>
            </a:r>
          </a:p>
          <a:p>
            <a:pPr lvl="1"/>
            <a:r>
              <a:rPr lang="en-US" dirty="0" smtClean="0"/>
              <a:t>To know to which inputs the algorithm takes less or more time</a:t>
            </a:r>
          </a:p>
          <a:p>
            <a:r>
              <a:rPr lang="en-US" dirty="0" smtClean="0"/>
              <a:t>Three types of analysis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Worst</a:t>
            </a:r>
            <a:r>
              <a:rPr lang="en-US" dirty="0" smtClean="0"/>
              <a:t> case</a:t>
            </a:r>
          </a:p>
          <a:p>
            <a:pPr lvl="2"/>
            <a:r>
              <a:rPr lang="en-US" dirty="0" smtClean="0"/>
              <a:t>Defines in the input for which algorithm takes a </a:t>
            </a:r>
            <a:r>
              <a:rPr lang="en-US" dirty="0" smtClean="0">
                <a:solidFill>
                  <a:srgbClr val="FF0000"/>
                </a:solidFill>
              </a:rPr>
              <a:t>long </a:t>
            </a:r>
            <a:r>
              <a:rPr lang="en-US" dirty="0" smtClean="0"/>
              <a:t>running time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Best</a:t>
            </a:r>
            <a:r>
              <a:rPr lang="en-US" dirty="0" smtClean="0"/>
              <a:t> case</a:t>
            </a:r>
          </a:p>
          <a:p>
            <a:pPr lvl="2"/>
            <a:r>
              <a:rPr lang="en-US" dirty="0"/>
              <a:t>Defines in the input for which algorithm takes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least</a:t>
            </a:r>
            <a:r>
              <a:rPr lang="en-US" dirty="0" smtClean="0"/>
              <a:t> running time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Average</a:t>
            </a:r>
            <a:r>
              <a:rPr lang="en-US" dirty="0" smtClean="0"/>
              <a:t> case</a:t>
            </a:r>
          </a:p>
          <a:p>
            <a:pPr lvl="2"/>
            <a:r>
              <a:rPr lang="en-US" dirty="0"/>
              <a:t>Defines in the input for which algorithm takes </a:t>
            </a:r>
            <a:r>
              <a:rPr lang="en-US" dirty="0" smtClean="0"/>
              <a:t>an </a:t>
            </a:r>
            <a:r>
              <a:rPr lang="en-US" dirty="0" smtClean="0">
                <a:solidFill>
                  <a:srgbClr val="FF0000"/>
                </a:solidFill>
              </a:rPr>
              <a:t>average </a:t>
            </a:r>
            <a:r>
              <a:rPr lang="en-US" dirty="0" smtClean="0"/>
              <a:t>running </a:t>
            </a:r>
            <a:r>
              <a:rPr lang="en-US" dirty="0"/>
              <a:t>time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32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Asymptotic </a:t>
            </a:r>
            <a:r>
              <a:rPr lang="en-US" dirty="0" smtClean="0">
                <a:solidFill>
                  <a:srgbClr val="FF0000"/>
                </a:solidFill>
              </a:rPr>
              <a:t>Notation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0641"/>
            <a:ext cx="10515600" cy="4046322"/>
          </a:xfrm>
        </p:spPr>
        <p:txBody>
          <a:bodyPr>
            <a:normAutofit/>
          </a:bodyPr>
          <a:lstStyle/>
          <a:p>
            <a:r>
              <a:rPr lang="en-US" dirty="0" smtClean="0"/>
              <a:t>If an algorithm is represented in the form of a function</a:t>
            </a:r>
          </a:p>
          <a:p>
            <a:r>
              <a:rPr lang="en-US" dirty="0" smtClean="0"/>
              <a:t>These notations are used to Identify the upper and lower bonds</a:t>
            </a:r>
          </a:p>
          <a:p>
            <a:r>
              <a:rPr lang="en-US" dirty="0" smtClean="0"/>
              <a:t>Big – O : </a:t>
            </a:r>
            <a:r>
              <a:rPr lang="en-US" dirty="0" smtClean="0">
                <a:solidFill>
                  <a:srgbClr val="FF0000"/>
                </a:solidFill>
              </a:rPr>
              <a:t>the worst case</a:t>
            </a:r>
          </a:p>
          <a:p>
            <a:r>
              <a:rPr lang="en-US" dirty="0" smtClean="0"/>
              <a:t>Gives the upper bond of the given </a:t>
            </a:r>
            <a:r>
              <a:rPr lang="en-US" dirty="0"/>
              <a:t>algorithm</a:t>
            </a:r>
          </a:p>
          <a:p>
            <a:r>
              <a:rPr lang="en-US" dirty="0" smtClean="0"/>
              <a:t>Omega- </a:t>
            </a:r>
            <a:r>
              <a:rPr lang="el-GR" dirty="0" smtClean="0"/>
              <a:t>ω</a:t>
            </a:r>
            <a:r>
              <a:rPr lang="en-US" dirty="0" smtClean="0"/>
              <a:t> or     : </a:t>
            </a:r>
            <a:r>
              <a:rPr lang="en-US" dirty="0" smtClean="0">
                <a:solidFill>
                  <a:srgbClr val="FF0000"/>
                </a:solidFill>
              </a:rPr>
              <a:t>the best case</a:t>
            </a:r>
          </a:p>
          <a:p>
            <a:pPr lvl="1"/>
            <a:r>
              <a:rPr lang="en-US" dirty="0"/>
              <a:t>Gives the </a:t>
            </a:r>
            <a:r>
              <a:rPr lang="en-US" dirty="0" smtClean="0"/>
              <a:t>lower </a:t>
            </a:r>
            <a:r>
              <a:rPr lang="en-US" dirty="0"/>
              <a:t>bond of the given algorithm</a:t>
            </a:r>
          </a:p>
          <a:p>
            <a:r>
              <a:rPr lang="en-US" dirty="0" smtClean="0"/>
              <a:t>Theta - Ɵ : the average case</a:t>
            </a:r>
          </a:p>
          <a:p>
            <a:pPr lvl="1"/>
            <a:r>
              <a:rPr lang="en-US" dirty="0" smtClean="0"/>
              <a:t>Gives the avg. bond of the given algorithm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2" descr="omega symbol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327" y="4250213"/>
            <a:ext cx="340559" cy="340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30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of </a:t>
            </a:r>
            <a:r>
              <a:rPr lang="en-US" dirty="0" smtClean="0">
                <a:solidFill>
                  <a:srgbClr val="FF0000"/>
                </a:solidFill>
              </a:rPr>
              <a:t>growth</a:t>
            </a:r>
            <a:r>
              <a:rPr lang="en-US" dirty="0" smtClean="0"/>
              <a:t> of an algorithm</a:t>
            </a:r>
            <a:endParaRPr lang="en-IN" dirty="0"/>
          </a:p>
        </p:txBody>
      </p:sp>
      <p:pic>
        <p:nvPicPr>
          <p:cNvPr id="4" name="Picture 4" descr="Types of Order of Growth of an Algorithm Made Easy Lec: 1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084" y="2210344"/>
            <a:ext cx="5319078" cy="395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60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Randomized</a:t>
            </a:r>
            <a:r>
              <a:rPr lang="en-US" dirty="0" smtClean="0"/>
              <a:t>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An </a:t>
            </a:r>
            <a:r>
              <a:rPr lang="en-US" dirty="0"/>
              <a:t>algorithm that uses </a:t>
            </a:r>
            <a:r>
              <a:rPr lang="en-US" dirty="0" smtClean="0">
                <a:solidFill>
                  <a:srgbClr val="FF0000"/>
                </a:solidFill>
              </a:rPr>
              <a:t>random </a:t>
            </a:r>
            <a:r>
              <a:rPr lang="en-US" dirty="0">
                <a:solidFill>
                  <a:srgbClr val="FF0000"/>
                </a:solidFill>
              </a:rPr>
              <a:t>numbers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random </a:t>
            </a:r>
            <a:r>
              <a:rPr lang="en-US" dirty="0" smtClean="0">
                <a:solidFill>
                  <a:srgbClr val="FF0000"/>
                </a:solidFill>
              </a:rPr>
              <a:t>choices </a:t>
            </a:r>
            <a:r>
              <a:rPr lang="en-US" dirty="0"/>
              <a:t>as part of its logic to solve a problem. </a:t>
            </a:r>
            <a:endParaRPr lang="en-US" dirty="0" smtClean="0"/>
          </a:p>
          <a:p>
            <a:pPr lvl="1"/>
            <a:r>
              <a:rPr lang="en-US" dirty="0" smtClean="0"/>
              <a:t>Instead </a:t>
            </a:r>
            <a:r>
              <a:rPr lang="en-US" dirty="0"/>
              <a:t>of following a completely fixed path, it introduces randomness to improve performance, simplicity, or reliability.</a:t>
            </a:r>
          </a:p>
          <a:p>
            <a:r>
              <a:rPr lang="en-US" dirty="0"/>
              <a:t>To </a:t>
            </a:r>
            <a:r>
              <a:rPr lang="en-US" dirty="0" smtClean="0">
                <a:solidFill>
                  <a:srgbClr val="FF0000"/>
                </a:solidFill>
              </a:rPr>
              <a:t>speed up </a:t>
            </a:r>
            <a:r>
              <a:rPr lang="en-US" dirty="0"/>
              <a:t>solutions for complex problems.</a:t>
            </a:r>
          </a:p>
          <a:p>
            <a:r>
              <a:rPr lang="en-US" dirty="0" smtClean="0"/>
              <a:t>To </a:t>
            </a:r>
            <a:r>
              <a:rPr lang="en-US" dirty="0" smtClean="0">
                <a:solidFill>
                  <a:srgbClr val="FF0000"/>
                </a:solidFill>
              </a:rPr>
              <a:t>avoid </a:t>
            </a:r>
            <a:r>
              <a:rPr lang="en-US" dirty="0">
                <a:solidFill>
                  <a:srgbClr val="FF0000"/>
                </a:solidFill>
              </a:rPr>
              <a:t>worst-case </a:t>
            </a:r>
            <a:r>
              <a:rPr lang="en-US" dirty="0" smtClean="0"/>
              <a:t>scenarios </a:t>
            </a:r>
            <a:r>
              <a:rPr lang="en-US" dirty="0"/>
              <a:t>in deterministic algorithms.</a:t>
            </a:r>
          </a:p>
          <a:p>
            <a:r>
              <a:rPr lang="en-US" dirty="0" smtClean="0"/>
              <a:t>To </a:t>
            </a:r>
            <a:r>
              <a:rPr lang="en-US" dirty="0" smtClean="0">
                <a:solidFill>
                  <a:srgbClr val="FF0000"/>
                </a:solidFill>
              </a:rPr>
              <a:t>simplify </a:t>
            </a:r>
            <a:r>
              <a:rPr lang="en-US" dirty="0">
                <a:solidFill>
                  <a:srgbClr val="FF0000"/>
                </a:solidFill>
              </a:rPr>
              <a:t>logic </a:t>
            </a:r>
            <a:r>
              <a:rPr lang="en-US" dirty="0"/>
              <a:t>for problems that are hard to solve deterministically.</a:t>
            </a:r>
          </a:p>
          <a:p>
            <a:r>
              <a:rPr lang="en-US" dirty="0"/>
              <a:t>Finding a </a:t>
            </a:r>
            <a:r>
              <a:rPr lang="en-US" dirty="0" smtClean="0"/>
              <a:t>friend </a:t>
            </a:r>
            <a:r>
              <a:rPr lang="en-US" dirty="0"/>
              <a:t>in a huge </a:t>
            </a:r>
            <a:r>
              <a:rPr lang="en-US" dirty="0" smtClean="0"/>
              <a:t>crowd:</a:t>
            </a:r>
            <a:endParaRPr lang="en-US" dirty="0"/>
          </a:p>
          <a:p>
            <a:pPr lvl="1"/>
            <a:r>
              <a:rPr lang="en-US" dirty="0" smtClean="0"/>
              <a:t>Deterministic </a:t>
            </a:r>
            <a:r>
              <a:rPr lang="en-US" dirty="0"/>
              <a:t>way: Check every person one by </a:t>
            </a:r>
            <a:r>
              <a:rPr lang="en-US" dirty="0" smtClean="0"/>
              <a:t>one.</a:t>
            </a:r>
          </a:p>
          <a:p>
            <a:pPr lvl="1"/>
            <a:r>
              <a:rPr lang="en-US" dirty="0" smtClean="0"/>
              <a:t>Randomized </a:t>
            </a:r>
            <a:r>
              <a:rPr lang="en-US" dirty="0"/>
              <a:t>way: Ask random people if they saw your </a:t>
            </a:r>
            <a:r>
              <a:rPr lang="en-US" dirty="0" smtClean="0"/>
              <a:t>friend.</a:t>
            </a:r>
          </a:p>
          <a:p>
            <a:pPr lvl="2"/>
            <a:r>
              <a:rPr lang="en-US" dirty="0" smtClean="0"/>
              <a:t>You </a:t>
            </a:r>
            <a:r>
              <a:rPr lang="en-US" dirty="0"/>
              <a:t>might find them faster, but not guaranteed immediately.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38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Randomized</a:t>
            </a:r>
            <a:r>
              <a:rPr lang="en-US" dirty="0"/>
              <a:t>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7980"/>
            <a:ext cx="10515600" cy="4971495"/>
          </a:xfrm>
        </p:spPr>
        <p:txBody>
          <a:bodyPr>
            <a:normAutofit fontScale="92500" lnSpcReduction="10000"/>
          </a:bodyPr>
          <a:lstStyle/>
          <a:p>
            <a:r>
              <a:rPr lang="en-US" sz="3800" dirty="0" smtClean="0"/>
              <a:t>Types </a:t>
            </a:r>
            <a:r>
              <a:rPr lang="en-US" sz="3800" dirty="0"/>
              <a:t>of Randomized </a:t>
            </a:r>
            <a:r>
              <a:rPr lang="en-US" sz="3800" dirty="0" smtClean="0"/>
              <a:t>Algorithms</a:t>
            </a:r>
            <a:endParaRPr lang="en-US" sz="3800" dirty="0"/>
          </a:p>
          <a:p>
            <a:pPr lvl="1"/>
            <a:r>
              <a:rPr lang="en-US" sz="3400" dirty="0" smtClean="0">
                <a:solidFill>
                  <a:srgbClr val="FF0000"/>
                </a:solidFill>
              </a:rPr>
              <a:t>Las </a:t>
            </a:r>
            <a:r>
              <a:rPr lang="en-US" sz="3400" dirty="0">
                <a:solidFill>
                  <a:srgbClr val="FF0000"/>
                </a:solidFill>
              </a:rPr>
              <a:t>Vegas </a:t>
            </a:r>
            <a:r>
              <a:rPr lang="en-US" sz="3400" dirty="0" smtClean="0"/>
              <a:t>Algorithms</a:t>
            </a:r>
            <a:endParaRPr lang="en-US" sz="3400" dirty="0"/>
          </a:p>
          <a:p>
            <a:pPr lvl="2"/>
            <a:r>
              <a:rPr lang="en-US" sz="3000" dirty="0" smtClean="0"/>
              <a:t>Always </a:t>
            </a:r>
            <a:r>
              <a:rPr lang="en-US" sz="3000" dirty="0"/>
              <a:t>give the </a:t>
            </a:r>
            <a:r>
              <a:rPr lang="en-US" sz="3000" dirty="0" smtClean="0"/>
              <a:t>correct answer, </a:t>
            </a:r>
            <a:r>
              <a:rPr lang="en-US" sz="3000" dirty="0"/>
              <a:t>but the </a:t>
            </a:r>
            <a:r>
              <a:rPr lang="en-US" sz="3000" dirty="0" smtClean="0"/>
              <a:t>time </a:t>
            </a:r>
            <a:r>
              <a:rPr lang="en-US" sz="3000" dirty="0"/>
              <a:t>taken is </a:t>
            </a:r>
            <a:r>
              <a:rPr lang="en-US" sz="3000" dirty="0" smtClean="0"/>
              <a:t>random.</a:t>
            </a:r>
            <a:endParaRPr lang="en-US" sz="3000" dirty="0"/>
          </a:p>
          <a:p>
            <a:pPr lvl="2"/>
            <a:r>
              <a:rPr lang="en-US" sz="3000" dirty="0" smtClean="0"/>
              <a:t>Example</a:t>
            </a:r>
            <a:r>
              <a:rPr lang="en-US" sz="3000" dirty="0"/>
              <a:t>: </a:t>
            </a:r>
            <a:r>
              <a:rPr lang="en-US" sz="3000" dirty="0" smtClean="0"/>
              <a:t>Randomized </a:t>
            </a:r>
            <a:r>
              <a:rPr lang="en-US" sz="3000" dirty="0" err="1" smtClean="0"/>
              <a:t>QuickSort</a:t>
            </a:r>
            <a:endParaRPr lang="en-US" sz="3000" dirty="0" smtClean="0"/>
          </a:p>
          <a:p>
            <a:pPr lvl="2"/>
            <a:r>
              <a:rPr lang="en-US" sz="3000" dirty="0" smtClean="0"/>
              <a:t>Picks </a:t>
            </a:r>
            <a:r>
              <a:rPr lang="en-US" sz="3000" dirty="0"/>
              <a:t>a random pivot to avoid worst-case O(n²</a:t>
            </a:r>
            <a:r>
              <a:rPr lang="en-US" sz="3000" dirty="0" smtClean="0"/>
              <a:t>).</a:t>
            </a:r>
          </a:p>
          <a:p>
            <a:pPr lvl="2"/>
            <a:r>
              <a:rPr lang="en-US" sz="3000" dirty="0" smtClean="0"/>
              <a:t>Expected </a:t>
            </a:r>
            <a:r>
              <a:rPr lang="en-US" sz="3000" dirty="0"/>
              <a:t>time: O(n log n).</a:t>
            </a:r>
          </a:p>
          <a:p>
            <a:pPr lvl="1"/>
            <a:r>
              <a:rPr lang="en-US" sz="3400" dirty="0" smtClean="0">
                <a:solidFill>
                  <a:srgbClr val="FF0000"/>
                </a:solidFill>
              </a:rPr>
              <a:t>Monte </a:t>
            </a:r>
            <a:r>
              <a:rPr lang="en-US" sz="3400" dirty="0">
                <a:solidFill>
                  <a:srgbClr val="FF0000"/>
                </a:solidFill>
              </a:rPr>
              <a:t>Carlo </a:t>
            </a:r>
            <a:r>
              <a:rPr lang="en-US" sz="3400" dirty="0" smtClean="0"/>
              <a:t>Algorithms</a:t>
            </a:r>
            <a:endParaRPr lang="en-US" sz="3400" dirty="0"/>
          </a:p>
          <a:p>
            <a:pPr lvl="2"/>
            <a:r>
              <a:rPr lang="en-US" sz="3000" dirty="0" smtClean="0"/>
              <a:t>Run fast, </a:t>
            </a:r>
            <a:r>
              <a:rPr lang="en-US" sz="3000" dirty="0"/>
              <a:t>but the answer might be </a:t>
            </a:r>
            <a:r>
              <a:rPr lang="en-US" sz="3000" dirty="0" smtClean="0"/>
              <a:t>wrong </a:t>
            </a:r>
            <a:r>
              <a:rPr lang="en-US" sz="3000" dirty="0"/>
              <a:t>with small </a:t>
            </a:r>
            <a:r>
              <a:rPr lang="en-US" sz="3000" dirty="0" smtClean="0"/>
              <a:t>probability.</a:t>
            </a:r>
            <a:endParaRPr lang="en-US" sz="3000" dirty="0"/>
          </a:p>
          <a:p>
            <a:pPr lvl="2"/>
            <a:r>
              <a:rPr lang="en-US" sz="3000" dirty="0" smtClean="0"/>
              <a:t>Example</a:t>
            </a:r>
            <a:r>
              <a:rPr lang="en-US" sz="3000" dirty="0"/>
              <a:t>: </a:t>
            </a:r>
            <a:r>
              <a:rPr lang="en-US" sz="3000" dirty="0" smtClean="0"/>
              <a:t>Primality </a:t>
            </a:r>
            <a:r>
              <a:rPr lang="en-US" sz="3000" dirty="0"/>
              <a:t>Testing (Miller–Rabin</a:t>
            </a:r>
            <a:r>
              <a:rPr lang="en-US" sz="3000" dirty="0" smtClean="0"/>
              <a:t>)</a:t>
            </a:r>
            <a:endParaRPr lang="en-US" sz="3000" dirty="0"/>
          </a:p>
          <a:p>
            <a:pPr lvl="2"/>
            <a:r>
              <a:rPr lang="en-US" sz="3000" dirty="0" smtClean="0"/>
              <a:t>Checks </a:t>
            </a:r>
            <a:r>
              <a:rPr lang="en-US" sz="3000" dirty="0"/>
              <a:t>if a number is prime using random </a:t>
            </a:r>
            <a:r>
              <a:rPr lang="en-US" sz="3000" dirty="0" smtClean="0"/>
              <a:t>bases.</a:t>
            </a:r>
          </a:p>
          <a:p>
            <a:pPr lvl="2"/>
            <a:r>
              <a:rPr lang="en-US" sz="3000" dirty="0" smtClean="0"/>
              <a:t>Very </a:t>
            </a:r>
            <a:r>
              <a:rPr lang="en-US" sz="3000" dirty="0"/>
              <a:t>fast, but tiny chance of error.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16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1029</Words>
  <Application>Microsoft Office PowerPoint</Application>
  <PresentationFormat>Widescreen</PresentationFormat>
  <Paragraphs>135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Segoe UI</vt:lpstr>
      <vt:lpstr>Office Theme</vt:lpstr>
      <vt:lpstr>Analysis of Algorithms</vt:lpstr>
      <vt:lpstr>Algorithm </vt:lpstr>
      <vt:lpstr>Study of Algorithm</vt:lpstr>
      <vt:lpstr>Algorithm Specifications</vt:lpstr>
      <vt:lpstr>Algorithm an example</vt:lpstr>
      <vt:lpstr>Tower of Hanoi</vt:lpstr>
      <vt:lpstr>Algorithm – Recursive </vt:lpstr>
      <vt:lpstr>Permutation Generator</vt:lpstr>
      <vt:lpstr>Exercise </vt:lpstr>
      <vt:lpstr>Performance Analysis</vt:lpstr>
      <vt:lpstr>Time complexity</vt:lpstr>
      <vt:lpstr>Space complexity </vt:lpstr>
      <vt:lpstr>Step count Method</vt:lpstr>
      <vt:lpstr>PowerPoint Presentation</vt:lpstr>
      <vt:lpstr>Magic square</vt:lpstr>
      <vt:lpstr>Magic Square</vt:lpstr>
      <vt:lpstr>Amortized complexity</vt:lpstr>
      <vt:lpstr>Rate of growth</vt:lpstr>
      <vt:lpstr>Asymptotic Notation</vt:lpstr>
      <vt:lpstr>Order of growth of an algorithm</vt:lpstr>
      <vt:lpstr>Randomized algorithm</vt:lpstr>
      <vt:lpstr>Randomized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BVR</dc:creator>
  <cp:lastModifiedBy>BVR</cp:lastModifiedBy>
  <cp:revision>29</cp:revision>
  <dcterms:created xsi:type="dcterms:W3CDTF">2025-12-11T05:08:33Z</dcterms:created>
  <dcterms:modified xsi:type="dcterms:W3CDTF">2025-12-18T05:12:28Z</dcterms:modified>
</cp:coreProperties>
</file>