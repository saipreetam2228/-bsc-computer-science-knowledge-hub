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59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AA253A6-0196-4611-9021-D5FA726F1F86}"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3627525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AA253A6-0196-4611-9021-D5FA726F1F86}"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265279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AA253A6-0196-4611-9021-D5FA726F1F86}"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2747362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AA253A6-0196-4611-9021-D5FA726F1F86}"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3698255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AA253A6-0196-4611-9021-D5FA726F1F86}" type="datetimeFigureOut">
              <a:rPr lang="en-IN" smtClean="0"/>
              <a:t>09-03-2026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2794027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AA253A6-0196-4611-9021-D5FA726F1F86}" type="datetimeFigureOut">
              <a:rPr lang="en-IN" smtClean="0"/>
              <a:t>09-03-2026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3611269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A253A6-0196-4611-9021-D5FA726F1F86}" type="datetimeFigureOut">
              <a:rPr lang="en-IN" smtClean="0"/>
              <a:t>09-03-2026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4147389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AA253A6-0196-4611-9021-D5FA726F1F86}"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839054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AA253A6-0196-4611-9021-D5FA726F1F86}" type="datetimeFigureOut">
              <a:rPr lang="en-IN" smtClean="0"/>
              <a:t>09-03-2026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976368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AA253A6-0196-4611-9021-D5FA726F1F86}"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1723281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AA253A6-0196-4611-9021-D5FA726F1F86}" type="datetimeFigureOut">
              <a:rPr lang="en-IN" smtClean="0"/>
              <a:t>09-03-2026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D674481-37A4-44FA-B710-2CE104709B81}" type="slidenum">
              <a:rPr lang="en-IN" smtClean="0"/>
              <a:t>‹#›</a:t>
            </a:fld>
            <a:endParaRPr lang="en-IN"/>
          </a:p>
        </p:txBody>
      </p:sp>
    </p:spTree>
    <p:extLst>
      <p:ext uri="{BB962C8B-B14F-4D97-AF65-F5344CB8AC3E}">
        <p14:creationId xmlns:p14="http://schemas.microsoft.com/office/powerpoint/2010/main" val="393931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253A6-0196-4611-9021-D5FA726F1F86}" type="datetimeFigureOut">
              <a:rPr lang="en-IN" smtClean="0"/>
              <a:t>09-03-2026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674481-37A4-44FA-B710-2CE104709B81}" type="slidenum">
              <a:rPr lang="en-IN" smtClean="0"/>
              <a:t>‹#›</a:t>
            </a:fld>
            <a:endParaRPr lang="en-IN"/>
          </a:p>
        </p:txBody>
      </p:sp>
    </p:spTree>
    <p:extLst>
      <p:ext uri="{BB962C8B-B14F-4D97-AF65-F5344CB8AC3E}">
        <p14:creationId xmlns:p14="http://schemas.microsoft.com/office/powerpoint/2010/main" val="1345830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IN" dirty="0" smtClean="0"/>
              <a:t>Karma Yoga</a:t>
            </a:r>
            <a:endParaRPr lang="en-IN" dirty="0"/>
          </a:p>
        </p:txBody>
      </p:sp>
      <p:sp>
        <p:nvSpPr>
          <p:cNvPr id="3" name="Subtitle 2"/>
          <p:cNvSpPr>
            <a:spLocks noGrp="1"/>
          </p:cNvSpPr>
          <p:nvPr>
            <p:ph type="subTitle" idx="1"/>
          </p:nvPr>
        </p:nvSpPr>
        <p:spPr/>
        <p:txBody>
          <a:bodyPr/>
          <a:lstStyle/>
          <a:p>
            <a:pPr lvl="0" algn="l"/>
            <a:r>
              <a:rPr lang="en-GB" kern="0" dirty="0">
                <a:solidFill>
                  <a:prstClr val="black"/>
                </a:solidFill>
              </a:rPr>
              <a:t>Chapter </a:t>
            </a:r>
            <a:r>
              <a:rPr lang="en-GB" kern="0" dirty="0" smtClean="0">
                <a:solidFill>
                  <a:prstClr val="black"/>
                </a:solidFill>
              </a:rPr>
              <a:t>13 </a:t>
            </a:r>
            <a:r>
              <a:rPr lang="en-GB" kern="0" dirty="0">
                <a:solidFill>
                  <a:prstClr val="black"/>
                </a:solidFill>
              </a:rPr>
              <a:t>in SSB 1979</a:t>
            </a:r>
            <a:endParaRPr lang="en-IN" kern="0" dirty="0">
              <a:solidFill>
                <a:prstClr val="black"/>
              </a:solidFill>
            </a:endParaRPr>
          </a:p>
          <a:p>
            <a:pPr algn="l"/>
            <a:endParaRPr lang="en-IN" dirty="0"/>
          </a:p>
        </p:txBody>
      </p:sp>
      <p:pic>
        <p:nvPicPr>
          <p:cNvPr id="4" name="Picture 3"/>
          <p:cNvPicPr>
            <a:picLocks noChangeAspect="1"/>
          </p:cNvPicPr>
          <p:nvPr/>
        </p:nvPicPr>
        <p:blipFill>
          <a:blip r:embed="rId2"/>
          <a:stretch>
            <a:fillRect/>
          </a:stretch>
        </p:blipFill>
        <p:spPr>
          <a:xfrm>
            <a:off x="7772400" y="0"/>
            <a:ext cx="4449635" cy="6858000"/>
          </a:xfrm>
          <a:prstGeom prst="rect">
            <a:avLst/>
          </a:prstGeom>
        </p:spPr>
      </p:pic>
    </p:spTree>
    <p:extLst>
      <p:ext uri="{BB962C8B-B14F-4D97-AF65-F5344CB8AC3E}">
        <p14:creationId xmlns:p14="http://schemas.microsoft.com/office/powerpoint/2010/main" val="3770707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Rights of Man</a:t>
            </a:r>
            <a:endParaRPr lang="en-IN" dirty="0"/>
          </a:p>
        </p:txBody>
      </p:sp>
      <p:sp>
        <p:nvSpPr>
          <p:cNvPr id="3" name="Content Placeholder 2"/>
          <p:cNvSpPr>
            <a:spLocks noGrp="1"/>
          </p:cNvSpPr>
          <p:nvPr>
            <p:ph idx="1"/>
          </p:nvPr>
        </p:nvSpPr>
        <p:spPr/>
        <p:txBody>
          <a:bodyPr/>
          <a:lstStyle/>
          <a:p>
            <a:pPr marL="0" indent="0">
              <a:buNone/>
            </a:pPr>
            <a:r>
              <a:rPr lang="en-US" dirty="0" smtClean="0"/>
              <a:t>Man has but the right to perform action; to ask for the fruits thereof he has none.</a:t>
            </a:r>
          </a:p>
          <a:p>
            <a:pPr marL="0" indent="0">
              <a:buNone/>
            </a:pPr>
            <a:r>
              <a:rPr lang="en-US" dirty="0" smtClean="0"/>
              <a:t>God alone can dispense the fruits of man’s actions</a:t>
            </a:r>
            <a:endParaRPr lang="en-IN" dirty="0"/>
          </a:p>
        </p:txBody>
      </p:sp>
    </p:spTree>
    <p:extLst>
      <p:ext uri="{BB962C8B-B14F-4D97-AF65-F5344CB8AC3E}">
        <p14:creationId xmlns:p14="http://schemas.microsoft.com/office/powerpoint/2010/main" val="2174040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Sleep over it!</a:t>
            </a:r>
            <a:endParaRPr lang="en-IN" dirty="0"/>
          </a:p>
        </p:txBody>
      </p:sp>
      <p:sp>
        <p:nvSpPr>
          <p:cNvPr id="3" name="Content Placeholder 2"/>
          <p:cNvSpPr>
            <a:spLocks noGrp="1"/>
          </p:cNvSpPr>
          <p:nvPr>
            <p:ph idx="1"/>
          </p:nvPr>
        </p:nvSpPr>
        <p:spPr>
          <a:xfrm>
            <a:off x="838200" y="1825625"/>
            <a:ext cx="10515600" cy="4351338"/>
          </a:xfrm>
        </p:spPr>
        <p:txBody>
          <a:bodyPr/>
          <a:lstStyle/>
          <a:p>
            <a:pPr marL="0" indent="0">
              <a:buNone/>
            </a:pPr>
            <a:r>
              <a:rPr lang="en-US" dirty="0" smtClean="0"/>
              <a:t>Embodiments of the Divine </a:t>
            </a:r>
            <a:r>
              <a:rPr lang="en-US" dirty="0" err="1" smtClean="0"/>
              <a:t>Atma</a:t>
            </a:r>
            <a:r>
              <a:rPr lang="en-US" dirty="0" smtClean="0"/>
              <a:t>!</a:t>
            </a:r>
          </a:p>
          <a:p>
            <a:pPr marL="0" indent="0">
              <a:buNone/>
            </a:pPr>
            <a:r>
              <a:rPr lang="en-US" dirty="0" smtClean="0"/>
              <a:t>Everyday from morning till night you spend your life in merely earning the means of your livelihood. What great happiness have you attained by employing your skill and education in only filling your stomach, forgetting the Lotus-eyed Lord? </a:t>
            </a:r>
          </a:p>
          <a:p>
            <a:pPr marL="0" indent="0">
              <a:buNone/>
            </a:pPr>
            <a:r>
              <a:rPr lang="en-US" dirty="0" smtClean="0"/>
              <a:t>O, man! Ponder over this with deep regard.</a:t>
            </a:r>
            <a:endParaRPr lang="en-IN" dirty="0"/>
          </a:p>
        </p:txBody>
      </p:sp>
      <p:pic>
        <p:nvPicPr>
          <p:cNvPr id="4" name="Picture 3"/>
          <p:cNvPicPr>
            <a:picLocks noChangeAspect="1"/>
          </p:cNvPicPr>
          <p:nvPr/>
        </p:nvPicPr>
        <p:blipFill>
          <a:blip r:embed="rId2"/>
          <a:stretch>
            <a:fillRect/>
          </a:stretch>
        </p:blipFill>
        <p:spPr>
          <a:xfrm>
            <a:off x="9324109" y="4273549"/>
            <a:ext cx="2867891" cy="2600545"/>
          </a:xfrm>
          <a:prstGeom prst="rect">
            <a:avLst/>
          </a:prstGeom>
        </p:spPr>
      </p:pic>
    </p:spTree>
    <p:extLst>
      <p:ext uri="{BB962C8B-B14F-4D97-AF65-F5344CB8AC3E}">
        <p14:creationId xmlns:p14="http://schemas.microsoft.com/office/powerpoint/2010/main" val="2020539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Whether you like it or not</a:t>
            </a:r>
            <a:endParaRPr lang="en-IN" dirty="0"/>
          </a:p>
        </p:txBody>
      </p:sp>
      <p:sp>
        <p:nvSpPr>
          <p:cNvPr id="3" name="Content Placeholder 2"/>
          <p:cNvSpPr>
            <a:spLocks noGrp="1"/>
          </p:cNvSpPr>
          <p:nvPr>
            <p:ph idx="1"/>
          </p:nvPr>
        </p:nvSpPr>
        <p:spPr/>
        <p:txBody>
          <a:bodyPr/>
          <a:lstStyle/>
          <a:p>
            <a:pPr marL="0" indent="0">
              <a:buNone/>
            </a:pPr>
            <a:r>
              <a:rPr lang="en-US" dirty="0" smtClean="0"/>
              <a:t>Sacrifice (</a:t>
            </a:r>
            <a:r>
              <a:rPr lang="en-US" dirty="0" err="1" smtClean="0"/>
              <a:t>tyaga</a:t>
            </a:r>
            <a:r>
              <a:rPr lang="en-US" dirty="0" smtClean="0"/>
              <a:t>) is the essence of spiritual life. All men must necessarily have </a:t>
            </a:r>
            <a:r>
              <a:rPr lang="en-US" dirty="0" err="1" smtClean="0"/>
              <a:t>tyaga</a:t>
            </a:r>
            <a:r>
              <a:rPr lang="en-US" dirty="0" smtClean="0"/>
              <a:t>. Although one may not be willing to make sacrifices, nature shall force him to do so. It </a:t>
            </a:r>
            <a:r>
              <a:rPr lang="en-US" dirty="0" err="1" smtClean="0"/>
              <a:t>behoves</a:t>
            </a:r>
            <a:r>
              <a:rPr lang="en-US" dirty="0" smtClean="0"/>
              <a:t> man, therefore, to undertake sacrifice even before he is so compelled.</a:t>
            </a:r>
            <a:endParaRPr lang="en-IN" dirty="0"/>
          </a:p>
        </p:txBody>
      </p:sp>
      <p:pic>
        <p:nvPicPr>
          <p:cNvPr id="1026" name="Picture 2" descr="Knight with Arrows Tatto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1781" y="3671048"/>
            <a:ext cx="2948438" cy="2801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2177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External Sacrifice</a:t>
            </a:r>
            <a:endParaRPr lang="en-IN" dirty="0"/>
          </a:p>
        </p:txBody>
      </p:sp>
      <p:sp>
        <p:nvSpPr>
          <p:cNvPr id="3" name="Content Placeholder 2"/>
          <p:cNvSpPr>
            <a:spLocks noGrp="1"/>
          </p:cNvSpPr>
          <p:nvPr>
            <p:ph idx="1"/>
          </p:nvPr>
        </p:nvSpPr>
        <p:spPr/>
        <p:txBody>
          <a:bodyPr/>
          <a:lstStyle/>
          <a:p>
            <a:pPr marL="0" indent="0">
              <a:buNone/>
            </a:pPr>
            <a:r>
              <a:rPr lang="en-US" dirty="0" smtClean="0"/>
              <a:t>Lord Krishna stresses in the Bhagavad Gita that absolute purity of the heart is an essential requisite for treading the path of sacrifice. </a:t>
            </a:r>
          </a:p>
          <a:p>
            <a:pPr marL="0" indent="0">
              <a:buNone/>
            </a:pPr>
            <a:r>
              <a:rPr lang="en-US" dirty="0" smtClean="0"/>
              <a:t>What is sacrifice? </a:t>
            </a:r>
          </a:p>
          <a:p>
            <a:pPr marL="0" indent="0">
              <a:buNone/>
            </a:pPr>
            <a:r>
              <a:rPr lang="en-US" dirty="0" smtClean="0"/>
              <a:t>What is it that one must give up? </a:t>
            </a:r>
          </a:p>
          <a:p>
            <a:pPr marL="0" indent="0">
              <a:buNone/>
            </a:pPr>
            <a:r>
              <a:rPr lang="en-US" dirty="0" smtClean="0"/>
              <a:t>Is it the transient wealth one has? </a:t>
            </a:r>
          </a:p>
          <a:p>
            <a:pPr marL="0" indent="0">
              <a:buNone/>
            </a:pPr>
            <a:r>
              <a:rPr lang="en-US" dirty="0" smtClean="0"/>
              <a:t>Does sacrifice mean the giving up of one’s wife and children? </a:t>
            </a:r>
          </a:p>
          <a:p>
            <a:pPr marL="0" indent="0">
              <a:buNone/>
            </a:pPr>
            <a:r>
              <a:rPr lang="en-US" dirty="0" smtClean="0"/>
              <a:t>Nay, these are but matters that relate to the environment conditioning man’s external life.</a:t>
            </a:r>
            <a:endParaRPr lang="en-IN" dirty="0"/>
          </a:p>
        </p:txBody>
      </p:sp>
    </p:spTree>
    <p:extLst>
      <p:ext uri="{BB962C8B-B14F-4D97-AF65-F5344CB8AC3E}">
        <p14:creationId xmlns:p14="http://schemas.microsoft.com/office/powerpoint/2010/main" val="45741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True Sacrifice</a:t>
            </a:r>
            <a:endParaRPr lang="en-IN" dirty="0"/>
          </a:p>
        </p:txBody>
      </p:sp>
      <p:sp>
        <p:nvSpPr>
          <p:cNvPr id="3" name="Content Placeholder 2"/>
          <p:cNvSpPr>
            <a:spLocks noGrp="1"/>
          </p:cNvSpPr>
          <p:nvPr>
            <p:ph idx="1"/>
          </p:nvPr>
        </p:nvSpPr>
        <p:spPr/>
        <p:txBody>
          <a:bodyPr>
            <a:normAutofit/>
          </a:bodyPr>
          <a:lstStyle/>
          <a:p>
            <a:pPr marL="0" indent="0">
              <a:buNone/>
            </a:pPr>
            <a:r>
              <a:rPr lang="en-US" dirty="0" smtClean="0"/>
              <a:t>Sacrifice means giving up one’s desires (</a:t>
            </a:r>
            <a:r>
              <a:rPr lang="en-US" dirty="0" err="1" smtClean="0"/>
              <a:t>kama</a:t>
            </a:r>
            <a:r>
              <a:rPr lang="en-US" dirty="0" smtClean="0"/>
              <a:t>), anger (</a:t>
            </a:r>
            <a:r>
              <a:rPr lang="en-US" dirty="0" err="1" smtClean="0"/>
              <a:t>krodha</a:t>
            </a:r>
            <a:r>
              <a:rPr lang="en-US" dirty="0" smtClean="0"/>
              <a:t>) and greed or extreme miserliness (</a:t>
            </a:r>
            <a:r>
              <a:rPr lang="en-US" dirty="0" err="1" smtClean="0"/>
              <a:t>lobha</a:t>
            </a:r>
            <a:r>
              <a:rPr lang="en-US" dirty="0" smtClean="0"/>
              <a:t>).</a:t>
            </a:r>
          </a:p>
          <a:p>
            <a:pPr marL="0" indent="0">
              <a:buNone/>
            </a:pPr>
            <a:r>
              <a:rPr lang="en-US" dirty="0" smtClean="0"/>
              <a:t>Man generally identifies himself with the </a:t>
            </a:r>
            <a:r>
              <a:rPr lang="en-US" dirty="0" err="1" smtClean="0"/>
              <a:t>anatma</a:t>
            </a:r>
            <a:r>
              <a:rPr lang="en-US" dirty="0" smtClean="0"/>
              <a:t> (non-</a:t>
            </a:r>
            <a:r>
              <a:rPr lang="en-US" dirty="0" err="1" smtClean="0"/>
              <a:t>Atma</a:t>
            </a:r>
            <a:r>
              <a:rPr lang="en-US" dirty="0" smtClean="0"/>
              <a:t>) without </a:t>
            </a:r>
            <a:r>
              <a:rPr lang="en-US" dirty="0" err="1" smtClean="0"/>
              <a:t>realising</a:t>
            </a:r>
            <a:r>
              <a:rPr lang="en-US" dirty="0" smtClean="0"/>
              <a:t> his true nature. The reflection of the sky in a pot of water disappears the moment you pour out the water. Likewise, when you </a:t>
            </a:r>
            <a:r>
              <a:rPr lang="en-US" dirty="0" err="1" smtClean="0"/>
              <a:t>recognise</a:t>
            </a:r>
            <a:r>
              <a:rPr lang="en-US" dirty="0" smtClean="0"/>
              <a:t> the temporal nature of all that is non-</a:t>
            </a:r>
            <a:r>
              <a:rPr lang="en-US" dirty="0" err="1" smtClean="0"/>
              <a:t>Atma</a:t>
            </a:r>
            <a:r>
              <a:rPr lang="en-US" dirty="0" smtClean="0"/>
              <a:t> and attribute their ephemeral existence to worldly desires (water) and give them up, you get closer to the </a:t>
            </a:r>
            <a:r>
              <a:rPr lang="en-US" dirty="0" err="1" smtClean="0"/>
              <a:t>Atma</a:t>
            </a:r>
            <a:r>
              <a:rPr lang="en-US" dirty="0" smtClean="0"/>
              <a:t>. Unless you sacrifice desire, anger and greed or miserliness, you cannot attain Divinity.</a:t>
            </a:r>
            <a:endParaRPr lang="en-IN" dirty="0"/>
          </a:p>
        </p:txBody>
      </p:sp>
    </p:spTree>
    <p:extLst>
      <p:ext uri="{BB962C8B-B14F-4D97-AF65-F5344CB8AC3E}">
        <p14:creationId xmlns:p14="http://schemas.microsoft.com/office/powerpoint/2010/main" val="20797726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Desire vs. Duty</a:t>
            </a:r>
            <a:endParaRPr lang="en-IN" dirty="0"/>
          </a:p>
        </p:txBody>
      </p:sp>
      <p:sp>
        <p:nvSpPr>
          <p:cNvPr id="3" name="Content Placeholder 2"/>
          <p:cNvSpPr>
            <a:spLocks noGrp="1"/>
          </p:cNvSpPr>
          <p:nvPr>
            <p:ph idx="1"/>
          </p:nvPr>
        </p:nvSpPr>
        <p:spPr/>
        <p:txBody>
          <a:bodyPr/>
          <a:lstStyle/>
          <a:p>
            <a:pPr marL="0" indent="0">
              <a:buNone/>
            </a:pPr>
            <a:r>
              <a:rPr lang="en-US" dirty="0" smtClean="0"/>
              <a:t>Desire impels you to go against the established code of social </a:t>
            </a:r>
            <a:r>
              <a:rPr lang="en-US" dirty="0" err="1" smtClean="0"/>
              <a:t>behaviour</a:t>
            </a:r>
            <a:r>
              <a:rPr lang="en-US" dirty="0" smtClean="0"/>
              <a:t> even at the cost of losing your </a:t>
            </a:r>
            <a:r>
              <a:rPr lang="en-US" dirty="0" err="1" smtClean="0"/>
              <a:t>honour</a:t>
            </a:r>
            <a:r>
              <a:rPr lang="en-US" dirty="0" smtClean="0"/>
              <a:t> and reputation. It makes you get immersed in selfishness and disregard your duty to society and God.</a:t>
            </a:r>
          </a:p>
          <a:p>
            <a:pPr marL="0" indent="0">
              <a:buNone/>
            </a:pPr>
            <a:r>
              <a:rPr lang="en-US" dirty="0" smtClean="0"/>
              <a:t>It raises its ugly hood in every aspect of your life and turns you into a demon.</a:t>
            </a:r>
            <a:endParaRPr lang="en-IN" dirty="0"/>
          </a:p>
        </p:txBody>
      </p:sp>
      <p:pic>
        <p:nvPicPr>
          <p:cNvPr id="4" name="Picture 3"/>
          <p:cNvPicPr>
            <a:picLocks noChangeAspect="1"/>
          </p:cNvPicPr>
          <p:nvPr/>
        </p:nvPicPr>
        <p:blipFill rotWithShape="1">
          <a:blip r:embed="rId2"/>
          <a:srcRect l="24065" r="44562"/>
          <a:stretch/>
        </p:blipFill>
        <p:spPr>
          <a:xfrm>
            <a:off x="0" y="4714875"/>
            <a:ext cx="672353" cy="2143125"/>
          </a:xfrm>
          <a:prstGeom prst="rect">
            <a:avLst/>
          </a:prstGeom>
        </p:spPr>
      </p:pic>
    </p:spTree>
    <p:extLst>
      <p:ext uri="{BB962C8B-B14F-4D97-AF65-F5344CB8AC3E}">
        <p14:creationId xmlns:p14="http://schemas.microsoft.com/office/powerpoint/2010/main" val="18292948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Anger-ruins</a:t>
            </a:r>
            <a:endParaRPr lang="en-IN" dirty="0"/>
          </a:p>
        </p:txBody>
      </p:sp>
      <p:sp>
        <p:nvSpPr>
          <p:cNvPr id="3" name="Content Placeholder 2"/>
          <p:cNvSpPr>
            <a:spLocks noGrp="1"/>
          </p:cNvSpPr>
          <p:nvPr>
            <p:ph idx="1"/>
          </p:nvPr>
        </p:nvSpPr>
        <p:spPr/>
        <p:txBody>
          <a:bodyPr/>
          <a:lstStyle/>
          <a:p>
            <a:pPr marL="0" indent="0">
              <a:buNone/>
            </a:pPr>
            <a:r>
              <a:rPr lang="en-US" dirty="0" smtClean="0"/>
              <a:t>Anger destroys your intelligence and warps your judgement. The angry man forfeits success in all his </a:t>
            </a:r>
            <a:r>
              <a:rPr lang="en-US" dirty="0" err="1" smtClean="0"/>
              <a:t>endeavours</a:t>
            </a:r>
            <a:r>
              <a:rPr lang="en-US" dirty="0" smtClean="0"/>
              <a:t> and invites societal censure. He brings </a:t>
            </a:r>
            <a:r>
              <a:rPr lang="en-US" dirty="0" err="1" smtClean="0"/>
              <a:t>dishonour</a:t>
            </a:r>
            <a:r>
              <a:rPr lang="en-US" dirty="0" smtClean="0"/>
              <a:t> to himself, to his friends and relations desert him. He is led to sin and thereby ruins his life.</a:t>
            </a:r>
            <a:endParaRPr lang="en-IN" dirty="0"/>
          </a:p>
        </p:txBody>
      </p:sp>
      <p:pic>
        <p:nvPicPr>
          <p:cNvPr id="2050" name="Picture 2" descr="Anger: What happens when we acknowledg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7607" y="3803557"/>
            <a:ext cx="3856785" cy="2373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7762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Greed stems from fear</a:t>
            </a:r>
            <a:endParaRPr lang="en-IN" dirty="0"/>
          </a:p>
        </p:txBody>
      </p:sp>
      <p:sp>
        <p:nvSpPr>
          <p:cNvPr id="3" name="Content Placeholder 2"/>
          <p:cNvSpPr>
            <a:spLocks noGrp="1"/>
          </p:cNvSpPr>
          <p:nvPr>
            <p:ph idx="1"/>
          </p:nvPr>
        </p:nvSpPr>
        <p:spPr/>
        <p:txBody>
          <a:bodyPr/>
          <a:lstStyle/>
          <a:p>
            <a:pPr marL="0" indent="0">
              <a:buNone/>
            </a:pPr>
            <a:r>
              <a:rPr lang="en-US" dirty="0" err="1" smtClean="0"/>
              <a:t>Lobha</a:t>
            </a:r>
            <a:r>
              <a:rPr lang="en-US" dirty="0" smtClean="0"/>
              <a:t> or extreme miserliness does not let anyone be happy. A miser neither enjoys himself nor allows others to </a:t>
            </a:r>
            <a:r>
              <a:rPr lang="en-US" dirty="0" err="1" smtClean="0"/>
              <a:t>utilise</a:t>
            </a:r>
            <a:r>
              <a:rPr lang="en-US" dirty="0" smtClean="0"/>
              <a:t> his wealth. For everything he takes a retrogressive step, fearing loss of his property or diminution in his wealth. </a:t>
            </a:r>
            <a:endParaRPr lang="en-IN" dirty="0"/>
          </a:p>
        </p:txBody>
      </p:sp>
      <p:pic>
        <p:nvPicPr>
          <p:cNvPr id="5" name="Picture 4"/>
          <p:cNvPicPr>
            <a:picLocks noChangeAspect="1"/>
          </p:cNvPicPr>
          <p:nvPr/>
        </p:nvPicPr>
        <p:blipFill rotWithShape="1">
          <a:blip r:embed="rId2"/>
          <a:srcRect t="12745"/>
          <a:stretch/>
        </p:blipFill>
        <p:spPr>
          <a:xfrm>
            <a:off x="4299977" y="3663272"/>
            <a:ext cx="3592046" cy="2984339"/>
          </a:xfrm>
          <a:prstGeom prst="rect">
            <a:avLst/>
          </a:prstGeom>
        </p:spPr>
      </p:pic>
    </p:spTree>
    <p:extLst>
      <p:ext uri="{BB962C8B-B14F-4D97-AF65-F5344CB8AC3E}">
        <p14:creationId xmlns:p14="http://schemas.microsoft.com/office/powerpoint/2010/main" val="35436280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Miser and Greater Miser</a:t>
            </a:r>
            <a:endParaRPr lang="en-IN" dirty="0"/>
          </a:p>
        </p:txBody>
      </p:sp>
      <p:sp>
        <p:nvSpPr>
          <p:cNvPr id="3" name="Content Placeholder 2"/>
          <p:cNvSpPr>
            <a:spLocks noGrp="1"/>
          </p:cNvSpPr>
          <p:nvPr>
            <p:ph idx="1"/>
          </p:nvPr>
        </p:nvSpPr>
        <p:spPr/>
        <p:txBody>
          <a:bodyPr>
            <a:normAutofit/>
          </a:bodyPr>
          <a:lstStyle/>
          <a:p>
            <a:pPr marL="0" indent="0">
              <a:buNone/>
            </a:pPr>
            <a:r>
              <a:rPr lang="en-US" dirty="0" smtClean="0"/>
              <a:t>There is a small story to illustrate this. There were two brothers by names Miser and Greater Miser. True to their names, they were so niggardly that they did not even feed themselves properly. On occasions, when they prayed to God to further their worldly interests, they would not even proffer </a:t>
            </a:r>
            <a:r>
              <a:rPr lang="en-US" dirty="0" err="1" smtClean="0"/>
              <a:t>naivedya</a:t>
            </a:r>
            <a:r>
              <a:rPr lang="en-US" dirty="0" smtClean="0"/>
              <a:t>, (sacred offering to God). They would merely let Him have a cursory glance at it and eat it up themselves within moments. </a:t>
            </a:r>
            <a:endParaRPr lang="en-IN" dirty="0"/>
          </a:p>
        </p:txBody>
      </p:sp>
    </p:spTree>
    <p:extLst>
      <p:ext uri="{BB962C8B-B14F-4D97-AF65-F5344CB8AC3E}">
        <p14:creationId xmlns:p14="http://schemas.microsoft.com/office/powerpoint/2010/main" val="36608833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Heights of Miserliness</a:t>
            </a:r>
            <a:endParaRPr lang="en-IN" dirty="0"/>
          </a:p>
        </p:txBody>
      </p:sp>
      <p:sp>
        <p:nvSpPr>
          <p:cNvPr id="3" name="Content Placeholder 2"/>
          <p:cNvSpPr>
            <a:spLocks noGrp="1"/>
          </p:cNvSpPr>
          <p:nvPr>
            <p:ph idx="1"/>
          </p:nvPr>
        </p:nvSpPr>
        <p:spPr/>
        <p:txBody>
          <a:bodyPr/>
          <a:lstStyle/>
          <a:p>
            <a:pPr marL="0" indent="0">
              <a:buNone/>
            </a:pPr>
            <a:r>
              <a:rPr lang="en-US" dirty="0" smtClean="0"/>
              <a:t>The reason for this great hurry, in not allowing the offering to remain at the altar for more than a few seconds was the fear that if the sugar candy offered as </a:t>
            </a:r>
            <a:r>
              <a:rPr lang="en-US" dirty="0" err="1" smtClean="0"/>
              <a:t>naivedya</a:t>
            </a:r>
            <a:r>
              <a:rPr lang="en-US" dirty="0" smtClean="0"/>
              <a:t> was kept any longer, some ants might partake of it in small quantities and thereby deprive them of valuable granules of precious sugar!</a:t>
            </a:r>
            <a:endParaRPr lang="en-IN" dirty="0" smtClean="0"/>
          </a:p>
          <a:p>
            <a:pPr marL="0" indent="0">
              <a:buNone/>
            </a:pPr>
            <a:endParaRPr lang="en-IN" dirty="0"/>
          </a:p>
        </p:txBody>
      </p:sp>
    </p:spTree>
    <p:extLst>
      <p:ext uri="{BB962C8B-B14F-4D97-AF65-F5344CB8AC3E}">
        <p14:creationId xmlns:p14="http://schemas.microsoft.com/office/powerpoint/2010/main" val="42263044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t>One day, news came that one of their near relations had died. The elder brother, Greater Miser, decided to offer condolences to the bereaved family in person, and therefore set out early next morning by foot. He did not start immediately on the same day by bus or train, as travel by these means of transport would entail an insufferable burden by way of travel fares!</a:t>
            </a:r>
            <a:endParaRPr lang="en-IN" dirty="0"/>
          </a:p>
        </p:txBody>
      </p:sp>
    </p:spTree>
    <p:extLst>
      <p:ext uri="{BB962C8B-B14F-4D97-AF65-F5344CB8AC3E}">
        <p14:creationId xmlns:p14="http://schemas.microsoft.com/office/powerpoint/2010/main" val="24846696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US" dirty="0" smtClean="0"/>
              <a:t>After his elder brother had gone, Miser put out the lamp and placed it on a windowsill, only to be stung by a vicious scorpion. While the younger brother was suffering thus, Greater Miser had put some two miles behind him. Suddenly, he became thoughtful and hastened back to the house. On being asked by Miser the reason for his unscheduled return, Greater Miser replied, “O, brother! I was worried that you may not have put out the lamp after I left. I have, therefore, come back to remind you.”</a:t>
            </a:r>
            <a:endParaRPr lang="en-IN" dirty="0"/>
          </a:p>
        </p:txBody>
      </p:sp>
    </p:spTree>
    <p:extLst>
      <p:ext uri="{BB962C8B-B14F-4D97-AF65-F5344CB8AC3E}">
        <p14:creationId xmlns:p14="http://schemas.microsoft.com/office/powerpoint/2010/main" val="15198618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t>To this, Miser in spite of his excruciating pain, said ruefully “Alas! brother, your desire to avoid wastage of oil is indeed appreciable, but what a pity, how much your sandals would have worn out by this unnecessary return of yours!”</a:t>
            </a:r>
            <a:endParaRPr lang="en-IN" dirty="0"/>
          </a:p>
        </p:txBody>
      </p:sp>
    </p:spTree>
    <p:extLst>
      <p:ext uri="{BB962C8B-B14F-4D97-AF65-F5344CB8AC3E}">
        <p14:creationId xmlns:p14="http://schemas.microsoft.com/office/powerpoint/2010/main" val="9440338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marL="0" indent="0">
              <a:buNone/>
            </a:pPr>
            <a:r>
              <a:rPr lang="en-US" dirty="0" smtClean="0"/>
              <a:t>Greater Miser then replied, “My dear Miser, do not worry. I walked barefoot with my sandals in my hands.” </a:t>
            </a:r>
          </a:p>
          <a:p>
            <a:pPr marL="0" indent="0">
              <a:buNone/>
            </a:pPr>
            <a:r>
              <a:rPr lang="en-US" dirty="0" smtClean="0"/>
              <a:t>Such is the bane wrought by </a:t>
            </a:r>
            <a:r>
              <a:rPr lang="en-US" dirty="0" err="1" smtClean="0"/>
              <a:t>lobha</a:t>
            </a:r>
            <a:r>
              <a:rPr lang="en-US" dirty="0" smtClean="0"/>
              <a:t>.</a:t>
            </a:r>
            <a:endParaRPr lang="en-IN" dirty="0" smtClean="0"/>
          </a:p>
          <a:p>
            <a:pPr marL="0" indent="0">
              <a:buNone/>
            </a:pPr>
            <a:endParaRPr lang="en-IN" dirty="0"/>
          </a:p>
        </p:txBody>
      </p:sp>
    </p:spTree>
    <p:extLst>
      <p:ext uri="{BB962C8B-B14F-4D97-AF65-F5344CB8AC3E}">
        <p14:creationId xmlns:p14="http://schemas.microsoft.com/office/powerpoint/2010/main" val="33248806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US" dirty="0" smtClean="0"/>
              <a:t>Therefore, Krishna enjoined </a:t>
            </a:r>
            <a:r>
              <a:rPr lang="en-US" dirty="0" err="1" smtClean="0"/>
              <a:t>Arjuna</a:t>
            </a:r>
            <a:r>
              <a:rPr lang="en-US" dirty="0" smtClean="0"/>
              <a:t> to be free from these vices, overcome illusion, develop inner vision and spiritual wisdom, and follow the path of karma sanyasi yoga (the renunciation of the fruits of one’s actions).</a:t>
            </a:r>
          </a:p>
          <a:p>
            <a:pPr marL="0" indent="0">
              <a:buNone/>
            </a:pPr>
            <a:r>
              <a:rPr lang="en-US" dirty="0" smtClean="0"/>
              <a:t>In karma </a:t>
            </a:r>
            <a:r>
              <a:rPr lang="en-US" dirty="0" err="1" smtClean="0"/>
              <a:t>sanyasa</a:t>
            </a:r>
            <a:r>
              <a:rPr lang="en-US" dirty="0" smtClean="0"/>
              <a:t> yoga, we have three words, karma, </a:t>
            </a:r>
            <a:r>
              <a:rPr lang="en-US" dirty="0" err="1" smtClean="0"/>
              <a:t>sanyasa</a:t>
            </a:r>
            <a:r>
              <a:rPr lang="en-US" dirty="0" smtClean="0"/>
              <a:t>, and yoga. Karma means action; </a:t>
            </a:r>
            <a:r>
              <a:rPr lang="en-US" dirty="0" err="1" smtClean="0"/>
              <a:t>sanyasa</a:t>
            </a:r>
            <a:r>
              <a:rPr lang="en-US" dirty="0" smtClean="0"/>
              <a:t> means renunciation of worldly taints (</a:t>
            </a:r>
            <a:r>
              <a:rPr lang="en-US" dirty="0" err="1" smtClean="0"/>
              <a:t>vasanas</a:t>
            </a:r>
            <a:r>
              <a:rPr lang="en-US" dirty="0" smtClean="0"/>
              <a:t>) and desires, and rising above attachment and hatred; and yoga means union with the Divine.</a:t>
            </a:r>
            <a:endParaRPr lang="en-IN" dirty="0"/>
          </a:p>
        </p:txBody>
      </p:sp>
    </p:spTree>
    <p:extLst>
      <p:ext uri="{BB962C8B-B14F-4D97-AF65-F5344CB8AC3E}">
        <p14:creationId xmlns:p14="http://schemas.microsoft.com/office/powerpoint/2010/main" val="3902148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US" dirty="0" smtClean="0"/>
              <a:t>“O, </a:t>
            </a:r>
            <a:r>
              <a:rPr lang="en-US" dirty="0" err="1" smtClean="0"/>
              <a:t>Arjuna</a:t>
            </a:r>
            <a:r>
              <a:rPr lang="en-US" dirty="0" smtClean="0"/>
              <a:t>,” Krishna said, “this aspect of </a:t>
            </a:r>
            <a:r>
              <a:rPr lang="en-US" dirty="0" err="1" smtClean="0"/>
              <a:t>sanyasa</a:t>
            </a:r>
            <a:r>
              <a:rPr lang="en-US" dirty="0" smtClean="0"/>
              <a:t> is lacking in you. You are still swayed by attachment and ego.” None can desist from action. Man is continually engaged in action. Therefore, renunciation of action (karma </a:t>
            </a:r>
            <a:r>
              <a:rPr lang="en-US" dirty="0" err="1" smtClean="0"/>
              <a:t>sanyasa</a:t>
            </a:r>
            <a:r>
              <a:rPr lang="en-US" dirty="0" smtClean="0"/>
              <a:t>) is neither realistic nor practical.</a:t>
            </a:r>
          </a:p>
          <a:p>
            <a:pPr marL="0" indent="0">
              <a:buNone/>
            </a:pPr>
            <a:r>
              <a:rPr lang="en-US" dirty="0" smtClean="0"/>
              <a:t>“Instead, while performing action, transform it into worship. Dedicate all your actions to God and perform them for His pleasure. Such actions will place you on the path of </a:t>
            </a:r>
            <a:r>
              <a:rPr lang="en-US" dirty="0" err="1" smtClean="0"/>
              <a:t>bhakthi</a:t>
            </a:r>
            <a:r>
              <a:rPr lang="en-US" dirty="0" smtClean="0"/>
              <a:t> (devotion).”</a:t>
            </a:r>
          </a:p>
          <a:p>
            <a:pPr marL="0" indent="0">
              <a:buNone/>
            </a:pPr>
            <a:endParaRPr lang="en-IN" dirty="0"/>
          </a:p>
        </p:txBody>
      </p:sp>
    </p:spTree>
    <p:extLst>
      <p:ext uri="{BB962C8B-B14F-4D97-AF65-F5344CB8AC3E}">
        <p14:creationId xmlns:p14="http://schemas.microsoft.com/office/powerpoint/2010/main" val="4288356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US" dirty="0" smtClean="0"/>
              <a:t>Once, a sage brought three dolls to the court of a king and asked for the best doll to be identified. A clever minister passed a thin wire through one ear of each of the dolls. The wire came out of the other ear in the case of the first doll and through the mouth in the case of the second. In the case of the third doll, however, the wire went deep inside.</a:t>
            </a:r>
          </a:p>
        </p:txBody>
      </p:sp>
    </p:spTree>
    <p:extLst>
      <p:ext uri="{BB962C8B-B14F-4D97-AF65-F5344CB8AC3E}">
        <p14:creationId xmlns:p14="http://schemas.microsoft.com/office/powerpoint/2010/main" val="4163846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t>Explaining the significance, the minister held that the third doll was the best. It represented the man who understood and retained the true meaning of whatever he heard and put it into practice. The second doll stood for the mere prattler who did not put anything he heard into actual practice, while the first signified the worst among men—he who simply let what he heard through one ear out from the other.</a:t>
            </a:r>
            <a:endParaRPr lang="en-IN" dirty="0" smtClean="0"/>
          </a:p>
          <a:p>
            <a:pPr marL="0" indent="0">
              <a:buNone/>
            </a:pPr>
            <a:endParaRPr lang="en-IN" dirty="0"/>
          </a:p>
        </p:txBody>
      </p:sp>
    </p:spTree>
    <p:extLst>
      <p:ext uri="{BB962C8B-B14F-4D97-AF65-F5344CB8AC3E}">
        <p14:creationId xmlns:p14="http://schemas.microsoft.com/office/powerpoint/2010/main" val="2635145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Message for </a:t>
            </a:r>
            <a:r>
              <a:rPr lang="en-US" smtClean="0"/>
              <a:t>the students</a:t>
            </a:r>
            <a:endParaRPr lang="en-IN"/>
          </a:p>
        </p:txBody>
      </p:sp>
      <p:sp>
        <p:nvSpPr>
          <p:cNvPr id="3" name="Content Placeholder 2"/>
          <p:cNvSpPr>
            <a:spLocks noGrp="1"/>
          </p:cNvSpPr>
          <p:nvPr>
            <p:ph idx="1"/>
          </p:nvPr>
        </p:nvSpPr>
        <p:spPr/>
        <p:txBody>
          <a:bodyPr>
            <a:normAutofit/>
          </a:bodyPr>
          <a:lstStyle/>
          <a:p>
            <a:pPr marL="0" indent="0">
              <a:buNone/>
            </a:pPr>
            <a:r>
              <a:rPr lang="en-US" dirty="0" smtClean="0"/>
              <a:t>Students should listen to the sacred message of the Gita and imbibe it in their hearts. </a:t>
            </a:r>
            <a:r>
              <a:rPr lang="en-US" dirty="0" err="1" smtClean="0"/>
              <a:t>Recognising</a:t>
            </a:r>
            <a:r>
              <a:rPr lang="en-US" dirty="0" smtClean="0"/>
              <a:t> the truth that motiveless action performed for the pleasure of God (karma yoga) is higher than giving up of all activity, they should serve society in a selfless manner without an eye for reward. Develop love for all so that greed does not seize you into a state of godlessness. Also desire and anger should be controlled to the maximum possible extent</a:t>
            </a:r>
            <a:endParaRPr lang="en-IN" dirty="0"/>
          </a:p>
        </p:txBody>
      </p:sp>
    </p:spTree>
    <p:extLst>
      <p:ext uri="{BB962C8B-B14F-4D97-AF65-F5344CB8AC3E}">
        <p14:creationId xmlns:p14="http://schemas.microsoft.com/office/powerpoint/2010/main" val="2582668323"/>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rgbClr val="F6A37E"/>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1340</Words>
  <Application>Microsoft Office PowerPoint</Application>
  <PresentationFormat>Widescreen</PresentationFormat>
  <Paragraphs>45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Office Theme</vt:lpstr>
      <vt:lpstr>Karma Yoga</vt:lpstr>
      <vt:lpstr>Rights of Man</vt:lpstr>
      <vt:lpstr>Sleep over it!</vt:lpstr>
      <vt:lpstr>Whether you like it or not</vt:lpstr>
      <vt:lpstr>External Sacrifice</vt:lpstr>
      <vt:lpstr>True Sacrifice</vt:lpstr>
      <vt:lpstr>Desire vs. Duty</vt:lpstr>
      <vt:lpstr>Anger-ruins</vt:lpstr>
      <vt:lpstr> Greed stems from fear</vt:lpstr>
      <vt:lpstr>Miser and Greater Miser</vt:lpstr>
      <vt:lpstr>Heights of Miserliness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Message for the students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Karma Yoga</dc:title>
  <dc:creator>JG</dc:creator>
  <cp:lastModifiedBy>JG</cp:lastModifiedBy>
  <cp:revision>7</cp:revision>
  <dcterms:created xsi:type="dcterms:W3CDTF">2025-12-16T10:30:48Z</dcterms:created>
  <dcterms:modified xsi:type="dcterms:W3CDTF">2026-03-08T22:31:21Z</dcterms:modified>
</cp:coreProperties>
</file>