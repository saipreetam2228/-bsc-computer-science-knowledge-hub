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595888A-7A39-482D-A2A4-FC77C22D36A9}" type="datetimeFigureOut">
              <a:rPr lang="en-IN" smtClean="0"/>
              <a:t>17-03-2025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E739C0-F332-4B73-A679-611E4F93A4C4}" type="slidenum">
              <a:rPr lang="en-IN" smtClean="0"/>
              <a:t>‹#›</a:t>
            </a:fld>
            <a:endParaRPr lang="en-IN"/>
          </a:p>
        </p:txBody>
      </p:sp>
    </p:spTree>
    <p:extLst>
      <p:ext uri="{BB962C8B-B14F-4D97-AF65-F5344CB8AC3E}">
        <p14:creationId xmlns:p14="http://schemas.microsoft.com/office/powerpoint/2010/main" val="2370554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595888A-7A39-482D-A2A4-FC77C22D36A9}" type="datetimeFigureOut">
              <a:rPr lang="en-IN" smtClean="0"/>
              <a:t>17-03-2025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E739C0-F332-4B73-A679-611E4F93A4C4}" type="slidenum">
              <a:rPr lang="en-IN" smtClean="0"/>
              <a:t>‹#›</a:t>
            </a:fld>
            <a:endParaRPr lang="en-IN"/>
          </a:p>
        </p:txBody>
      </p:sp>
    </p:spTree>
    <p:extLst>
      <p:ext uri="{BB962C8B-B14F-4D97-AF65-F5344CB8AC3E}">
        <p14:creationId xmlns:p14="http://schemas.microsoft.com/office/powerpoint/2010/main" val="903175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595888A-7A39-482D-A2A4-FC77C22D36A9}" type="datetimeFigureOut">
              <a:rPr lang="en-IN" smtClean="0"/>
              <a:t>17-03-2025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E739C0-F332-4B73-A679-611E4F93A4C4}" type="slidenum">
              <a:rPr lang="en-IN" smtClean="0"/>
              <a:t>‹#›</a:t>
            </a:fld>
            <a:endParaRPr lang="en-IN"/>
          </a:p>
        </p:txBody>
      </p:sp>
    </p:spTree>
    <p:extLst>
      <p:ext uri="{BB962C8B-B14F-4D97-AF65-F5344CB8AC3E}">
        <p14:creationId xmlns:p14="http://schemas.microsoft.com/office/powerpoint/2010/main" val="4064966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595888A-7A39-482D-A2A4-FC77C22D36A9}" type="datetimeFigureOut">
              <a:rPr lang="en-IN" smtClean="0"/>
              <a:t>17-03-2025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E739C0-F332-4B73-A679-611E4F93A4C4}" type="slidenum">
              <a:rPr lang="en-IN" smtClean="0"/>
              <a:t>‹#›</a:t>
            </a:fld>
            <a:endParaRPr lang="en-IN"/>
          </a:p>
        </p:txBody>
      </p:sp>
    </p:spTree>
    <p:extLst>
      <p:ext uri="{BB962C8B-B14F-4D97-AF65-F5344CB8AC3E}">
        <p14:creationId xmlns:p14="http://schemas.microsoft.com/office/powerpoint/2010/main" val="1447139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595888A-7A39-482D-A2A4-FC77C22D36A9}" type="datetimeFigureOut">
              <a:rPr lang="en-IN" smtClean="0"/>
              <a:t>17-03-2025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4E739C0-F332-4B73-A679-611E4F93A4C4}" type="slidenum">
              <a:rPr lang="en-IN" smtClean="0"/>
              <a:t>‹#›</a:t>
            </a:fld>
            <a:endParaRPr lang="en-IN"/>
          </a:p>
        </p:txBody>
      </p:sp>
    </p:spTree>
    <p:extLst>
      <p:ext uri="{BB962C8B-B14F-4D97-AF65-F5344CB8AC3E}">
        <p14:creationId xmlns:p14="http://schemas.microsoft.com/office/powerpoint/2010/main" val="2461925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595888A-7A39-482D-A2A4-FC77C22D36A9}" type="datetimeFigureOut">
              <a:rPr lang="en-IN" smtClean="0"/>
              <a:t>17-03-2025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4E739C0-F332-4B73-A679-611E4F93A4C4}" type="slidenum">
              <a:rPr lang="en-IN" smtClean="0"/>
              <a:t>‹#›</a:t>
            </a:fld>
            <a:endParaRPr lang="en-IN"/>
          </a:p>
        </p:txBody>
      </p:sp>
    </p:spTree>
    <p:extLst>
      <p:ext uri="{BB962C8B-B14F-4D97-AF65-F5344CB8AC3E}">
        <p14:creationId xmlns:p14="http://schemas.microsoft.com/office/powerpoint/2010/main" val="2875648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95888A-7A39-482D-A2A4-FC77C22D36A9}" type="datetimeFigureOut">
              <a:rPr lang="en-IN" smtClean="0"/>
              <a:t>17-03-2025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4E739C0-F332-4B73-A679-611E4F93A4C4}" type="slidenum">
              <a:rPr lang="en-IN" smtClean="0"/>
              <a:t>‹#›</a:t>
            </a:fld>
            <a:endParaRPr lang="en-IN"/>
          </a:p>
        </p:txBody>
      </p:sp>
    </p:spTree>
    <p:extLst>
      <p:ext uri="{BB962C8B-B14F-4D97-AF65-F5344CB8AC3E}">
        <p14:creationId xmlns:p14="http://schemas.microsoft.com/office/powerpoint/2010/main" val="347099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595888A-7A39-482D-A2A4-FC77C22D36A9}" type="datetimeFigureOut">
              <a:rPr lang="en-IN" smtClean="0"/>
              <a:t>17-03-2025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E739C0-F332-4B73-A679-611E4F93A4C4}" type="slidenum">
              <a:rPr lang="en-IN" smtClean="0"/>
              <a:t>‹#›</a:t>
            </a:fld>
            <a:endParaRPr lang="en-IN"/>
          </a:p>
        </p:txBody>
      </p:sp>
    </p:spTree>
    <p:extLst>
      <p:ext uri="{BB962C8B-B14F-4D97-AF65-F5344CB8AC3E}">
        <p14:creationId xmlns:p14="http://schemas.microsoft.com/office/powerpoint/2010/main" val="630775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595888A-7A39-482D-A2A4-FC77C22D36A9}" type="datetimeFigureOut">
              <a:rPr lang="en-IN" smtClean="0"/>
              <a:t>17-03-2025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E739C0-F332-4B73-A679-611E4F93A4C4}" type="slidenum">
              <a:rPr lang="en-IN" smtClean="0"/>
              <a:t>‹#›</a:t>
            </a:fld>
            <a:endParaRPr lang="en-IN"/>
          </a:p>
        </p:txBody>
      </p:sp>
    </p:spTree>
    <p:extLst>
      <p:ext uri="{BB962C8B-B14F-4D97-AF65-F5344CB8AC3E}">
        <p14:creationId xmlns:p14="http://schemas.microsoft.com/office/powerpoint/2010/main" val="4269762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595888A-7A39-482D-A2A4-FC77C22D36A9}" type="datetimeFigureOut">
              <a:rPr lang="en-IN" smtClean="0"/>
              <a:t>17-03-2025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E739C0-F332-4B73-A679-611E4F93A4C4}" type="slidenum">
              <a:rPr lang="en-IN" smtClean="0"/>
              <a:t>‹#›</a:t>
            </a:fld>
            <a:endParaRPr lang="en-IN"/>
          </a:p>
        </p:txBody>
      </p:sp>
    </p:spTree>
    <p:extLst>
      <p:ext uri="{BB962C8B-B14F-4D97-AF65-F5344CB8AC3E}">
        <p14:creationId xmlns:p14="http://schemas.microsoft.com/office/powerpoint/2010/main" val="151807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595888A-7A39-482D-A2A4-FC77C22D36A9}" type="datetimeFigureOut">
              <a:rPr lang="en-IN" smtClean="0"/>
              <a:t>17-03-2025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E739C0-F332-4B73-A679-611E4F93A4C4}" type="slidenum">
              <a:rPr lang="en-IN" smtClean="0"/>
              <a:t>‹#›</a:t>
            </a:fld>
            <a:endParaRPr lang="en-IN"/>
          </a:p>
        </p:txBody>
      </p:sp>
    </p:spTree>
    <p:extLst>
      <p:ext uri="{BB962C8B-B14F-4D97-AF65-F5344CB8AC3E}">
        <p14:creationId xmlns:p14="http://schemas.microsoft.com/office/powerpoint/2010/main" val="1760543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95888A-7A39-482D-A2A4-FC77C22D36A9}" type="datetimeFigureOut">
              <a:rPr lang="en-IN" smtClean="0"/>
              <a:t>17-03-2025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E739C0-F332-4B73-A679-611E4F93A4C4}" type="slidenum">
              <a:rPr lang="en-IN" smtClean="0"/>
              <a:t>‹#›</a:t>
            </a:fld>
            <a:endParaRPr lang="en-IN"/>
          </a:p>
        </p:txBody>
      </p:sp>
    </p:spTree>
    <p:extLst>
      <p:ext uri="{BB962C8B-B14F-4D97-AF65-F5344CB8AC3E}">
        <p14:creationId xmlns:p14="http://schemas.microsoft.com/office/powerpoint/2010/main" val="802984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2"/>
            <a:ext cx="9144000" cy="3449637"/>
          </a:xfrm>
        </p:spPr>
        <p:txBody>
          <a:bodyPr>
            <a:normAutofit fontScale="90000"/>
          </a:bodyPr>
          <a:lstStyle/>
          <a:p>
            <a:pPr algn="l"/>
            <a:r>
              <a:rPr lang="en-GB" dirty="0" smtClean="0"/>
              <a:t/>
            </a:r>
            <a:br>
              <a:rPr lang="en-GB" dirty="0" smtClean="0"/>
            </a:br>
            <a:r>
              <a:rPr lang="en-GB" dirty="0"/>
              <a:t/>
            </a:r>
            <a:br>
              <a:rPr lang="en-GB" dirty="0"/>
            </a:br>
            <a:r>
              <a:rPr lang="en-GB" dirty="0"/>
              <a:t>JNANA YAGNA</a:t>
            </a:r>
            <a:r>
              <a:rPr lang="en-IN" dirty="0"/>
              <a:t/>
            </a:r>
            <a:br>
              <a:rPr lang="en-IN" dirty="0"/>
            </a:br>
            <a:r>
              <a:rPr lang="en-IN" dirty="0"/>
              <a:t/>
            </a:r>
            <a:br>
              <a:rPr lang="en-IN" dirty="0"/>
            </a:br>
            <a:endParaRPr lang="en-IN" dirty="0"/>
          </a:p>
        </p:txBody>
      </p:sp>
      <p:sp>
        <p:nvSpPr>
          <p:cNvPr id="3" name="Subtitle 2"/>
          <p:cNvSpPr>
            <a:spLocks noGrp="1"/>
          </p:cNvSpPr>
          <p:nvPr>
            <p:ph type="subTitle" idx="1"/>
          </p:nvPr>
        </p:nvSpPr>
        <p:spPr/>
        <p:txBody>
          <a:bodyPr/>
          <a:lstStyle/>
          <a:p>
            <a:pPr algn="l"/>
            <a:endParaRPr lang="en-GB" dirty="0" smtClean="0"/>
          </a:p>
          <a:p>
            <a:pPr algn="l"/>
            <a:r>
              <a:rPr lang="en-GB" dirty="0" smtClean="0"/>
              <a:t>Chapter 11 in SSB 1979</a:t>
            </a:r>
            <a:endParaRPr lang="en-IN" dirty="0"/>
          </a:p>
        </p:txBody>
      </p:sp>
      <p:pic>
        <p:nvPicPr>
          <p:cNvPr id="4" name="Picture 3"/>
          <p:cNvPicPr>
            <a:picLocks noChangeAspect="1"/>
          </p:cNvPicPr>
          <p:nvPr/>
        </p:nvPicPr>
        <p:blipFill>
          <a:blip r:embed="rId2"/>
          <a:stretch>
            <a:fillRect/>
          </a:stretch>
        </p:blipFill>
        <p:spPr>
          <a:xfrm>
            <a:off x="7772400" y="0"/>
            <a:ext cx="4449635" cy="6858000"/>
          </a:xfrm>
          <a:prstGeom prst="rect">
            <a:avLst/>
          </a:prstGeom>
        </p:spPr>
      </p:pic>
    </p:spTree>
    <p:extLst>
      <p:ext uri="{BB962C8B-B14F-4D97-AF65-F5344CB8AC3E}">
        <p14:creationId xmlns:p14="http://schemas.microsoft.com/office/powerpoint/2010/main" val="39007453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Way to </a:t>
            </a:r>
            <a:r>
              <a:rPr lang="en-GB" dirty="0" err="1" smtClean="0"/>
              <a:t>Adwaitha</a:t>
            </a:r>
            <a:endParaRPr lang="en-IN" dirty="0"/>
          </a:p>
        </p:txBody>
      </p:sp>
      <p:sp>
        <p:nvSpPr>
          <p:cNvPr id="3" name="Content Placeholder 2"/>
          <p:cNvSpPr>
            <a:spLocks noGrp="1"/>
          </p:cNvSpPr>
          <p:nvPr>
            <p:ph idx="1"/>
          </p:nvPr>
        </p:nvSpPr>
        <p:spPr/>
        <p:txBody>
          <a:bodyPr/>
          <a:lstStyle/>
          <a:p>
            <a:pPr marL="0" indent="0">
              <a:buNone/>
            </a:pPr>
            <a:r>
              <a:rPr lang="en-GB" dirty="0"/>
              <a:t>Love is the Form of Brahman; Brahman is Love Divine.</a:t>
            </a:r>
          </a:p>
          <a:p>
            <a:pPr marL="0" indent="0">
              <a:buNone/>
            </a:pPr>
            <a:r>
              <a:rPr lang="en-GB" dirty="0"/>
              <a:t>The merger of human love with Divine Love brings about Cosmic Order.</a:t>
            </a:r>
          </a:p>
          <a:p>
            <a:pPr marL="0" indent="0">
              <a:buNone/>
            </a:pPr>
            <a:r>
              <a:rPr lang="en-GB" dirty="0"/>
              <a:t>One who is full of love attains </a:t>
            </a:r>
            <a:r>
              <a:rPr lang="en-GB" dirty="0" err="1"/>
              <a:t>Adwaitha</a:t>
            </a:r>
            <a:r>
              <a:rPr lang="en-GB" dirty="0"/>
              <a:t>.</a:t>
            </a:r>
          </a:p>
          <a:p>
            <a:pPr marL="0" indent="0">
              <a:buNone/>
            </a:pPr>
            <a:endParaRPr lang="en-IN" dirty="0"/>
          </a:p>
        </p:txBody>
      </p:sp>
      <p:pic>
        <p:nvPicPr>
          <p:cNvPr id="5" name="Picture 4"/>
          <p:cNvPicPr>
            <a:picLocks noChangeAspect="1"/>
          </p:cNvPicPr>
          <p:nvPr/>
        </p:nvPicPr>
        <p:blipFill rotWithShape="1">
          <a:blip r:embed="rId2"/>
          <a:srcRect b="12054"/>
          <a:stretch/>
        </p:blipFill>
        <p:spPr>
          <a:xfrm>
            <a:off x="7573673" y="2796382"/>
            <a:ext cx="4618327" cy="4061618"/>
          </a:xfrm>
          <a:prstGeom prst="rect">
            <a:avLst/>
          </a:prstGeom>
        </p:spPr>
      </p:pic>
    </p:spTree>
    <p:extLst>
      <p:ext uri="{BB962C8B-B14F-4D97-AF65-F5344CB8AC3E}">
        <p14:creationId xmlns:p14="http://schemas.microsoft.com/office/powerpoint/2010/main" val="1897326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Jnana</a:t>
            </a:r>
            <a:r>
              <a:rPr lang="en-GB" dirty="0" smtClean="0"/>
              <a:t> can dispel ignorance</a:t>
            </a:r>
            <a:endParaRPr lang="en-IN" dirty="0"/>
          </a:p>
        </p:txBody>
      </p:sp>
      <p:sp>
        <p:nvSpPr>
          <p:cNvPr id="3" name="Content Placeholder 2"/>
          <p:cNvSpPr>
            <a:spLocks noGrp="1"/>
          </p:cNvSpPr>
          <p:nvPr>
            <p:ph idx="1"/>
          </p:nvPr>
        </p:nvSpPr>
        <p:spPr>
          <a:xfrm>
            <a:off x="838200" y="1690687"/>
            <a:ext cx="10515600" cy="4486275"/>
          </a:xfrm>
        </p:spPr>
        <p:txBody>
          <a:bodyPr>
            <a:normAutofit fontScale="92500" lnSpcReduction="10000"/>
          </a:bodyPr>
          <a:lstStyle/>
          <a:p>
            <a:pPr marL="0" indent="0">
              <a:buNone/>
            </a:pPr>
            <a:r>
              <a:rPr lang="en-GB" dirty="0"/>
              <a:t>An individual seeking to realise Divinity must possess the primary prerequisite of </a:t>
            </a:r>
            <a:r>
              <a:rPr lang="en-GB" dirty="0" err="1"/>
              <a:t>chittasuddhi</a:t>
            </a:r>
            <a:r>
              <a:rPr lang="en-GB" dirty="0"/>
              <a:t> or purity of heart. Even as poisonous creatures like snakes and scorpions do not enter a clean and well-lit room, desire, anger, envy and hatred do not enter a mind which possesses purity and wisdom. </a:t>
            </a:r>
          </a:p>
          <a:p>
            <a:pPr marL="0" indent="0">
              <a:buNone/>
            </a:pPr>
            <a:r>
              <a:rPr lang="en-GB" dirty="0"/>
              <a:t>The removal of ignorance is not an impossible task as would be the case in an attempt to wash a piece of charcoal pure white with milk. One who seeks to dispel the darkness of ignorance must necessarily acquire </a:t>
            </a:r>
            <a:r>
              <a:rPr lang="en-GB" dirty="0" err="1"/>
              <a:t>jnana</a:t>
            </a:r>
            <a:r>
              <a:rPr lang="en-GB" dirty="0"/>
              <a:t> (spiritual wisdom). Just as a lamp is needed to drive away darkness, </a:t>
            </a:r>
            <a:r>
              <a:rPr lang="en-GB" dirty="0" err="1"/>
              <a:t>jnana</a:t>
            </a:r>
            <a:r>
              <a:rPr lang="en-GB" dirty="0"/>
              <a:t> or wisdom is the only antidote for ignorance. Nascence is like the encrustation on a copper vessel which can be washed off; it is like the husk covering the grain of rice that can be removed by the process of threshing.</a:t>
            </a:r>
          </a:p>
          <a:p>
            <a:pPr marL="0" indent="0">
              <a:buNone/>
            </a:pPr>
            <a:endParaRPr lang="en-IN" dirty="0"/>
          </a:p>
        </p:txBody>
      </p:sp>
      <p:pic>
        <p:nvPicPr>
          <p:cNvPr id="4" name="Picture 3"/>
          <p:cNvPicPr>
            <a:picLocks noChangeAspect="1"/>
          </p:cNvPicPr>
          <p:nvPr/>
        </p:nvPicPr>
        <p:blipFill>
          <a:blip r:embed="rId2"/>
          <a:stretch>
            <a:fillRect/>
          </a:stretch>
        </p:blipFill>
        <p:spPr>
          <a:xfrm>
            <a:off x="9643754" y="5430982"/>
            <a:ext cx="2548246" cy="1427018"/>
          </a:xfrm>
          <a:prstGeom prst="rect">
            <a:avLst/>
          </a:prstGeom>
        </p:spPr>
      </p:pic>
    </p:spTree>
    <p:extLst>
      <p:ext uri="{BB962C8B-B14F-4D97-AF65-F5344CB8AC3E}">
        <p14:creationId xmlns:p14="http://schemas.microsoft.com/office/powerpoint/2010/main" val="4287748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Sacred Yoga of Spiritual Wisdom- </a:t>
            </a:r>
            <a:r>
              <a:rPr lang="en-GB" dirty="0" err="1" smtClean="0"/>
              <a:t>Jnana</a:t>
            </a:r>
            <a:r>
              <a:rPr lang="en-GB" dirty="0" smtClean="0"/>
              <a:t> </a:t>
            </a:r>
            <a:r>
              <a:rPr lang="en-GB" dirty="0" err="1" smtClean="0"/>
              <a:t>Yagna</a:t>
            </a:r>
            <a:endParaRPr lang="en-IN" dirty="0"/>
          </a:p>
        </p:txBody>
      </p:sp>
      <p:sp>
        <p:nvSpPr>
          <p:cNvPr id="3" name="Content Placeholder 2"/>
          <p:cNvSpPr>
            <a:spLocks noGrp="1"/>
          </p:cNvSpPr>
          <p:nvPr>
            <p:ph idx="1"/>
          </p:nvPr>
        </p:nvSpPr>
        <p:spPr/>
        <p:txBody>
          <a:bodyPr/>
          <a:lstStyle/>
          <a:p>
            <a:pPr marL="0" indent="0">
              <a:buNone/>
            </a:pPr>
            <a:r>
              <a:rPr lang="en-GB" dirty="0" err="1"/>
              <a:t>Arjuna</a:t>
            </a:r>
            <a:r>
              <a:rPr lang="en-GB" dirty="0"/>
              <a:t>, who was ridden by doubt and hesitation, was unable to recognise his own real nature. Neither was he, stricken by despondency, able to act in accordance with the commands of Krishna. Krishna, therefore, infusing courage and confidence in him, instructed him on the sacred yoga of spiritual wisdom— </a:t>
            </a:r>
            <a:r>
              <a:rPr lang="en-GB" dirty="0" err="1"/>
              <a:t>jnana</a:t>
            </a:r>
            <a:r>
              <a:rPr lang="en-GB" dirty="0"/>
              <a:t> yoga. Krishna said, “</a:t>
            </a:r>
            <a:r>
              <a:rPr lang="en-GB" dirty="0" err="1"/>
              <a:t>Arjuna</a:t>
            </a:r>
            <a:r>
              <a:rPr lang="en-GB" dirty="0"/>
              <a:t>, all actions must ultimately find their fulfilment in </a:t>
            </a:r>
            <a:r>
              <a:rPr lang="en-GB" dirty="0" err="1"/>
              <a:t>jnana</a:t>
            </a:r>
            <a:r>
              <a:rPr lang="en-GB" dirty="0"/>
              <a:t> and must, therefore, be performed with meticulous care.”</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10363200" y="4352925"/>
            <a:ext cx="1828800" cy="2505075"/>
          </a:xfrm>
          <a:prstGeom prst="rect">
            <a:avLst/>
          </a:prstGeom>
        </p:spPr>
      </p:pic>
    </p:spTree>
    <p:extLst>
      <p:ext uri="{BB962C8B-B14F-4D97-AF65-F5344CB8AC3E}">
        <p14:creationId xmlns:p14="http://schemas.microsoft.com/office/powerpoint/2010/main" val="4046793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How to perform </a:t>
            </a:r>
            <a:r>
              <a:rPr lang="en-GB" dirty="0" err="1" smtClean="0"/>
              <a:t>Jnana</a:t>
            </a:r>
            <a:r>
              <a:rPr lang="en-GB" dirty="0" smtClean="0"/>
              <a:t> </a:t>
            </a:r>
            <a:r>
              <a:rPr lang="en-GB" dirty="0" err="1" smtClean="0"/>
              <a:t>Yagna</a:t>
            </a:r>
            <a:r>
              <a:rPr lang="en-GB" dirty="0" smtClean="0"/>
              <a:t>?</a:t>
            </a:r>
            <a:endParaRPr lang="en-IN" dirty="0"/>
          </a:p>
        </p:txBody>
      </p:sp>
      <p:sp>
        <p:nvSpPr>
          <p:cNvPr id="3" name="Content Placeholder 2"/>
          <p:cNvSpPr>
            <a:spLocks noGrp="1"/>
          </p:cNvSpPr>
          <p:nvPr>
            <p:ph idx="1"/>
          </p:nvPr>
        </p:nvSpPr>
        <p:spPr/>
        <p:txBody>
          <a:bodyPr/>
          <a:lstStyle/>
          <a:p>
            <a:pPr marL="0" indent="0">
              <a:buNone/>
            </a:pPr>
            <a:r>
              <a:rPr lang="en-GB" dirty="0" err="1"/>
              <a:t>Jnana</a:t>
            </a:r>
            <a:r>
              <a:rPr lang="en-GB" dirty="0"/>
              <a:t> can be considered in many ways. It is considered as a </a:t>
            </a:r>
            <a:r>
              <a:rPr lang="en-GB" dirty="0" err="1"/>
              <a:t>yajna</a:t>
            </a:r>
            <a:r>
              <a:rPr lang="en-GB" dirty="0"/>
              <a:t> and even </a:t>
            </a:r>
            <a:r>
              <a:rPr lang="en-GB" dirty="0" err="1"/>
              <a:t>thapas</a:t>
            </a:r>
            <a:r>
              <a:rPr lang="en-GB" dirty="0"/>
              <a:t>, or austerity, through which people endeavour to attain the Divine. </a:t>
            </a:r>
            <a:r>
              <a:rPr lang="en-GB" dirty="0" err="1"/>
              <a:t>Jnana</a:t>
            </a:r>
            <a:r>
              <a:rPr lang="en-GB" dirty="0"/>
              <a:t> </a:t>
            </a:r>
            <a:r>
              <a:rPr lang="en-GB" dirty="0" err="1"/>
              <a:t>yajna</a:t>
            </a:r>
            <a:r>
              <a:rPr lang="en-GB" dirty="0"/>
              <a:t> can be performed by all irrespective of caste, creed, religion or sect. Whosoever performs actions as offerings to God, for His pleasure and without any desire whatsoever for the fruits thereof, performs </a:t>
            </a:r>
            <a:r>
              <a:rPr lang="en-GB" dirty="0" err="1"/>
              <a:t>jnana</a:t>
            </a:r>
            <a:r>
              <a:rPr lang="en-GB" dirty="0"/>
              <a:t> </a:t>
            </a:r>
            <a:r>
              <a:rPr lang="en-GB" dirty="0" err="1"/>
              <a:t>yajna</a:t>
            </a:r>
            <a:r>
              <a:rPr lang="en-GB" dirty="0"/>
              <a:t>. Krishna says, “Those who cognise Brahma in all actions, verily perform </a:t>
            </a:r>
            <a:r>
              <a:rPr lang="en-GB" dirty="0" err="1"/>
              <a:t>jnana</a:t>
            </a:r>
            <a:r>
              <a:rPr lang="en-GB" dirty="0"/>
              <a:t> </a:t>
            </a:r>
            <a:r>
              <a:rPr lang="en-GB" dirty="0" err="1"/>
              <a:t>yajna</a:t>
            </a:r>
            <a:r>
              <a:rPr lang="en-GB" dirty="0"/>
              <a:t>.”</a:t>
            </a:r>
            <a:endParaRPr lang="en-IN" dirty="0"/>
          </a:p>
        </p:txBody>
      </p:sp>
      <p:pic>
        <p:nvPicPr>
          <p:cNvPr id="4" name="Picture 3"/>
          <p:cNvPicPr>
            <a:picLocks noChangeAspect="1"/>
          </p:cNvPicPr>
          <p:nvPr/>
        </p:nvPicPr>
        <p:blipFill>
          <a:blip r:embed="rId2"/>
          <a:stretch>
            <a:fillRect/>
          </a:stretch>
        </p:blipFill>
        <p:spPr>
          <a:xfrm>
            <a:off x="10048875" y="4714875"/>
            <a:ext cx="2143125" cy="2143125"/>
          </a:xfrm>
          <a:prstGeom prst="rect">
            <a:avLst/>
          </a:prstGeom>
        </p:spPr>
      </p:pic>
    </p:spTree>
    <p:extLst>
      <p:ext uri="{BB962C8B-B14F-4D97-AF65-F5344CB8AC3E}">
        <p14:creationId xmlns:p14="http://schemas.microsoft.com/office/powerpoint/2010/main" val="3795903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flame of </a:t>
            </a:r>
            <a:r>
              <a:rPr lang="en-GB" dirty="0" err="1" smtClean="0"/>
              <a:t>Jnana</a:t>
            </a:r>
            <a:endParaRPr lang="en-IN" dirty="0"/>
          </a:p>
        </p:txBody>
      </p:sp>
      <p:sp>
        <p:nvSpPr>
          <p:cNvPr id="3" name="Content Placeholder 2"/>
          <p:cNvSpPr>
            <a:spLocks noGrp="1"/>
          </p:cNvSpPr>
          <p:nvPr>
            <p:ph idx="1"/>
          </p:nvPr>
        </p:nvSpPr>
        <p:spPr/>
        <p:txBody>
          <a:bodyPr/>
          <a:lstStyle/>
          <a:p>
            <a:pPr marL="0" indent="0">
              <a:buNone/>
            </a:pPr>
            <a:r>
              <a:rPr lang="en-GB" dirty="0"/>
              <a:t>Krishna kindled in </a:t>
            </a:r>
            <a:r>
              <a:rPr lang="en-GB" dirty="0" err="1"/>
              <a:t>Arjuna</a:t>
            </a:r>
            <a:r>
              <a:rPr lang="en-GB" dirty="0"/>
              <a:t> the flame of </a:t>
            </a:r>
            <a:r>
              <a:rPr lang="en-GB" dirty="0" err="1"/>
              <a:t>jnana</a:t>
            </a:r>
            <a:r>
              <a:rPr lang="en-GB" dirty="0"/>
              <a:t>. To light a lamp, a container, oil, wick and fire are necessary. But, most essentially, there should be someone to light it. Similarly, for lighting the fire of </a:t>
            </a:r>
            <a:r>
              <a:rPr lang="en-GB" dirty="0" err="1"/>
              <a:t>jnana</a:t>
            </a:r>
            <a:r>
              <a:rPr lang="en-GB" dirty="0"/>
              <a:t> in an individual, he should possess in him the container of vairagya (detachment), the oil of </a:t>
            </a:r>
            <a:r>
              <a:rPr lang="en-GB" dirty="0" err="1"/>
              <a:t>bhakthi</a:t>
            </a:r>
            <a:r>
              <a:rPr lang="en-GB" dirty="0"/>
              <a:t> (devotion), the wick of </a:t>
            </a:r>
            <a:r>
              <a:rPr lang="en-GB" dirty="0" err="1"/>
              <a:t>indriya</a:t>
            </a:r>
            <a:r>
              <a:rPr lang="en-GB" dirty="0"/>
              <a:t> </a:t>
            </a:r>
            <a:r>
              <a:rPr lang="en-GB" dirty="0" err="1"/>
              <a:t>nigraha</a:t>
            </a:r>
            <a:r>
              <a:rPr lang="en-GB" dirty="0"/>
              <a:t> (sense control) and the fire of </a:t>
            </a:r>
            <a:r>
              <a:rPr lang="en-GB" dirty="0" err="1"/>
              <a:t>Atma</a:t>
            </a:r>
            <a:r>
              <a:rPr lang="en-GB" dirty="0"/>
              <a:t> </a:t>
            </a:r>
            <a:r>
              <a:rPr lang="en-GB" dirty="0" err="1"/>
              <a:t>vichara</a:t>
            </a:r>
            <a:r>
              <a:rPr lang="en-GB" dirty="0"/>
              <a:t> (self-enquiry). “In you are present these essential qualities and so I shall kindle the flame of </a:t>
            </a:r>
            <a:r>
              <a:rPr lang="en-GB" dirty="0" err="1"/>
              <a:t>jnana</a:t>
            </a:r>
            <a:r>
              <a:rPr lang="en-GB" dirty="0"/>
              <a:t> in you,” said Krishna to </a:t>
            </a:r>
            <a:r>
              <a:rPr lang="en-GB" dirty="0" err="1"/>
              <a:t>Arjuna</a:t>
            </a:r>
            <a:r>
              <a:rPr lang="en-GB" dirty="0"/>
              <a:t>.</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10778836" y="4639569"/>
            <a:ext cx="1413164" cy="2218431"/>
          </a:xfrm>
          <a:prstGeom prst="rect">
            <a:avLst/>
          </a:prstGeom>
        </p:spPr>
      </p:pic>
    </p:spTree>
    <p:extLst>
      <p:ext uri="{BB962C8B-B14F-4D97-AF65-F5344CB8AC3E}">
        <p14:creationId xmlns:p14="http://schemas.microsoft.com/office/powerpoint/2010/main" val="947072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Why caste?</a:t>
            </a:r>
            <a:endParaRPr lang="en-IN" dirty="0"/>
          </a:p>
        </p:txBody>
      </p:sp>
      <p:sp>
        <p:nvSpPr>
          <p:cNvPr id="3" name="Content Placeholder 2"/>
          <p:cNvSpPr>
            <a:spLocks noGrp="1"/>
          </p:cNvSpPr>
          <p:nvPr>
            <p:ph idx="1"/>
          </p:nvPr>
        </p:nvSpPr>
        <p:spPr/>
        <p:txBody>
          <a:bodyPr/>
          <a:lstStyle/>
          <a:p>
            <a:pPr marL="0" indent="0">
              <a:buNone/>
            </a:pPr>
            <a:r>
              <a:rPr lang="en-GB" dirty="0"/>
              <a:t>Explaining the reason why caste distinctions have been made, Krishna said, “I have created the four </a:t>
            </a:r>
            <a:r>
              <a:rPr lang="en-GB" dirty="0" err="1"/>
              <a:t>varnas</a:t>
            </a:r>
            <a:r>
              <a:rPr lang="en-GB" dirty="0"/>
              <a:t> to promote </a:t>
            </a:r>
            <a:r>
              <a:rPr lang="en-GB" dirty="0" err="1"/>
              <a:t>swadharma</a:t>
            </a:r>
            <a:r>
              <a:rPr lang="en-GB" dirty="0"/>
              <a:t>, </a:t>
            </a:r>
            <a:r>
              <a:rPr lang="en-GB" dirty="0" err="1"/>
              <a:t>samajika</a:t>
            </a:r>
            <a:r>
              <a:rPr lang="en-GB" dirty="0"/>
              <a:t> dharma, </a:t>
            </a:r>
            <a:r>
              <a:rPr lang="en-GB" dirty="0" err="1"/>
              <a:t>vishwa</a:t>
            </a:r>
            <a:r>
              <a:rPr lang="en-GB" dirty="0"/>
              <a:t> dharma, and </a:t>
            </a:r>
            <a:r>
              <a:rPr lang="en-GB" dirty="0" err="1"/>
              <a:t>Easwara</a:t>
            </a:r>
            <a:r>
              <a:rPr lang="en-GB" dirty="0"/>
              <a:t> dharma and to establish them permanently in this world so that, in turn, the flame of </a:t>
            </a:r>
            <a:r>
              <a:rPr lang="en-GB" dirty="0" err="1"/>
              <a:t>jnana</a:t>
            </a:r>
            <a:r>
              <a:rPr lang="en-GB" dirty="0"/>
              <a:t> will burn bright forever.” The four </a:t>
            </a:r>
            <a:r>
              <a:rPr lang="en-GB" dirty="0" err="1"/>
              <a:t>varnas</a:t>
            </a:r>
            <a:r>
              <a:rPr lang="en-GB" dirty="0"/>
              <a:t> are the </a:t>
            </a:r>
            <a:r>
              <a:rPr lang="en-GB" dirty="0" err="1"/>
              <a:t>brahmins</a:t>
            </a:r>
            <a:r>
              <a:rPr lang="en-GB" dirty="0"/>
              <a:t>, the </a:t>
            </a:r>
            <a:r>
              <a:rPr lang="en-GB" dirty="0" err="1"/>
              <a:t>kshatriyas</a:t>
            </a:r>
            <a:r>
              <a:rPr lang="en-GB" dirty="0"/>
              <a:t>, the </a:t>
            </a:r>
            <a:r>
              <a:rPr lang="en-GB" dirty="0" err="1"/>
              <a:t>vaisyas</a:t>
            </a:r>
            <a:r>
              <a:rPr lang="en-GB" dirty="0"/>
              <a:t>, and the </a:t>
            </a:r>
            <a:r>
              <a:rPr lang="en-GB" dirty="0" err="1"/>
              <a:t>sudras</a:t>
            </a:r>
            <a:r>
              <a:rPr lang="en-GB" dirty="0"/>
              <a:t>.</a:t>
            </a:r>
            <a:endParaRPr lang="en-IN" dirty="0"/>
          </a:p>
        </p:txBody>
      </p:sp>
      <p:pic>
        <p:nvPicPr>
          <p:cNvPr id="4" name="Picture 3"/>
          <p:cNvPicPr>
            <a:picLocks noChangeAspect="1"/>
          </p:cNvPicPr>
          <p:nvPr/>
        </p:nvPicPr>
        <p:blipFill>
          <a:blip r:embed="rId2"/>
          <a:stretch>
            <a:fillRect/>
          </a:stretch>
        </p:blipFill>
        <p:spPr>
          <a:xfrm>
            <a:off x="7219207" y="4073236"/>
            <a:ext cx="4972793" cy="2784764"/>
          </a:xfrm>
          <a:prstGeom prst="rect">
            <a:avLst/>
          </a:prstGeom>
        </p:spPr>
      </p:pic>
    </p:spTree>
    <p:extLst>
      <p:ext uri="{BB962C8B-B14F-4D97-AF65-F5344CB8AC3E}">
        <p14:creationId xmlns:p14="http://schemas.microsoft.com/office/powerpoint/2010/main" val="2733255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a:t>
            </a:r>
            <a:r>
              <a:rPr lang="en-GB" dirty="0" err="1" smtClean="0"/>
              <a:t>Purusha</a:t>
            </a:r>
            <a:r>
              <a:rPr lang="en-GB" dirty="0" smtClean="0"/>
              <a:t> and castes</a:t>
            </a:r>
            <a:endParaRPr lang="en-IN" dirty="0"/>
          </a:p>
        </p:txBody>
      </p:sp>
      <p:sp>
        <p:nvSpPr>
          <p:cNvPr id="3" name="Content Placeholder 2"/>
          <p:cNvSpPr>
            <a:spLocks noGrp="1"/>
          </p:cNvSpPr>
          <p:nvPr>
            <p:ph idx="1"/>
          </p:nvPr>
        </p:nvSpPr>
        <p:spPr/>
        <p:txBody>
          <a:bodyPr/>
          <a:lstStyle/>
          <a:p>
            <a:pPr marL="0" indent="0">
              <a:buNone/>
            </a:pPr>
            <a:r>
              <a:rPr lang="en-GB" dirty="0"/>
              <a:t>Passages in the </a:t>
            </a:r>
            <a:r>
              <a:rPr lang="en-GB" dirty="0" err="1"/>
              <a:t>Purusha</a:t>
            </a:r>
            <a:r>
              <a:rPr lang="en-GB" dirty="0"/>
              <a:t> </a:t>
            </a:r>
            <a:r>
              <a:rPr lang="en-GB" dirty="0" err="1"/>
              <a:t>Sukta</a:t>
            </a:r>
            <a:r>
              <a:rPr lang="en-GB" dirty="0"/>
              <a:t> describe the different </a:t>
            </a:r>
            <a:r>
              <a:rPr lang="en-GB" dirty="0" err="1"/>
              <a:t>varnas</a:t>
            </a:r>
            <a:r>
              <a:rPr lang="en-GB" dirty="0"/>
              <a:t> as parts of the Lord’s body. The </a:t>
            </a:r>
            <a:r>
              <a:rPr lang="en-GB" dirty="0" err="1"/>
              <a:t>brahmins</a:t>
            </a:r>
            <a:r>
              <a:rPr lang="en-GB" dirty="0"/>
              <a:t>, who regard the Vedas and Sastras as perennial and abiding truths and as the pathways along which humanity must progress, are described as the face of Brahma. The </a:t>
            </a:r>
            <a:r>
              <a:rPr lang="en-GB" dirty="0" err="1"/>
              <a:t>kshatriyas</a:t>
            </a:r>
            <a:r>
              <a:rPr lang="en-GB" dirty="0"/>
              <a:t>, kings, who sacrifice their bodies for the sake of the country and utilise their physical prowess for the defence of the country’s cultural and territorial integrity, are described as the shoulders. The wealthy </a:t>
            </a:r>
            <a:r>
              <a:rPr lang="en-GB" dirty="0" err="1"/>
              <a:t>vaisyas</a:t>
            </a:r>
            <a:r>
              <a:rPr lang="en-GB" dirty="0"/>
              <a:t>, who engage themselves in charity, distributing their wealth to all and sundry, have been described as the thighs. The feet are the </a:t>
            </a:r>
            <a:r>
              <a:rPr lang="en-GB" dirty="0" err="1"/>
              <a:t>sudras</a:t>
            </a:r>
            <a:r>
              <a:rPr lang="en-GB" dirty="0"/>
              <a:t>, who engage themselves in cultivation and maintaining the regular supply of grain for food.</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9421091" y="0"/>
            <a:ext cx="2770909" cy="1843914"/>
          </a:xfrm>
          <a:prstGeom prst="rect">
            <a:avLst/>
          </a:prstGeom>
        </p:spPr>
      </p:pic>
    </p:spTree>
    <p:extLst>
      <p:ext uri="{BB962C8B-B14F-4D97-AF65-F5344CB8AC3E}">
        <p14:creationId xmlns:p14="http://schemas.microsoft.com/office/powerpoint/2010/main" val="2992157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Thorn example</a:t>
            </a:r>
            <a:endParaRPr lang="en-IN" dirty="0"/>
          </a:p>
        </p:txBody>
      </p:sp>
      <p:sp>
        <p:nvSpPr>
          <p:cNvPr id="3" name="Content Placeholder 2"/>
          <p:cNvSpPr>
            <a:spLocks noGrp="1"/>
          </p:cNvSpPr>
          <p:nvPr>
            <p:ph idx="1"/>
          </p:nvPr>
        </p:nvSpPr>
        <p:spPr/>
        <p:txBody>
          <a:bodyPr>
            <a:normAutofit/>
          </a:bodyPr>
          <a:lstStyle/>
          <a:p>
            <a:pPr marL="0" indent="0">
              <a:buNone/>
            </a:pPr>
            <a:r>
              <a:rPr lang="en-GB" dirty="0"/>
              <a:t>Each organ of the body works in unison with the rest of the body while discharging faithfully its own assigned function. Should something happen to any limb, the danger is shared by the other organs who come forward to mitigate the pain of the affected part. A small example illustrates this. While a person is walking along a path, a thorn is noticed by the eyes. On account of the internal communication system between the eye, which is on the face, and the foot, which is at the bottom, the thorn is avoided by the foot. If the thorn pricks the sole of the foot, the eye shares the pain and sheds tears sympathetically.</a:t>
            </a:r>
          </a:p>
          <a:p>
            <a:pPr marL="0" indent="0">
              <a:buNone/>
            </a:pPr>
            <a:endParaRPr lang="en-IN" dirty="0"/>
          </a:p>
        </p:txBody>
      </p:sp>
      <p:pic>
        <p:nvPicPr>
          <p:cNvPr id="4" name="Picture 3"/>
          <p:cNvPicPr>
            <a:picLocks noChangeAspect="1"/>
          </p:cNvPicPr>
          <p:nvPr/>
        </p:nvPicPr>
        <p:blipFill>
          <a:blip r:embed="rId2"/>
          <a:stretch>
            <a:fillRect/>
          </a:stretch>
        </p:blipFill>
        <p:spPr>
          <a:xfrm>
            <a:off x="9225359" y="-1"/>
            <a:ext cx="2966641" cy="1825625"/>
          </a:xfrm>
          <a:prstGeom prst="rect">
            <a:avLst/>
          </a:prstGeom>
        </p:spPr>
      </p:pic>
    </p:spTree>
    <p:extLst>
      <p:ext uri="{BB962C8B-B14F-4D97-AF65-F5344CB8AC3E}">
        <p14:creationId xmlns:p14="http://schemas.microsoft.com/office/powerpoint/2010/main" val="2517507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current scenario of caste</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GB" dirty="0"/>
              <a:t>In the same manner, the different castes should work in co-ordination with each other and share the joys and sorrows of each other. This spirit of mutual love and unity is essential for the promotion and protection of dharma in society. In a body, the same heart animates the head, the shoulders, the thighs and the feet and the same blood flows through all of them. Thus, there is no room for distinctions and differences among the four. Likewise the </a:t>
            </a:r>
            <a:r>
              <a:rPr lang="en-GB" dirty="0" err="1"/>
              <a:t>brahmins</a:t>
            </a:r>
            <a:r>
              <a:rPr lang="en-GB" dirty="0"/>
              <a:t>, the </a:t>
            </a:r>
            <a:r>
              <a:rPr lang="en-GB" dirty="0" err="1"/>
              <a:t>kshatriyas</a:t>
            </a:r>
            <a:r>
              <a:rPr lang="en-GB" dirty="0"/>
              <a:t>, the </a:t>
            </a:r>
            <a:r>
              <a:rPr lang="en-GB" dirty="0" err="1"/>
              <a:t>vaisyas</a:t>
            </a:r>
            <a:r>
              <a:rPr lang="en-GB" dirty="0"/>
              <a:t>, and the </a:t>
            </a:r>
            <a:r>
              <a:rPr lang="en-GB" dirty="0" err="1"/>
              <a:t>sudras</a:t>
            </a:r>
            <a:r>
              <a:rPr lang="en-GB" dirty="0"/>
              <a:t> must remember that they are all motivated by the same Divine life-force and must not allow caste difference and discrimination to arise. However, through the centuries, the inner significance has been forgotten and the caste system has been made a basis for sectarian distinctions and communal disharmony.</a:t>
            </a:r>
          </a:p>
          <a:p>
            <a:pPr marL="0" indent="0">
              <a:buNone/>
            </a:pPr>
            <a:endParaRPr lang="en-IN" dirty="0"/>
          </a:p>
        </p:txBody>
      </p:sp>
      <p:pic>
        <p:nvPicPr>
          <p:cNvPr id="4" name="Picture 3"/>
          <p:cNvPicPr>
            <a:picLocks noChangeAspect="1"/>
          </p:cNvPicPr>
          <p:nvPr/>
        </p:nvPicPr>
        <p:blipFill>
          <a:blip r:embed="rId2"/>
          <a:stretch>
            <a:fillRect/>
          </a:stretch>
        </p:blipFill>
        <p:spPr>
          <a:xfrm>
            <a:off x="9705975" y="0"/>
            <a:ext cx="2486025" cy="1838325"/>
          </a:xfrm>
          <a:prstGeom prst="rect">
            <a:avLst/>
          </a:prstGeom>
        </p:spPr>
      </p:pic>
    </p:spTree>
    <p:extLst>
      <p:ext uri="{BB962C8B-B14F-4D97-AF65-F5344CB8AC3E}">
        <p14:creationId xmlns:p14="http://schemas.microsoft.com/office/powerpoint/2010/main" val="1270595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Wisdom as boat and fire</a:t>
            </a:r>
            <a:endParaRPr lang="en-IN" dirty="0"/>
          </a:p>
        </p:txBody>
      </p:sp>
      <p:sp>
        <p:nvSpPr>
          <p:cNvPr id="3" name="Content Placeholder 2"/>
          <p:cNvSpPr>
            <a:spLocks noGrp="1"/>
          </p:cNvSpPr>
          <p:nvPr>
            <p:ph idx="1"/>
          </p:nvPr>
        </p:nvSpPr>
        <p:spPr/>
        <p:txBody>
          <a:bodyPr>
            <a:normAutofit/>
          </a:bodyPr>
          <a:lstStyle/>
          <a:p>
            <a:pPr marL="0" indent="0">
              <a:buNone/>
            </a:pPr>
            <a:r>
              <a:rPr lang="en-GB" dirty="0"/>
              <a:t>Wisdom has been likened to a boat which can take man across the turbulent waters of samsara or worldly existence. It has also been described as the fire which burns all illusions, impurities and idiosyncrasies of human nature. In this connection, let us examine the connection between the fire and our food. The smoke depends on the fire, the cloud depends on the smoke, the rain depends on the cloud, the crop depends on the rain, and the food depends on the crop we harvest. Further, the attitude and qualities of our mind are conditioned by the food we consume.</a:t>
            </a:r>
          </a:p>
          <a:p>
            <a:pPr marL="0" indent="0">
              <a:buNone/>
            </a:pPr>
            <a:endParaRPr lang="en-IN" dirty="0"/>
          </a:p>
        </p:txBody>
      </p:sp>
      <p:pic>
        <p:nvPicPr>
          <p:cNvPr id="5" name="Picture 4"/>
          <p:cNvPicPr>
            <a:picLocks noChangeAspect="1"/>
          </p:cNvPicPr>
          <p:nvPr/>
        </p:nvPicPr>
        <p:blipFill>
          <a:blip r:embed="rId2"/>
          <a:stretch>
            <a:fillRect/>
          </a:stretch>
        </p:blipFill>
        <p:spPr>
          <a:xfrm>
            <a:off x="9448575" y="0"/>
            <a:ext cx="2743426" cy="1825625"/>
          </a:xfrm>
          <a:prstGeom prst="rect">
            <a:avLst/>
          </a:prstGeom>
        </p:spPr>
      </p:pic>
      <p:pic>
        <p:nvPicPr>
          <p:cNvPr id="6" name="Picture 5"/>
          <p:cNvPicPr>
            <a:picLocks noChangeAspect="1"/>
          </p:cNvPicPr>
          <p:nvPr/>
        </p:nvPicPr>
        <p:blipFill>
          <a:blip r:embed="rId3"/>
          <a:stretch>
            <a:fillRect/>
          </a:stretch>
        </p:blipFill>
        <p:spPr>
          <a:xfrm>
            <a:off x="-1" y="5306291"/>
            <a:ext cx="1551709" cy="1551709"/>
          </a:xfrm>
          <a:prstGeom prst="rect">
            <a:avLst/>
          </a:prstGeom>
        </p:spPr>
      </p:pic>
      <p:pic>
        <p:nvPicPr>
          <p:cNvPr id="7" name="Picture 6"/>
          <p:cNvPicPr>
            <a:picLocks noChangeAspect="1"/>
          </p:cNvPicPr>
          <p:nvPr/>
        </p:nvPicPr>
        <p:blipFill rotWithShape="1">
          <a:blip r:embed="rId4"/>
          <a:srcRect r="13008"/>
          <a:stretch/>
        </p:blipFill>
        <p:spPr>
          <a:xfrm>
            <a:off x="1551708" y="5306291"/>
            <a:ext cx="2576947" cy="1543050"/>
          </a:xfrm>
          <a:prstGeom prst="rect">
            <a:avLst/>
          </a:prstGeom>
        </p:spPr>
      </p:pic>
      <p:pic>
        <p:nvPicPr>
          <p:cNvPr id="8" name="Picture 7"/>
          <p:cNvPicPr>
            <a:picLocks noChangeAspect="1"/>
          </p:cNvPicPr>
          <p:nvPr/>
        </p:nvPicPr>
        <p:blipFill>
          <a:blip r:embed="rId5"/>
          <a:stretch>
            <a:fillRect/>
          </a:stretch>
        </p:blipFill>
        <p:spPr>
          <a:xfrm>
            <a:off x="4128655" y="5306291"/>
            <a:ext cx="2340010" cy="1543050"/>
          </a:xfrm>
          <a:prstGeom prst="rect">
            <a:avLst/>
          </a:prstGeom>
        </p:spPr>
      </p:pic>
      <p:pic>
        <p:nvPicPr>
          <p:cNvPr id="9" name="Picture 8"/>
          <p:cNvPicPr>
            <a:picLocks noChangeAspect="1"/>
          </p:cNvPicPr>
          <p:nvPr/>
        </p:nvPicPr>
        <p:blipFill>
          <a:blip r:embed="rId6"/>
          <a:stretch>
            <a:fillRect/>
          </a:stretch>
        </p:blipFill>
        <p:spPr>
          <a:xfrm>
            <a:off x="6468665" y="5324885"/>
            <a:ext cx="2303862" cy="1533115"/>
          </a:xfrm>
          <a:prstGeom prst="rect">
            <a:avLst/>
          </a:prstGeom>
        </p:spPr>
      </p:pic>
      <p:pic>
        <p:nvPicPr>
          <p:cNvPr id="10" name="Picture 9"/>
          <p:cNvPicPr>
            <a:picLocks noChangeAspect="1"/>
          </p:cNvPicPr>
          <p:nvPr/>
        </p:nvPicPr>
        <p:blipFill rotWithShape="1">
          <a:blip r:embed="rId7"/>
          <a:srcRect l="20819" t="904" r="2538" b="-904"/>
          <a:stretch/>
        </p:blipFill>
        <p:spPr>
          <a:xfrm>
            <a:off x="8772527" y="5342920"/>
            <a:ext cx="2092035" cy="1533674"/>
          </a:xfrm>
          <a:prstGeom prst="rect">
            <a:avLst/>
          </a:prstGeom>
        </p:spPr>
      </p:pic>
      <p:pic>
        <p:nvPicPr>
          <p:cNvPr id="11" name="Picture 10"/>
          <p:cNvPicPr>
            <a:picLocks noChangeAspect="1"/>
          </p:cNvPicPr>
          <p:nvPr/>
        </p:nvPicPr>
        <p:blipFill rotWithShape="1">
          <a:blip r:embed="rId8"/>
          <a:srcRect l="10141" t="7313" r="22626" b="11879"/>
          <a:stretch/>
        </p:blipFill>
        <p:spPr>
          <a:xfrm>
            <a:off x="10864563" y="5306291"/>
            <a:ext cx="1327438" cy="1543050"/>
          </a:xfrm>
          <a:prstGeom prst="rect">
            <a:avLst/>
          </a:prstGeom>
        </p:spPr>
      </p:pic>
    </p:spTree>
    <p:extLst>
      <p:ext uri="{BB962C8B-B14F-4D97-AF65-F5344CB8AC3E}">
        <p14:creationId xmlns:p14="http://schemas.microsoft.com/office/powerpoint/2010/main" val="2592661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Wisdom as a sword</a:t>
            </a:r>
            <a:endParaRPr lang="en-IN" dirty="0"/>
          </a:p>
        </p:txBody>
      </p:sp>
      <p:sp>
        <p:nvSpPr>
          <p:cNvPr id="3" name="Content Placeholder 2"/>
          <p:cNvSpPr>
            <a:spLocks noGrp="1"/>
          </p:cNvSpPr>
          <p:nvPr>
            <p:ph idx="1"/>
          </p:nvPr>
        </p:nvSpPr>
        <p:spPr/>
        <p:txBody>
          <a:bodyPr/>
          <a:lstStyle/>
          <a:p>
            <a:pPr marL="0" indent="0">
              <a:buNone/>
            </a:pPr>
            <a:r>
              <a:rPr lang="en-GB" dirty="0"/>
              <a:t>Let us consider wisdom as a sword, too. Desire, anger, passion, greed, pride, and envy take roots and grow like mighty trees in our hearts, destroying our innate humanity. Wisdom is the sword with which we must cut off these trees and live a quiet and happy life.</a:t>
            </a:r>
          </a:p>
          <a:p>
            <a:pPr marL="0" indent="0">
              <a:buNone/>
            </a:pPr>
            <a:endParaRPr lang="en-IN" dirty="0"/>
          </a:p>
        </p:txBody>
      </p:sp>
      <p:pic>
        <p:nvPicPr>
          <p:cNvPr id="4" name="Picture 3"/>
          <p:cNvPicPr>
            <a:picLocks noChangeAspect="1"/>
          </p:cNvPicPr>
          <p:nvPr/>
        </p:nvPicPr>
        <p:blipFill>
          <a:blip r:embed="rId2"/>
          <a:stretch>
            <a:fillRect/>
          </a:stretch>
        </p:blipFill>
        <p:spPr>
          <a:xfrm>
            <a:off x="4359418" y="3505200"/>
            <a:ext cx="3482254" cy="3352800"/>
          </a:xfrm>
          <a:prstGeom prst="rect">
            <a:avLst/>
          </a:prstGeom>
        </p:spPr>
      </p:pic>
    </p:spTree>
    <p:extLst>
      <p:ext uri="{BB962C8B-B14F-4D97-AF65-F5344CB8AC3E}">
        <p14:creationId xmlns:p14="http://schemas.microsoft.com/office/powerpoint/2010/main" val="2769874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Back to the essence of </a:t>
            </a:r>
            <a:r>
              <a:rPr lang="en-GB" dirty="0" err="1" smtClean="0"/>
              <a:t>Nishkama</a:t>
            </a:r>
            <a:r>
              <a:rPr lang="en-GB" dirty="0" smtClean="0"/>
              <a:t> Karma</a:t>
            </a:r>
            <a:endParaRPr lang="en-IN" dirty="0"/>
          </a:p>
        </p:txBody>
      </p:sp>
      <p:sp>
        <p:nvSpPr>
          <p:cNvPr id="3" name="Content Placeholder 2"/>
          <p:cNvSpPr>
            <a:spLocks noGrp="1"/>
          </p:cNvSpPr>
          <p:nvPr>
            <p:ph idx="1"/>
          </p:nvPr>
        </p:nvSpPr>
        <p:spPr>
          <a:xfrm>
            <a:off x="838200" y="1825624"/>
            <a:ext cx="10515600" cy="4824557"/>
          </a:xfrm>
        </p:spPr>
        <p:txBody>
          <a:bodyPr>
            <a:normAutofit/>
          </a:bodyPr>
          <a:lstStyle/>
          <a:p>
            <a:pPr marL="0" indent="0">
              <a:buNone/>
            </a:pPr>
            <a:r>
              <a:rPr lang="en-GB" dirty="0"/>
              <a:t>Thus, in the fourth chapter of the Gita, Krishna explained the genesis of the four </a:t>
            </a:r>
            <a:r>
              <a:rPr lang="en-GB" dirty="0" err="1"/>
              <a:t>varnas</a:t>
            </a:r>
            <a:r>
              <a:rPr lang="en-GB" dirty="0"/>
              <a:t> and described </a:t>
            </a:r>
            <a:r>
              <a:rPr lang="en-GB" dirty="0" err="1"/>
              <a:t>jnana</a:t>
            </a:r>
            <a:r>
              <a:rPr lang="en-GB" dirty="0"/>
              <a:t> yoga. He emphasised that no other </a:t>
            </a:r>
            <a:r>
              <a:rPr lang="en-GB" dirty="0" err="1"/>
              <a:t>yajna</a:t>
            </a:r>
            <a:r>
              <a:rPr lang="en-GB" dirty="0"/>
              <a:t> need be performed if </a:t>
            </a:r>
            <a:r>
              <a:rPr lang="en-GB" dirty="0" err="1"/>
              <a:t>jnana</a:t>
            </a:r>
            <a:r>
              <a:rPr lang="en-GB" dirty="0"/>
              <a:t> </a:t>
            </a:r>
            <a:r>
              <a:rPr lang="en-GB" dirty="0" err="1"/>
              <a:t>yajna</a:t>
            </a:r>
            <a:r>
              <a:rPr lang="en-GB" dirty="0"/>
              <a:t> is undertaken. He exhorted </a:t>
            </a:r>
            <a:r>
              <a:rPr lang="en-GB" dirty="0" err="1"/>
              <a:t>Arjuna</a:t>
            </a:r>
            <a:r>
              <a:rPr lang="en-GB" dirty="0"/>
              <a:t> to dedicate his actions to the Lord and realise through them, the unity of mankind. </a:t>
            </a:r>
            <a:r>
              <a:rPr lang="en-GB" dirty="0" err="1"/>
              <a:t>Yajna</a:t>
            </a:r>
            <a:r>
              <a:rPr lang="en-GB" dirty="0"/>
              <a:t> is the dedication of all the powers man is endowed with, to the supreme Lord. It can be performed by all—men, women, children, aged people, the rich and the poor. Whoever performs actions in a spirit of dedication to the Lord, performs </a:t>
            </a:r>
            <a:r>
              <a:rPr lang="en-GB" dirty="0" err="1"/>
              <a:t>jnana</a:t>
            </a:r>
            <a:r>
              <a:rPr lang="en-GB" dirty="0"/>
              <a:t> </a:t>
            </a:r>
            <a:r>
              <a:rPr lang="en-GB" dirty="0" err="1"/>
              <a:t>yajna</a:t>
            </a:r>
            <a:r>
              <a:rPr lang="en-GB" dirty="0"/>
              <a:t>. </a:t>
            </a:r>
            <a:endParaRPr lang="en-IN" dirty="0"/>
          </a:p>
        </p:txBody>
      </p:sp>
      <p:sp>
        <p:nvSpPr>
          <p:cNvPr id="4" name="Rectangle 3"/>
          <p:cNvSpPr/>
          <p:nvPr/>
        </p:nvSpPr>
        <p:spPr>
          <a:xfrm>
            <a:off x="3546764" y="5030791"/>
            <a:ext cx="6096000" cy="1754326"/>
          </a:xfrm>
          <a:prstGeom prst="rect">
            <a:avLst/>
          </a:prstGeom>
        </p:spPr>
        <p:txBody>
          <a:bodyPr>
            <a:spAutoFit/>
          </a:bodyPr>
          <a:lstStyle/>
          <a:p>
            <a:r>
              <a:rPr lang="hi-IN" dirty="0"/>
              <a:t>योगसन्न्यस्तकर्माणं ज्ञानसञ्छिन्नसंशयम् ।</a:t>
            </a:r>
          </a:p>
          <a:p>
            <a:r>
              <a:rPr lang="hi-IN" dirty="0"/>
              <a:t>आत्मवन्तं न कर्माणि निबध्न‍‍न्ति धनञ्जय ॥ ४१ ॥</a:t>
            </a:r>
          </a:p>
          <a:p>
            <a:r>
              <a:rPr lang="en-IN" dirty="0"/>
              <a:t>yoga-</a:t>
            </a:r>
            <a:r>
              <a:rPr lang="en-IN" dirty="0" err="1"/>
              <a:t>sannyasta</a:t>
            </a:r>
            <a:r>
              <a:rPr lang="en-IN" dirty="0"/>
              <a:t>-</a:t>
            </a:r>
            <a:r>
              <a:rPr lang="en-IN" dirty="0" err="1"/>
              <a:t>karmāṇaṁ</a:t>
            </a:r>
            <a:endParaRPr lang="en-IN" dirty="0"/>
          </a:p>
          <a:p>
            <a:r>
              <a:rPr lang="en-IN" dirty="0" err="1"/>
              <a:t>jñāna-sañchinna-saṁśayam</a:t>
            </a:r>
            <a:endParaRPr lang="en-IN" dirty="0"/>
          </a:p>
          <a:p>
            <a:r>
              <a:rPr lang="en-IN" dirty="0" err="1"/>
              <a:t>ātmavantaṁ</a:t>
            </a:r>
            <a:r>
              <a:rPr lang="en-IN" dirty="0"/>
              <a:t> </a:t>
            </a:r>
            <a:r>
              <a:rPr lang="en-IN" dirty="0" err="1"/>
              <a:t>na</a:t>
            </a:r>
            <a:r>
              <a:rPr lang="en-IN" dirty="0"/>
              <a:t> </a:t>
            </a:r>
            <a:r>
              <a:rPr lang="en-IN" dirty="0" err="1"/>
              <a:t>karmāṇi</a:t>
            </a:r>
            <a:endParaRPr lang="en-IN" dirty="0"/>
          </a:p>
          <a:p>
            <a:r>
              <a:rPr lang="en-IN" dirty="0" err="1"/>
              <a:t>nibadhnanti</a:t>
            </a:r>
            <a:r>
              <a:rPr lang="en-IN" dirty="0"/>
              <a:t> </a:t>
            </a:r>
            <a:r>
              <a:rPr lang="en-IN" dirty="0" err="1"/>
              <a:t>dhanañ-jaya</a:t>
            </a:r>
            <a:endParaRPr lang="en-IN" dirty="0"/>
          </a:p>
        </p:txBody>
      </p:sp>
    </p:spTree>
    <p:extLst>
      <p:ext uri="{BB962C8B-B14F-4D97-AF65-F5344CB8AC3E}">
        <p14:creationId xmlns:p14="http://schemas.microsoft.com/office/powerpoint/2010/main" val="1940317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Live with self-realisation</a:t>
            </a:r>
            <a:endParaRPr lang="en-IN" dirty="0"/>
          </a:p>
        </p:txBody>
      </p:sp>
      <p:sp>
        <p:nvSpPr>
          <p:cNvPr id="3" name="Content Placeholder 2"/>
          <p:cNvSpPr>
            <a:spLocks noGrp="1"/>
          </p:cNvSpPr>
          <p:nvPr>
            <p:ph idx="1"/>
          </p:nvPr>
        </p:nvSpPr>
        <p:spPr/>
        <p:txBody>
          <a:bodyPr/>
          <a:lstStyle/>
          <a:p>
            <a:pPr marL="0" indent="0">
              <a:buNone/>
            </a:pPr>
            <a:r>
              <a:rPr lang="en-GB" dirty="0"/>
              <a:t>To perform this, money and materials are not necessary. Virtue is the prime requisite, the heart is the altar, thoughts are the offerings, and delight is the ultimate fruit. One must undertake actions in this spirit for the attainment of Supreme Delight, the delight of Life, the delight of the Spirit and the delight that is Divine. </a:t>
            </a:r>
            <a:r>
              <a:rPr lang="en-GB" dirty="0" err="1"/>
              <a:t>Jnana</a:t>
            </a:r>
            <a:r>
              <a:rPr lang="en-GB" dirty="0"/>
              <a:t> </a:t>
            </a:r>
            <a:r>
              <a:rPr lang="en-GB" dirty="0" err="1"/>
              <a:t>yajna</a:t>
            </a:r>
            <a:r>
              <a:rPr lang="en-GB" dirty="0"/>
              <a:t> is the performance of action, discarding the spirit of attachment and ego. Trying to live with self-realisation is the essence of </a:t>
            </a:r>
            <a:r>
              <a:rPr lang="en-GB" dirty="0" err="1"/>
              <a:t>jnana</a:t>
            </a:r>
            <a:r>
              <a:rPr lang="en-GB" dirty="0"/>
              <a:t> </a:t>
            </a:r>
            <a:r>
              <a:rPr lang="en-GB" dirty="0" err="1"/>
              <a:t>yajna</a:t>
            </a:r>
            <a:r>
              <a:rPr lang="en-GB" dirty="0"/>
              <a:t>.</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10196945" y="4160025"/>
            <a:ext cx="1995055" cy="2697976"/>
          </a:xfrm>
          <a:prstGeom prst="rect">
            <a:avLst/>
          </a:prstGeom>
        </p:spPr>
      </p:pic>
    </p:spTree>
    <p:extLst>
      <p:ext uri="{BB962C8B-B14F-4D97-AF65-F5344CB8AC3E}">
        <p14:creationId xmlns:p14="http://schemas.microsoft.com/office/powerpoint/2010/main" val="1910744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Source of relationships</a:t>
            </a:r>
            <a:endParaRPr lang="en-IN" dirty="0"/>
          </a:p>
        </p:txBody>
      </p:sp>
      <p:sp>
        <p:nvSpPr>
          <p:cNvPr id="3" name="Content Placeholder 2"/>
          <p:cNvSpPr>
            <a:spLocks noGrp="1"/>
          </p:cNvSpPr>
          <p:nvPr>
            <p:ph idx="1"/>
          </p:nvPr>
        </p:nvSpPr>
        <p:spPr/>
        <p:txBody>
          <a:bodyPr/>
          <a:lstStyle/>
          <a:p>
            <a:pPr marL="0" indent="0">
              <a:buNone/>
            </a:pPr>
            <a:r>
              <a:rPr lang="en-GB" dirty="0"/>
              <a:t>“Who are you? Whence have you come? Whither do you go?” We are in a pitiable plight, harping on “mine” and “thine” and not knowing the answers to these questions. Where were you before your birth? Where would you be after death? Who are your children? Who are your friends? Man has none to call his own. All these relationships arise from selfish attachments and do not indicate any permanent bond.</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4228667" y="4212214"/>
            <a:ext cx="3737697" cy="2645786"/>
          </a:xfrm>
          <a:prstGeom prst="rect">
            <a:avLst/>
          </a:prstGeom>
        </p:spPr>
      </p:pic>
    </p:spTree>
    <p:extLst>
      <p:ext uri="{BB962C8B-B14F-4D97-AF65-F5344CB8AC3E}">
        <p14:creationId xmlns:p14="http://schemas.microsoft.com/office/powerpoint/2010/main" val="912404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Bodies are vestments</a:t>
            </a:r>
            <a:endParaRPr lang="en-IN" dirty="0"/>
          </a:p>
        </p:txBody>
      </p:sp>
      <p:sp>
        <p:nvSpPr>
          <p:cNvPr id="3" name="Content Placeholder 2"/>
          <p:cNvSpPr>
            <a:spLocks noGrp="1"/>
          </p:cNvSpPr>
          <p:nvPr>
            <p:ph idx="1"/>
          </p:nvPr>
        </p:nvSpPr>
        <p:spPr/>
        <p:txBody>
          <a:bodyPr/>
          <a:lstStyle/>
          <a:p>
            <a:pPr marL="0" indent="0">
              <a:buNone/>
            </a:pPr>
            <a:r>
              <a:rPr lang="en-GB" dirty="0"/>
              <a:t>“Recognise this truth”, Krishna told </a:t>
            </a:r>
            <a:r>
              <a:rPr lang="en-GB" dirty="0" err="1"/>
              <a:t>Arjuna</a:t>
            </a:r>
            <a:r>
              <a:rPr lang="en-GB" dirty="0"/>
              <a:t>. “Do not entertain the attitude of weakness and illusion, proceeding from ignorance. Do not become feeble-hearted by calling these people your uncles, gurus, friends and sires.” Emphasising further, Krishna said, “O </a:t>
            </a:r>
            <a:r>
              <a:rPr lang="en-GB" dirty="0" err="1"/>
              <a:t>Arjuna</a:t>
            </a:r>
            <a:r>
              <a:rPr lang="en-GB" dirty="0"/>
              <a:t>! You are not the killer and they are not killed. These bodies resemble mere vestments. None feels sorry to throw away old and soiled garments. All these bodies are like worn-out dispensable garments.”</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4356389" y="4572000"/>
            <a:ext cx="3491802" cy="2286000"/>
          </a:xfrm>
          <a:prstGeom prst="rect">
            <a:avLst/>
          </a:prstGeom>
        </p:spPr>
      </p:pic>
    </p:spTree>
    <p:extLst>
      <p:ext uri="{BB962C8B-B14F-4D97-AF65-F5344CB8AC3E}">
        <p14:creationId xmlns:p14="http://schemas.microsoft.com/office/powerpoint/2010/main" val="3526402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sharpenSoften amount="-50000"/>
                    </a14:imgEffect>
                    <a14:imgEffect>
                      <a14:brightnessContrast contrast="-20000"/>
                    </a14:imgEffect>
                  </a14:imgLayer>
                </a14:imgProps>
              </a:ext>
            </a:extLst>
          </a:blip>
          <a:stretch>
            <a:fillRect/>
          </a:stretch>
        </p:blipFill>
        <p:spPr>
          <a:xfrm>
            <a:off x="0" y="0"/>
            <a:ext cx="12192000" cy="6880307"/>
          </a:xfrm>
          <a:prstGeom prst="rect">
            <a:avLst/>
          </a:prstGeom>
        </p:spPr>
      </p:pic>
      <p:sp>
        <p:nvSpPr>
          <p:cNvPr id="2" name="Title 1"/>
          <p:cNvSpPr>
            <a:spLocks noGrp="1"/>
          </p:cNvSpPr>
          <p:nvPr>
            <p:ph type="title"/>
          </p:nvPr>
        </p:nvSpPr>
        <p:spPr/>
        <p:txBody>
          <a:bodyPr/>
          <a:lstStyle/>
          <a:p>
            <a:r>
              <a:rPr lang="en-GB" dirty="0" err="1" smtClean="0"/>
              <a:t>Arjuna’s</a:t>
            </a:r>
            <a:r>
              <a:rPr lang="en-GB" dirty="0" smtClean="0"/>
              <a:t> doubt</a:t>
            </a:r>
            <a:endParaRPr lang="en-IN" dirty="0"/>
          </a:p>
        </p:txBody>
      </p:sp>
      <p:sp>
        <p:nvSpPr>
          <p:cNvPr id="3" name="Content Placeholder 2"/>
          <p:cNvSpPr>
            <a:spLocks noGrp="1"/>
          </p:cNvSpPr>
          <p:nvPr>
            <p:ph idx="1"/>
          </p:nvPr>
        </p:nvSpPr>
        <p:spPr/>
        <p:txBody>
          <a:bodyPr>
            <a:normAutofit fontScale="92500"/>
          </a:bodyPr>
          <a:lstStyle/>
          <a:p>
            <a:pPr marL="0" indent="0">
              <a:buNone/>
            </a:pPr>
            <a:r>
              <a:rPr lang="en-GB" dirty="0" err="1"/>
              <a:t>Arjuna</a:t>
            </a:r>
            <a:r>
              <a:rPr lang="en-GB" dirty="0"/>
              <a:t> had a doubt. </a:t>
            </a:r>
            <a:endParaRPr lang="en-GB" dirty="0" smtClean="0"/>
          </a:p>
          <a:p>
            <a:pPr marL="0" indent="0">
              <a:buNone/>
            </a:pPr>
            <a:r>
              <a:rPr lang="en-GB" sz="4800" dirty="0" smtClean="0"/>
              <a:t>“</a:t>
            </a:r>
            <a:r>
              <a:rPr lang="en-GB" sz="4800" dirty="0"/>
              <a:t>It may be proper to compare the bodies of people who are eighty, ninety or a hundred years old to disposable garments; how is it proper to compare the bodies of those who are five or ten years old to clothes which have served their purpose?</a:t>
            </a:r>
            <a:endParaRPr lang="en-IN" sz="4800" dirty="0"/>
          </a:p>
          <a:p>
            <a:pPr marL="0" indent="0">
              <a:buNone/>
            </a:pPr>
            <a:endParaRPr lang="en-IN" dirty="0"/>
          </a:p>
        </p:txBody>
      </p:sp>
    </p:spTree>
    <p:extLst>
      <p:ext uri="{BB962C8B-B14F-4D97-AF65-F5344CB8AC3E}">
        <p14:creationId xmlns:p14="http://schemas.microsoft.com/office/powerpoint/2010/main" val="1589241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Krishna’s illustration</a:t>
            </a:r>
            <a:endParaRPr lang="en-IN" dirty="0"/>
          </a:p>
        </p:txBody>
      </p:sp>
      <p:sp>
        <p:nvSpPr>
          <p:cNvPr id="3" name="Content Placeholder 2"/>
          <p:cNvSpPr>
            <a:spLocks noGrp="1"/>
          </p:cNvSpPr>
          <p:nvPr>
            <p:ph idx="1"/>
          </p:nvPr>
        </p:nvSpPr>
        <p:spPr/>
        <p:txBody>
          <a:bodyPr>
            <a:normAutofit fontScale="92500" lnSpcReduction="10000"/>
          </a:bodyPr>
          <a:lstStyle/>
          <a:p>
            <a:pPr marL="0" indent="0">
              <a:buNone/>
            </a:pPr>
            <a:r>
              <a:rPr lang="en-GB" dirty="0"/>
              <a:t>Krishna answered </a:t>
            </a:r>
            <a:r>
              <a:rPr lang="en-GB" dirty="0" err="1"/>
              <a:t>Arjuna</a:t>
            </a:r>
            <a:r>
              <a:rPr lang="en-GB" dirty="0"/>
              <a:t>, “You do not have the authority to decide which is old and which is new. Such discrimination has not yet developed in you.” I am giving one small illustration. Ten years ago you purchased a piece of cloth, kept it somewhere and forgot about it. When you happen to open the </a:t>
            </a:r>
            <a:r>
              <a:rPr lang="en-GB" dirty="0" err="1"/>
              <a:t>almirah</a:t>
            </a:r>
            <a:r>
              <a:rPr lang="en-GB" dirty="0"/>
              <a:t> now, that cloth attracts your attention. At once you take it to a tailor and have a coat made out of it. When you put on this new coat, you feel happy that you are donning it. But when you bend forward the coat gets torn. You feel sorry that your new coat is torn. Though the coat is new, the cloth is of old stock. Likewise, the bodies of a young person may appear as new and fresh, but may be of old stock belonging to some previous births. Just as the garment is the cloak for the body, the body is the vesture of the spirit. Krishna thus compared the body to a garment which gets soiled and worn-out, drops off and is reduced to ashes.</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9334500" y="0"/>
            <a:ext cx="2857500" cy="1600200"/>
          </a:xfrm>
          <a:prstGeom prst="rect">
            <a:avLst/>
          </a:prstGeom>
        </p:spPr>
      </p:pic>
    </p:spTree>
    <p:extLst>
      <p:ext uri="{BB962C8B-B14F-4D97-AF65-F5344CB8AC3E}">
        <p14:creationId xmlns:p14="http://schemas.microsoft.com/office/powerpoint/2010/main" val="919471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Death is the dress of life</a:t>
            </a:r>
            <a:endParaRPr lang="en-IN" dirty="0"/>
          </a:p>
        </p:txBody>
      </p:sp>
      <p:sp>
        <p:nvSpPr>
          <p:cNvPr id="3" name="Content Placeholder 2"/>
          <p:cNvSpPr>
            <a:spLocks noGrp="1"/>
          </p:cNvSpPr>
          <p:nvPr>
            <p:ph idx="1"/>
          </p:nvPr>
        </p:nvSpPr>
        <p:spPr/>
        <p:txBody>
          <a:bodyPr/>
          <a:lstStyle/>
          <a:p>
            <a:pPr marL="0" indent="0">
              <a:buNone/>
            </a:pPr>
            <a:r>
              <a:rPr lang="en-GB" dirty="0"/>
              <a:t>“Death is the dress of life.” At the time of death, we cast off one dress and don another. No one laments when he is told that fire is hot or ice is cold. It is quite a natural phenomenon. Similarly, it is natural for the body that is born, to die. To lament over it, is sheer ignorance. The knowledge of the Self is essential to exterminate this ignorance. It is the duty of every individual to acquire this self-knowledge, to recognise the true destination of life and to strive to merge in the sacredness of Divinity.</a:t>
            </a:r>
            <a:endParaRPr lang="en-IN" dirty="0"/>
          </a:p>
          <a:p>
            <a:pPr marL="0" indent="0">
              <a:buNone/>
            </a:pPr>
            <a:endParaRPr lang="en-IN" dirty="0"/>
          </a:p>
        </p:txBody>
      </p:sp>
      <p:pic>
        <p:nvPicPr>
          <p:cNvPr id="4" name="Picture 3"/>
          <p:cNvPicPr>
            <a:picLocks noChangeAspect="1"/>
          </p:cNvPicPr>
          <p:nvPr/>
        </p:nvPicPr>
        <p:blipFill rotWithShape="1">
          <a:blip r:embed="rId2"/>
          <a:srcRect b="9809"/>
          <a:stretch/>
        </p:blipFill>
        <p:spPr>
          <a:xfrm>
            <a:off x="4349027" y="4599462"/>
            <a:ext cx="3492646" cy="2258538"/>
          </a:xfrm>
          <a:prstGeom prst="rect">
            <a:avLst/>
          </a:prstGeom>
        </p:spPr>
      </p:pic>
    </p:spTree>
    <p:extLst>
      <p:ext uri="{BB962C8B-B14F-4D97-AF65-F5344CB8AC3E}">
        <p14:creationId xmlns:p14="http://schemas.microsoft.com/office/powerpoint/2010/main" val="36106850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dirty="0" smtClean="0"/>
              <a:t>Carry on the fight against evil</a:t>
            </a:r>
            <a:endParaRPr lang="en-IN" dirty="0"/>
          </a:p>
        </p:txBody>
      </p:sp>
      <p:sp>
        <p:nvSpPr>
          <p:cNvPr id="3" name="Content Placeholder 2"/>
          <p:cNvSpPr>
            <a:spLocks noGrp="1"/>
          </p:cNvSpPr>
          <p:nvPr>
            <p:ph idx="1"/>
          </p:nvPr>
        </p:nvSpPr>
        <p:spPr/>
        <p:txBody>
          <a:bodyPr/>
          <a:lstStyle/>
          <a:p>
            <a:pPr marL="0" indent="0">
              <a:buNone/>
            </a:pPr>
            <a:r>
              <a:rPr lang="en-GB" dirty="0"/>
              <a:t>“O, </a:t>
            </a:r>
            <a:r>
              <a:rPr lang="en-GB" dirty="0" err="1"/>
              <a:t>Arjuna</a:t>
            </a:r>
            <a:r>
              <a:rPr lang="en-GB" dirty="0"/>
              <a:t>! Do not feel that you are fighting your relations and friends. Consider that you are fighting your own vile tendencies. These enter your nature like friends and then torment you like foes. Therefore, with the support of good qualities, you should fight against your evil qualities. Continuing to think of Me always, carry on the fight,” Krishna advised.</a:t>
            </a:r>
            <a:endParaRPr lang="en-IN" dirty="0"/>
          </a:p>
          <a:p>
            <a:pPr marL="0" indent="0">
              <a:buNone/>
            </a:pPr>
            <a:endParaRPr lang="en-IN" dirty="0"/>
          </a:p>
        </p:txBody>
      </p:sp>
    </p:spTree>
    <p:extLst>
      <p:ext uri="{BB962C8B-B14F-4D97-AF65-F5344CB8AC3E}">
        <p14:creationId xmlns:p14="http://schemas.microsoft.com/office/powerpoint/2010/main" val="1634250508"/>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rgbClr val="9CC3E5"/>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114</TotalTime>
  <Words>2057</Words>
  <Application>Microsoft Office PowerPoint</Application>
  <PresentationFormat>Widescreen</PresentationFormat>
  <Paragraphs>51</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Mangal</vt:lpstr>
      <vt:lpstr>Office Theme</vt:lpstr>
      <vt:lpstr>  JNANA YAGNA  </vt:lpstr>
      <vt:lpstr>Way to Adwaitha</vt:lpstr>
      <vt:lpstr>Jnana can dispel ignorance</vt:lpstr>
      <vt:lpstr>Sacred Yoga of Spiritual Wisdom- Jnana Yagna</vt:lpstr>
      <vt:lpstr>How to perform Jnana Yagna?</vt:lpstr>
      <vt:lpstr>The flame of Jnana</vt:lpstr>
      <vt:lpstr>Why caste?</vt:lpstr>
      <vt:lpstr>The Purusha and castes</vt:lpstr>
      <vt:lpstr>Thorn example</vt:lpstr>
      <vt:lpstr>The current scenario of caste</vt:lpstr>
      <vt:lpstr>Wisdom as boat and fire</vt:lpstr>
      <vt:lpstr>Wisdom as a sword</vt:lpstr>
      <vt:lpstr>Back to the essence of Nishkama Karma</vt:lpstr>
      <vt:lpstr>Live with self-realisation</vt:lpstr>
      <vt:lpstr>Source of relationships</vt:lpstr>
      <vt:lpstr>Bodies are vestments</vt:lpstr>
      <vt:lpstr>Arjuna’s doubt</vt:lpstr>
      <vt:lpstr>Krishna’s illustration</vt:lpstr>
      <vt:lpstr>Death is the dress of life</vt:lpstr>
      <vt:lpstr>Carry on the fight against evil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JNANA YAGNA  </dc:title>
  <dc:creator>JG</dc:creator>
  <cp:lastModifiedBy>JG</cp:lastModifiedBy>
  <cp:revision>10</cp:revision>
  <dcterms:created xsi:type="dcterms:W3CDTF">2025-03-17T05:41:55Z</dcterms:created>
  <dcterms:modified xsi:type="dcterms:W3CDTF">2025-03-17T07:45:37Z</dcterms:modified>
</cp:coreProperties>
</file>