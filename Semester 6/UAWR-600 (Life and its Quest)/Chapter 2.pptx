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84" r:id="rId1"/>
  </p:sldMasterIdLst>
  <p:sldIdLst>
    <p:sldId id="256" r:id="rId2"/>
    <p:sldId id="257" r:id="rId3"/>
    <p:sldId id="266" r:id="rId4"/>
    <p:sldId id="258" r:id="rId5"/>
    <p:sldId id="259" r:id="rId6"/>
    <p:sldId id="260" r:id="rId7"/>
    <p:sldId id="276" r:id="rId8"/>
    <p:sldId id="261" r:id="rId9"/>
    <p:sldId id="262" r:id="rId10"/>
    <p:sldId id="263" r:id="rId11"/>
    <p:sldId id="264" r:id="rId12"/>
    <p:sldId id="265" r:id="rId13"/>
    <p:sldId id="267" r:id="rId14"/>
    <p:sldId id="274" r:id="rId15"/>
    <p:sldId id="268" r:id="rId16"/>
    <p:sldId id="269" r:id="rId17"/>
    <p:sldId id="275" r:id="rId18"/>
    <p:sldId id="270" r:id="rId19"/>
    <p:sldId id="271" r:id="rId20"/>
    <p:sldId id="272" r:id="rId21"/>
    <p:sldId id="273"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69" d="100"/>
          <a:sy n="69" d="100"/>
        </p:scale>
        <p:origin x="756"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ableStyles" Target="tableStyle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presProps" Target="pres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smtClean="0"/>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07CA123A-E2C9-4706-88F9-BD7AF8A28BDC}" type="datetimeFigureOut">
              <a:rPr lang="en-IN" smtClean="0"/>
              <a:t>18-12-2023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1169F6-CB48-479D-B0AA-C9B7AB47F984}" type="slidenum">
              <a:rPr lang="en-IN" smtClean="0"/>
              <a:t>‹#›</a:t>
            </a:fld>
            <a:endParaRPr lang="en-IN"/>
          </a:p>
        </p:txBody>
      </p:sp>
    </p:spTree>
    <p:extLst>
      <p:ext uri="{BB962C8B-B14F-4D97-AF65-F5344CB8AC3E}">
        <p14:creationId xmlns:p14="http://schemas.microsoft.com/office/powerpoint/2010/main" val="3882881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CA123A-E2C9-4706-88F9-BD7AF8A28BDC}" type="datetimeFigureOut">
              <a:rPr lang="en-IN" smtClean="0"/>
              <a:t>18-12-2023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1169F6-CB48-479D-B0AA-C9B7AB47F984}" type="slidenum">
              <a:rPr lang="en-IN" smtClean="0"/>
              <a:t>‹#›</a:t>
            </a:fld>
            <a:endParaRPr lang="en-IN"/>
          </a:p>
        </p:txBody>
      </p:sp>
    </p:spTree>
    <p:extLst>
      <p:ext uri="{BB962C8B-B14F-4D97-AF65-F5344CB8AC3E}">
        <p14:creationId xmlns:p14="http://schemas.microsoft.com/office/powerpoint/2010/main" val="386157547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smtClean="0"/>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Edit Master text styles</a:t>
            </a:r>
          </a:p>
        </p:txBody>
      </p:sp>
      <p:sp>
        <p:nvSpPr>
          <p:cNvPr id="4" name="Date Placeholder 3"/>
          <p:cNvSpPr>
            <a:spLocks noGrp="1"/>
          </p:cNvSpPr>
          <p:nvPr>
            <p:ph type="dt" sz="half" idx="10"/>
          </p:nvPr>
        </p:nvSpPr>
        <p:spPr/>
        <p:txBody>
          <a:bodyPr/>
          <a:lstStyle/>
          <a:p>
            <a:fld id="{07CA123A-E2C9-4706-88F9-BD7AF8A28BDC}" type="datetimeFigureOut">
              <a:rPr lang="en-IN" smtClean="0"/>
              <a:t>18-12-2023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1169F6-CB48-479D-B0AA-C9B7AB47F984}" type="slidenum">
              <a:rPr lang="en-IN" smtClean="0"/>
              <a:t>‹#›</a:t>
            </a:fld>
            <a:endParaRPr lang="en-IN"/>
          </a:p>
        </p:txBody>
      </p:sp>
    </p:spTree>
    <p:extLst>
      <p:ext uri="{BB962C8B-B14F-4D97-AF65-F5344CB8AC3E}">
        <p14:creationId xmlns:p14="http://schemas.microsoft.com/office/powerpoint/2010/main" val="307112680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07CA123A-E2C9-4706-88F9-BD7AF8A28BDC}" type="datetimeFigureOut">
              <a:rPr lang="en-IN" smtClean="0"/>
              <a:t>18-12-2023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1169F6-CB48-479D-B0AA-C9B7AB47F984}" type="slidenum">
              <a:rPr lang="en-IN" smtClean="0"/>
              <a:t>‹#›</a:t>
            </a:fld>
            <a:endParaRPr lang="en-IN"/>
          </a:p>
        </p:txBody>
      </p:sp>
    </p:spTree>
    <p:extLst>
      <p:ext uri="{BB962C8B-B14F-4D97-AF65-F5344CB8AC3E}">
        <p14:creationId xmlns:p14="http://schemas.microsoft.com/office/powerpoint/2010/main" val="14232343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7CA123A-E2C9-4706-88F9-BD7AF8A28BDC}" type="datetimeFigureOut">
              <a:rPr lang="en-IN" smtClean="0"/>
              <a:t>18-12-2023</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311169F6-CB48-479D-B0AA-C9B7AB47F984}" type="slidenum">
              <a:rPr lang="en-IN" smtClean="0"/>
              <a:t>‹#›</a:t>
            </a:fld>
            <a:endParaRPr lang="en-IN"/>
          </a:p>
        </p:txBody>
      </p:sp>
    </p:spTree>
    <p:extLst>
      <p:ext uri="{BB962C8B-B14F-4D97-AF65-F5344CB8AC3E}">
        <p14:creationId xmlns:p14="http://schemas.microsoft.com/office/powerpoint/2010/main" val="50135544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07CA123A-E2C9-4706-88F9-BD7AF8A28BDC}" type="datetimeFigureOut">
              <a:rPr lang="en-IN" smtClean="0"/>
              <a:t>18-12-2023</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311169F6-CB48-479D-B0AA-C9B7AB47F984}" type="slidenum">
              <a:rPr lang="en-IN" smtClean="0"/>
              <a:t>‹#›</a:t>
            </a:fld>
            <a:endParaRPr lang="en-IN"/>
          </a:p>
        </p:txBody>
      </p:sp>
    </p:spTree>
    <p:extLst>
      <p:ext uri="{BB962C8B-B14F-4D97-AF65-F5344CB8AC3E}">
        <p14:creationId xmlns:p14="http://schemas.microsoft.com/office/powerpoint/2010/main" val="76389191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7CA123A-E2C9-4706-88F9-BD7AF8A28BDC}" type="datetimeFigureOut">
              <a:rPr lang="en-IN" smtClean="0"/>
              <a:t>18-12-2023</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311169F6-CB48-479D-B0AA-C9B7AB47F984}" type="slidenum">
              <a:rPr lang="en-IN" smtClean="0"/>
              <a:t>‹#›</a:t>
            </a:fld>
            <a:endParaRPr lang="en-IN"/>
          </a:p>
        </p:txBody>
      </p:sp>
    </p:spTree>
    <p:extLst>
      <p:ext uri="{BB962C8B-B14F-4D97-AF65-F5344CB8AC3E}">
        <p14:creationId xmlns:p14="http://schemas.microsoft.com/office/powerpoint/2010/main" val="207039883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7CA123A-E2C9-4706-88F9-BD7AF8A28BDC}" type="datetimeFigureOut">
              <a:rPr lang="en-IN" smtClean="0"/>
              <a:t>18-12-2023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1169F6-CB48-479D-B0AA-C9B7AB47F984}" type="slidenum">
              <a:rPr lang="en-IN" smtClean="0"/>
              <a:t>‹#›</a:t>
            </a:fld>
            <a:endParaRPr lang="en-IN"/>
          </a:p>
        </p:txBody>
      </p:sp>
    </p:spTree>
    <p:extLst>
      <p:ext uri="{BB962C8B-B14F-4D97-AF65-F5344CB8AC3E}">
        <p14:creationId xmlns:p14="http://schemas.microsoft.com/office/powerpoint/2010/main" val="56670656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Edit Master text styles</a:t>
            </a:r>
          </a:p>
        </p:txBody>
      </p:sp>
      <p:sp>
        <p:nvSpPr>
          <p:cNvPr id="5" name="Date Placeholder 4"/>
          <p:cNvSpPr>
            <a:spLocks noGrp="1"/>
          </p:cNvSpPr>
          <p:nvPr>
            <p:ph type="dt" sz="half" idx="10"/>
          </p:nvPr>
        </p:nvSpPr>
        <p:spPr/>
        <p:txBody>
          <a:bodyPr/>
          <a:lstStyle/>
          <a:p>
            <a:fld id="{07CA123A-E2C9-4706-88F9-BD7AF8A28BDC}" type="datetimeFigureOut">
              <a:rPr lang="en-IN" smtClean="0"/>
              <a:t>18-12-2023</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311169F6-CB48-479D-B0AA-C9B7AB47F984}" type="slidenum">
              <a:rPr lang="en-IN" smtClean="0"/>
              <a:t>‹#›</a:t>
            </a:fld>
            <a:endParaRPr lang="en-IN"/>
          </a:p>
        </p:txBody>
      </p:sp>
    </p:spTree>
    <p:extLst>
      <p:ext uri="{BB962C8B-B14F-4D97-AF65-F5344CB8AC3E}">
        <p14:creationId xmlns:p14="http://schemas.microsoft.com/office/powerpoint/2010/main" val="317963457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CA123A-E2C9-4706-88F9-BD7AF8A28BDC}" type="datetimeFigureOut">
              <a:rPr lang="en-IN" smtClean="0"/>
              <a:t>18-12-2023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1169F6-CB48-479D-B0AA-C9B7AB47F984}" type="slidenum">
              <a:rPr lang="en-IN" smtClean="0"/>
              <a:t>‹#›</a:t>
            </a:fld>
            <a:endParaRPr lang="en-IN"/>
          </a:p>
        </p:txBody>
      </p:sp>
    </p:spTree>
    <p:extLst>
      <p:ext uri="{BB962C8B-B14F-4D97-AF65-F5344CB8AC3E}">
        <p14:creationId xmlns:p14="http://schemas.microsoft.com/office/powerpoint/2010/main" val="40322972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07CA123A-E2C9-4706-88F9-BD7AF8A28BDC}" type="datetimeFigureOut">
              <a:rPr lang="en-IN" smtClean="0"/>
              <a:t>18-12-2023</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311169F6-CB48-479D-B0AA-C9B7AB47F984}" type="slidenum">
              <a:rPr lang="en-IN" smtClean="0"/>
              <a:t>‹#›</a:t>
            </a:fld>
            <a:endParaRPr lang="en-IN"/>
          </a:p>
        </p:txBody>
      </p:sp>
    </p:spTree>
    <p:extLst>
      <p:ext uri="{BB962C8B-B14F-4D97-AF65-F5344CB8AC3E}">
        <p14:creationId xmlns:p14="http://schemas.microsoft.com/office/powerpoint/2010/main" val="5685509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smtClean="0"/>
              <a:t>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7CA123A-E2C9-4706-88F9-BD7AF8A28BDC}" type="datetimeFigureOut">
              <a:rPr lang="en-IN" smtClean="0"/>
              <a:t>18-12-2023</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311169F6-CB48-479D-B0AA-C9B7AB47F984}" type="slidenum">
              <a:rPr lang="en-IN" smtClean="0"/>
              <a:t>‹#›</a:t>
            </a:fld>
            <a:endParaRPr lang="en-IN"/>
          </a:p>
        </p:txBody>
      </p:sp>
    </p:spTree>
    <p:extLst>
      <p:ext uri="{BB962C8B-B14F-4D97-AF65-F5344CB8AC3E}">
        <p14:creationId xmlns:p14="http://schemas.microsoft.com/office/powerpoint/2010/main" val="3892840985"/>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5.jpe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7.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6248400" cy="2387600"/>
          </a:xfrm>
        </p:spPr>
        <p:txBody>
          <a:bodyPr/>
          <a:lstStyle/>
          <a:p>
            <a:pPr algn="l"/>
            <a:r>
              <a:rPr lang="en-GB" dirty="0" smtClean="0"/>
              <a:t>NISHKAMA KARMA</a:t>
            </a:r>
            <a:endParaRPr lang="en-IN" dirty="0"/>
          </a:p>
        </p:txBody>
      </p:sp>
      <p:sp>
        <p:nvSpPr>
          <p:cNvPr id="3" name="Subtitle 2"/>
          <p:cNvSpPr>
            <a:spLocks noGrp="1"/>
          </p:cNvSpPr>
          <p:nvPr>
            <p:ph type="subTitle" idx="1"/>
          </p:nvPr>
        </p:nvSpPr>
        <p:spPr/>
        <p:txBody>
          <a:bodyPr/>
          <a:lstStyle/>
          <a:p>
            <a:pPr algn="l"/>
            <a:r>
              <a:rPr lang="en-GB" dirty="0" smtClean="0"/>
              <a:t>Chapter 2 in SSB 1979</a:t>
            </a:r>
            <a:endParaRPr lang="en-IN" dirty="0"/>
          </a:p>
        </p:txBody>
      </p:sp>
      <p:pic>
        <p:nvPicPr>
          <p:cNvPr id="5" name="Picture 4"/>
          <p:cNvPicPr>
            <a:picLocks noChangeAspect="1"/>
          </p:cNvPicPr>
          <p:nvPr/>
        </p:nvPicPr>
        <p:blipFill>
          <a:blip r:embed="rId2"/>
          <a:stretch>
            <a:fillRect/>
          </a:stretch>
        </p:blipFill>
        <p:spPr>
          <a:xfrm>
            <a:off x="7772400" y="0"/>
            <a:ext cx="4449635" cy="6858000"/>
          </a:xfrm>
          <a:prstGeom prst="rect">
            <a:avLst/>
          </a:prstGeom>
        </p:spPr>
      </p:pic>
    </p:spTree>
    <p:extLst>
      <p:ext uri="{BB962C8B-B14F-4D97-AF65-F5344CB8AC3E}">
        <p14:creationId xmlns:p14="http://schemas.microsoft.com/office/powerpoint/2010/main" val="149419719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1690687"/>
            <a:ext cx="10515600" cy="4486275"/>
          </a:xfrm>
        </p:spPr>
        <p:txBody>
          <a:bodyPr/>
          <a:lstStyle/>
          <a:p>
            <a:pPr marL="0" indent="0">
              <a:buNone/>
            </a:pPr>
            <a:r>
              <a:rPr lang="en-GB" dirty="0"/>
              <a:t>Discourse delivered on the occasion of </a:t>
            </a:r>
            <a:r>
              <a:rPr lang="en-GB" dirty="0" smtClean="0"/>
              <a:t>the</a:t>
            </a:r>
            <a:r>
              <a:rPr lang="en-IN" dirty="0" smtClean="0"/>
              <a:t> </a:t>
            </a:r>
            <a:r>
              <a:rPr lang="en-GB" dirty="0" smtClean="0"/>
              <a:t>inauguration </a:t>
            </a:r>
            <a:r>
              <a:rPr lang="en-GB" dirty="0"/>
              <a:t>of the All India Sri Sathya Sai </a:t>
            </a:r>
            <a:r>
              <a:rPr lang="en-GB" dirty="0" err="1"/>
              <a:t>Seva</a:t>
            </a:r>
            <a:r>
              <a:rPr lang="en-GB" dirty="0"/>
              <a:t> </a:t>
            </a:r>
            <a:r>
              <a:rPr lang="en-GB" dirty="0" smtClean="0"/>
              <a:t>Dal</a:t>
            </a:r>
            <a:r>
              <a:rPr lang="en-IN" dirty="0" smtClean="0"/>
              <a:t> </a:t>
            </a:r>
            <a:r>
              <a:rPr lang="en-GB" dirty="0" smtClean="0"/>
              <a:t>District </a:t>
            </a:r>
            <a:r>
              <a:rPr lang="en-GB" dirty="0"/>
              <a:t>Convenors’ Central Training Camp, to </a:t>
            </a:r>
            <a:r>
              <a:rPr lang="en-GB" dirty="0" smtClean="0"/>
              <a:t>its</a:t>
            </a:r>
            <a:r>
              <a:rPr lang="en-IN" dirty="0" smtClean="0"/>
              <a:t> </a:t>
            </a:r>
            <a:r>
              <a:rPr lang="en-GB" dirty="0" smtClean="0"/>
              <a:t>delegates </a:t>
            </a:r>
            <a:r>
              <a:rPr lang="en-GB" dirty="0"/>
              <a:t>and to the participants in the Sri Sathya </a:t>
            </a:r>
            <a:r>
              <a:rPr lang="en-GB" dirty="0" smtClean="0"/>
              <a:t>Sai</a:t>
            </a:r>
            <a:r>
              <a:rPr lang="en-IN" dirty="0" smtClean="0"/>
              <a:t> </a:t>
            </a:r>
            <a:r>
              <a:rPr lang="en-GB" dirty="0" smtClean="0"/>
              <a:t>Summer </a:t>
            </a:r>
            <a:r>
              <a:rPr lang="en-GB" dirty="0"/>
              <a:t>Course in Indian Culture and Spirituality</a:t>
            </a:r>
            <a:r>
              <a:rPr lang="en-GB" dirty="0" smtClean="0"/>
              <a:t>.</a:t>
            </a:r>
          </a:p>
          <a:p>
            <a:pPr marL="0" indent="0">
              <a:buNone/>
            </a:pPr>
            <a:endParaRPr lang="en-IN" dirty="0"/>
          </a:p>
          <a:p>
            <a:pPr marL="0" indent="0">
              <a:buNone/>
            </a:pPr>
            <a:endParaRPr lang="en-IN" dirty="0"/>
          </a:p>
        </p:txBody>
      </p:sp>
    </p:spTree>
    <p:extLst>
      <p:ext uri="{BB962C8B-B14F-4D97-AF65-F5344CB8AC3E}">
        <p14:creationId xmlns:p14="http://schemas.microsoft.com/office/powerpoint/2010/main" val="2877048763"/>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a:xfrm>
            <a:off x="838200" y="1792287"/>
            <a:ext cx="10515600" cy="4351338"/>
          </a:xfrm>
        </p:spPr>
        <p:txBody>
          <a:bodyPr/>
          <a:lstStyle/>
          <a:p>
            <a:pPr marL="0" indent="0">
              <a:buNone/>
            </a:pPr>
            <a:r>
              <a:rPr lang="en-GB" dirty="0" smtClean="0"/>
              <a:t>The Bhagavad Gita has proclaimed the path of </a:t>
            </a:r>
            <a:r>
              <a:rPr lang="en-GB" dirty="0" err="1"/>
              <a:t>N</a:t>
            </a:r>
            <a:r>
              <a:rPr lang="en-GB" dirty="0" err="1" smtClean="0"/>
              <a:t>ishkama</a:t>
            </a:r>
            <a:r>
              <a:rPr lang="en-GB" dirty="0" smtClean="0"/>
              <a:t> Karma as the royal road to perfection. It exhorts man not to crave for the fruits of action and merely perform one’s duties in a detached manner, leaving the results thereof to the Lord. </a:t>
            </a:r>
          </a:p>
          <a:p>
            <a:pPr marL="0" indent="0">
              <a:buNone/>
            </a:pPr>
            <a:endParaRPr lang="en-IN" dirty="0"/>
          </a:p>
        </p:txBody>
      </p:sp>
      <p:pic>
        <p:nvPicPr>
          <p:cNvPr id="2050" name="Picture 2" descr="The Bhagavad Gita - Expert's View - Annenberg Learne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11247" y="3097789"/>
            <a:ext cx="5289261" cy="292485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7862136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a:t>Can one who longs for a position of authority be of pure heart?</a:t>
            </a:r>
            <a:endParaRPr lang="en-IN" dirty="0"/>
          </a:p>
          <a:p>
            <a:r>
              <a:rPr lang="en-GB" dirty="0"/>
              <a:t>It is only when the servant of the nation becomes its leader that he can render selfless service</a:t>
            </a:r>
            <a:r>
              <a:rPr lang="en-GB" dirty="0" smtClean="0"/>
              <a:t>.</a:t>
            </a:r>
          </a:p>
          <a:p>
            <a:r>
              <a:rPr lang="en-GB" dirty="0" smtClean="0"/>
              <a:t>Narendra Modi?</a:t>
            </a:r>
          </a:p>
          <a:p>
            <a:pPr marL="0" indent="0">
              <a:buNone/>
            </a:pPr>
            <a:endParaRPr lang="en-IN" dirty="0"/>
          </a:p>
          <a:p>
            <a:pPr marL="0" indent="0">
              <a:buNone/>
            </a:pPr>
            <a:endParaRPr lang="en-IN" dirty="0"/>
          </a:p>
        </p:txBody>
      </p:sp>
      <p:pic>
        <p:nvPicPr>
          <p:cNvPr id="5" name="Picture 4"/>
          <p:cNvPicPr>
            <a:picLocks noChangeAspect="1"/>
          </p:cNvPicPr>
          <p:nvPr/>
        </p:nvPicPr>
        <p:blipFill>
          <a:blip r:embed="rId2"/>
          <a:stretch>
            <a:fillRect/>
          </a:stretch>
        </p:blipFill>
        <p:spPr>
          <a:xfrm>
            <a:off x="6261821" y="3077369"/>
            <a:ext cx="4433888" cy="3321136"/>
          </a:xfrm>
          <a:prstGeom prst="rect">
            <a:avLst/>
          </a:prstGeom>
        </p:spPr>
      </p:pic>
    </p:spTree>
    <p:extLst>
      <p:ext uri="{BB962C8B-B14F-4D97-AF65-F5344CB8AC3E}">
        <p14:creationId xmlns:p14="http://schemas.microsoft.com/office/powerpoint/2010/main" val="22389859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anim calcmode="lin" valueType="num">
                                      <p:cBhvr additive="base">
                                        <p:cTn id="7" dur="500" fill="hold"/>
                                        <p:tgtEl>
                                          <p:spTgt spid="3">
                                            <p:txEl>
                                              <p:pRg st="2" end="2"/>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2" end="2"/>
                                            </p:txEl>
                                          </p:spTgt>
                                        </p:tgtEl>
                                        <p:attrNameLst>
                                          <p:attrName>ppt_y</p:attrName>
                                        </p:attrNameLst>
                                      </p:cBhvr>
                                      <p:tavLst>
                                        <p:tav tm="0">
                                          <p:val>
                                            <p:strVal val="1+#ppt_h/2"/>
                                          </p:val>
                                        </p:tav>
                                        <p:tav tm="100000">
                                          <p:val>
                                            <p:strVal val="#ppt_y"/>
                                          </p:val>
                                        </p:tav>
                                      </p:tavLst>
                                    </p:anim>
                                  </p:childTnLst>
                                </p:cTn>
                              </p:par>
                            </p:childTnLst>
                          </p:cTn>
                        </p:par>
                      </p:childTnLst>
                    </p:cTn>
                  </p:par>
                  <p:par>
                    <p:cTn id="9" fill="hold">
                      <p:stCondLst>
                        <p:cond delay="indefinite"/>
                      </p:stCondLst>
                      <p:childTnLst>
                        <p:par>
                          <p:cTn id="10" fill="hold">
                            <p:stCondLst>
                              <p:cond delay="0"/>
                            </p:stCondLst>
                            <p:childTnLst>
                              <p:par>
                                <p:cTn id="11" presetID="2" presetClass="entr" presetSubtype="4" fill="hold" nodeType="clickEffect">
                                  <p:stCondLst>
                                    <p:cond delay="0"/>
                                  </p:stCondLst>
                                  <p:childTnLst>
                                    <p:set>
                                      <p:cBhvr>
                                        <p:cTn id="12" dur="1" fill="hold">
                                          <p:stCondLst>
                                            <p:cond delay="0"/>
                                          </p:stCondLst>
                                        </p:cTn>
                                        <p:tgtEl>
                                          <p:spTgt spid="5"/>
                                        </p:tgtEl>
                                        <p:attrNameLst>
                                          <p:attrName>style.visibility</p:attrName>
                                        </p:attrNameLst>
                                      </p:cBhvr>
                                      <p:to>
                                        <p:strVal val="visible"/>
                                      </p:to>
                                    </p:set>
                                    <p:anim calcmode="lin" valueType="num">
                                      <p:cBhvr additive="base">
                                        <p:cTn id="13" dur="500" fill="hold"/>
                                        <p:tgtEl>
                                          <p:spTgt spid="5"/>
                                        </p:tgtEl>
                                        <p:attrNameLst>
                                          <p:attrName>ppt_x</p:attrName>
                                        </p:attrNameLst>
                                      </p:cBhvr>
                                      <p:tavLst>
                                        <p:tav tm="0">
                                          <p:val>
                                            <p:strVal val="#ppt_x"/>
                                          </p:val>
                                        </p:tav>
                                        <p:tav tm="100000">
                                          <p:val>
                                            <p:strVal val="#ppt_x"/>
                                          </p:val>
                                        </p:tav>
                                      </p:tavLst>
                                    </p:anim>
                                    <p:anim calcmode="lin" valueType="num">
                                      <p:cBhvr additive="base">
                                        <p:cTn id="14" dur="500" fill="hold"/>
                                        <p:tgtEl>
                                          <p:spTgt spid="5"/>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lnSpcReduction="10000"/>
          </a:bodyPr>
          <a:lstStyle/>
          <a:p>
            <a:r>
              <a:rPr lang="en-GB" dirty="0"/>
              <a:t>In common parlance, it is natural to regard the </a:t>
            </a:r>
            <a:r>
              <a:rPr lang="en-GB" b="1" dirty="0"/>
              <a:t>performance of an action </a:t>
            </a:r>
            <a:r>
              <a:rPr lang="en-GB" dirty="0"/>
              <a:t>as karma. But, this is not correct. For example, to the question as to what someone is doing, we get the answer that he is writing. Here writing is considered karma. Similarly, when the same question is asked about someone else, we get the reply that he is not doing anything and is merely watching.</a:t>
            </a:r>
            <a:endParaRPr lang="en-IN" dirty="0"/>
          </a:p>
          <a:p>
            <a:r>
              <a:rPr lang="en-GB" dirty="0"/>
              <a:t>Watching is as much an action as writing is. So, too, sleeping and contemplation involve karma. As long as there is life-breath in man, he cannot desist from karma.</a:t>
            </a:r>
            <a:endParaRPr lang="en-IN" dirty="0"/>
          </a:p>
          <a:p>
            <a:r>
              <a:rPr lang="en-GB" dirty="0"/>
              <a:t>In fact, the very process of inhalation and exhalation is karma. There is no need to put in any special effort for work such as this.</a:t>
            </a:r>
            <a:endParaRPr lang="en-IN" dirty="0"/>
          </a:p>
          <a:p>
            <a:pPr marL="0" indent="0">
              <a:buNone/>
            </a:pPr>
            <a:endParaRPr lang="en-IN" dirty="0"/>
          </a:p>
        </p:txBody>
      </p:sp>
    </p:spTree>
    <p:extLst>
      <p:ext uri="{BB962C8B-B14F-4D97-AF65-F5344CB8AC3E}">
        <p14:creationId xmlns:p14="http://schemas.microsoft.com/office/powerpoint/2010/main" val="18393920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65125"/>
            <a:ext cx="10515600" cy="4351338"/>
          </a:xfrm>
        </p:spPr>
        <p:txBody>
          <a:bodyPr>
            <a:normAutofit/>
          </a:bodyPr>
          <a:lstStyle/>
          <a:p>
            <a:r>
              <a:rPr lang="en-GB" dirty="0"/>
              <a:t>Instead, we should undertake today what is known as </a:t>
            </a:r>
            <a:r>
              <a:rPr lang="en-GB" dirty="0" err="1"/>
              <a:t>N</a:t>
            </a:r>
            <a:r>
              <a:rPr lang="en-GB" dirty="0" err="1" smtClean="0"/>
              <a:t>ishkama</a:t>
            </a:r>
            <a:r>
              <a:rPr lang="en-GB" dirty="0" smtClean="0"/>
              <a:t> </a:t>
            </a:r>
            <a:r>
              <a:rPr lang="en-GB" dirty="0"/>
              <a:t>K</a:t>
            </a:r>
            <a:r>
              <a:rPr lang="en-GB" dirty="0" smtClean="0"/>
              <a:t>arma</a:t>
            </a:r>
            <a:r>
              <a:rPr lang="en-GB" dirty="0"/>
              <a:t>, or action performed without any desire for the fruit thereof. </a:t>
            </a:r>
            <a:endParaRPr lang="en-GB" dirty="0" smtClean="0"/>
          </a:p>
          <a:p>
            <a:r>
              <a:rPr lang="en-GB" dirty="0" smtClean="0"/>
              <a:t>Service </a:t>
            </a:r>
            <a:r>
              <a:rPr lang="en-GB" dirty="0"/>
              <a:t>of the downtrodden, the disabled and the diseased also constitutes an obligation in one’s daily life and cannot be described as being </a:t>
            </a:r>
            <a:r>
              <a:rPr lang="en-GB" dirty="0" err="1"/>
              <a:t>N</a:t>
            </a:r>
            <a:r>
              <a:rPr lang="en-GB" dirty="0" err="1" smtClean="0"/>
              <a:t>ishkama</a:t>
            </a:r>
            <a:r>
              <a:rPr lang="en-GB" dirty="0" smtClean="0"/>
              <a:t> </a:t>
            </a:r>
            <a:r>
              <a:rPr lang="en-GB" dirty="0"/>
              <a:t>K</a:t>
            </a:r>
            <a:r>
              <a:rPr lang="en-GB" dirty="0" smtClean="0"/>
              <a:t>arma </a:t>
            </a:r>
            <a:r>
              <a:rPr lang="en-GB" dirty="0"/>
              <a:t>or motiveless work. This is because man’s love for the universe is not without selfishness. </a:t>
            </a:r>
            <a:endParaRPr lang="en-GB" dirty="0" smtClean="0"/>
          </a:p>
          <a:p>
            <a:endParaRPr lang="en-GB" dirty="0" smtClean="0"/>
          </a:p>
        </p:txBody>
      </p:sp>
      <p:pic>
        <p:nvPicPr>
          <p:cNvPr id="5" name="Picture 4"/>
          <p:cNvPicPr>
            <a:picLocks noChangeAspect="1"/>
          </p:cNvPicPr>
          <p:nvPr/>
        </p:nvPicPr>
        <p:blipFill>
          <a:blip r:embed="rId2"/>
          <a:stretch>
            <a:fillRect/>
          </a:stretch>
        </p:blipFill>
        <p:spPr>
          <a:xfrm>
            <a:off x="7503349" y="2540794"/>
            <a:ext cx="4466978" cy="3577142"/>
          </a:xfrm>
          <a:prstGeom prst="rect">
            <a:avLst/>
          </a:prstGeom>
        </p:spPr>
      </p:pic>
    </p:spTree>
    <p:extLst>
      <p:ext uri="{BB962C8B-B14F-4D97-AF65-F5344CB8AC3E}">
        <p14:creationId xmlns:p14="http://schemas.microsoft.com/office/powerpoint/2010/main" val="283886249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lstStyle/>
          <a:p>
            <a:pPr marL="0" indent="0">
              <a:buNone/>
            </a:pPr>
            <a:r>
              <a:rPr lang="en-GB" dirty="0"/>
              <a:t>If man loves any object, he does so for his own sake and pleasure. Similarly, if a man conceals an object in a secure place, it is not on account of his love for the object but because of his love for himself. Thus, in the world, all kinds of love are born of love for oneself and not out of love for others. </a:t>
            </a:r>
            <a:endParaRPr lang="en-IN" dirty="0"/>
          </a:p>
          <a:p>
            <a:pPr marL="0" indent="0">
              <a:buNone/>
            </a:pPr>
            <a:endParaRPr lang="en-IN" dirty="0"/>
          </a:p>
        </p:txBody>
      </p:sp>
      <p:pic>
        <p:nvPicPr>
          <p:cNvPr id="5122" name="Picture 2" descr="Child Greedy Eats A Strawberry Stock Photo, Picture and Royalty Free Image.  Image 14508466."/>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408921" y="3367664"/>
            <a:ext cx="4208606" cy="280063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14198381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err="1"/>
              <a:t>Nishkama</a:t>
            </a:r>
            <a:r>
              <a:rPr lang="en-GB" dirty="0"/>
              <a:t> </a:t>
            </a:r>
            <a:r>
              <a:rPr lang="en-GB" dirty="0" smtClean="0"/>
              <a:t>Karma </a:t>
            </a:r>
            <a:r>
              <a:rPr lang="en-GB" dirty="0"/>
              <a:t>uproots the bestiality in man and confers divinity on him. Selfless service is a </a:t>
            </a:r>
            <a:r>
              <a:rPr lang="en-GB" b="1" dirty="0"/>
              <a:t>more exalted </a:t>
            </a:r>
            <a:r>
              <a:rPr lang="en-GB" dirty="0"/>
              <a:t>means of spiritual progress than such other ways as meditation, </a:t>
            </a:r>
            <a:r>
              <a:rPr lang="en-GB" dirty="0" err="1"/>
              <a:t>bhajan</a:t>
            </a:r>
            <a:r>
              <a:rPr lang="en-GB" dirty="0"/>
              <a:t> and yoga. This is so because when we undertake meditation, </a:t>
            </a:r>
            <a:r>
              <a:rPr lang="en-GB" dirty="0" err="1"/>
              <a:t>japa</a:t>
            </a:r>
            <a:r>
              <a:rPr lang="en-GB" dirty="0"/>
              <a:t>, or yoga, we do so for our own benefit and not for the good of others. These are aimed at subjugating one’s individual desires and securing happiness for oneself. What we should aspire for is the </a:t>
            </a:r>
            <a:r>
              <a:rPr lang="en-GB" b="1" dirty="0"/>
              <a:t>attainment of the good of others </a:t>
            </a:r>
            <a:r>
              <a:rPr lang="en-GB" dirty="0"/>
              <a:t>without any desire for personal gain</a:t>
            </a:r>
            <a:r>
              <a:rPr lang="en-GB" dirty="0" smtClean="0"/>
              <a:t>.</a:t>
            </a:r>
          </a:p>
          <a:p>
            <a:r>
              <a:rPr lang="en-GB" dirty="0" smtClean="0"/>
              <a:t>SELFLESS SERVICE &gt; MEDITATION, BHAJAN, YOGA</a:t>
            </a:r>
            <a:endParaRPr lang="en-IN" dirty="0"/>
          </a:p>
          <a:p>
            <a:endParaRPr lang="en-IN" dirty="0"/>
          </a:p>
        </p:txBody>
      </p:sp>
    </p:spTree>
    <p:extLst>
      <p:ext uri="{BB962C8B-B14F-4D97-AF65-F5344CB8AC3E}">
        <p14:creationId xmlns:p14="http://schemas.microsoft.com/office/powerpoint/2010/main" val="250365297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GB" sz="7200" dirty="0"/>
              <a:t>Man should regard </a:t>
            </a:r>
            <a:r>
              <a:rPr lang="en-GB" sz="7200" dirty="0" err="1"/>
              <a:t>N</a:t>
            </a:r>
            <a:r>
              <a:rPr lang="en-GB" sz="7200" dirty="0" err="1" smtClean="0"/>
              <a:t>ishkama</a:t>
            </a:r>
            <a:r>
              <a:rPr lang="en-GB" sz="7200" dirty="0" smtClean="0"/>
              <a:t> </a:t>
            </a:r>
            <a:r>
              <a:rPr lang="en-GB" sz="7200" dirty="0"/>
              <a:t>K</a:t>
            </a:r>
            <a:r>
              <a:rPr lang="en-GB" sz="7200" dirty="0" smtClean="0"/>
              <a:t>arma </a:t>
            </a:r>
            <a:r>
              <a:rPr lang="en-GB" sz="7200" dirty="0"/>
              <a:t>as the purpose for which he is given life.</a:t>
            </a:r>
            <a:endParaRPr lang="en-IN" sz="7200" dirty="0"/>
          </a:p>
          <a:p>
            <a:pPr marL="0" indent="0">
              <a:buNone/>
            </a:pPr>
            <a:endParaRPr lang="en-IN" dirty="0"/>
          </a:p>
        </p:txBody>
      </p:sp>
    </p:spTree>
    <p:extLst>
      <p:ext uri="{BB962C8B-B14F-4D97-AF65-F5344CB8AC3E}">
        <p14:creationId xmlns:p14="http://schemas.microsoft.com/office/powerpoint/2010/main" val="335448888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65125"/>
            <a:ext cx="10515600" cy="5811838"/>
          </a:xfrm>
        </p:spPr>
        <p:txBody>
          <a:bodyPr/>
          <a:lstStyle/>
          <a:p>
            <a:pPr marL="0" indent="0">
              <a:buNone/>
            </a:pPr>
            <a:r>
              <a:rPr lang="en-GB" dirty="0"/>
              <a:t>The word “duty” would have no meaning at all if there were only one individual. It assumes significance only if there is a society or a community, or at least two persons. Here we should understand two aspects closely related to “duty.” These may be termed “</a:t>
            </a:r>
            <a:r>
              <a:rPr lang="en-GB" b="1" dirty="0"/>
              <a:t>individual freedom</a:t>
            </a:r>
            <a:r>
              <a:rPr lang="en-GB" dirty="0"/>
              <a:t>” and “</a:t>
            </a:r>
            <a:r>
              <a:rPr lang="en-GB" b="1" dirty="0"/>
              <a:t>fundamental right</a:t>
            </a:r>
            <a:r>
              <a:rPr lang="en-GB" dirty="0"/>
              <a:t>.” “Individual freedom” refers to the freedom an individual has, whereas “fundamental right” brings into focus his relation to society. Man must endeavour to ensure that there is proper balance between the two</a:t>
            </a:r>
            <a:r>
              <a:rPr lang="en-GB" dirty="0" smtClean="0"/>
              <a:t>.</a:t>
            </a:r>
          </a:p>
          <a:p>
            <a:pPr marL="0" indent="0">
              <a:buNone/>
            </a:pPr>
            <a:endParaRPr lang="en-IN" dirty="0"/>
          </a:p>
        </p:txBody>
      </p:sp>
      <p:pic>
        <p:nvPicPr>
          <p:cNvPr id="5" name="Picture 4"/>
          <p:cNvPicPr>
            <a:picLocks noChangeAspect="1"/>
          </p:cNvPicPr>
          <p:nvPr/>
        </p:nvPicPr>
        <p:blipFill>
          <a:blip r:embed="rId2"/>
          <a:stretch>
            <a:fillRect/>
          </a:stretch>
        </p:blipFill>
        <p:spPr>
          <a:xfrm>
            <a:off x="3532290" y="3612572"/>
            <a:ext cx="5127420" cy="2871355"/>
          </a:xfrm>
          <a:prstGeom prst="rect">
            <a:avLst/>
          </a:prstGeom>
        </p:spPr>
      </p:pic>
      <p:sp>
        <p:nvSpPr>
          <p:cNvPr id="6" name="TextBox 5"/>
          <p:cNvSpPr txBox="1"/>
          <p:nvPr/>
        </p:nvSpPr>
        <p:spPr>
          <a:xfrm>
            <a:off x="3532290" y="3819297"/>
            <a:ext cx="2345707" cy="369332"/>
          </a:xfrm>
          <a:prstGeom prst="rect">
            <a:avLst/>
          </a:prstGeom>
          <a:noFill/>
        </p:spPr>
        <p:txBody>
          <a:bodyPr wrap="none" rtlCol="0">
            <a:spAutoFit/>
          </a:bodyPr>
          <a:lstStyle/>
          <a:p>
            <a:r>
              <a:rPr lang="en-GB" b="1" dirty="0" smtClean="0"/>
              <a:t>INDIVIDUAL FREEDOM</a:t>
            </a:r>
            <a:endParaRPr lang="en-IN" b="1" dirty="0"/>
          </a:p>
        </p:txBody>
      </p:sp>
      <p:sp>
        <p:nvSpPr>
          <p:cNvPr id="7" name="TextBox 6"/>
          <p:cNvSpPr txBox="1"/>
          <p:nvPr/>
        </p:nvSpPr>
        <p:spPr>
          <a:xfrm>
            <a:off x="6280798" y="3948545"/>
            <a:ext cx="2323585" cy="369332"/>
          </a:xfrm>
          <a:prstGeom prst="rect">
            <a:avLst/>
          </a:prstGeom>
          <a:noFill/>
        </p:spPr>
        <p:txBody>
          <a:bodyPr wrap="none" rtlCol="0">
            <a:spAutoFit/>
          </a:bodyPr>
          <a:lstStyle/>
          <a:p>
            <a:r>
              <a:rPr lang="en-GB" b="1" dirty="0" smtClean="0"/>
              <a:t>FUNDAMENTAL RIGHT</a:t>
            </a:r>
            <a:endParaRPr lang="en-IN" b="1" dirty="0"/>
          </a:p>
        </p:txBody>
      </p:sp>
    </p:spTree>
    <p:extLst>
      <p:ext uri="{BB962C8B-B14F-4D97-AF65-F5344CB8AC3E}">
        <p14:creationId xmlns:p14="http://schemas.microsoft.com/office/powerpoint/2010/main" val="11719192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GB" dirty="0"/>
              <a:t>We should seek only that kind of liberty which does not obstruct the freedom of others. Should you hamper the independence of another individual in the course of an egotistic display of your individual freedom, you are sure to be condemned by society. The man next to you enjoys the same amount of licence that your own individual freedom affords you.</a:t>
            </a:r>
            <a:endParaRPr lang="en-IN" dirty="0"/>
          </a:p>
          <a:p>
            <a:pPr marL="0" indent="0">
              <a:buNone/>
            </a:pPr>
            <a:endParaRPr lang="en-IN" dirty="0"/>
          </a:p>
        </p:txBody>
      </p:sp>
    </p:spTree>
    <p:extLst>
      <p:ext uri="{BB962C8B-B14F-4D97-AF65-F5344CB8AC3E}">
        <p14:creationId xmlns:p14="http://schemas.microsoft.com/office/powerpoint/2010/main" val="310737388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65125"/>
            <a:ext cx="10515600" cy="5811838"/>
          </a:xfrm>
        </p:spPr>
        <p:txBody>
          <a:bodyPr/>
          <a:lstStyle/>
          <a:p>
            <a:pPr marL="0" indent="0">
              <a:buNone/>
            </a:pPr>
            <a:r>
              <a:rPr lang="en-GB" dirty="0"/>
              <a:t>There is a small example to illustrate this: trying to make the most of your own individual freedom, you may gaily stroll down the road, wielding a large stick in your hand. Yet, a man coming from the opposite direction has just as much freedom to dodge the stick as you have to wield it. If you behave in a manner which impairs the freedom of another, you stand to receive societal disapproval or governmental censure. Thus, what we understand by the word “duty” is that the privileges and the rights enjoyed by us on account of our individual freedom, are also claimed by others who are around us</a:t>
            </a:r>
            <a:r>
              <a:rPr lang="en-GB" dirty="0" smtClean="0"/>
              <a:t>.</a:t>
            </a:r>
          </a:p>
          <a:p>
            <a:pPr marL="0" indent="0">
              <a:buNone/>
            </a:pPr>
            <a:endParaRPr lang="en-IN" dirty="0"/>
          </a:p>
          <a:p>
            <a:endParaRPr lang="en-IN" dirty="0"/>
          </a:p>
        </p:txBody>
      </p:sp>
      <p:pic>
        <p:nvPicPr>
          <p:cNvPr id="7170" name="Picture 2" descr="Images show moment Israeli was hit and killed by Palestinian truck | The  Times of Israel"/>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48157" y="3934691"/>
            <a:ext cx="5095298" cy="286291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3415911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dirty="0"/>
          </a:p>
        </p:txBody>
      </p:sp>
      <p:sp>
        <p:nvSpPr>
          <p:cNvPr id="3" name="Content Placeholder 2"/>
          <p:cNvSpPr>
            <a:spLocks noGrp="1"/>
          </p:cNvSpPr>
          <p:nvPr>
            <p:ph idx="1"/>
          </p:nvPr>
        </p:nvSpPr>
        <p:spPr/>
        <p:txBody>
          <a:bodyPr>
            <a:normAutofit/>
          </a:bodyPr>
          <a:lstStyle/>
          <a:p>
            <a:r>
              <a:rPr lang="en-GB" dirty="0"/>
              <a:t>It is puerile to say that God would do everything by Himself simply because He is omnipotent. Here is an illustration. There are two individuals who are devotees of the Lord. One of them prays to God for rain to prevent his crops from getting dried up. The other, however, prays to Him for the absence of rainfall for a few days in view of a grand marriage ceremony he had intended to perform in his house shortly. Thus, they put the Lord in a dilemma. Which devotee’s prayer should God answer? </a:t>
            </a:r>
            <a:endParaRPr lang="en-IN" dirty="0"/>
          </a:p>
        </p:txBody>
      </p:sp>
    </p:spTree>
    <p:extLst>
      <p:ext uri="{BB962C8B-B14F-4D97-AF65-F5344CB8AC3E}">
        <p14:creationId xmlns:p14="http://schemas.microsoft.com/office/powerpoint/2010/main" val="206042866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GB" dirty="0"/>
              <a:t>Here, we should ask ourselves the question as to whether God has received these prayers Himself directly or not. Even as there is a delegation of authority in the administration of a terrestrial kingdom by a ruler, by which various governmental functions are performed by several ministers who are assigned the charge of certain departments and portfolios, in running the affairs of the Cosmos, the Almighty God, too, assigns certain functions to certain gods like </a:t>
            </a:r>
            <a:r>
              <a:rPr lang="en-GB" dirty="0" err="1"/>
              <a:t>Indra</a:t>
            </a:r>
            <a:r>
              <a:rPr lang="en-GB" dirty="0"/>
              <a:t>, </a:t>
            </a:r>
            <a:r>
              <a:rPr lang="en-GB" dirty="0" err="1"/>
              <a:t>Varuna</a:t>
            </a:r>
            <a:r>
              <a:rPr lang="en-GB" dirty="0"/>
              <a:t>, and </a:t>
            </a:r>
            <a:r>
              <a:rPr lang="en-GB" dirty="0" err="1"/>
              <a:t>Rudra</a:t>
            </a:r>
            <a:r>
              <a:rPr lang="en-GB" dirty="0"/>
              <a:t>.</a:t>
            </a:r>
            <a:endParaRPr lang="en-IN" dirty="0"/>
          </a:p>
          <a:p>
            <a:pPr marL="0" indent="0">
              <a:buNone/>
            </a:pPr>
            <a:endParaRPr lang="en-IN" b="1" dirty="0"/>
          </a:p>
        </p:txBody>
      </p:sp>
    </p:spTree>
    <p:extLst>
      <p:ext uri="{BB962C8B-B14F-4D97-AF65-F5344CB8AC3E}">
        <p14:creationId xmlns:p14="http://schemas.microsoft.com/office/powerpoint/2010/main" val="83106768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r>
              <a:rPr lang="en-GB" dirty="0"/>
              <a:t>Just as all earthly matters are not taken directly to a king, but are presented to the concerned ministers for action, all prayers of man do not reach God Himself— they are attended to by His “ministers”, </a:t>
            </a:r>
            <a:r>
              <a:rPr lang="en-GB" dirty="0" err="1"/>
              <a:t>Indra</a:t>
            </a:r>
            <a:r>
              <a:rPr lang="en-GB" dirty="0"/>
              <a:t>, </a:t>
            </a:r>
            <a:r>
              <a:rPr lang="en-GB" dirty="0" err="1"/>
              <a:t>Varuna</a:t>
            </a:r>
            <a:r>
              <a:rPr lang="en-GB" dirty="0"/>
              <a:t> and others. </a:t>
            </a:r>
          </a:p>
          <a:p>
            <a:r>
              <a:rPr lang="en-GB" b="1" dirty="0" smtClean="0"/>
              <a:t>Only those prayers which have their origins in the spirit of </a:t>
            </a:r>
            <a:r>
              <a:rPr lang="en-GB" b="1" dirty="0" err="1" smtClean="0"/>
              <a:t>Nishkama</a:t>
            </a:r>
            <a:r>
              <a:rPr lang="en-GB" b="1" dirty="0" smtClean="0"/>
              <a:t> Karma</a:t>
            </a:r>
            <a:r>
              <a:rPr lang="en-GB" dirty="0" smtClean="0"/>
              <a:t>, infinite and pure love and an unsullied heart, reach the Lord directly. It is not possible for prayers of any other kind to reach Him directly.</a:t>
            </a:r>
            <a:endParaRPr lang="en-IN" dirty="0" smtClean="0"/>
          </a:p>
          <a:p>
            <a:endParaRPr lang="en-IN" dirty="0"/>
          </a:p>
        </p:txBody>
      </p:sp>
    </p:spTree>
    <p:extLst>
      <p:ext uri="{BB962C8B-B14F-4D97-AF65-F5344CB8AC3E}">
        <p14:creationId xmlns:p14="http://schemas.microsoft.com/office/powerpoint/2010/main" val="15126565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ntr" presetSubtype="4"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anim calcmode="lin" valueType="num">
                                      <p:cBhvr additive="base">
                                        <p:cTn id="7" dur="500" fill="hold"/>
                                        <p:tgtEl>
                                          <p:spTgt spid="3">
                                            <p:txEl>
                                              <p:pRg st="1" end="1"/>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1" end="1"/>
                                            </p:txEl>
                                          </p:spTgt>
                                        </p:tgtEl>
                                        <p:attrNameLst>
                                          <p:attrName>ppt_y</p:attrName>
                                        </p:attrNameLst>
                                      </p:cBhvr>
                                      <p:tavLst>
                                        <p:tav tm="0">
                                          <p:val>
                                            <p:strVal val="1+#ppt_h/2"/>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GB" dirty="0"/>
              <a:t>You may be thinking in this context that you are living as brothers in keeping with the laudable ideal of “Brotherhood of man and Fatherhood of God.” There is, however, a higher ideal that is to be sought after, for it is not uncommon to observe brothers quarrelling with one another and totally severing their connections. </a:t>
            </a:r>
            <a:endParaRPr lang="en-IN" dirty="0"/>
          </a:p>
        </p:txBody>
      </p:sp>
    </p:spTree>
    <p:extLst>
      <p:ext uri="{BB962C8B-B14F-4D97-AF65-F5344CB8AC3E}">
        <p14:creationId xmlns:p14="http://schemas.microsoft.com/office/powerpoint/2010/main" val="39696159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0" indent="0">
              <a:buNone/>
            </a:pPr>
            <a:r>
              <a:rPr lang="en-GB" dirty="0"/>
              <a:t>“</a:t>
            </a:r>
            <a:r>
              <a:rPr lang="en-GB" b="1" dirty="0" err="1"/>
              <a:t>Ekam</a:t>
            </a:r>
            <a:r>
              <a:rPr lang="en-GB" b="1" dirty="0"/>
              <a:t> sat </a:t>
            </a:r>
            <a:r>
              <a:rPr lang="en-GB" b="1" dirty="0" err="1"/>
              <a:t>viprah</a:t>
            </a:r>
            <a:r>
              <a:rPr lang="en-GB" b="1" dirty="0"/>
              <a:t> </a:t>
            </a:r>
            <a:r>
              <a:rPr lang="en-GB" b="1" dirty="0" err="1"/>
              <a:t>bahudha</a:t>
            </a:r>
            <a:r>
              <a:rPr lang="en-GB" b="1" dirty="0"/>
              <a:t> </a:t>
            </a:r>
            <a:r>
              <a:rPr lang="en-GB" b="1" dirty="0" err="1"/>
              <a:t>vadanthi</a:t>
            </a:r>
            <a:r>
              <a:rPr lang="en-GB" dirty="0"/>
              <a:t>”—the one truth is spoken of in different ways by the wise. “</a:t>
            </a:r>
            <a:r>
              <a:rPr lang="en-GB" b="1" dirty="0" err="1"/>
              <a:t>Ekoham</a:t>
            </a:r>
            <a:r>
              <a:rPr lang="en-GB" b="1" dirty="0"/>
              <a:t> </a:t>
            </a:r>
            <a:r>
              <a:rPr lang="en-GB" b="1" dirty="0" err="1"/>
              <a:t>bahusyam</a:t>
            </a:r>
            <a:r>
              <a:rPr lang="en-GB" dirty="0"/>
              <a:t>,” I am One; let Me be many. “</a:t>
            </a:r>
            <a:r>
              <a:rPr lang="en-GB" b="1" dirty="0" err="1"/>
              <a:t>Ekam</a:t>
            </a:r>
            <a:r>
              <a:rPr lang="en-GB" b="1" dirty="0"/>
              <a:t> </a:t>
            </a:r>
            <a:r>
              <a:rPr lang="en-GB" b="1" dirty="0" err="1"/>
              <a:t>eva</a:t>
            </a:r>
            <a:r>
              <a:rPr lang="en-GB" b="1" dirty="0"/>
              <a:t> </a:t>
            </a:r>
            <a:r>
              <a:rPr lang="en-GB" b="1" dirty="0" err="1"/>
              <a:t>advitiyam</a:t>
            </a:r>
            <a:r>
              <a:rPr lang="en-GB" b="1" dirty="0"/>
              <a:t> Brahma</a:t>
            </a:r>
            <a:r>
              <a:rPr lang="en-GB" dirty="0"/>
              <a:t>,” Brahman is only One, without a second. “</a:t>
            </a:r>
            <a:r>
              <a:rPr lang="en-GB" b="1" dirty="0" err="1"/>
              <a:t>Easwara</a:t>
            </a:r>
            <a:r>
              <a:rPr lang="en-GB" b="1" dirty="0"/>
              <a:t> </a:t>
            </a:r>
            <a:r>
              <a:rPr lang="en-GB" b="1" dirty="0" err="1"/>
              <a:t>sarva</a:t>
            </a:r>
            <a:r>
              <a:rPr lang="en-GB" b="1" dirty="0"/>
              <a:t> </a:t>
            </a:r>
            <a:r>
              <a:rPr lang="en-GB" b="1" dirty="0" err="1"/>
              <a:t>bhootanam</a:t>
            </a:r>
            <a:r>
              <a:rPr lang="en-GB" dirty="0"/>
              <a:t>”—God is in all beings. “</a:t>
            </a:r>
            <a:r>
              <a:rPr lang="en-GB" b="1" dirty="0" err="1"/>
              <a:t>Isavasyam</a:t>
            </a:r>
            <a:r>
              <a:rPr lang="en-GB" b="1" dirty="0"/>
              <a:t> </a:t>
            </a:r>
            <a:r>
              <a:rPr lang="en-GB" b="1" dirty="0" err="1"/>
              <a:t>idam</a:t>
            </a:r>
            <a:r>
              <a:rPr lang="en-GB" b="1" dirty="0"/>
              <a:t> </a:t>
            </a:r>
            <a:r>
              <a:rPr lang="en-GB" b="1" dirty="0" err="1"/>
              <a:t>sarvam</a:t>
            </a:r>
            <a:r>
              <a:rPr lang="en-GB" dirty="0"/>
              <a:t>”—The entire world is enveloped by the Lord. This is the inner meaning of these Upanishadic declarations—behind the apparent physical differences, the one basic Truth, the </a:t>
            </a:r>
            <a:r>
              <a:rPr lang="en-GB" dirty="0" err="1"/>
              <a:t>Atma</a:t>
            </a:r>
            <a:r>
              <a:rPr lang="en-GB" dirty="0"/>
              <a:t>, resides in all beings. We should, therefore, live our lives with a constant awareness of this profound verity.</a:t>
            </a:r>
            <a:endParaRPr lang="en-IN" dirty="0"/>
          </a:p>
          <a:p>
            <a:pPr marL="0" indent="0">
              <a:buNone/>
            </a:pPr>
            <a:endParaRPr lang="en-IN" dirty="0"/>
          </a:p>
        </p:txBody>
      </p:sp>
    </p:spTree>
    <p:extLst>
      <p:ext uri="{BB962C8B-B14F-4D97-AF65-F5344CB8AC3E}">
        <p14:creationId xmlns:p14="http://schemas.microsoft.com/office/powerpoint/2010/main" val="1361565741"/>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marL="0" indent="0">
              <a:buNone/>
            </a:pPr>
            <a:r>
              <a:rPr lang="en-GB" dirty="0"/>
              <a:t>Here is an illustration to explain that the good deeds do bring back good to oneself. Three cups of coffee were prepared in a home. The husband drank one cup and the wife, another. While they were debating as to whether they should share the third cup or let one of them have it, a friend called at the house and was cordially offered the coffee. The husband felt pleased that he had not only averted a quarrel with his wife but also performed the service of offering coffee to his friend. Three months later, the husband visited his friend’s house. The friend extended due hospitality and offered him a cup of coffee, reciprocating the favour he had received earlier. Had he not been given the cup of coffee three months earlier, he would not have returned the hospitality. So, we see that the householder got back his cup of coffee after three months. In the same manner, we are repaid for our deeds in some way or the other, whether we know it or not, and in the same coin.</a:t>
            </a:r>
            <a:endParaRPr lang="en-IN" dirty="0"/>
          </a:p>
          <a:p>
            <a:pPr marL="0" indent="0">
              <a:buNone/>
            </a:pPr>
            <a:endParaRPr lang="en-IN" dirty="0"/>
          </a:p>
        </p:txBody>
      </p:sp>
    </p:spTree>
    <p:extLst>
      <p:ext uri="{BB962C8B-B14F-4D97-AF65-F5344CB8AC3E}">
        <p14:creationId xmlns:p14="http://schemas.microsoft.com/office/powerpoint/2010/main" val="1269183454"/>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fontScale="92500" lnSpcReduction="10000"/>
          </a:bodyPr>
          <a:lstStyle/>
          <a:p>
            <a:pPr marL="0" indent="0">
              <a:buNone/>
            </a:pPr>
            <a:r>
              <a:rPr lang="en-GB" dirty="0"/>
              <a:t>If, without performing good deeds, you pray for personal gain, God merely listens to your entreaties, but does not favour you with His benediction. A story from the </a:t>
            </a:r>
            <a:r>
              <a:rPr lang="en-GB" dirty="0" err="1"/>
              <a:t>Mahabharatha</a:t>
            </a:r>
            <a:r>
              <a:rPr lang="en-GB" dirty="0"/>
              <a:t> portrays this succinctly. On an occasion, during the celebrations associated with the </a:t>
            </a:r>
            <a:r>
              <a:rPr lang="en-GB" dirty="0" err="1"/>
              <a:t>Sankranthi</a:t>
            </a:r>
            <a:r>
              <a:rPr lang="en-GB" dirty="0"/>
              <a:t> festival, Krishna was partaking of the freshly harvested sugarcane offered to Him by the </a:t>
            </a:r>
            <a:r>
              <a:rPr lang="en-GB" dirty="0" err="1"/>
              <a:t>gopis</a:t>
            </a:r>
            <a:r>
              <a:rPr lang="en-GB" dirty="0"/>
              <a:t> in accordance with the custom. As there were no machines those days, to squeeze the juice out of the sugarcane, Krishna had to cut it. While doing so, He inadvertently cut his little finger. Seeing blood on His finger, </a:t>
            </a:r>
            <a:r>
              <a:rPr lang="en-GB" dirty="0" err="1"/>
              <a:t>Sathyabhama</a:t>
            </a:r>
            <a:r>
              <a:rPr lang="en-GB" dirty="0"/>
              <a:t>, in her characteristic ego, ordered the </a:t>
            </a:r>
            <a:r>
              <a:rPr lang="en-GB" dirty="0" err="1"/>
              <a:t>gopis</a:t>
            </a:r>
            <a:r>
              <a:rPr lang="en-GB" dirty="0"/>
              <a:t> to go inside the house and fetch some cloth to bandage the finger. </a:t>
            </a:r>
            <a:r>
              <a:rPr lang="en-GB" dirty="0" err="1"/>
              <a:t>Draupadi</a:t>
            </a:r>
            <a:r>
              <a:rPr lang="en-GB" dirty="0"/>
              <a:t> who was also there, however, out of her love and concern for Krishna, immediately tore off a piece of cloth from the end of her sari and bandaged the Lord’s finger.</a:t>
            </a:r>
            <a:endParaRPr lang="en-IN" dirty="0"/>
          </a:p>
          <a:p>
            <a:pPr marL="0" indent="0">
              <a:buNone/>
            </a:pPr>
            <a:endParaRPr lang="en-IN" dirty="0"/>
          </a:p>
        </p:txBody>
      </p:sp>
    </p:spTree>
    <p:extLst>
      <p:ext uri="{BB962C8B-B14F-4D97-AF65-F5344CB8AC3E}">
        <p14:creationId xmlns:p14="http://schemas.microsoft.com/office/powerpoint/2010/main" val="27091036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normAutofit/>
          </a:bodyPr>
          <a:lstStyle/>
          <a:p>
            <a:pPr marL="0" indent="0">
              <a:buNone/>
            </a:pPr>
            <a:r>
              <a:rPr lang="en-GB" dirty="0"/>
              <a:t>Years later, when </a:t>
            </a:r>
            <a:r>
              <a:rPr lang="en-GB" dirty="0" err="1"/>
              <a:t>Dussasana</a:t>
            </a:r>
            <a:r>
              <a:rPr lang="en-GB" dirty="0"/>
              <a:t> brought </a:t>
            </a:r>
            <a:r>
              <a:rPr lang="en-GB" dirty="0" err="1"/>
              <a:t>Droupadi</a:t>
            </a:r>
            <a:r>
              <a:rPr lang="en-GB" dirty="0"/>
              <a:t> to the court of the </a:t>
            </a:r>
            <a:r>
              <a:rPr lang="en-GB" dirty="0" err="1"/>
              <a:t>Kauravas</a:t>
            </a:r>
            <a:r>
              <a:rPr lang="en-GB" dirty="0"/>
              <a:t> with the intention of humiliating her in public, she appealed to Krishna for His Divine intervention to save her honour. Krishna pondered over it for a few moments to see whether she deserved to be rescued from her present predicament by virtue of any related good deed done by her in the past, which could be recompensed. After a little deliberation, Krishna remembered that the tying of a bandage, improvised by her, at one time in the past, entitled her to receive a similar gift. Therefore, He sent her an endless sari with the same little finger that had needed a bandage then. </a:t>
            </a:r>
            <a:endParaRPr lang="en-IN" dirty="0"/>
          </a:p>
          <a:p>
            <a:pPr marL="0" indent="0">
              <a:buNone/>
            </a:pPr>
            <a:endParaRPr lang="en-IN" dirty="0"/>
          </a:p>
        </p:txBody>
      </p:sp>
    </p:spTree>
    <p:extLst>
      <p:ext uri="{BB962C8B-B14F-4D97-AF65-F5344CB8AC3E}">
        <p14:creationId xmlns:p14="http://schemas.microsoft.com/office/powerpoint/2010/main" val="125445401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838200" y="365125"/>
            <a:ext cx="10515600" cy="5811838"/>
          </a:xfrm>
        </p:spPr>
        <p:txBody>
          <a:bodyPr/>
          <a:lstStyle/>
          <a:p>
            <a:pPr marL="0" indent="0">
              <a:buNone/>
            </a:pPr>
            <a:r>
              <a:rPr lang="en-GB" b="1" dirty="0" err="1"/>
              <a:t>Karmanyeva</a:t>
            </a:r>
            <a:r>
              <a:rPr lang="en-GB" b="1" dirty="0"/>
              <a:t> </a:t>
            </a:r>
            <a:r>
              <a:rPr lang="en-GB" b="1" dirty="0" err="1"/>
              <a:t>adhikaraste</a:t>
            </a:r>
            <a:r>
              <a:rPr lang="en-GB" dirty="0"/>
              <a:t>—we must concern ourselves only with the action to be performed by us; the Lord will bestow on us the fruits thereof when the need arises</a:t>
            </a:r>
            <a:r>
              <a:rPr lang="en-GB" dirty="0" smtClean="0"/>
              <a:t>.</a:t>
            </a:r>
          </a:p>
          <a:p>
            <a:pPr marL="0" indent="0">
              <a:buNone/>
            </a:pPr>
            <a:endParaRPr lang="en-GB" dirty="0" smtClean="0"/>
          </a:p>
          <a:p>
            <a:pPr marL="0" indent="0">
              <a:buNone/>
            </a:pPr>
            <a:endParaRPr lang="en-IN" dirty="0"/>
          </a:p>
        </p:txBody>
      </p:sp>
      <p:pic>
        <p:nvPicPr>
          <p:cNvPr id="5" name="Picture 4"/>
          <p:cNvPicPr>
            <a:picLocks noChangeAspect="1"/>
          </p:cNvPicPr>
          <p:nvPr/>
        </p:nvPicPr>
        <p:blipFill>
          <a:blip r:embed="rId2"/>
          <a:stretch>
            <a:fillRect/>
          </a:stretch>
        </p:blipFill>
        <p:spPr>
          <a:xfrm>
            <a:off x="5510646" y="1251239"/>
            <a:ext cx="4658590" cy="5357378"/>
          </a:xfrm>
          <a:prstGeom prst="rect">
            <a:avLst/>
          </a:prstGeom>
        </p:spPr>
      </p:pic>
    </p:spTree>
    <p:extLst>
      <p:ext uri="{BB962C8B-B14F-4D97-AF65-F5344CB8AC3E}">
        <p14:creationId xmlns:p14="http://schemas.microsoft.com/office/powerpoint/2010/main" val="124384451"/>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Custom 1">
      <a:dk1>
        <a:sysClr val="windowText" lastClr="000000"/>
      </a:dk1>
      <a:lt1>
        <a:srgbClr val="FFD965"/>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TotalTime>60</TotalTime>
  <Words>1815</Words>
  <Application>Microsoft Office PowerPoint</Application>
  <PresentationFormat>Widescreen</PresentationFormat>
  <Paragraphs>31</Paragraphs>
  <Slides>21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21</vt:i4>
      </vt:variant>
    </vt:vector>
  </HeadingPairs>
  <TitlesOfParts>
    <vt:vector size="25" baseType="lpstr">
      <vt:lpstr>Arial</vt:lpstr>
      <vt:lpstr>Calibri</vt:lpstr>
      <vt:lpstr>Calibri Light</vt:lpstr>
      <vt:lpstr>Office Theme</vt:lpstr>
      <vt:lpstr>NISHKAMA KARMA</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NISHKAMA KARMA</dc:title>
  <dc:creator>JG</dc:creator>
  <cp:lastModifiedBy>JG</cp:lastModifiedBy>
  <cp:revision>8</cp:revision>
  <dcterms:created xsi:type="dcterms:W3CDTF">2023-12-18T06:55:14Z</dcterms:created>
  <dcterms:modified xsi:type="dcterms:W3CDTF">2023-12-18T08:16:20Z</dcterms:modified>
</cp:coreProperties>
</file>