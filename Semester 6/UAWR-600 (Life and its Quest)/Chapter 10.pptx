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F314B0-3020-4465-9E76-061F49E6EE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3533049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F314B0-3020-4465-9E76-061F49E6EE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951671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2F314B0-3020-4465-9E76-061F49E6EE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4212172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F314B0-3020-4465-9E76-061F49E6EE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2279741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F314B0-3020-4465-9E76-061F49E6EEC7}" type="datetimeFigureOut">
              <a:rPr lang="en-IN" smtClean="0"/>
              <a:t>05-03-2025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493047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F314B0-3020-4465-9E76-061F49E6EEC7}" type="datetimeFigureOut">
              <a:rPr lang="en-IN" smtClean="0"/>
              <a:t>05-03-2025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2240199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F314B0-3020-4465-9E76-061F49E6EEC7}" type="datetimeFigureOut">
              <a:rPr lang="en-IN" smtClean="0"/>
              <a:t>05-03-2025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2785573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F314B0-3020-4465-9E76-061F49E6EE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1013319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F314B0-3020-4465-9E76-061F49E6EEC7}"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3475488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F314B0-3020-4465-9E76-061F49E6EE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3821180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F314B0-3020-4465-9E76-061F49E6EEC7}"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219CBD-6581-49DE-9AC5-F782D8BBB73B}" type="slidenum">
              <a:rPr lang="en-IN" smtClean="0"/>
              <a:t>‹#›</a:t>
            </a:fld>
            <a:endParaRPr lang="en-IN"/>
          </a:p>
        </p:txBody>
      </p:sp>
    </p:spTree>
    <p:extLst>
      <p:ext uri="{BB962C8B-B14F-4D97-AF65-F5344CB8AC3E}">
        <p14:creationId xmlns:p14="http://schemas.microsoft.com/office/powerpoint/2010/main" val="3502035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314B0-3020-4465-9E76-061F49E6EEC7}" type="datetimeFigureOut">
              <a:rPr lang="en-IN" smtClean="0"/>
              <a:t>05-03-2025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19CBD-6581-49DE-9AC5-F782D8BBB73B}" type="slidenum">
              <a:rPr lang="en-IN" smtClean="0"/>
              <a:t>‹#›</a:t>
            </a:fld>
            <a:endParaRPr lang="en-IN"/>
          </a:p>
        </p:txBody>
      </p:sp>
    </p:spTree>
    <p:extLst>
      <p:ext uri="{BB962C8B-B14F-4D97-AF65-F5344CB8AC3E}">
        <p14:creationId xmlns:p14="http://schemas.microsoft.com/office/powerpoint/2010/main" val="2722047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2"/>
            <a:ext cx="9144000" cy="3449637"/>
          </a:xfrm>
        </p:spPr>
        <p:txBody>
          <a:bodyPr>
            <a:normAutofit fontScale="90000"/>
          </a:bodyPr>
          <a:lstStyle/>
          <a:p>
            <a:pPr algn="l"/>
            <a:r>
              <a:rPr lang="en-GB" dirty="0" smtClean="0"/>
              <a:t/>
            </a:r>
            <a:br>
              <a:rPr lang="en-GB" dirty="0" smtClean="0"/>
            </a:br>
            <a:r>
              <a:rPr lang="en-GB" dirty="0"/>
              <a:t/>
            </a:r>
            <a:br>
              <a:rPr lang="en-GB" dirty="0"/>
            </a:br>
            <a:r>
              <a:rPr lang="en-GB" dirty="0" smtClean="0"/>
              <a:t>RE-LIGION</a:t>
            </a:r>
            <a:r>
              <a:rPr lang="en-GB" dirty="0"/>
              <a:t>: </a:t>
            </a:r>
            <a:r>
              <a:rPr lang="en-GB" dirty="0" smtClean="0"/>
              <a:t/>
            </a:r>
            <a:br>
              <a:rPr lang="en-GB" dirty="0" smtClean="0"/>
            </a:br>
            <a:r>
              <a:rPr lang="en-GB" dirty="0" smtClean="0"/>
              <a:t>THE </a:t>
            </a:r>
            <a:r>
              <a:rPr lang="en-GB" dirty="0"/>
              <a:t>SPIRITUAL </a:t>
            </a:r>
            <a:r>
              <a:rPr lang="en-GB" dirty="0" smtClean="0"/>
              <a:t/>
            </a:r>
            <a:br>
              <a:rPr lang="en-GB" dirty="0" smtClean="0"/>
            </a:br>
            <a:r>
              <a:rPr lang="en-GB" dirty="0" smtClean="0"/>
              <a:t>REUNION</a:t>
            </a:r>
            <a:r>
              <a:rPr lang="en-IN" dirty="0"/>
              <a:t/>
            </a:r>
            <a:br>
              <a:rPr lang="en-IN" dirty="0"/>
            </a:br>
            <a:endParaRPr lang="en-IN" dirty="0"/>
          </a:p>
        </p:txBody>
      </p:sp>
      <p:sp>
        <p:nvSpPr>
          <p:cNvPr id="3" name="Subtitle 2"/>
          <p:cNvSpPr>
            <a:spLocks noGrp="1"/>
          </p:cNvSpPr>
          <p:nvPr>
            <p:ph type="subTitle" idx="1"/>
          </p:nvPr>
        </p:nvSpPr>
        <p:spPr/>
        <p:txBody>
          <a:bodyPr/>
          <a:lstStyle/>
          <a:p>
            <a:pPr algn="l"/>
            <a:endParaRPr lang="en-GB" dirty="0" smtClean="0"/>
          </a:p>
          <a:p>
            <a:pPr algn="l"/>
            <a:r>
              <a:rPr lang="en-GB" dirty="0" smtClean="0"/>
              <a:t>Chapter 10 in SSB 1979</a:t>
            </a:r>
            <a:endParaRPr lang="en-IN" dirty="0"/>
          </a:p>
        </p:txBody>
      </p:sp>
      <p:pic>
        <p:nvPicPr>
          <p:cNvPr id="4" name="Picture 3"/>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94788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Above all, selfless love!</a:t>
            </a:r>
            <a:endParaRPr lang="en-IN" dirty="0"/>
          </a:p>
        </p:txBody>
      </p:sp>
      <p:sp>
        <p:nvSpPr>
          <p:cNvPr id="3" name="Content Placeholder 2"/>
          <p:cNvSpPr>
            <a:spLocks noGrp="1"/>
          </p:cNvSpPr>
          <p:nvPr>
            <p:ph idx="1"/>
          </p:nvPr>
        </p:nvSpPr>
        <p:spPr/>
        <p:txBody>
          <a:bodyPr/>
          <a:lstStyle/>
          <a:p>
            <a:pPr marL="0" indent="0">
              <a:buNone/>
            </a:pPr>
            <a:r>
              <a:rPr lang="en-GB" dirty="0"/>
              <a:t>Selfless love is the source of happiness, truth, peace, sacrifice, endurance and all other higher values of life. There is no security and safety without </a:t>
            </a:r>
            <a:r>
              <a:rPr lang="en-GB" dirty="0" err="1"/>
              <a:t>prema</a:t>
            </a:r>
            <a:r>
              <a:rPr lang="en-GB" dirty="0"/>
              <a:t>, the absolute, unalloyed form of love. O brave sons of </a:t>
            </a:r>
            <a:r>
              <a:rPr lang="en-GB" dirty="0" err="1"/>
              <a:t>Bharath</a:t>
            </a:r>
            <a:r>
              <a:rPr lang="en-GB" dirty="0"/>
              <a:t>, remember that love is more fundamental than all other moral values!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3514725" y="3821693"/>
            <a:ext cx="5174384" cy="2587192"/>
          </a:xfrm>
          <a:prstGeom prst="rect">
            <a:avLst/>
          </a:prstGeom>
        </p:spPr>
      </p:pic>
    </p:spTree>
    <p:extLst>
      <p:ext uri="{BB962C8B-B14F-4D97-AF65-F5344CB8AC3E}">
        <p14:creationId xmlns:p14="http://schemas.microsoft.com/office/powerpoint/2010/main" val="1305273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Aspects of reality</a:t>
            </a:r>
            <a:endParaRPr lang="en-IN" dirty="0"/>
          </a:p>
        </p:txBody>
      </p:sp>
      <p:sp>
        <p:nvSpPr>
          <p:cNvPr id="3" name="Content Placeholder 2"/>
          <p:cNvSpPr>
            <a:spLocks noGrp="1"/>
          </p:cNvSpPr>
          <p:nvPr>
            <p:ph idx="1"/>
          </p:nvPr>
        </p:nvSpPr>
        <p:spPr/>
        <p:txBody>
          <a:bodyPr/>
          <a:lstStyle/>
          <a:p>
            <a:pPr marL="0" indent="0">
              <a:buNone/>
            </a:pPr>
            <a:r>
              <a:rPr lang="en-GB" dirty="0"/>
              <a:t>The different kinds of lives and living organisms are infinite in number. Nevertheless, reality has three main aspects, namely, the </a:t>
            </a:r>
            <a:r>
              <a:rPr lang="en-GB" b="1" dirty="0"/>
              <a:t>empirical reality, the illusory reality and the absolute reality</a:t>
            </a:r>
            <a:r>
              <a:rPr lang="en-GB" dirty="0"/>
              <a:t>. These three categories of human existence correspond to three levels of consciousness viz., </a:t>
            </a:r>
            <a:r>
              <a:rPr lang="en-GB" b="1" dirty="0" err="1"/>
              <a:t>jagrata</a:t>
            </a:r>
            <a:r>
              <a:rPr lang="en-GB" dirty="0"/>
              <a:t> or the consciousness of wakefulness, </a:t>
            </a:r>
            <a:r>
              <a:rPr lang="en-GB" b="1" dirty="0" err="1"/>
              <a:t>swapna</a:t>
            </a:r>
            <a:r>
              <a:rPr lang="en-GB" dirty="0"/>
              <a:t> or the </a:t>
            </a:r>
            <a:r>
              <a:rPr lang="en-GB" dirty="0" err="1"/>
              <a:t>subconsiousness</a:t>
            </a:r>
            <a:r>
              <a:rPr lang="en-GB" dirty="0"/>
              <a:t> of dreams, and </a:t>
            </a:r>
            <a:r>
              <a:rPr lang="en-GB" b="1" dirty="0" err="1"/>
              <a:t>sushupti</a:t>
            </a:r>
            <a:r>
              <a:rPr lang="en-GB" dirty="0"/>
              <a:t> or the unconsciousness of deep slumber.</a:t>
            </a:r>
            <a:endParaRPr lang="en-IN" dirty="0"/>
          </a:p>
          <a:p>
            <a:pPr marL="0" indent="0">
              <a:buNone/>
            </a:pPr>
            <a:r>
              <a:rPr lang="en-GB" dirty="0" smtClean="0"/>
              <a:t>	</a:t>
            </a:r>
            <a:endParaRPr lang="en-IN" dirty="0"/>
          </a:p>
        </p:txBody>
      </p:sp>
      <p:pic>
        <p:nvPicPr>
          <p:cNvPr id="4" name="Picture 3"/>
          <p:cNvPicPr>
            <a:picLocks noChangeAspect="1"/>
          </p:cNvPicPr>
          <p:nvPr/>
        </p:nvPicPr>
        <p:blipFill>
          <a:blip r:embed="rId2"/>
          <a:stretch>
            <a:fillRect/>
          </a:stretch>
        </p:blipFill>
        <p:spPr>
          <a:xfrm>
            <a:off x="6781800" y="4203621"/>
            <a:ext cx="5410200" cy="2654379"/>
          </a:xfrm>
          <a:prstGeom prst="rect">
            <a:avLst/>
          </a:prstGeom>
        </p:spPr>
      </p:pic>
    </p:spTree>
    <p:extLst>
      <p:ext uri="{BB962C8B-B14F-4D97-AF65-F5344CB8AC3E}">
        <p14:creationId xmlns:p14="http://schemas.microsoft.com/office/powerpoint/2010/main" val="3322609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Kutastha</a:t>
            </a:r>
            <a:r>
              <a:rPr lang="en-GB" dirty="0" smtClean="0"/>
              <a:t>- Permanence</a:t>
            </a:r>
            <a:endParaRPr lang="en-IN" dirty="0"/>
          </a:p>
        </p:txBody>
      </p:sp>
      <p:sp>
        <p:nvSpPr>
          <p:cNvPr id="3" name="Content Placeholder 2"/>
          <p:cNvSpPr>
            <a:spLocks noGrp="1"/>
          </p:cNvSpPr>
          <p:nvPr>
            <p:ph idx="1"/>
          </p:nvPr>
        </p:nvSpPr>
        <p:spPr/>
        <p:txBody>
          <a:bodyPr/>
          <a:lstStyle/>
          <a:p>
            <a:pPr marL="0" indent="0">
              <a:buNone/>
            </a:pPr>
            <a:r>
              <a:rPr lang="en-GB" dirty="0" err="1"/>
              <a:t>Sath-chith-ananda</a:t>
            </a:r>
            <a:r>
              <a:rPr lang="en-GB" dirty="0"/>
              <a:t> is </a:t>
            </a:r>
            <a:r>
              <a:rPr lang="en-GB" dirty="0" err="1"/>
              <a:t>kutastha</a:t>
            </a:r>
            <a:r>
              <a:rPr lang="en-GB" dirty="0"/>
              <a:t>. </a:t>
            </a:r>
            <a:r>
              <a:rPr lang="en-GB" dirty="0" err="1"/>
              <a:t>Sath-chith-ananda</a:t>
            </a:r>
            <a:r>
              <a:rPr lang="en-GB" dirty="0"/>
              <a:t> represents the integrated reality of truth, consciousness and bliss. </a:t>
            </a:r>
            <a:r>
              <a:rPr lang="en-GB" dirty="0" err="1"/>
              <a:t>Kutastha</a:t>
            </a:r>
            <a:r>
              <a:rPr lang="en-GB" dirty="0"/>
              <a:t> is the immutable and immortal reality. </a:t>
            </a:r>
            <a:r>
              <a:rPr lang="en-GB" dirty="0" err="1"/>
              <a:t>Sath-chith-ananda</a:t>
            </a:r>
            <a:r>
              <a:rPr lang="en-GB" dirty="0"/>
              <a:t> is the omnipresent reality reflected in the </a:t>
            </a:r>
            <a:r>
              <a:rPr lang="en-GB" dirty="0" err="1"/>
              <a:t>subconsciousness</a:t>
            </a:r>
            <a:r>
              <a:rPr lang="en-GB" dirty="0"/>
              <a:t> of dreams, conscious activities of the mundane world and super conscious experiences of spirituality. Surf comes from waves and waves come from water. Likewise, consciousness follows </a:t>
            </a:r>
            <a:r>
              <a:rPr lang="en-GB" dirty="0" err="1"/>
              <a:t>subconsciousness</a:t>
            </a:r>
            <a:r>
              <a:rPr lang="en-GB" dirty="0"/>
              <a:t> and </a:t>
            </a:r>
            <a:r>
              <a:rPr lang="en-GB" dirty="0" err="1"/>
              <a:t>subconsciousness</a:t>
            </a:r>
            <a:r>
              <a:rPr lang="en-GB" dirty="0"/>
              <a:t> follows super consciousness.</a:t>
            </a:r>
            <a:endParaRPr lang="en-IN" dirty="0"/>
          </a:p>
          <a:p>
            <a:pPr marL="0" indent="0">
              <a:buNone/>
            </a:pPr>
            <a:endParaRPr lang="en-IN" dirty="0"/>
          </a:p>
        </p:txBody>
      </p:sp>
      <p:pic>
        <p:nvPicPr>
          <p:cNvPr id="4" name="Picture 3"/>
          <p:cNvPicPr>
            <a:picLocks noChangeAspect="1"/>
          </p:cNvPicPr>
          <p:nvPr/>
        </p:nvPicPr>
        <p:blipFill rotWithShape="1">
          <a:blip r:embed="rId2"/>
          <a:srcRect l="6876"/>
          <a:stretch/>
        </p:blipFill>
        <p:spPr>
          <a:xfrm>
            <a:off x="8991599" y="4571026"/>
            <a:ext cx="3200401" cy="2286974"/>
          </a:xfrm>
          <a:prstGeom prst="rect">
            <a:avLst/>
          </a:prstGeom>
        </p:spPr>
      </p:pic>
    </p:spTree>
    <p:extLst>
      <p:ext uri="{BB962C8B-B14F-4D97-AF65-F5344CB8AC3E}">
        <p14:creationId xmlns:p14="http://schemas.microsoft.com/office/powerpoint/2010/main" val="421669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Jnana</a:t>
            </a:r>
            <a:endParaRPr lang="en-IN" dirty="0"/>
          </a:p>
        </p:txBody>
      </p:sp>
      <p:sp>
        <p:nvSpPr>
          <p:cNvPr id="3" name="Content Placeholder 2"/>
          <p:cNvSpPr>
            <a:spLocks noGrp="1"/>
          </p:cNvSpPr>
          <p:nvPr>
            <p:ph idx="1"/>
          </p:nvPr>
        </p:nvSpPr>
        <p:spPr/>
        <p:txBody>
          <a:bodyPr/>
          <a:lstStyle/>
          <a:p>
            <a:pPr marL="0" indent="0">
              <a:buNone/>
            </a:pPr>
            <a:r>
              <a:rPr lang="en-GB" dirty="0" err="1"/>
              <a:t>Kutastha</a:t>
            </a:r>
            <a:r>
              <a:rPr lang="en-GB" dirty="0"/>
              <a:t>, in this context, refers to the unchanging, immutable and eternal principle of spirituality. Who is this unchanging, immutable and immobile being? This is the quintessential principle of </a:t>
            </a:r>
            <a:r>
              <a:rPr lang="en-GB" dirty="0" err="1"/>
              <a:t>Easwara</a:t>
            </a:r>
            <a:r>
              <a:rPr lang="en-GB" dirty="0"/>
              <a:t>, a personified and concretised abstraction, the knowledge of which can be acquired only by apprehending the reality of the </a:t>
            </a:r>
            <a:r>
              <a:rPr lang="en-GB" dirty="0" err="1"/>
              <a:t>Atma</a:t>
            </a:r>
            <a:r>
              <a:rPr lang="en-GB" dirty="0"/>
              <a:t>. “</a:t>
            </a:r>
            <a:r>
              <a:rPr lang="en-GB" dirty="0" err="1"/>
              <a:t>Nahi</a:t>
            </a:r>
            <a:r>
              <a:rPr lang="en-GB" dirty="0"/>
              <a:t> </a:t>
            </a:r>
            <a:r>
              <a:rPr lang="en-GB" dirty="0" err="1"/>
              <a:t>jnanena</a:t>
            </a:r>
            <a:r>
              <a:rPr lang="en-GB" dirty="0"/>
              <a:t> </a:t>
            </a:r>
            <a:r>
              <a:rPr lang="en-GB" dirty="0" err="1"/>
              <a:t>sadrusam</a:t>
            </a:r>
            <a:r>
              <a:rPr lang="en-GB" dirty="0"/>
              <a:t> </a:t>
            </a:r>
            <a:r>
              <a:rPr lang="en-GB" dirty="0" err="1"/>
              <a:t>pavitramiha</a:t>
            </a:r>
            <a:r>
              <a:rPr lang="en-GB" dirty="0"/>
              <a:t> </a:t>
            </a:r>
            <a:r>
              <a:rPr lang="en-GB" dirty="0" err="1"/>
              <a:t>vidyate</a:t>
            </a:r>
            <a:r>
              <a:rPr lang="en-GB" dirty="0"/>
              <a:t>,” said Krishna. Nothing as sacred as </a:t>
            </a:r>
            <a:r>
              <a:rPr lang="en-GB" dirty="0" err="1"/>
              <a:t>jnana</a:t>
            </a:r>
            <a:r>
              <a:rPr lang="en-GB" dirty="0"/>
              <a:t> is known.</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7065819" y="4326948"/>
            <a:ext cx="5126181" cy="2531052"/>
          </a:xfrm>
          <a:prstGeom prst="rect">
            <a:avLst/>
          </a:prstGeom>
        </p:spPr>
      </p:pic>
    </p:spTree>
    <p:extLst>
      <p:ext uri="{BB962C8B-B14F-4D97-AF65-F5344CB8AC3E}">
        <p14:creationId xmlns:p14="http://schemas.microsoft.com/office/powerpoint/2010/main" val="1705684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Unity of </a:t>
            </a:r>
            <a:r>
              <a:rPr lang="en-GB" dirty="0" err="1" smtClean="0"/>
              <a:t>Atma</a:t>
            </a:r>
            <a:r>
              <a:rPr lang="en-GB" dirty="0" smtClean="0"/>
              <a:t> and </a:t>
            </a:r>
            <a:r>
              <a:rPr lang="en-GB" dirty="0" err="1" smtClean="0"/>
              <a:t>Paramatma</a:t>
            </a:r>
            <a:endParaRPr lang="en-IN" dirty="0"/>
          </a:p>
        </p:txBody>
      </p:sp>
      <p:sp>
        <p:nvSpPr>
          <p:cNvPr id="3" name="Content Placeholder 2"/>
          <p:cNvSpPr>
            <a:spLocks noGrp="1"/>
          </p:cNvSpPr>
          <p:nvPr>
            <p:ph idx="1"/>
          </p:nvPr>
        </p:nvSpPr>
        <p:spPr/>
        <p:txBody>
          <a:bodyPr/>
          <a:lstStyle/>
          <a:p>
            <a:pPr marL="0" indent="0">
              <a:buNone/>
            </a:pPr>
            <a:r>
              <a:rPr lang="en-GB" dirty="0" err="1"/>
              <a:t>Jnana</a:t>
            </a:r>
            <a:r>
              <a:rPr lang="en-GB" dirty="0"/>
              <a:t> or spiritual wisdom, enables the </a:t>
            </a:r>
            <a:r>
              <a:rPr lang="en-GB" dirty="0" err="1"/>
              <a:t>jivatma</a:t>
            </a:r>
            <a:r>
              <a:rPr lang="en-GB" dirty="0"/>
              <a:t>, or the individual soul, to merge with the </a:t>
            </a:r>
            <a:r>
              <a:rPr lang="en-GB" dirty="0" err="1"/>
              <a:t>Paramatma</a:t>
            </a:r>
            <a:r>
              <a:rPr lang="en-GB" dirty="0"/>
              <a:t> or the cosmic soul. Every individual must try and recognise the oneness of the </a:t>
            </a:r>
            <a:r>
              <a:rPr lang="en-GB" dirty="0" err="1"/>
              <a:t>Atma</a:t>
            </a:r>
            <a:r>
              <a:rPr lang="en-GB" dirty="0"/>
              <a:t> and the </a:t>
            </a:r>
            <a:r>
              <a:rPr lang="en-GB" dirty="0" err="1"/>
              <a:t>Paramatma</a:t>
            </a:r>
            <a:r>
              <a:rPr lang="en-GB" dirty="0"/>
              <a:t>. This is the full essence of the spirituality expounded by Krishna. You may master any number of skills and talents. But if you cannot comprehend the unity of the </a:t>
            </a:r>
            <a:r>
              <a:rPr lang="en-GB" dirty="0" err="1"/>
              <a:t>Atma</a:t>
            </a:r>
            <a:r>
              <a:rPr lang="en-GB" dirty="0"/>
              <a:t> and the </a:t>
            </a:r>
            <a:r>
              <a:rPr lang="en-GB" dirty="0" err="1"/>
              <a:t>Paramatma</a:t>
            </a:r>
            <a:r>
              <a:rPr lang="en-GB" dirty="0"/>
              <a:t>, you will end up as a hopeless nihilist.</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9324109" y="4273549"/>
            <a:ext cx="2867891" cy="2600545"/>
          </a:xfrm>
          <a:prstGeom prst="rect">
            <a:avLst/>
          </a:prstGeom>
        </p:spPr>
      </p:pic>
      <p:pic>
        <p:nvPicPr>
          <p:cNvPr id="5" name="Picture 4"/>
          <p:cNvPicPr>
            <a:picLocks noChangeAspect="1"/>
          </p:cNvPicPr>
          <p:nvPr/>
        </p:nvPicPr>
        <p:blipFill>
          <a:blip r:embed="rId3"/>
          <a:stretch>
            <a:fillRect/>
          </a:stretch>
        </p:blipFill>
        <p:spPr>
          <a:xfrm>
            <a:off x="4312226" y="4273549"/>
            <a:ext cx="3572226" cy="2584451"/>
          </a:xfrm>
          <a:prstGeom prst="rect">
            <a:avLst/>
          </a:prstGeom>
        </p:spPr>
      </p:pic>
    </p:spTree>
    <p:extLst>
      <p:ext uri="{BB962C8B-B14F-4D97-AF65-F5344CB8AC3E}">
        <p14:creationId xmlns:p14="http://schemas.microsoft.com/office/powerpoint/2010/main" val="227361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Vemana’s</a:t>
            </a:r>
            <a:r>
              <a:rPr lang="en-GB" dirty="0" smtClean="0"/>
              <a:t> couplets	</a:t>
            </a:r>
            <a:endParaRPr lang="en-IN" dirty="0"/>
          </a:p>
        </p:txBody>
      </p:sp>
      <p:sp>
        <p:nvSpPr>
          <p:cNvPr id="3" name="Content Placeholder 2"/>
          <p:cNvSpPr>
            <a:spLocks noGrp="1"/>
          </p:cNvSpPr>
          <p:nvPr>
            <p:ph idx="1"/>
          </p:nvPr>
        </p:nvSpPr>
        <p:spPr/>
        <p:txBody>
          <a:bodyPr/>
          <a:lstStyle/>
          <a:p>
            <a:pPr marL="0" indent="0">
              <a:buNone/>
            </a:pPr>
            <a:r>
              <a:rPr lang="en-GB" dirty="0"/>
              <a:t>What is the good of acquiring all sorts of knowledge?</a:t>
            </a:r>
            <a:endParaRPr lang="en-IN" dirty="0"/>
          </a:p>
          <a:p>
            <a:pPr marL="0" indent="0">
              <a:buNone/>
            </a:pPr>
            <a:r>
              <a:rPr lang="en-GB" dirty="0"/>
              <a:t>Who can alter the line of destiny on man’s brow?</a:t>
            </a:r>
            <a:endParaRPr lang="en-IN" dirty="0"/>
          </a:p>
          <a:p>
            <a:pPr marL="0" indent="0">
              <a:buNone/>
            </a:pPr>
            <a:r>
              <a:rPr lang="en-GB" dirty="0"/>
              <a:t>“If you fill your head with all sorts of evil ideas, you will be robbed of your discrimination and intelligence.” The Telugu poet </a:t>
            </a:r>
            <a:r>
              <a:rPr lang="en-GB" dirty="0" err="1"/>
              <a:t>Vemana</a:t>
            </a:r>
            <a:r>
              <a:rPr lang="en-GB" dirty="0"/>
              <a:t> has thus composed a number of couplets and quatrains which succinctly summarise a whole system of philosophy and a complete code of morality.</a:t>
            </a:r>
            <a:endParaRPr lang="en-IN" dirty="0"/>
          </a:p>
          <a:p>
            <a:pPr marL="0" indent="0">
              <a:buNone/>
            </a:pPr>
            <a:endParaRPr lang="en-IN" dirty="0"/>
          </a:p>
        </p:txBody>
      </p:sp>
      <p:pic>
        <p:nvPicPr>
          <p:cNvPr id="1026" name="Picture 2" descr="This is your brain on social media – NC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9818" y="4394743"/>
            <a:ext cx="3602182" cy="2463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0714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Vemana’s</a:t>
            </a:r>
            <a:r>
              <a:rPr lang="en-GB" dirty="0"/>
              <a:t> couplets</a:t>
            </a:r>
            <a:endParaRPr lang="en-IN" dirty="0"/>
          </a:p>
        </p:txBody>
      </p:sp>
      <p:sp>
        <p:nvSpPr>
          <p:cNvPr id="3" name="Content Placeholder 2"/>
          <p:cNvSpPr>
            <a:spLocks noGrp="1"/>
          </p:cNvSpPr>
          <p:nvPr>
            <p:ph idx="1"/>
          </p:nvPr>
        </p:nvSpPr>
        <p:spPr/>
        <p:txBody>
          <a:bodyPr/>
          <a:lstStyle/>
          <a:p>
            <a:r>
              <a:rPr lang="en-GB" dirty="0"/>
              <a:t>“Why do you load your stupid pate with all kinds of learned lumber? Why do you kill yourself with too much learning? Try and understand that eternal truth which will make you immortal.”</a:t>
            </a:r>
            <a:endParaRPr lang="en-IN" dirty="0"/>
          </a:p>
          <a:p>
            <a:r>
              <a:rPr lang="en-GB" dirty="0"/>
              <a:t>“You may learn all arts and sciences. You may call yourself a versatile genius and an all-knowing polymath. But still you will only be a learned fool if you do not know your Self.”</a:t>
            </a:r>
            <a:endParaRPr lang="en-IN" dirty="0"/>
          </a:p>
          <a:p>
            <a:r>
              <a:rPr lang="en-GB" dirty="0"/>
              <a:t>“A mean-minded man without moral scruples may read but he can never give up his meanness.”</a:t>
            </a:r>
            <a:endParaRPr lang="en-IN" dirty="0"/>
          </a:p>
          <a:p>
            <a:pPr marL="0" indent="0">
              <a:buNone/>
            </a:pPr>
            <a:endParaRPr lang="en-IN" dirty="0"/>
          </a:p>
        </p:txBody>
      </p:sp>
    </p:spTree>
    <p:extLst>
      <p:ext uri="{BB962C8B-B14F-4D97-AF65-F5344CB8AC3E}">
        <p14:creationId xmlns:p14="http://schemas.microsoft.com/office/powerpoint/2010/main" val="1938174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Vemana’s</a:t>
            </a:r>
            <a:r>
              <a:rPr lang="en-GB" dirty="0"/>
              <a:t> couplets</a:t>
            </a:r>
            <a:endParaRPr lang="en-IN" dirty="0"/>
          </a:p>
        </p:txBody>
      </p:sp>
      <p:sp>
        <p:nvSpPr>
          <p:cNvPr id="3" name="Content Placeholder 2"/>
          <p:cNvSpPr>
            <a:spLocks noGrp="1"/>
          </p:cNvSpPr>
          <p:nvPr>
            <p:ph idx="1"/>
          </p:nvPr>
        </p:nvSpPr>
        <p:spPr/>
        <p:txBody>
          <a:bodyPr/>
          <a:lstStyle/>
          <a:p>
            <a:r>
              <a:rPr lang="en-GB" dirty="0"/>
              <a:t>“You may read all the books in the world. You can only become a hair-splitting and pettifogging pundit. With the aid of books you can never acquire spiritual wisdom and integrated knowledge. Such bookish learning may enable you to eke out your livelihood. But books can never reveal to you a vision of your own divine </a:t>
            </a:r>
            <a:r>
              <a:rPr lang="en-GB" dirty="0" err="1"/>
              <a:t>Atma</a:t>
            </a:r>
            <a:r>
              <a:rPr lang="en-GB" dirty="0"/>
              <a:t>.”</a:t>
            </a:r>
            <a:endParaRPr lang="en-IN" dirty="0"/>
          </a:p>
          <a:p>
            <a:endParaRPr lang="en-IN" dirty="0"/>
          </a:p>
        </p:txBody>
      </p:sp>
      <p:pic>
        <p:nvPicPr>
          <p:cNvPr id="4" name="Picture 2" descr="Literate and illiterate - Katha Kids"/>
          <p:cNvPicPr>
            <a:picLocks noChangeAspect="1" noChangeArrowheads="1"/>
          </p:cNvPicPr>
          <p:nvPr/>
        </p:nvPicPr>
        <p:blipFill rotWithShape="1">
          <a:blip r:embed="rId2">
            <a:extLst>
              <a:ext uri="{28A0092B-C50C-407E-A947-70E740481C1C}">
                <a14:useLocalDpi xmlns:a14="http://schemas.microsoft.com/office/drawing/2010/main" val="0"/>
              </a:ext>
            </a:extLst>
          </a:blip>
          <a:srcRect l="23124" t="41361"/>
          <a:stretch/>
        </p:blipFill>
        <p:spPr bwMode="auto">
          <a:xfrm>
            <a:off x="3532908" y="3824280"/>
            <a:ext cx="4807528" cy="2663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3249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Narada’s</a:t>
            </a:r>
            <a:r>
              <a:rPr lang="en-GB" dirty="0" smtClean="0"/>
              <a:t> worry</a:t>
            </a:r>
            <a:endParaRPr lang="en-IN" dirty="0"/>
          </a:p>
        </p:txBody>
      </p:sp>
      <p:sp>
        <p:nvSpPr>
          <p:cNvPr id="3" name="Content Placeholder 2"/>
          <p:cNvSpPr>
            <a:spLocks noGrp="1"/>
          </p:cNvSpPr>
          <p:nvPr>
            <p:ph idx="1"/>
          </p:nvPr>
        </p:nvSpPr>
        <p:spPr/>
        <p:txBody>
          <a:bodyPr/>
          <a:lstStyle/>
          <a:p>
            <a:pPr marL="0" indent="0">
              <a:buNone/>
            </a:pPr>
            <a:r>
              <a:rPr lang="en-GB" dirty="0"/>
              <a:t>Stricken by poverty, once </a:t>
            </a:r>
            <a:r>
              <a:rPr lang="en-GB" dirty="0" err="1"/>
              <a:t>Narada</a:t>
            </a:r>
            <a:r>
              <a:rPr lang="en-GB" dirty="0"/>
              <a:t> had to face a number of difficulties. He became a victim of acute mental depression. He had mastered all the sixty-four arts of antiquity. But he had no peace of mind. At last, he went to </a:t>
            </a:r>
            <a:r>
              <a:rPr lang="en-GB" dirty="0" err="1"/>
              <a:t>Sanatkumara</a:t>
            </a:r>
            <a:r>
              <a:rPr lang="en-GB" dirty="0"/>
              <a:t>, who diagnosed </a:t>
            </a:r>
            <a:r>
              <a:rPr lang="en-GB" dirty="0" err="1"/>
              <a:t>Narada’s</a:t>
            </a:r>
            <a:r>
              <a:rPr lang="en-GB" dirty="0"/>
              <a:t> ailment and prescribed for him the path to self-realisation. In the Bhagavad Gita, Krishna reveals to </a:t>
            </a:r>
            <a:r>
              <a:rPr lang="en-GB" dirty="0" err="1"/>
              <a:t>Arjuna</a:t>
            </a:r>
            <a:r>
              <a:rPr lang="en-GB" dirty="0"/>
              <a:t> the esoteric but simple path to self-realisation for the attainment of abiding peace and everlasting bliss.</a:t>
            </a: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763832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Highest Liberating Experience</a:t>
            </a:r>
            <a:endParaRPr lang="en-IN" dirty="0"/>
          </a:p>
        </p:txBody>
      </p:sp>
      <p:sp>
        <p:nvSpPr>
          <p:cNvPr id="3" name="Content Placeholder 2"/>
          <p:cNvSpPr>
            <a:spLocks noGrp="1"/>
          </p:cNvSpPr>
          <p:nvPr>
            <p:ph idx="1"/>
          </p:nvPr>
        </p:nvSpPr>
        <p:spPr/>
        <p:txBody>
          <a:bodyPr/>
          <a:lstStyle/>
          <a:p>
            <a:pPr marL="0" indent="0">
              <a:buNone/>
            </a:pPr>
            <a:r>
              <a:rPr lang="en-GB" dirty="0" err="1"/>
              <a:t>Sanatkumara</a:t>
            </a:r>
            <a:r>
              <a:rPr lang="en-GB" dirty="0"/>
              <a:t> initiated </a:t>
            </a:r>
            <a:r>
              <a:rPr lang="en-GB" dirty="0" err="1"/>
              <a:t>Narada</a:t>
            </a:r>
            <a:r>
              <a:rPr lang="en-GB" dirty="0"/>
              <a:t> into the spiritual experience of identifying the individual </a:t>
            </a:r>
            <a:r>
              <a:rPr lang="en-GB" dirty="0" err="1"/>
              <a:t>Atma</a:t>
            </a:r>
            <a:r>
              <a:rPr lang="en-GB" dirty="0"/>
              <a:t> with the universal </a:t>
            </a:r>
            <a:r>
              <a:rPr lang="en-GB" dirty="0" err="1"/>
              <a:t>Paramatma</a:t>
            </a:r>
            <a:r>
              <a:rPr lang="en-GB" dirty="0"/>
              <a:t>. This is the most sublime mantra for spiritual liberation. The immediate, intimate and intuitive apprehension of the immanent effulgence of divinity pervading the microcosm and the macrocosm is the highest liberating experience.</a:t>
            </a:r>
            <a:endParaRPr lang="en-IN" dirty="0"/>
          </a:p>
          <a:p>
            <a:pPr marL="0" indent="0">
              <a:buNone/>
            </a:pPr>
            <a:endParaRPr lang="en-IN" dirty="0"/>
          </a:p>
        </p:txBody>
      </p:sp>
      <p:pic>
        <p:nvPicPr>
          <p:cNvPr id="3074" name="Picture 2" descr="Official Hanuman The Hero Hoodie – Bollywo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0484" y="3806536"/>
            <a:ext cx="3010958" cy="3051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0384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Know the right thing</a:t>
            </a:r>
            <a:endParaRPr lang="en-IN" dirty="0"/>
          </a:p>
        </p:txBody>
      </p:sp>
      <p:sp>
        <p:nvSpPr>
          <p:cNvPr id="3" name="Content Placeholder 2"/>
          <p:cNvSpPr>
            <a:spLocks noGrp="1"/>
          </p:cNvSpPr>
          <p:nvPr>
            <p:ph idx="1"/>
          </p:nvPr>
        </p:nvSpPr>
        <p:spPr/>
        <p:txBody>
          <a:bodyPr/>
          <a:lstStyle/>
          <a:p>
            <a:pPr marL="0" indent="0">
              <a:buNone/>
            </a:pPr>
            <a:r>
              <a:rPr lang="en-GB" dirty="0"/>
              <a:t>What you know is very little. What you do not know is enormous. It is impossible to know everything. Instead of trying to know everything, it is better to know that, by knowing which, everything else will be known.</a:t>
            </a:r>
            <a:endParaRPr lang="en-IN" dirty="0"/>
          </a:p>
          <a:p>
            <a:pPr marL="0" indent="0">
              <a:buNone/>
            </a:pPr>
            <a:endParaRPr lang="en-IN" dirty="0"/>
          </a:p>
        </p:txBody>
      </p:sp>
      <p:pic>
        <p:nvPicPr>
          <p:cNvPr id="7" name="Picture 6"/>
          <p:cNvPicPr>
            <a:picLocks noChangeAspect="1"/>
          </p:cNvPicPr>
          <p:nvPr/>
        </p:nvPicPr>
        <p:blipFill>
          <a:blip r:embed="rId2"/>
          <a:stretch>
            <a:fillRect/>
          </a:stretch>
        </p:blipFill>
        <p:spPr>
          <a:xfrm>
            <a:off x="3238500" y="3201194"/>
            <a:ext cx="5554832" cy="3110706"/>
          </a:xfrm>
          <a:prstGeom prst="rect">
            <a:avLst/>
          </a:prstGeom>
        </p:spPr>
      </p:pic>
    </p:spTree>
    <p:extLst>
      <p:ext uri="{BB962C8B-B14F-4D97-AF65-F5344CB8AC3E}">
        <p14:creationId xmlns:p14="http://schemas.microsoft.com/office/powerpoint/2010/main" val="24636039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religion?</a:t>
            </a:r>
            <a:endParaRPr lang="en-IN" dirty="0"/>
          </a:p>
        </p:txBody>
      </p:sp>
      <p:sp>
        <p:nvSpPr>
          <p:cNvPr id="3" name="Content Placeholder 2"/>
          <p:cNvSpPr>
            <a:spLocks noGrp="1"/>
          </p:cNvSpPr>
          <p:nvPr>
            <p:ph idx="1"/>
          </p:nvPr>
        </p:nvSpPr>
        <p:spPr/>
        <p:txBody>
          <a:bodyPr/>
          <a:lstStyle/>
          <a:p>
            <a:pPr marL="0" indent="0">
              <a:buNone/>
            </a:pPr>
            <a:r>
              <a:rPr lang="en-GB" dirty="0"/>
              <a:t>The word “religion” contains the prefix “re.” “Re” means doing something again. The other part of the word connotes “unifying”. Religion may be thus interpreted as reunion, the renunciation of two entities separated by time or the restoration of their original organic unity. </a:t>
            </a:r>
            <a:r>
              <a:rPr lang="en-GB" dirty="0" err="1"/>
              <a:t>Jivatma</a:t>
            </a:r>
            <a:r>
              <a:rPr lang="en-GB" dirty="0"/>
              <a:t> and </a:t>
            </a:r>
            <a:r>
              <a:rPr lang="en-GB" dirty="0" err="1"/>
              <a:t>Paramatma</a:t>
            </a:r>
            <a:r>
              <a:rPr lang="en-GB" dirty="0"/>
              <a:t> have lost their fundamental oneness. Karmic factors have created a duality between the </a:t>
            </a:r>
            <a:r>
              <a:rPr lang="en-GB" dirty="0" err="1"/>
              <a:t>Atma</a:t>
            </a:r>
            <a:r>
              <a:rPr lang="en-GB" dirty="0"/>
              <a:t> and Brahman. The restoration of the primal unity of </a:t>
            </a:r>
            <a:r>
              <a:rPr lang="en-GB" dirty="0" err="1"/>
              <a:t>Atma</a:t>
            </a:r>
            <a:r>
              <a:rPr lang="en-GB" dirty="0"/>
              <a:t> and </a:t>
            </a:r>
            <a:r>
              <a:rPr lang="en-GB" dirty="0" err="1"/>
              <a:t>Paramatma</a:t>
            </a:r>
            <a:r>
              <a:rPr lang="en-GB" dirty="0"/>
              <a:t> through self-realisation is the primary function of religion</a:t>
            </a:r>
            <a:r>
              <a:rPr lang="en-GB" dirty="0" smtClean="0"/>
              <a:t>.</a:t>
            </a:r>
          </a:p>
          <a:p>
            <a:pPr marL="0" indent="0">
              <a:buNone/>
            </a:pPr>
            <a:endParaRPr lang="en-IN" dirty="0"/>
          </a:p>
        </p:txBody>
      </p:sp>
      <p:pic>
        <p:nvPicPr>
          <p:cNvPr id="4" name="Picture 3"/>
          <p:cNvPicPr>
            <a:picLocks noChangeAspect="1"/>
          </p:cNvPicPr>
          <p:nvPr/>
        </p:nvPicPr>
        <p:blipFill>
          <a:blip r:embed="rId2"/>
          <a:stretch>
            <a:fillRect/>
          </a:stretch>
        </p:blipFill>
        <p:spPr>
          <a:xfrm>
            <a:off x="8146473" y="4832708"/>
            <a:ext cx="4045527" cy="2025292"/>
          </a:xfrm>
          <a:prstGeom prst="rect">
            <a:avLst/>
          </a:prstGeom>
        </p:spPr>
      </p:pic>
    </p:spTree>
    <p:extLst>
      <p:ext uri="{BB962C8B-B14F-4D97-AF65-F5344CB8AC3E}">
        <p14:creationId xmlns:p14="http://schemas.microsoft.com/office/powerpoint/2010/main" val="30666086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Our journey</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This process of reunification of </a:t>
            </a:r>
            <a:r>
              <a:rPr lang="en-GB" dirty="0" err="1"/>
              <a:t>Atma</a:t>
            </a:r>
            <a:r>
              <a:rPr lang="en-GB" dirty="0"/>
              <a:t> with </a:t>
            </a:r>
            <a:r>
              <a:rPr lang="en-GB" dirty="0" err="1"/>
              <a:t>Paramatma</a:t>
            </a:r>
            <a:r>
              <a:rPr lang="en-GB" dirty="0"/>
              <a:t> is an arduous </a:t>
            </a:r>
            <a:r>
              <a:rPr lang="en-GB" dirty="0" err="1"/>
              <a:t>sadhana</a:t>
            </a:r>
            <a:r>
              <a:rPr lang="en-GB" dirty="0"/>
              <a:t> (Spiritual practice). An analogy might be useful here. The water in the sea evaporates on account of the sun’s heat, forming clouds. These clouds float in the sky until they are again condensed into water drops by cool winds. The vast ocean consists of an infinite quantity of water. A small volume of water becomes a cloud and comes down as rain. This rain water becomes a stream. A number of streams mingle together to become a large river which flows down mountains and through valleys. Finally, the river reunites with the ocean. Similarly, we are alienated from </a:t>
            </a:r>
            <a:r>
              <a:rPr lang="en-GB" dirty="0" err="1"/>
              <a:t>Easwara</a:t>
            </a:r>
            <a:r>
              <a:rPr lang="en-GB" dirty="0"/>
              <a:t>, the repository of illimitable grace. We have gone through many incarnations and the recurring cycles of births and deaths. The journey of the embodied soul follows a similar pattern until it merges with the universal soul.</a:t>
            </a:r>
            <a:endParaRPr lang="en-IN" dirty="0"/>
          </a:p>
          <a:p>
            <a:pPr marL="0" indent="0">
              <a:buNone/>
            </a:pPr>
            <a:endParaRPr lang="en-IN" dirty="0"/>
          </a:p>
        </p:txBody>
      </p:sp>
    </p:spTree>
    <p:extLst>
      <p:ext uri="{BB962C8B-B14F-4D97-AF65-F5344CB8AC3E}">
        <p14:creationId xmlns:p14="http://schemas.microsoft.com/office/powerpoint/2010/main" val="1072802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Swadharma</a:t>
            </a:r>
            <a:endParaRPr lang="en-IN" dirty="0"/>
          </a:p>
        </p:txBody>
      </p:sp>
      <p:sp>
        <p:nvSpPr>
          <p:cNvPr id="3" name="Content Placeholder 2"/>
          <p:cNvSpPr>
            <a:spLocks noGrp="1"/>
          </p:cNvSpPr>
          <p:nvPr>
            <p:ph idx="1"/>
          </p:nvPr>
        </p:nvSpPr>
        <p:spPr/>
        <p:txBody>
          <a:bodyPr/>
          <a:lstStyle/>
          <a:p>
            <a:pPr marL="0" indent="0">
              <a:buNone/>
            </a:pPr>
            <a:r>
              <a:rPr lang="en-GB" dirty="0"/>
              <a:t>All </a:t>
            </a:r>
            <a:r>
              <a:rPr lang="en-GB" dirty="0" err="1"/>
              <a:t>varnas</a:t>
            </a:r>
            <a:r>
              <a:rPr lang="en-GB" dirty="0"/>
              <a:t> are based on differences in attributes. Each group has its specific attributes which are collectively designated as </a:t>
            </a:r>
            <a:r>
              <a:rPr lang="en-GB" dirty="0" err="1"/>
              <a:t>swadharma</a:t>
            </a:r>
            <a:r>
              <a:rPr lang="en-GB" dirty="0"/>
              <a:t>. </a:t>
            </a:r>
            <a:r>
              <a:rPr lang="en-GB" dirty="0" err="1"/>
              <a:t>Swadharma</a:t>
            </a:r>
            <a:r>
              <a:rPr lang="en-GB" dirty="0"/>
              <a:t> is not free from desires. It has its own specific aims and objectives. They include peace and prosperity in this world and the delights of heaven. Thus, all rituals prescribed by the various </a:t>
            </a:r>
            <a:r>
              <a:rPr lang="en-GB" dirty="0" err="1"/>
              <a:t>varnas</a:t>
            </a:r>
            <a:r>
              <a:rPr lang="en-GB" dirty="0"/>
              <a:t> are performed for the fulfilment of earthly ambitions and heavenly hopes.</a:t>
            </a:r>
            <a:endParaRPr lang="en-IN" dirty="0"/>
          </a:p>
          <a:p>
            <a:pPr marL="0" indent="0">
              <a:buNone/>
            </a:pPr>
            <a:endParaRPr lang="en-IN" dirty="0"/>
          </a:p>
        </p:txBody>
      </p:sp>
      <p:pic>
        <p:nvPicPr>
          <p:cNvPr id="7170" name="Picture 2" descr="Sri Sathya Sai Media Centre | Gall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1830" y="4241753"/>
            <a:ext cx="3931516" cy="2616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0184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Swadharma</a:t>
            </a:r>
            <a:r>
              <a:rPr lang="en-GB" dirty="0" smtClean="0"/>
              <a:t> vs. </a:t>
            </a:r>
            <a:r>
              <a:rPr lang="en-GB" dirty="0" err="1" smtClean="0"/>
              <a:t>Easwara</a:t>
            </a:r>
            <a:r>
              <a:rPr lang="en-GB" dirty="0" smtClean="0"/>
              <a:t> Dharma</a:t>
            </a:r>
            <a:endParaRPr lang="en-IN" dirty="0"/>
          </a:p>
        </p:txBody>
      </p:sp>
      <p:sp>
        <p:nvSpPr>
          <p:cNvPr id="3" name="Content Placeholder 2"/>
          <p:cNvSpPr>
            <a:spLocks noGrp="1"/>
          </p:cNvSpPr>
          <p:nvPr>
            <p:ph idx="1"/>
          </p:nvPr>
        </p:nvSpPr>
        <p:spPr/>
        <p:txBody>
          <a:bodyPr/>
          <a:lstStyle/>
          <a:p>
            <a:pPr marL="0" indent="0">
              <a:buNone/>
            </a:pPr>
            <a:r>
              <a:rPr lang="en-GB" dirty="0"/>
              <a:t>Dharma based on </a:t>
            </a:r>
            <a:r>
              <a:rPr lang="en-GB" dirty="0" err="1"/>
              <a:t>varnas</a:t>
            </a:r>
            <a:r>
              <a:rPr lang="en-GB" dirty="0"/>
              <a:t> involves an element of selfishness. It is not </a:t>
            </a:r>
            <a:r>
              <a:rPr lang="en-GB" dirty="0" err="1"/>
              <a:t>Easwara</a:t>
            </a:r>
            <a:r>
              <a:rPr lang="en-GB" dirty="0"/>
              <a:t> </a:t>
            </a:r>
            <a:r>
              <a:rPr lang="en-GB" dirty="0"/>
              <a:t>D</a:t>
            </a:r>
            <a:r>
              <a:rPr lang="en-GB" dirty="0" smtClean="0"/>
              <a:t>harma</a:t>
            </a:r>
            <a:r>
              <a:rPr lang="en-GB" dirty="0"/>
              <a:t>, which is absolute freedom from selfish desires. You can realise the </a:t>
            </a:r>
            <a:r>
              <a:rPr lang="en-GB" dirty="0" err="1"/>
              <a:t>Atma</a:t>
            </a:r>
            <a:r>
              <a:rPr lang="en-GB" dirty="0"/>
              <a:t> only when you give up all selfish </a:t>
            </a:r>
            <a:r>
              <a:rPr lang="en-GB" dirty="0" err="1"/>
              <a:t>dharmas</a:t>
            </a:r>
            <a:r>
              <a:rPr lang="en-GB" dirty="0"/>
              <a:t> and follow </a:t>
            </a:r>
            <a:r>
              <a:rPr lang="en-GB" dirty="0" err="1"/>
              <a:t>Easwara</a:t>
            </a:r>
            <a:r>
              <a:rPr lang="en-GB" dirty="0"/>
              <a:t> dharma. Selfishness is a beastly quality. Even humanitarianism should be made divine. Love tainted with selfishness is death. The essence of </a:t>
            </a:r>
            <a:r>
              <a:rPr lang="en-GB" dirty="0" err="1"/>
              <a:t>Easwara</a:t>
            </a:r>
            <a:r>
              <a:rPr lang="en-GB" dirty="0"/>
              <a:t> dharma is selfless love. Cultivate the quality of unbounded, selfless love. It is only then that real spiritual wisdom will dawn on you.</a:t>
            </a:r>
            <a:endParaRPr lang="en-IN" dirty="0"/>
          </a:p>
          <a:p>
            <a:pPr marL="0" indent="0">
              <a:buNone/>
            </a:pPr>
            <a:endParaRPr lang="en-IN" dirty="0"/>
          </a:p>
        </p:txBody>
      </p:sp>
      <p:pic>
        <p:nvPicPr>
          <p:cNvPr id="6" name="Picture 5"/>
          <p:cNvPicPr>
            <a:picLocks noChangeAspect="1"/>
          </p:cNvPicPr>
          <p:nvPr/>
        </p:nvPicPr>
        <p:blipFill>
          <a:blip r:embed="rId2"/>
          <a:stretch>
            <a:fillRect/>
          </a:stretch>
        </p:blipFill>
        <p:spPr>
          <a:xfrm>
            <a:off x="4805796" y="4576763"/>
            <a:ext cx="3977986" cy="2227672"/>
          </a:xfrm>
          <a:prstGeom prst="rect">
            <a:avLst/>
          </a:prstGeom>
        </p:spPr>
      </p:pic>
    </p:spTree>
    <p:extLst>
      <p:ext uri="{BB962C8B-B14F-4D97-AF65-F5344CB8AC3E}">
        <p14:creationId xmlns:p14="http://schemas.microsoft.com/office/powerpoint/2010/main" val="31551923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err="1" smtClean="0"/>
              <a:t>Swartha</a:t>
            </a:r>
            <a:r>
              <a:rPr lang="en-GB" dirty="0" smtClean="0"/>
              <a:t> to </a:t>
            </a:r>
            <a:r>
              <a:rPr lang="en-GB" i="1" dirty="0" err="1" smtClean="0"/>
              <a:t>Parartha</a:t>
            </a:r>
            <a:endParaRPr lang="en-IN" i="1" dirty="0"/>
          </a:p>
        </p:txBody>
      </p:sp>
      <p:sp>
        <p:nvSpPr>
          <p:cNvPr id="3" name="Content Placeholder 2"/>
          <p:cNvSpPr>
            <a:spLocks noGrp="1"/>
          </p:cNvSpPr>
          <p:nvPr>
            <p:ph idx="1"/>
          </p:nvPr>
        </p:nvSpPr>
        <p:spPr/>
        <p:txBody>
          <a:bodyPr/>
          <a:lstStyle/>
          <a:p>
            <a:pPr marL="0" indent="0">
              <a:buNone/>
            </a:pPr>
            <a:r>
              <a:rPr lang="en-GB" dirty="0"/>
              <a:t>The cultivation of selfless love is not an easy thing. Indeed, selfishness also is essential in the beginning. Selfishness is perhaps a degenerated and depraved form of self-love. Without </a:t>
            </a:r>
            <a:r>
              <a:rPr lang="en-GB" dirty="0" err="1"/>
              <a:t>swartha</a:t>
            </a:r>
            <a:r>
              <a:rPr lang="en-GB" dirty="0"/>
              <a:t> or self-centred love, you cannot have </a:t>
            </a:r>
            <a:r>
              <a:rPr lang="en-GB" dirty="0" err="1"/>
              <a:t>parartha</a:t>
            </a:r>
            <a:r>
              <a:rPr lang="en-GB" dirty="0"/>
              <a:t> or expansive love. Selfless love is an extended form of selfishness. But you cannot grow spiritually if you are limited to your self. Humanitarianism is an extended and sublimated form of self-love. You may be born in selfishness, but you should not die in selfishness.</a:t>
            </a:r>
            <a:endParaRPr lang="en-IN" dirty="0"/>
          </a:p>
          <a:p>
            <a:pPr marL="0" indent="0">
              <a:buNone/>
            </a:pPr>
            <a:endParaRPr lang="en-IN" dirty="0"/>
          </a:p>
        </p:txBody>
      </p:sp>
      <p:pic>
        <p:nvPicPr>
          <p:cNvPr id="9220" name="Picture 4" descr="Young man embraces a big red heart with mindfulness and love. Smiling boy sits in lotus pose with closed eyes and enjoys his freedom and life. Young man embraces a big red heart with mindfulness and love. Smiling boy sits in lotus pose with closed eyes and enjoys his freedom and life. Body positive and mental health concept. man touching heart stock illustr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356" y="4707948"/>
            <a:ext cx="2793697" cy="215005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6830291" y="5874327"/>
            <a:ext cx="942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9222" name="Picture 6" descr="Happy youth Day greeting card with smiling young people hugging each other Happy youth Day greeting card with smiling young people hugging each other. Vector illustration man opening arms stock illustrations"/>
          <p:cNvPicPr>
            <a:picLocks noChangeAspect="1" noChangeArrowheads="1"/>
          </p:cNvPicPr>
          <p:nvPr/>
        </p:nvPicPr>
        <p:blipFill rotWithShape="1">
          <a:blip r:embed="rId3">
            <a:extLst>
              <a:ext uri="{28A0092B-C50C-407E-A947-70E740481C1C}">
                <a14:useLocalDpi xmlns:a14="http://schemas.microsoft.com/office/drawing/2010/main" val="0"/>
              </a:ext>
            </a:extLst>
          </a:blip>
          <a:srcRect t="28600"/>
          <a:stretch/>
        </p:blipFill>
        <p:spPr bwMode="auto">
          <a:xfrm>
            <a:off x="8176978" y="4707948"/>
            <a:ext cx="4015022" cy="2150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5753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Garland of Karma</a:t>
            </a:r>
            <a:endParaRPr lang="en-IN" dirty="0"/>
          </a:p>
        </p:txBody>
      </p:sp>
      <p:sp>
        <p:nvSpPr>
          <p:cNvPr id="3" name="Content Placeholder 2"/>
          <p:cNvSpPr>
            <a:spLocks noGrp="1"/>
          </p:cNvSpPr>
          <p:nvPr>
            <p:ph idx="1"/>
          </p:nvPr>
        </p:nvSpPr>
        <p:spPr/>
        <p:txBody>
          <a:bodyPr/>
          <a:lstStyle/>
          <a:p>
            <a:pPr marL="0" indent="0">
              <a:buNone/>
            </a:pPr>
            <a:r>
              <a:rPr lang="en-GB" dirty="0"/>
              <a:t>When you are born, you are not born with garlands and necklaces. You have no pearls or diamonds. You have no golden ornaments. But around your neck hangs the garland of your past karma and acquired </a:t>
            </a:r>
            <a:r>
              <a:rPr lang="en-GB" dirty="0" err="1"/>
              <a:t>samskaras</a:t>
            </a:r>
            <a:r>
              <a:rPr lang="en-GB" dirty="0"/>
              <a:t> (inborn impulses). And when you die, you do not take anything with you except the consequences of your good and evil actions. You are always decked with the invisible garland of your inexorable karma, which pursues and burdens you. This burden of karma can be lightened by God’s grace and your own realisation of the oneness of your soul with the universal soul. And karma can be destroyed by karma alone.</a:t>
            </a:r>
            <a:endParaRPr lang="en-IN" dirty="0"/>
          </a:p>
          <a:p>
            <a:pPr marL="0" indent="0">
              <a:buNone/>
            </a:pPr>
            <a:endParaRPr lang="en-IN" dirty="0"/>
          </a:p>
        </p:txBody>
      </p:sp>
      <p:pic>
        <p:nvPicPr>
          <p:cNvPr id="10242" name="Picture 2" descr="Man throwing a boomerang and surprised when it flew back to hit him from the back. Vector illustration depicts execution problem, karma, bad luck, after effect, repercussion, and consequences. karma stock illustrations"/>
          <p:cNvPicPr>
            <a:picLocks noChangeAspect="1" noChangeArrowheads="1"/>
          </p:cNvPicPr>
          <p:nvPr/>
        </p:nvPicPr>
        <p:blipFill rotWithShape="1">
          <a:blip r:embed="rId2">
            <a:extLst>
              <a:ext uri="{28A0092B-C50C-407E-A947-70E740481C1C}">
                <a14:useLocalDpi xmlns:a14="http://schemas.microsoft.com/office/drawing/2010/main" val="0"/>
              </a:ext>
            </a:extLst>
          </a:blip>
          <a:srcRect l="13525" t="25874" r="13792" b="12132"/>
          <a:stretch/>
        </p:blipFill>
        <p:spPr bwMode="auto">
          <a:xfrm>
            <a:off x="9227127" y="5300185"/>
            <a:ext cx="2964873" cy="1557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9067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Follow at least </a:t>
            </a:r>
            <a:r>
              <a:rPr lang="en-GB" dirty="0" smtClean="0"/>
              <a:t>a few</a:t>
            </a:r>
            <a:endParaRPr lang="en-IN" dirty="0"/>
          </a:p>
        </p:txBody>
      </p:sp>
      <p:sp>
        <p:nvSpPr>
          <p:cNvPr id="3" name="Content Placeholder 2"/>
          <p:cNvSpPr>
            <a:spLocks noGrp="1"/>
          </p:cNvSpPr>
          <p:nvPr>
            <p:ph idx="1"/>
          </p:nvPr>
        </p:nvSpPr>
        <p:spPr/>
        <p:txBody>
          <a:bodyPr/>
          <a:lstStyle/>
          <a:p>
            <a:pPr marL="0" indent="0">
              <a:buNone/>
            </a:pPr>
            <a:r>
              <a:rPr lang="en-GB" dirty="0"/>
              <a:t>The Bhagavad Gita is a treasure chest of sublime teachings of perennial spiritual value. Young students must ruminate and contemplate upon them and practise them. We must bring about a spiritual renaissance in </a:t>
            </a:r>
            <a:r>
              <a:rPr lang="en-GB" dirty="0" err="1"/>
              <a:t>Bharath</a:t>
            </a:r>
            <a:r>
              <a:rPr lang="en-GB" dirty="0"/>
              <a:t>. Lack of integrity and morality is the bane of the modern world. Man does not live by bread alone. We must always remember that money comes and goes, but morality comes and grows. I hope you will follow at least a few of the noble teachings of the Gita and follow the path of morality and integrity. I conclude My discourse with blessings to all of you.</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10229850" y="4544580"/>
            <a:ext cx="1962150" cy="2324100"/>
          </a:xfrm>
          <a:prstGeom prst="rect">
            <a:avLst/>
          </a:prstGeom>
        </p:spPr>
      </p:pic>
    </p:spTree>
    <p:extLst>
      <p:ext uri="{BB962C8B-B14F-4D97-AF65-F5344CB8AC3E}">
        <p14:creationId xmlns:p14="http://schemas.microsoft.com/office/powerpoint/2010/main" val="19429850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4">
      <a:dk1>
        <a:sysClr val="windowText" lastClr="000000"/>
      </a:dk1>
      <a:lt1>
        <a:srgbClr val="C490AA"/>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TotalTime>
  <Words>1581</Words>
  <Application>Microsoft Office PowerPoint</Application>
  <PresentationFormat>Widescreen</PresentationFormat>
  <Paragraphs>44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  RE-LIGION:  THE SPIRITUAL  REUNION </vt:lpstr>
      <vt:lpstr>Above all, selfless love!</vt:lpstr>
      <vt:lpstr>Aspects of reality</vt:lpstr>
      <vt:lpstr>Kutastha- Permanence</vt:lpstr>
      <vt:lpstr>Jnana</vt:lpstr>
      <vt:lpstr>Unity of Atma and Paramatma</vt:lpstr>
      <vt:lpstr>Vemana’s couplets </vt:lpstr>
      <vt:lpstr>Vemana’s couplets</vt:lpstr>
      <vt:lpstr>Vemana’s couplets</vt:lpstr>
      <vt:lpstr>Narada’s worry</vt:lpstr>
      <vt:lpstr>Highest Liberating Experience</vt:lpstr>
      <vt:lpstr>Know the right thing</vt:lpstr>
      <vt:lpstr>Why religion?</vt:lpstr>
      <vt:lpstr>Our journey</vt:lpstr>
      <vt:lpstr>Swadharma</vt:lpstr>
      <vt:lpstr>Swadharma vs. Easwara Dharma</vt:lpstr>
      <vt:lpstr>Swartha to Parartha</vt:lpstr>
      <vt:lpstr>Garland of Karma</vt:lpstr>
      <vt:lpstr>Follow at least a few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RE-LIGION:  THE SPIRITUAL  REUNION </dc:title>
  <dc:creator>JG</dc:creator>
  <cp:lastModifiedBy>JG</cp:lastModifiedBy>
  <cp:revision>13</cp:revision>
  <dcterms:created xsi:type="dcterms:W3CDTF">2024-02-05T09:17:06Z</dcterms:created>
  <dcterms:modified xsi:type="dcterms:W3CDTF">2025-03-05T04:38:36Z</dcterms:modified>
</cp:coreProperties>
</file>