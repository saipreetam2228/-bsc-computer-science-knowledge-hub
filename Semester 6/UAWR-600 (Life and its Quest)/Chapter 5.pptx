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75" r:id="rId5"/>
    <p:sldId id="259" r:id="rId6"/>
    <p:sldId id="260" r:id="rId7"/>
    <p:sldId id="276"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01678D-30D4-4AF6-8516-87D762A1B238}" type="doc">
      <dgm:prSet loTypeId="urn:microsoft.com/office/officeart/2005/8/layout/default" loCatId="list" qsTypeId="urn:microsoft.com/office/officeart/2005/8/quickstyle/3d7" qsCatId="3D" csTypeId="urn:microsoft.com/office/officeart/2005/8/colors/colorful1" csCatId="colorful" phldr="1"/>
      <dgm:spPr/>
      <dgm:t>
        <a:bodyPr/>
        <a:lstStyle/>
        <a:p>
          <a:endParaRPr lang="en-US"/>
        </a:p>
      </dgm:t>
    </dgm:pt>
    <dgm:pt modelId="{6C4B0502-B805-49FC-94E4-2472EF002831}">
      <dgm:prSet phldrT="[Text]"/>
      <dgm:spPr/>
      <dgm:t>
        <a:bodyPr/>
        <a:lstStyle/>
        <a:p>
          <a:r>
            <a:rPr lang="en-US" dirty="0" smtClean="0"/>
            <a:t>VISHWADHARMA</a:t>
          </a:r>
          <a:endParaRPr lang="en-US" dirty="0"/>
        </a:p>
      </dgm:t>
    </dgm:pt>
    <dgm:pt modelId="{572C1C70-380A-4433-9814-6413144F220B}" type="parTrans" cxnId="{35B6F63E-E89B-4921-9BF3-2B6E2F8BFD50}">
      <dgm:prSet/>
      <dgm:spPr/>
      <dgm:t>
        <a:bodyPr/>
        <a:lstStyle/>
        <a:p>
          <a:endParaRPr lang="en-US"/>
        </a:p>
      </dgm:t>
    </dgm:pt>
    <dgm:pt modelId="{BCD32520-CBDC-4451-9C22-A20DE7969D33}" type="sibTrans" cxnId="{35B6F63E-E89B-4921-9BF3-2B6E2F8BFD50}">
      <dgm:prSet/>
      <dgm:spPr/>
      <dgm:t>
        <a:bodyPr/>
        <a:lstStyle/>
        <a:p>
          <a:endParaRPr lang="en-US"/>
        </a:p>
      </dgm:t>
    </dgm:pt>
    <dgm:pt modelId="{17432E9A-E907-47B7-8A8A-D8FBAAA85CF5}">
      <dgm:prSet phldrT="[Text]"/>
      <dgm:spPr/>
      <dgm:t>
        <a:bodyPr/>
        <a:lstStyle/>
        <a:p>
          <a:r>
            <a:rPr lang="en-US" dirty="0" smtClean="0"/>
            <a:t>EASWARA DHARMA</a:t>
          </a:r>
          <a:endParaRPr lang="en-US" dirty="0"/>
        </a:p>
      </dgm:t>
    </dgm:pt>
    <dgm:pt modelId="{F10F7706-3CE5-4C07-BD3C-F6B2F9A6BCA4}" type="parTrans" cxnId="{6D819BD6-27F2-4A94-9795-1E13F72E07A2}">
      <dgm:prSet/>
      <dgm:spPr/>
      <dgm:t>
        <a:bodyPr/>
        <a:lstStyle/>
        <a:p>
          <a:endParaRPr lang="en-US"/>
        </a:p>
      </dgm:t>
    </dgm:pt>
    <dgm:pt modelId="{7234F1F9-808F-4D6B-91DD-D10E5056DCC8}" type="sibTrans" cxnId="{6D819BD6-27F2-4A94-9795-1E13F72E07A2}">
      <dgm:prSet/>
      <dgm:spPr/>
      <dgm:t>
        <a:bodyPr/>
        <a:lstStyle/>
        <a:p>
          <a:endParaRPr lang="en-US"/>
        </a:p>
      </dgm:t>
    </dgm:pt>
    <dgm:pt modelId="{EECC24B9-2738-4287-B3CB-06E5EB4D8A22}">
      <dgm:prSet phldrT="[Text]"/>
      <dgm:spPr/>
      <dgm:t>
        <a:bodyPr/>
        <a:lstStyle/>
        <a:p>
          <a:r>
            <a:rPr lang="en-US" dirty="0" smtClean="0"/>
            <a:t>SAMAJIKA DHARMA</a:t>
          </a:r>
          <a:endParaRPr lang="en-US" dirty="0"/>
        </a:p>
      </dgm:t>
    </dgm:pt>
    <dgm:pt modelId="{C8CB8C2B-B032-4172-8293-96D082821947}" type="parTrans" cxnId="{1593F657-9690-4ABD-AA66-91511C89783D}">
      <dgm:prSet/>
      <dgm:spPr/>
      <dgm:t>
        <a:bodyPr/>
        <a:lstStyle/>
        <a:p>
          <a:endParaRPr lang="en-US"/>
        </a:p>
      </dgm:t>
    </dgm:pt>
    <dgm:pt modelId="{AD96F8AC-DEFB-4761-8ABD-87AD0B18199E}" type="sibTrans" cxnId="{1593F657-9690-4ABD-AA66-91511C89783D}">
      <dgm:prSet/>
      <dgm:spPr/>
      <dgm:t>
        <a:bodyPr/>
        <a:lstStyle/>
        <a:p>
          <a:endParaRPr lang="en-US"/>
        </a:p>
      </dgm:t>
    </dgm:pt>
    <dgm:pt modelId="{69BC2D2D-1E2B-4C47-B5C4-B9D175480D0B}">
      <dgm:prSet phldrT="[Text]"/>
      <dgm:spPr/>
      <dgm:t>
        <a:bodyPr/>
        <a:lstStyle/>
        <a:p>
          <a:r>
            <a:rPr lang="en-US" dirty="0" smtClean="0"/>
            <a:t>SWADHARMA</a:t>
          </a:r>
          <a:endParaRPr lang="en-US" dirty="0"/>
        </a:p>
      </dgm:t>
    </dgm:pt>
    <dgm:pt modelId="{3D7F07F4-030A-4385-84E7-780A562EBDB4}" type="parTrans" cxnId="{58A1FDC1-B6DA-4C61-ABB7-D78802D08ECA}">
      <dgm:prSet/>
      <dgm:spPr/>
      <dgm:t>
        <a:bodyPr/>
        <a:lstStyle/>
        <a:p>
          <a:endParaRPr lang="en-US"/>
        </a:p>
      </dgm:t>
    </dgm:pt>
    <dgm:pt modelId="{DADE33EA-B143-440F-AA91-6EA2AD0F45A7}" type="sibTrans" cxnId="{58A1FDC1-B6DA-4C61-ABB7-D78802D08ECA}">
      <dgm:prSet/>
      <dgm:spPr/>
      <dgm:t>
        <a:bodyPr/>
        <a:lstStyle/>
        <a:p>
          <a:endParaRPr lang="en-US"/>
        </a:p>
      </dgm:t>
    </dgm:pt>
    <dgm:pt modelId="{F0757AB7-2FD7-4606-8EF1-D13FB4029B5E}">
      <dgm:prSet phldrT="[Text]"/>
      <dgm:spPr/>
      <dgm:t>
        <a:bodyPr/>
        <a:lstStyle/>
        <a:p>
          <a:r>
            <a:rPr lang="en-US" dirty="0" smtClean="0"/>
            <a:t>VYAKTI DHARMA</a:t>
          </a:r>
          <a:endParaRPr lang="en-US" dirty="0"/>
        </a:p>
      </dgm:t>
    </dgm:pt>
    <dgm:pt modelId="{23097C68-3A54-4316-8B3D-8B6ED756E904}" type="parTrans" cxnId="{3F053614-8DB3-4AAD-8897-F075A2D716DA}">
      <dgm:prSet/>
      <dgm:spPr/>
      <dgm:t>
        <a:bodyPr/>
        <a:lstStyle/>
        <a:p>
          <a:endParaRPr lang="en-US"/>
        </a:p>
      </dgm:t>
    </dgm:pt>
    <dgm:pt modelId="{A5DB3DDD-9559-4198-98EE-B9FA7CDBA1C8}" type="sibTrans" cxnId="{3F053614-8DB3-4AAD-8897-F075A2D716DA}">
      <dgm:prSet/>
      <dgm:spPr/>
      <dgm:t>
        <a:bodyPr/>
        <a:lstStyle/>
        <a:p>
          <a:endParaRPr lang="en-US"/>
        </a:p>
      </dgm:t>
    </dgm:pt>
    <dgm:pt modelId="{82A8C4C1-B911-46A1-98F9-872605A166BE}" type="pres">
      <dgm:prSet presAssocID="{2001678D-30D4-4AF6-8516-87D762A1B238}" presName="diagram" presStyleCnt="0">
        <dgm:presLayoutVars>
          <dgm:dir/>
          <dgm:resizeHandles val="exact"/>
        </dgm:presLayoutVars>
      </dgm:prSet>
      <dgm:spPr/>
      <dgm:t>
        <a:bodyPr/>
        <a:lstStyle/>
        <a:p>
          <a:endParaRPr lang="en-US"/>
        </a:p>
      </dgm:t>
    </dgm:pt>
    <dgm:pt modelId="{D8A6C00C-C814-4A16-90F9-1BE6211E7FEA}" type="pres">
      <dgm:prSet presAssocID="{6C4B0502-B805-49FC-94E4-2472EF002831}" presName="node" presStyleLbl="node1" presStyleIdx="0" presStyleCnt="5" custLinFactNeighborY="-41667">
        <dgm:presLayoutVars>
          <dgm:bulletEnabled val="1"/>
        </dgm:presLayoutVars>
      </dgm:prSet>
      <dgm:spPr/>
      <dgm:t>
        <a:bodyPr/>
        <a:lstStyle/>
        <a:p>
          <a:endParaRPr lang="en-US"/>
        </a:p>
      </dgm:t>
    </dgm:pt>
    <dgm:pt modelId="{AC3AE2DA-969B-4250-8253-4A108313161E}" type="pres">
      <dgm:prSet presAssocID="{BCD32520-CBDC-4451-9C22-A20DE7969D33}" presName="sibTrans" presStyleCnt="0"/>
      <dgm:spPr/>
    </dgm:pt>
    <dgm:pt modelId="{C04F235B-5BDB-4DF0-A0DF-F570F5049C32}" type="pres">
      <dgm:prSet presAssocID="{17432E9A-E907-47B7-8A8A-D8FBAAA85CF5}" presName="node" presStyleLbl="node1" presStyleIdx="1" presStyleCnt="5" custLinFactNeighborX="0" custLinFactNeighborY="-17708">
        <dgm:presLayoutVars>
          <dgm:bulletEnabled val="1"/>
        </dgm:presLayoutVars>
      </dgm:prSet>
      <dgm:spPr/>
      <dgm:t>
        <a:bodyPr/>
        <a:lstStyle/>
        <a:p>
          <a:endParaRPr lang="en-US"/>
        </a:p>
      </dgm:t>
    </dgm:pt>
    <dgm:pt modelId="{94D7719E-B52B-4F09-BD81-38002FDDF972}" type="pres">
      <dgm:prSet presAssocID="{7234F1F9-808F-4D6B-91DD-D10E5056DCC8}" presName="sibTrans" presStyleCnt="0"/>
      <dgm:spPr/>
    </dgm:pt>
    <dgm:pt modelId="{C0058EEF-CA57-4245-8E65-F968ABBADF81}" type="pres">
      <dgm:prSet presAssocID="{EECC24B9-2738-4287-B3CB-06E5EB4D8A22}" presName="node" presStyleLbl="node1" presStyleIdx="2" presStyleCnt="5" custLinFactNeighborX="0" custLinFactNeighborY="15758">
        <dgm:presLayoutVars>
          <dgm:bulletEnabled val="1"/>
        </dgm:presLayoutVars>
      </dgm:prSet>
      <dgm:spPr/>
      <dgm:t>
        <a:bodyPr/>
        <a:lstStyle/>
        <a:p>
          <a:endParaRPr lang="en-US"/>
        </a:p>
      </dgm:t>
    </dgm:pt>
    <dgm:pt modelId="{84844AAA-C647-45EC-A7E1-A88036EF8507}" type="pres">
      <dgm:prSet presAssocID="{AD96F8AC-DEFB-4761-8ABD-87AD0B18199E}" presName="sibTrans" presStyleCnt="0"/>
      <dgm:spPr/>
    </dgm:pt>
    <dgm:pt modelId="{F0B818B6-2CAE-48D6-BBE9-7CC32B7ABAA4}" type="pres">
      <dgm:prSet presAssocID="{69BC2D2D-1E2B-4C47-B5C4-B9D175480D0B}" presName="node" presStyleLbl="node1" presStyleIdx="3" presStyleCnt="5" custLinFactNeighborX="-3565" custLinFactNeighborY="7677">
        <dgm:presLayoutVars>
          <dgm:bulletEnabled val="1"/>
        </dgm:presLayoutVars>
      </dgm:prSet>
      <dgm:spPr/>
      <dgm:t>
        <a:bodyPr/>
        <a:lstStyle/>
        <a:p>
          <a:endParaRPr lang="en-US"/>
        </a:p>
      </dgm:t>
    </dgm:pt>
    <dgm:pt modelId="{D5F2018E-5235-41EB-8619-8DA285727ED2}" type="pres">
      <dgm:prSet presAssocID="{DADE33EA-B143-440F-AA91-6EA2AD0F45A7}" presName="sibTrans" presStyleCnt="0"/>
      <dgm:spPr/>
    </dgm:pt>
    <dgm:pt modelId="{F2B0F010-0079-427B-B901-EF37A54EF0D8}" type="pres">
      <dgm:prSet presAssocID="{F0757AB7-2FD7-4606-8EF1-D13FB4029B5E}" presName="node" presStyleLbl="node1" presStyleIdx="4" presStyleCnt="5" custLinFactNeighborX="727" custLinFactNeighborY="8485">
        <dgm:presLayoutVars>
          <dgm:bulletEnabled val="1"/>
        </dgm:presLayoutVars>
      </dgm:prSet>
      <dgm:spPr/>
      <dgm:t>
        <a:bodyPr/>
        <a:lstStyle/>
        <a:p>
          <a:endParaRPr lang="en-US"/>
        </a:p>
      </dgm:t>
    </dgm:pt>
  </dgm:ptLst>
  <dgm:cxnLst>
    <dgm:cxn modelId="{F04C12EC-BD41-4509-BAA3-019730F3149C}" type="presOf" srcId="{2001678D-30D4-4AF6-8516-87D762A1B238}" destId="{82A8C4C1-B911-46A1-98F9-872605A166BE}" srcOrd="0" destOrd="0" presId="urn:microsoft.com/office/officeart/2005/8/layout/default"/>
    <dgm:cxn modelId="{35B6F63E-E89B-4921-9BF3-2B6E2F8BFD50}" srcId="{2001678D-30D4-4AF6-8516-87D762A1B238}" destId="{6C4B0502-B805-49FC-94E4-2472EF002831}" srcOrd="0" destOrd="0" parTransId="{572C1C70-380A-4433-9814-6413144F220B}" sibTransId="{BCD32520-CBDC-4451-9C22-A20DE7969D33}"/>
    <dgm:cxn modelId="{50DE560E-8A7E-46AA-8656-DC0AF1E376A0}" type="presOf" srcId="{F0757AB7-2FD7-4606-8EF1-D13FB4029B5E}" destId="{F2B0F010-0079-427B-B901-EF37A54EF0D8}" srcOrd="0" destOrd="0" presId="urn:microsoft.com/office/officeart/2005/8/layout/default"/>
    <dgm:cxn modelId="{A0BEE2A3-38AE-49E5-86E3-65DF1E751E45}" type="presOf" srcId="{69BC2D2D-1E2B-4C47-B5C4-B9D175480D0B}" destId="{F0B818B6-2CAE-48D6-BBE9-7CC32B7ABAA4}" srcOrd="0" destOrd="0" presId="urn:microsoft.com/office/officeart/2005/8/layout/default"/>
    <dgm:cxn modelId="{58A1FDC1-B6DA-4C61-ABB7-D78802D08ECA}" srcId="{2001678D-30D4-4AF6-8516-87D762A1B238}" destId="{69BC2D2D-1E2B-4C47-B5C4-B9D175480D0B}" srcOrd="3" destOrd="0" parTransId="{3D7F07F4-030A-4385-84E7-780A562EBDB4}" sibTransId="{DADE33EA-B143-440F-AA91-6EA2AD0F45A7}"/>
    <dgm:cxn modelId="{1593F657-9690-4ABD-AA66-91511C89783D}" srcId="{2001678D-30D4-4AF6-8516-87D762A1B238}" destId="{EECC24B9-2738-4287-B3CB-06E5EB4D8A22}" srcOrd="2" destOrd="0" parTransId="{C8CB8C2B-B032-4172-8293-96D082821947}" sibTransId="{AD96F8AC-DEFB-4761-8ABD-87AD0B18199E}"/>
    <dgm:cxn modelId="{6D819BD6-27F2-4A94-9795-1E13F72E07A2}" srcId="{2001678D-30D4-4AF6-8516-87D762A1B238}" destId="{17432E9A-E907-47B7-8A8A-D8FBAAA85CF5}" srcOrd="1" destOrd="0" parTransId="{F10F7706-3CE5-4C07-BD3C-F6B2F9A6BCA4}" sibTransId="{7234F1F9-808F-4D6B-91DD-D10E5056DCC8}"/>
    <dgm:cxn modelId="{4487C074-FECE-45DB-B693-FB5D96790952}" type="presOf" srcId="{17432E9A-E907-47B7-8A8A-D8FBAAA85CF5}" destId="{C04F235B-5BDB-4DF0-A0DF-F570F5049C32}" srcOrd="0" destOrd="0" presId="urn:microsoft.com/office/officeart/2005/8/layout/default"/>
    <dgm:cxn modelId="{3F053614-8DB3-4AAD-8897-F075A2D716DA}" srcId="{2001678D-30D4-4AF6-8516-87D762A1B238}" destId="{F0757AB7-2FD7-4606-8EF1-D13FB4029B5E}" srcOrd="4" destOrd="0" parTransId="{23097C68-3A54-4316-8B3D-8B6ED756E904}" sibTransId="{A5DB3DDD-9559-4198-98EE-B9FA7CDBA1C8}"/>
    <dgm:cxn modelId="{06C6A186-4E0A-43C0-9257-E4D5A36A6436}" type="presOf" srcId="{EECC24B9-2738-4287-B3CB-06E5EB4D8A22}" destId="{C0058EEF-CA57-4245-8E65-F968ABBADF81}" srcOrd="0" destOrd="0" presId="urn:microsoft.com/office/officeart/2005/8/layout/default"/>
    <dgm:cxn modelId="{F17134F6-33A0-4AC9-8152-F904D9B406B6}" type="presOf" srcId="{6C4B0502-B805-49FC-94E4-2472EF002831}" destId="{D8A6C00C-C814-4A16-90F9-1BE6211E7FEA}" srcOrd="0" destOrd="0" presId="urn:microsoft.com/office/officeart/2005/8/layout/default"/>
    <dgm:cxn modelId="{FF4C20E2-A6F5-46C6-AB2A-882F883433A2}" type="presParOf" srcId="{82A8C4C1-B911-46A1-98F9-872605A166BE}" destId="{D8A6C00C-C814-4A16-90F9-1BE6211E7FEA}" srcOrd="0" destOrd="0" presId="urn:microsoft.com/office/officeart/2005/8/layout/default"/>
    <dgm:cxn modelId="{8F0CED63-D461-4C93-B4D0-F82CDBAFFF51}" type="presParOf" srcId="{82A8C4C1-B911-46A1-98F9-872605A166BE}" destId="{AC3AE2DA-969B-4250-8253-4A108313161E}" srcOrd="1" destOrd="0" presId="urn:microsoft.com/office/officeart/2005/8/layout/default"/>
    <dgm:cxn modelId="{53B08760-0813-45EA-98F6-4459DB44BB1A}" type="presParOf" srcId="{82A8C4C1-B911-46A1-98F9-872605A166BE}" destId="{C04F235B-5BDB-4DF0-A0DF-F570F5049C32}" srcOrd="2" destOrd="0" presId="urn:microsoft.com/office/officeart/2005/8/layout/default"/>
    <dgm:cxn modelId="{9E4F0114-0991-474F-B87A-34DA4B26AE55}" type="presParOf" srcId="{82A8C4C1-B911-46A1-98F9-872605A166BE}" destId="{94D7719E-B52B-4F09-BD81-38002FDDF972}" srcOrd="3" destOrd="0" presId="urn:microsoft.com/office/officeart/2005/8/layout/default"/>
    <dgm:cxn modelId="{07A714C4-F21F-456F-BE11-C74E24874FB6}" type="presParOf" srcId="{82A8C4C1-B911-46A1-98F9-872605A166BE}" destId="{C0058EEF-CA57-4245-8E65-F968ABBADF81}" srcOrd="4" destOrd="0" presId="urn:microsoft.com/office/officeart/2005/8/layout/default"/>
    <dgm:cxn modelId="{FCAB134A-4974-442B-B818-8B89382E14A7}" type="presParOf" srcId="{82A8C4C1-B911-46A1-98F9-872605A166BE}" destId="{84844AAA-C647-45EC-A7E1-A88036EF8507}" srcOrd="5" destOrd="0" presId="urn:microsoft.com/office/officeart/2005/8/layout/default"/>
    <dgm:cxn modelId="{28467E39-5E1C-46B9-8A37-6F9A54D03FCA}" type="presParOf" srcId="{82A8C4C1-B911-46A1-98F9-872605A166BE}" destId="{F0B818B6-2CAE-48D6-BBE9-7CC32B7ABAA4}" srcOrd="6" destOrd="0" presId="urn:microsoft.com/office/officeart/2005/8/layout/default"/>
    <dgm:cxn modelId="{B1367FBD-2277-4D88-A1A3-6C1F91455BDD}" type="presParOf" srcId="{82A8C4C1-B911-46A1-98F9-872605A166BE}" destId="{D5F2018E-5235-41EB-8619-8DA285727ED2}" srcOrd="7" destOrd="0" presId="urn:microsoft.com/office/officeart/2005/8/layout/default"/>
    <dgm:cxn modelId="{5407DFB6-927F-41E3-B059-6376D2928970}" type="presParOf" srcId="{82A8C4C1-B911-46A1-98F9-872605A166BE}" destId="{F2B0F010-0079-427B-B901-EF37A54EF0D8}"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A6C00C-C814-4A16-90F9-1BE6211E7FEA}">
      <dsp:nvSpPr>
        <dsp:cNvPr id="0" name=""/>
        <dsp:cNvSpPr/>
      </dsp:nvSpPr>
      <dsp:spPr>
        <a:xfrm>
          <a:off x="0" y="171442"/>
          <a:ext cx="3619499" cy="2171700"/>
        </a:xfrm>
        <a:prstGeom prst="rect">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VISHWADHARMA</a:t>
          </a:r>
          <a:endParaRPr lang="en-US" sz="3600" kern="1200" dirty="0"/>
        </a:p>
      </dsp:txBody>
      <dsp:txXfrm>
        <a:off x="0" y="171442"/>
        <a:ext cx="3619499" cy="2171700"/>
      </dsp:txXfrm>
    </dsp:sp>
    <dsp:sp modelId="{C04F235B-5BDB-4DF0-A0DF-F570F5049C32}">
      <dsp:nvSpPr>
        <dsp:cNvPr id="0" name=""/>
        <dsp:cNvSpPr/>
      </dsp:nvSpPr>
      <dsp:spPr>
        <a:xfrm>
          <a:off x="3981450" y="691760"/>
          <a:ext cx="3619499" cy="2171700"/>
        </a:xfrm>
        <a:prstGeom prst="rect">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EASWARA DHARMA</a:t>
          </a:r>
          <a:endParaRPr lang="en-US" sz="3600" kern="1200" dirty="0"/>
        </a:p>
      </dsp:txBody>
      <dsp:txXfrm>
        <a:off x="3981450" y="691760"/>
        <a:ext cx="3619499" cy="2171700"/>
      </dsp:txXfrm>
    </dsp:sp>
    <dsp:sp modelId="{C0058EEF-CA57-4245-8E65-F968ABBADF81}">
      <dsp:nvSpPr>
        <dsp:cNvPr id="0" name=""/>
        <dsp:cNvSpPr/>
      </dsp:nvSpPr>
      <dsp:spPr>
        <a:xfrm>
          <a:off x="7962900" y="1418541"/>
          <a:ext cx="3619499" cy="2171700"/>
        </a:xfrm>
        <a:prstGeom prst="rect">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SAMAJIKA DHARMA</a:t>
          </a:r>
          <a:endParaRPr lang="en-US" sz="3600" kern="1200" dirty="0"/>
        </a:p>
      </dsp:txBody>
      <dsp:txXfrm>
        <a:off x="7962900" y="1418541"/>
        <a:ext cx="3619499" cy="2171700"/>
      </dsp:txXfrm>
    </dsp:sp>
    <dsp:sp modelId="{F0B818B6-2CAE-48D6-BBE9-7CC32B7ABAA4}">
      <dsp:nvSpPr>
        <dsp:cNvPr id="0" name=""/>
        <dsp:cNvSpPr/>
      </dsp:nvSpPr>
      <dsp:spPr>
        <a:xfrm>
          <a:off x="1861689" y="3776696"/>
          <a:ext cx="3619499" cy="2171700"/>
        </a:xfrm>
        <a:prstGeom prst="rect">
          <a:avLst/>
        </a:prstGeom>
        <a:solidFill>
          <a:schemeClr val="accent5">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SWADHARMA</a:t>
          </a:r>
          <a:endParaRPr lang="en-US" sz="3600" kern="1200" dirty="0"/>
        </a:p>
      </dsp:txBody>
      <dsp:txXfrm>
        <a:off x="1861689" y="3776696"/>
        <a:ext cx="3619499" cy="2171700"/>
      </dsp:txXfrm>
    </dsp:sp>
    <dsp:sp modelId="{F2B0F010-0079-427B-B901-EF37A54EF0D8}">
      <dsp:nvSpPr>
        <dsp:cNvPr id="0" name=""/>
        <dsp:cNvSpPr/>
      </dsp:nvSpPr>
      <dsp:spPr>
        <a:xfrm>
          <a:off x="5998488" y="3794243"/>
          <a:ext cx="3619499" cy="2171700"/>
        </a:xfrm>
        <a:prstGeom prst="rect">
          <a:avLst/>
        </a:prstGeom>
        <a:solidFill>
          <a:schemeClr val="accent6">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37160" tIns="137160" rIns="137160" bIns="137160" numCol="1" spcCol="1270" anchor="ctr" anchorCtr="0">
          <a:noAutofit/>
        </a:bodyPr>
        <a:lstStyle/>
        <a:p>
          <a:pPr lvl="0" algn="ctr" defTabSz="1600200">
            <a:lnSpc>
              <a:spcPct val="90000"/>
            </a:lnSpc>
            <a:spcBef>
              <a:spcPct val="0"/>
            </a:spcBef>
            <a:spcAft>
              <a:spcPct val="35000"/>
            </a:spcAft>
          </a:pPr>
          <a:r>
            <a:rPr lang="en-US" sz="3600" kern="1200" dirty="0" smtClean="0"/>
            <a:t>VYAKTI DHARMA</a:t>
          </a:r>
          <a:endParaRPr lang="en-US" sz="3600" kern="1200" dirty="0"/>
        </a:p>
      </dsp:txBody>
      <dsp:txXfrm>
        <a:off x="5998488" y="3794243"/>
        <a:ext cx="3619499" cy="217170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D202235-6871-45BD-B1D2-848A91E6DC01}" type="datetimeFigureOut">
              <a:rPr lang="en-IN" smtClean="0"/>
              <a:t>17-01-2024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2963214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202235-6871-45BD-B1D2-848A91E6DC01}" type="datetimeFigureOut">
              <a:rPr lang="en-IN" smtClean="0"/>
              <a:t>17-01-2024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1856753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D202235-6871-45BD-B1D2-848A91E6DC01}" type="datetimeFigureOut">
              <a:rPr lang="en-IN" smtClean="0"/>
              <a:t>17-01-2024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779510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D202235-6871-45BD-B1D2-848A91E6DC01}" type="datetimeFigureOut">
              <a:rPr lang="en-IN" smtClean="0"/>
              <a:t>17-01-2024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87204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D202235-6871-45BD-B1D2-848A91E6DC01}" type="datetimeFigureOut">
              <a:rPr lang="en-IN" smtClean="0"/>
              <a:t>17-01-2024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1791413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D202235-6871-45BD-B1D2-848A91E6DC01}" type="datetimeFigureOut">
              <a:rPr lang="en-IN" smtClean="0"/>
              <a:t>17-01-2024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1999020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202235-6871-45BD-B1D2-848A91E6DC01}" type="datetimeFigureOut">
              <a:rPr lang="en-IN" smtClean="0"/>
              <a:t>17-01-2024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1530207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202235-6871-45BD-B1D2-848A91E6DC01}" type="datetimeFigureOut">
              <a:rPr lang="en-IN" smtClean="0"/>
              <a:t>17-01-2024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1715026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6D202235-6871-45BD-B1D2-848A91E6DC01}" type="datetimeFigureOut">
              <a:rPr lang="en-IN" smtClean="0"/>
              <a:t>17-01-2024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292359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202235-6871-45BD-B1D2-848A91E6DC01}" type="datetimeFigureOut">
              <a:rPr lang="en-IN" smtClean="0"/>
              <a:t>17-01-2024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5716267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202235-6871-45BD-B1D2-848A91E6DC01}" type="datetimeFigureOut">
              <a:rPr lang="en-IN" smtClean="0"/>
              <a:t>17-01-2024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A30DB6-811D-44DB-8694-A9AC0A60F4BF}" type="slidenum">
              <a:rPr lang="en-IN" smtClean="0"/>
              <a:t>‹#›</a:t>
            </a:fld>
            <a:endParaRPr lang="en-IN"/>
          </a:p>
        </p:txBody>
      </p:sp>
    </p:spTree>
    <p:extLst>
      <p:ext uri="{BB962C8B-B14F-4D97-AF65-F5344CB8AC3E}">
        <p14:creationId xmlns:p14="http://schemas.microsoft.com/office/powerpoint/2010/main" val="3359888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alpha val="7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202235-6871-45BD-B1D2-848A91E6DC01}" type="datetimeFigureOut">
              <a:rPr lang="en-IN" smtClean="0"/>
              <a:t>17-01-2024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A30DB6-811D-44DB-8694-A9AC0A60F4BF}" type="slidenum">
              <a:rPr lang="en-IN" smtClean="0"/>
              <a:t>‹#›</a:t>
            </a:fld>
            <a:endParaRPr lang="en-IN"/>
          </a:p>
        </p:txBody>
      </p:sp>
    </p:spTree>
    <p:extLst>
      <p:ext uri="{BB962C8B-B14F-4D97-AF65-F5344CB8AC3E}">
        <p14:creationId xmlns:p14="http://schemas.microsoft.com/office/powerpoint/2010/main" val="1078959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7043225" cy="2387600"/>
          </a:xfrm>
        </p:spPr>
        <p:txBody>
          <a:bodyPr/>
          <a:lstStyle/>
          <a:p>
            <a:pPr algn="l"/>
            <a:r>
              <a:rPr lang="en-GB" dirty="0" smtClean="0"/>
              <a:t>Spirituality and Society</a:t>
            </a:r>
            <a:endParaRPr lang="en-IN" dirty="0"/>
          </a:p>
        </p:txBody>
      </p:sp>
      <p:sp>
        <p:nvSpPr>
          <p:cNvPr id="3" name="Subtitle 2"/>
          <p:cNvSpPr>
            <a:spLocks noGrp="1"/>
          </p:cNvSpPr>
          <p:nvPr>
            <p:ph type="subTitle" idx="1"/>
          </p:nvPr>
        </p:nvSpPr>
        <p:spPr/>
        <p:txBody>
          <a:bodyPr/>
          <a:lstStyle/>
          <a:p>
            <a:pPr algn="l"/>
            <a:r>
              <a:rPr lang="en-GB" dirty="0" smtClean="0"/>
              <a:t>Chapter 5 in SSB 1979</a:t>
            </a:r>
            <a:endParaRPr lang="en-IN" dirty="0"/>
          </a:p>
        </p:txBody>
      </p:sp>
      <p:pic>
        <p:nvPicPr>
          <p:cNvPr id="4" name="Picture 3"/>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12214281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Backbone</a:t>
            </a:r>
            <a:endParaRPr lang="en-IN" dirty="0"/>
          </a:p>
        </p:txBody>
      </p:sp>
      <p:sp>
        <p:nvSpPr>
          <p:cNvPr id="3" name="Content Placeholder 2"/>
          <p:cNvSpPr>
            <a:spLocks noGrp="1"/>
          </p:cNvSpPr>
          <p:nvPr>
            <p:ph idx="1"/>
          </p:nvPr>
        </p:nvSpPr>
        <p:spPr/>
        <p:txBody>
          <a:bodyPr/>
          <a:lstStyle/>
          <a:p>
            <a:pPr marL="0" indent="0">
              <a:buNone/>
            </a:pPr>
            <a:r>
              <a:rPr lang="en-GB" dirty="0"/>
              <a:t>Many fallaciously imagine that spirituality is only concerned with salvation. Spirituality is, in fact, the backbone of society and is indispensable for social progress and solidarity</a:t>
            </a:r>
            <a:r>
              <a:rPr lang="en-GB" dirty="0" smtClean="0"/>
              <a:t>.</a:t>
            </a:r>
          </a:p>
          <a:p>
            <a:pPr marL="0" indent="0">
              <a:buNone/>
            </a:pP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3489613" y="3377045"/>
            <a:ext cx="5240813" cy="2934855"/>
          </a:xfrm>
          <a:prstGeom prst="rect">
            <a:avLst/>
          </a:prstGeom>
        </p:spPr>
      </p:pic>
    </p:spTree>
    <p:extLst>
      <p:ext uri="{BB962C8B-B14F-4D97-AF65-F5344CB8AC3E}">
        <p14:creationId xmlns:p14="http://schemas.microsoft.com/office/powerpoint/2010/main" val="13635513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Individual-</a:t>
            </a:r>
            <a:r>
              <a:rPr lang="en-GB" dirty="0" err="1" smtClean="0"/>
              <a:t>Easwara</a:t>
            </a:r>
            <a:r>
              <a:rPr lang="en-GB" dirty="0" smtClean="0"/>
              <a:t> Connection</a:t>
            </a:r>
            <a:endParaRPr lang="en-IN" dirty="0"/>
          </a:p>
        </p:txBody>
      </p:sp>
      <p:sp>
        <p:nvSpPr>
          <p:cNvPr id="3" name="Content Placeholder 2"/>
          <p:cNvSpPr>
            <a:spLocks noGrp="1"/>
          </p:cNvSpPr>
          <p:nvPr>
            <p:ph idx="1"/>
          </p:nvPr>
        </p:nvSpPr>
        <p:spPr/>
        <p:txBody>
          <a:bodyPr/>
          <a:lstStyle/>
          <a:p>
            <a:pPr marL="0" indent="0">
              <a:buNone/>
            </a:pPr>
            <a:r>
              <a:rPr lang="en-GB" dirty="0" err="1"/>
              <a:t>Easwara</a:t>
            </a:r>
            <a:r>
              <a:rPr lang="en-GB" dirty="0"/>
              <a:t> manifests Himself among individuals who aggregate together to constitute a community. Every individual is an aspect of </a:t>
            </a:r>
            <a:r>
              <a:rPr lang="en-GB" dirty="0" err="1"/>
              <a:t>Easwara</a:t>
            </a:r>
            <a:r>
              <a:rPr lang="en-GB" dirty="0"/>
              <a:t>. Likewise, society too has emerged from </a:t>
            </a:r>
            <a:r>
              <a:rPr lang="en-GB" dirty="0" err="1"/>
              <a:t>Easwara</a:t>
            </a:r>
            <a:r>
              <a:rPr lang="en-GB" dirty="0"/>
              <a:t>. An individual has form, but society has no such definable form. In the same manner, the world is visible, but </a:t>
            </a:r>
            <a:r>
              <a:rPr lang="en-GB" dirty="0" err="1"/>
              <a:t>Easwara</a:t>
            </a:r>
            <a:r>
              <a:rPr lang="en-GB" dirty="0"/>
              <a:t> is invisible. Though He is invisible, His existence becomes indisputable because there cannot be creation without a creator. Just as a fabric cannot come into existence without thread and a pot without mud, so also the universe cannot come into existence without the primordial substance of Brahman.</a:t>
            </a:r>
            <a:endParaRPr lang="en-IN" dirty="0"/>
          </a:p>
          <a:p>
            <a:pPr marL="0" indent="0">
              <a:buNone/>
            </a:pPr>
            <a:endParaRPr lang="en-IN" dirty="0"/>
          </a:p>
        </p:txBody>
      </p:sp>
    </p:spTree>
    <p:extLst>
      <p:ext uri="{BB962C8B-B14F-4D97-AF65-F5344CB8AC3E}">
        <p14:creationId xmlns:p14="http://schemas.microsoft.com/office/powerpoint/2010/main" val="20924986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Beardless Beard style men in clean shaven face... - Stock Illustration  [102030822] - PIXTA"/>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690688"/>
            <a:ext cx="2095500" cy="21812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2933699" y="1690688"/>
            <a:ext cx="3944491" cy="2181225"/>
          </a:xfrm>
          <a:prstGeom prst="rect">
            <a:avLst/>
          </a:prstGeom>
        </p:spPr>
      </p:pic>
      <p:pic>
        <p:nvPicPr>
          <p:cNvPr id="7" name="Picture 6"/>
          <p:cNvPicPr>
            <a:picLocks noChangeAspect="1"/>
          </p:cNvPicPr>
          <p:nvPr/>
        </p:nvPicPr>
        <p:blipFill>
          <a:blip r:embed="rId4"/>
          <a:stretch>
            <a:fillRect/>
          </a:stretch>
        </p:blipFill>
        <p:spPr>
          <a:xfrm>
            <a:off x="5664776" y="4596245"/>
            <a:ext cx="2857500" cy="1600200"/>
          </a:xfrm>
          <a:prstGeom prst="rect">
            <a:avLst/>
          </a:prstGeom>
        </p:spPr>
      </p:pic>
      <p:sp>
        <p:nvSpPr>
          <p:cNvPr id="8" name="TextBox 7"/>
          <p:cNvSpPr txBox="1"/>
          <p:nvPr/>
        </p:nvSpPr>
        <p:spPr>
          <a:xfrm>
            <a:off x="8522276" y="4596245"/>
            <a:ext cx="2270415" cy="1600200"/>
          </a:xfrm>
          <a:prstGeom prst="rect">
            <a:avLst/>
          </a:prstGeom>
          <a:noFill/>
          <a:ln>
            <a:solidFill>
              <a:srgbClr val="FF0000"/>
            </a:solidFill>
          </a:ln>
        </p:spPr>
        <p:txBody>
          <a:bodyPr wrap="square" rtlCol="0">
            <a:spAutoFit/>
          </a:bodyPr>
          <a:lstStyle/>
          <a:p>
            <a:endParaRPr lang="en-IN" dirty="0"/>
          </a:p>
        </p:txBody>
      </p:sp>
    </p:spTree>
    <p:extLst>
      <p:ext uri="{BB962C8B-B14F-4D97-AF65-F5344CB8AC3E}">
        <p14:creationId xmlns:p14="http://schemas.microsoft.com/office/powerpoint/2010/main" val="4096159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anim calcmode="lin" valueType="num">
                                      <p:cBhvr additive="base">
                                        <p:cTn id="7" dur="500" fill="hold"/>
                                        <p:tgtEl>
                                          <p:spTgt spid="2050"/>
                                        </p:tgtEl>
                                        <p:attrNameLst>
                                          <p:attrName>ppt_x</p:attrName>
                                        </p:attrNameLst>
                                      </p:cBhvr>
                                      <p:tavLst>
                                        <p:tav tm="0">
                                          <p:val>
                                            <p:strVal val="#ppt_x"/>
                                          </p:val>
                                        </p:tav>
                                        <p:tav tm="100000">
                                          <p:val>
                                            <p:strVal val="#ppt_x"/>
                                          </p:val>
                                        </p:tav>
                                      </p:tavLst>
                                    </p:anim>
                                    <p:anim calcmode="lin" valueType="num">
                                      <p:cBhvr additive="base">
                                        <p:cTn id="8"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Basis</a:t>
            </a:r>
            <a:endParaRPr lang="en-IN" dirty="0"/>
          </a:p>
        </p:txBody>
      </p:sp>
      <p:sp>
        <p:nvSpPr>
          <p:cNvPr id="3" name="Content Placeholder 2"/>
          <p:cNvSpPr>
            <a:spLocks noGrp="1"/>
          </p:cNvSpPr>
          <p:nvPr>
            <p:ph idx="1"/>
          </p:nvPr>
        </p:nvSpPr>
        <p:spPr/>
        <p:txBody>
          <a:bodyPr/>
          <a:lstStyle/>
          <a:p>
            <a:pPr marL="0" indent="0">
              <a:buNone/>
            </a:pPr>
            <a:r>
              <a:rPr lang="en-GB" dirty="0"/>
              <a:t>Brahman is the basis, the substance, the prime mover and also the “enjoyer” of the universe.</a:t>
            </a:r>
            <a:endParaRPr lang="en-IN" dirty="0"/>
          </a:p>
          <a:p>
            <a:pPr marL="0" indent="0">
              <a:buNone/>
            </a:pPr>
            <a:endParaRPr lang="en-IN" dirty="0"/>
          </a:p>
        </p:txBody>
      </p:sp>
      <p:pic>
        <p:nvPicPr>
          <p:cNvPr id="3074" name="Picture 2" descr="The 12 manifestations of Brahman, The Absolute &amp; the Eternal Truth -  Hinduism - TemplePurohit - Your Spiritual Destination | Bhakti, Shraddha  Aur Ashirwa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3387" y="2613602"/>
            <a:ext cx="6245225" cy="4014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15179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Levels of Dharma</a:t>
            </a:r>
            <a:endParaRPr lang="en-IN" dirty="0"/>
          </a:p>
        </p:txBody>
      </p:sp>
      <p:sp>
        <p:nvSpPr>
          <p:cNvPr id="3" name="Content Placeholder 2"/>
          <p:cNvSpPr>
            <a:spLocks noGrp="1"/>
          </p:cNvSpPr>
          <p:nvPr>
            <p:ph idx="1"/>
          </p:nvPr>
        </p:nvSpPr>
        <p:spPr/>
        <p:txBody>
          <a:bodyPr/>
          <a:lstStyle/>
          <a:p>
            <a:pPr marL="0" indent="0">
              <a:buNone/>
            </a:pPr>
            <a:r>
              <a:rPr lang="en-GB" dirty="0"/>
              <a:t>It is emphasized that we should not reject </a:t>
            </a:r>
            <a:r>
              <a:rPr lang="en-GB" dirty="0" err="1"/>
              <a:t>swadharma</a:t>
            </a:r>
            <a:r>
              <a:rPr lang="en-GB" dirty="0"/>
              <a:t> or our own dharma. But what is this </a:t>
            </a:r>
            <a:r>
              <a:rPr lang="en-GB" dirty="0" err="1"/>
              <a:t>swadharma</a:t>
            </a:r>
            <a:r>
              <a:rPr lang="en-GB" dirty="0"/>
              <a:t>? The Bhagavad Gita contains an elaborated and lucid exposition of the concept of </a:t>
            </a:r>
            <a:r>
              <a:rPr lang="en-GB" dirty="0" err="1"/>
              <a:t>swadharma</a:t>
            </a:r>
            <a:r>
              <a:rPr lang="en-GB" dirty="0"/>
              <a:t>. Krishna enlightens </a:t>
            </a:r>
            <a:r>
              <a:rPr lang="en-GB" dirty="0" err="1"/>
              <a:t>Arjuna</a:t>
            </a:r>
            <a:r>
              <a:rPr lang="en-GB" dirty="0"/>
              <a:t> on the meaning and significance of </a:t>
            </a:r>
            <a:r>
              <a:rPr lang="en-GB" dirty="0" err="1"/>
              <a:t>swadharma</a:t>
            </a:r>
            <a:r>
              <a:rPr lang="en-GB" dirty="0"/>
              <a:t>. </a:t>
            </a:r>
            <a:r>
              <a:rPr lang="en-GB" dirty="0" err="1"/>
              <a:t>Swadharma</a:t>
            </a:r>
            <a:r>
              <a:rPr lang="en-GB" dirty="0"/>
              <a:t> is mainly concerned with individual attributes. </a:t>
            </a:r>
            <a:r>
              <a:rPr lang="en-GB" dirty="0" err="1"/>
              <a:t>Vishwa</a:t>
            </a:r>
            <a:r>
              <a:rPr lang="en-GB" dirty="0"/>
              <a:t> dharma is higher than </a:t>
            </a:r>
            <a:r>
              <a:rPr lang="en-GB" dirty="0" err="1"/>
              <a:t>swadharma</a:t>
            </a:r>
            <a:r>
              <a:rPr lang="en-GB" dirty="0"/>
              <a:t>. </a:t>
            </a:r>
            <a:r>
              <a:rPr lang="en-GB" dirty="0" err="1"/>
              <a:t>Vishwa</a:t>
            </a:r>
            <a:r>
              <a:rPr lang="en-GB" dirty="0"/>
              <a:t> dharma is universally applicable dharma. </a:t>
            </a:r>
            <a:r>
              <a:rPr lang="en-GB" dirty="0" err="1"/>
              <a:t>Vishwa</a:t>
            </a:r>
            <a:r>
              <a:rPr lang="en-GB" dirty="0"/>
              <a:t> dharma is the cosmic dharma of Brahman. </a:t>
            </a:r>
            <a:r>
              <a:rPr lang="en-GB" dirty="0" err="1"/>
              <a:t>Easwara</a:t>
            </a:r>
            <a:r>
              <a:rPr lang="en-GB" dirty="0"/>
              <a:t> dharma emerges from </a:t>
            </a:r>
            <a:r>
              <a:rPr lang="en-GB" dirty="0" err="1"/>
              <a:t>vishwa</a:t>
            </a:r>
            <a:r>
              <a:rPr lang="en-GB" dirty="0"/>
              <a:t> dharma. </a:t>
            </a:r>
            <a:r>
              <a:rPr lang="en-GB" dirty="0" err="1"/>
              <a:t>Samajika</a:t>
            </a:r>
            <a:r>
              <a:rPr lang="en-GB" dirty="0"/>
              <a:t> dharma or the dharma of society emerges from </a:t>
            </a:r>
            <a:r>
              <a:rPr lang="en-GB" dirty="0" err="1"/>
              <a:t>Easwara</a:t>
            </a:r>
            <a:r>
              <a:rPr lang="en-GB" dirty="0"/>
              <a:t> dharma, the dharma of God. </a:t>
            </a:r>
            <a:r>
              <a:rPr lang="en-GB" dirty="0" err="1"/>
              <a:t>Vyakti</a:t>
            </a:r>
            <a:r>
              <a:rPr lang="en-GB" dirty="0"/>
              <a:t> dharma or individual dharma emerges from </a:t>
            </a:r>
            <a:r>
              <a:rPr lang="en-GB" dirty="0" err="1"/>
              <a:t>samajika</a:t>
            </a:r>
            <a:r>
              <a:rPr lang="en-GB" dirty="0"/>
              <a:t> dharma, and this </a:t>
            </a:r>
            <a:r>
              <a:rPr lang="en-GB" dirty="0" err="1"/>
              <a:t>vyakti</a:t>
            </a:r>
            <a:r>
              <a:rPr lang="en-GB" dirty="0"/>
              <a:t> dharma is synonymous with </a:t>
            </a:r>
            <a:r>
              <a:rPr lang="en-GB" dirty="0" err="1"/>
              <a:t>swadharma</a:t>
            </a:r>
            <a:r>
              <a:rPr lang="en-GB" dirty="0"/>
              <a:t>.</a:t>
            </a:r>
            <a:endParaRPr lang="en-IN" dirty="0"/>
          </a:p>
          <a:p>
            <a:pPr marL="0" indent="0">
              <a:buNone/>
            </a:pPr>
            <a:endParaRPr lang="en-IN" dirty="0"/>
          </a:p>
        </p:txBody>
      </p:sp>
    </p:spTree>
    <p:extLst>
      <p:ext uri="{BB962C8B-B14F-4D97-AF65-F5344CB8AC3E}">
        <p14:creationId xmlns:p14="http://schemas.microsoft.com/office/powerpoint/2010/main" val="7610442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2194943384"/>
              </p:ext>
            </p:extLst>
          </p:nvPr>
        </p:nvGraphicFramePr>
        <p:xfrm>
          <a:off x="0" y="0"/>
          <a:ext cx="115824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8" name="Straight Arrow Connector 7"/>
          <p:cNvCxnSpPr/>
          <p:nvPr/>
        </p:nvCxnSpPr>
        <p:spPr>
          <a:xfrm>
            <a:off x="3671454" y="1027906"/>
            <a:ext cx="955964" cy="928254"/>
          </a:xfrm>
          <a:prstGeom prst="straightConnector1">
            <a:avLst/>
          </a:prstGeom>
          <a:ln w="76200">
            <a:tailEnd type="triangle"/>
          </a:ln>
          <a:scene3d>
            <a:camera prst="perspectiveContrastingLeftFacing"/>
            <a:lightRig rig="threePt" dir="t"/>
          </a:scene3d>
        </p:spPr>
        <p:style>
          <a:lnRef idx="3">
            <a:schemeClr val="accent2"/>
          </a:lnRef>
          <a:fillRef idx="0">
            <a:schemeClr val="accent2"/>
          </a:fillRef>
          <a:effectRef idx="2">
            <a:schemeClr val="accent2"/>
          </a:effectRef>
          <a:fontRef idx="minor">
            <a:schemeClr val="tx1"/>
          </a:fontRef>
        </p:style>
      </p:cxnSp>
      <p:cxnSp>
        <p:nvCxnSpPr>
          <p:cNvPr id="12" name="Straight Arrow Connector 11"/>
          <p:cNvCxnSpPr/>
          <p:nvPr/>
        </p:nvCxnSpPr>
        <p:spPr>
          <a:xfrm>
            <a:off x="7148945" y="1690688"/>
            <a:ext cx="955964" cy="928254"/>
          </a:xfrm>
          <a:prstGeom prst="straightConnector1">
            <a:avLst/>
          </a:prstGeom>
          <a:ln w="76200">
            <a:tailEnd type="triangle"/>
          </a:ln>
          <a:scene3d>
            <a:camera prst="perspectiveContrastingLeftFacing"/>
            <a:lightRig rig="threePt" dir="t"/>
          </a:scene3d>
        </p:spPr>
        <p:style>
          <a:lnRef idx="3">
            <a:schemeClr val="accent2"/>
          </a:lnRef>
          <a:fillRef idx="0">
            <a:schemeClr val="accent2"/>
          </a:fillRef>
          <a:effectRef idx="2">
            <a:schemeClr val="accent2"/>
          </a:effectRef>
          <a:fontRef idx="minor">
            <a:schemeClr val="tx1"/>
          </a:fontRef>
        </p:style>
      </p:cxnSp>
      <p:cxnSp>
        <p:nvCxnSpPr>
          <p:cNvPr id="13" name="Straight Arrow Connector 12"/>
          <p:cNvCxnSpPr/>
          <p:nvPr/>
        </p:nvCxnSpPr>
        <p:spPr>
          <a:xfrm flipH="1">
            <a:off x="7259782" y="3203069"/>
            <a:ext cx="872836" cy="981004"/>
          </a:xfrm>
          <a:prstGeom prst="straightConnector1">
            <a:avLst/>
          </a:prstGeom>
          <a:ln w="76200">
            <a:tailEnd type="triangle"/>
          </a:ln>
          <a:scene3d>
            <a:camera prst="perspectiveContrastingLeftFacing"/>
            <a:lightRig rig="threePt" dir="t"/>
          </a:scene3d>
        </p:spPr>
        <p:style>
          <a:lnRef idx="3">
            <a:schemeClr val="accent2"/>
          </a:lnRef>
          <a:fillRef idx="0">
            <a:schemeClr val="accent2"/>
          </a:fillRef>
          <a:effectRef idx="2">
            <a:schemeClr val="accent2"/>
          </a:effectRef>
          <a:fontRef idx="minor">
            <a:schemeClr val="tx1"/>
          </a:fontRef>
        </p:style>
      </p:cxnSp>
      <p:sp>
        <p:nvSpPr>
          <p:cNvPr id="15" name="TextBox 14"/>
          <p:cNvSpPr txBox="1"/>
          <p:nvPr/>
        </p:nvSpPr>
        <p:spPr>
          <a:xfrm>
            <a:off x="5489744" y="4184073"/>
            <a:ext cx="606256" cy="1107996"/>
          </a:xfrm>
          <a:prstGeom prst="rect">
            <a:avLst/>
          </a:prstGeom>
          <a:noFill/>
        </p:spPr>
        <p:txBody>
          <a:bodyPr wrap="none" rtlCol="0">
            <a:spAutoFit/>
          </a:bodyPr>
          <a:lstStyle/>
          <a:p>
            <a:r>
              <a:rPr lang="en-GB" sz="6600" dirty="0" smtClean="0"/>
              <a:t>=</a:t>
            </a:r>
            <a:endParaRPr lang="en-IN" dirty="0"/>
          </a:p>
        </p:txBody>
      </p:sp>
    </p:spTree>
    <p:extLst>
      <p:ext uri="{BB962C8B-B14F-4D97-AF65-F5344CB8AC3E}">
        <p14:creationId xmlns:p14="http://schemas.microsoft.com/office/powerpoint/2010/main" val="155232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graphicEl>
                                              <a:dgm id="{D8A6C00C-C814-4A16-90F9-1BE6211E7FE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graphicEl>
                                              <a:dgm id="{C04F235B-5BDB-4DF0-A0DF-F570F5049C3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graphicEl>
                                              <a:dgm id="{C0058EEF-CA57-4245-8E65-F968ABBADF8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graphicEl>
                                              <a:dgm id="{F0B818B6-2CAE-48D6-BBE9-7CC32B7ABAA4}"/>
                                            </p:graphic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graphicEl>
                                              <a:dgm id="{F2B0F010-0079-427B-B901-EF37A54EF0D8}"/>
                                            </p:graphic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Swadharma</a:t>
            </a:r>
            <a:r>
              <a:rPr lang="en-GB" dirty="0" smtClean="0"/>
              <a:t>?</a:t>
            </a:r>
            <a:endParaRPr lang="en-IN" dirty="0"/>
          </a:p>
        </p:txBody>
      </p:sp>
      <p:sp>
        <p:nvSpPr>
          <p:cNvPr id="3" name="Content Placeholder 2"/>
          <p:cNvSpPr>
            <a:spLocks noGrp="1"/>
          </p:cNvSpPr>
          <p:nvPr>
            <p:ph idx="1"/>
          </p:nvPr>
        </p:nvSpPr>
        <p:spPr/>
        <p:txBody>
          <a:bodyPr>
            <a:normAutofit/>
          </a:bodyPr>
          <a:lstStyle/>
          <a:p>
            <a:pPr marL="0" indent="0">
              <a:buNone/>
            </a:pPr>
            <a:r>
              <a:rPr lang="en-GB" dirty="0"/>
              <a:t>It is said </a:t>
            </a:r>
            <a:r>
              <a:rPr lang="en-GB" dirty="0" smtClean="0"/>
              <a:t>“</a:t>
            </a:r>
            <a:r>
              <a:rPr lang="en-GB" b="1" dirty="0" err="1"/>
              <a:t>S</a:t>
            </a:r>
            <a:r>
              <a:rPr lang="en-GB" b="1" dirty="0" err="1" smtClean="0"/>
              <a:t>amathvam</a:t>
            </a:r>
            <a:r>
              <a:rPr lang="en-GB" b="1" dirty="0" smtClean="0"/>
              <a:t> </a:t>
            </a:r>
            <a:r>
              <a:rPr lang="en-GB" b="1" dirty="0" err="1"/>
              <a:t>Y</a:t>
            </a:r>
            <a:r>
              <a:rPr lang="en-GB" b="1" dirty="0" err="1" smtClean="0"/>
              <a:t>ogamuchyate</a:t>
            </a:r>
            <a:r>
              <a:rPr lang="en-GB" dirty="0"/>
              <a:t>”. The sentence is vibrant with thought and meaning. The word </a:t>
            </a:r>
            <a:r>
              <a:rPr lang="en-GB" dirty="0" err="1"/>
              <a:t>samathva</a:t>
            </a:r>
            <a:r>
              <a:rPr lang="en-GB" dirty="0"/>
              <a:t> may be roughly interpreted as equanimity. The popular meaning of </a:t>
            </a:r>
            <a:r>
              <a:rPr lang="en-GB" dirty="0" err="1"/>
              <a:t>swadharma</a:t>
            </a:r>
            <a:r>
              <a:rPr lang="en-GB" dirty="0"/>
              <a:t> is the code of conduct or scale of values adopted by any particular caste, community, creed or religion. But this is </a:t>
            </a:r>
            <a:r>
              <a:rPr lang="en-GB" b="1" dirty="0"/>
              <a:t>not</a:t>
            </a:r>
            <a:r>
              <a:rPr lang="en-GB" dirty="0"/>
              <a:t> the correct interpretation and it is not acceptable to all groups of people. There are no universal and absolute norms of morality. Ethical relativity is an inescapable social phenomenon. Morality depends on the time, the place and the spirit of the age. Differences are obvious in our mundane world.</a:t>
            </a:r>
            <a:endParaRPr lang="en-IN" dirty="0"/>
          </a:p>
          <a:p>
            <a:pPr marL="0" indent="0">
              <a:buNone/>
            </a:pPr>
            <a:endParaRPr lang="en-IN" dirty="0"/>
          </a:p>
        </p:txBody>
      </p:sp>
    </p:spTree>
    <p:extLst>
      <p:ext uri="{BB962C8B-B14F-4D97-AF65-F5344CB8AC3E}">
        <p14:creationId xmlns:p14="http://schemas.microsoft.com/office/powerpoint/2010/main" val="28112287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Swadharma</a:t>
            </a:r>
            <a:r>
              <a:rPr lang="en-GB" dirty="0" smtClean="0"/>
              <a:t>!</a:t>
            </a:r>
            <a:endParaRPr lang="en-IN" dirty="0"/>
          </a:p>
        </p:txBody>
      </p:sp>
      <p:sp>
        <p:nvSpPr>
          <p:cNvPr id="3" name="Content Placeholder 2"/>
          <p:cNvSpPr>
            <a:spLocks noGrp="1"/>
          </p:cNvSpPr>
          <p:nvPr>
            <p:ph idx="1"/>
          </p:nvPr>
        </p:nvSpPr>
        <p:spPr/>
        <p:txBody>
          <a:bodyPr/>
          <a:lstStyle/>
          <a:p>
            <a:pPr marL="0" indent="0">
              <a:buNone/>
            </a:pPr>
            <a:r>
              <a:rPr lang="en-GB" dirty="0" smtClean="0"/>
              <a:t>There are all sorts of people in the world. There are men, women and children of different age groups. There are infants, adolescents, young men and women and old men and women. The dharma of women cannot be the same as the dharma of men. There is, in nature, an inherent inequality. Thus, it becomes ridiculous to adopt a single ethical code for the entire mankind. Each individual has his own dharma, but it need not militate against the dharma of others.</a:t>
            </a:r>
            <a:endParaRPr lang="en-IN" dirty="0" smtClean="0"/>
          </a:p>
          <a:p>
            <a:pPr marL="0" indent="0">
              <a:buNone/>
            </a:pPr>
            <a:endParaRPr lang="en-IN" dirty="0"/>
          </a:p>
        </p:txBody>
      </p:sp>
      <p:pic>
        <p:nvPicPr>
          <p:cNvPr id="5" name="Picture 4"/>
          <p:cNvPicPr>
            <a:picLocks noChangeAspect="1"/>
          </p:cNvPicPr>
          <p:nvPr/>
        </p:nvPicPr>
        <p:blipFill>
          <a:blip r:embed="rId2"/>
          <a:stretch>
            <a:fillRect/>
          </a:stretch>
        </p:blipFill>
        <p:spPr>
          <a:xfrm>
            <a:off x="4116748" y="4534237"/>
            <a:ext cx="3958504" cy="2323763"/>
          </a:xfrm>
          <a:prstGeom prst="rect">
            <a:avLst/>
          </a:prstGeom>
        </p:spPr>
      </p:pic>
    </p:spTree>
    <p:extLst>
      <p:ext uri="{BB962C8B-B14F-4D97-AF65-F5344CB8AC3E}">
        <p14:creationId xmlns:p14="http://schemas.microsoft.com/office/powerpoint/2010/main" val="1843231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So, what is </a:t>
            </a:r>
            <a:r>
              <a:rPr lang="en-GB" dirty="0" err="1" smtClean="0"/>
              <a:t>Swadharma</a:t>
            </a:r>
            <a:r>
              <a:rPr lang="en-GB" dirty="0" smtClean="0"/>
              <a:t>? </a:t>
            </a:r>
            <a:endParaRPr lang="en-IN" dirty="0"/>
          </a:p>
        </p:txBody>
      </p:sp>
      <p:sp>
        <p:nvSpPr>
          <p:cNvPr id="3" name="Content Placeholder 2"/>
          <p:cNvSpPr>
            <a:spLocks noGrp="1"/>
          </p:cNvSpPr>
          <p:nvPr>
            <p:ph idx="1"/>
          </p:nvPr>
        </p:nvSpPr>
        <p:spPr/>
        <p:txBody>
          <a:bodyPr/>
          <a:lstStyle/>
          <a:p>
            <a:pPr marL="0" indent="0">
              <a:buNone/>
            </a:pPr>
            <a:r>
              <a:rPr lang="en-GB" dirty="0"/>
              <a:t>In the Bhagavad Gita, </a:t>
            </a:r>
            <a:r>
              <a:rPr lang="en-GB" dirty="0" err="1"/>
              <a:t>Arjuna</a:t>
            </a:r>
            <a:r>
              <a:rPr lang="en-GB" dirty="0"/>
              <a:t> finds himself on the horns of a spiritual dilemma. He is worried about his </a:t>
            </a:r>
            <a:r>
              <a:rPr lang="en-GB" dirty="0" err="1"/>
              <a:t>swadharma</a:t>
            </a:r>
            <a:r>
              <a:rPr lang="en-GB" dirty="0"/>
              <a:t>. He finds himself in an unenviable predicament. He hesitates to kill his own relatives and be guilty of fratricide. So, he begins to detest the homicidal glory of a battlefield. Then, Krishna teaches the importance of </a:t>
            </a:r>
            <a:r>
              <a:rPr lang="en-GB" dirty="0" err="1"/>
              <a:t>swadharma</a:t>
            </a:r>
            <a:r>
              <a:rPr lang="en-GB" dirty="0"/>
              <a:t>. </a:t>
            </a:r>
            <a:r>
              <a:rPr lang="en-GB" b="1" dirty="0" err="1"/>
              <a:t>Swadharma</a:t>
            </a:r>
            <a:r>
              <a:rPr lang="en-GB" b="1" dirty="0"/>
              <a:t> is individual dharma or a code of conduct in conformity with an individual’s status in society. </a:t>
            </a:r>
            <a:r>
              <a:rPr lang="en-GB" dirty="0"/>
              <a:t>It is also determined by a person’s natural instincts.</a:t>
            </a:r>
            <a:endParaRPr lang="en-IN" dirty="0"/>
          </a:p>
          <a:p>
            <a:pPr marL="0" indent="0">
              <a:buNone/>
            </a:pPr>
            <a:endParaRPr lang="en-IN" dirty="0"/>
          </a:p>
        </p:txBody>
      </p:sp>
    </p:spTree>
    <p:extLst>
      <p:ext uri="{BB962C8B-B14F-4D97-AF65-F5344CB8AC3E}">
        <p14:creationId xmlns:p14="http://schemas.microsoft.com/office/powerpoint/2010/main" val="365505765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Are you this body?</a:t>
            </a:r>
            <a:endParaRPr lang="en-IN" dirty="0"/>
          </a:p>
        </p:txBody>
      </p:sp>
      <p:sp>
        <p:nvSpPr>
          <p:cNvPr id="3" name="Content Placeholder 2"/>
          <p:cNvSpPr>
            <a:spLocks noGrp="1"/>
          </p:cNvSpPr>
          <p:nvPr>
            <p:ph idx="1"/>
          </p:nvPr>
        </p:nvSpPr>
        <p:spPr/>
        <p:txBody>
          <a:bodyPr/>
          <a:lstStyle/>
          <a:p>
            <a:pPr marL="0" indent="0">
              <a:buNone/>
            </a:pPr>
            <a:r>
              <a:rPr lang="en-GB" dirty="0" err="1"/>
              <a:t>Swadharma</a:t>
            </a:r>
            <a:r>
              <a:rPr lang="en-GB" dirty="0"/>
              <a:t> or individual dharma is transcended by a person who recognises and realises the immanence of </a:t>
            </a:r>
            <a:r>
              <a:rPr lang="en-GB" dirty="0" err="1"/>
              <a:t>Easwara</a:t>
            </a:r>
            <a:r>
              <a:rPr lang="en-GB" dirty="0"/>
              <a:t>. “</a:t>
            </a:r>
            <a:r>
              <a:rPr lang="en-GB" dirty="0" err="1"/>
              <a:t>Easwara</a:t>
            </a:r>
            <a:r>
              <a:rPr lang="en-GB" dirty="0"/>
              <a:t> </a:t>
            </a:r>
            <a:r>
              <a:rPr lang="en-GB" dirty="0" err="1" smtClean="0"/>
              <a:t>Sarva</a:t>
            </a:r>
            <a:r>
              <a:rPr lang="en-GB" dirty="0" smtClean="0"/>
              <a:t> </a:t>
            </a:r>
            <a:r>
              <a:rPr lang="en-GB" dirty="0" err="1" smtClean="0"/>
              <a:t>Bhutanam</a:t>
            </a:r>
            <a:r>
              <a:rPr lang="en-GB" dirty="0"/>
              <a:t>”. The moment you comprehend the truth of this cardinal aphorism, you realise </a:t>
            </a:r>
            <a:r>
              <a:rPr lang="en-GB" dirty="0" err="1"/>
              <a:t>Easwara</a:t>
            </a:r>
            <a:r>
              <a:rPr lang="en-GB" dirty="0"/>
              <a:t> </a:t>
            </a:r>
            <a:r>
              <a:rPr lang="en-GB" dirty="0" smtClean="0"/>
              <a:t>Dharma</a:t>
            </a:r>
            <a:r>
              <a:rPr lang="en-GB" dirty="0"/>
              <a:t>, the theocentric order in nature. Thus, </a:t>
            </a:r>
            <a:r>
              <a:rPr lang="en-GB" dirty="0" err="1"/>
              <a:t>swadharma</a:t>
            </a:r>
            <a:r>
              <a:rPr lang="en-GB" dirty="0"/>
              <a:t> is lower than </a:t>
            </a:r>
            <a:r>
              <a:rPr lang="en-GB" dirty="0" err="1"/>
              <a:t>Easwara</a:t>
            </a:r>
            <a:r>
              <a:rPr lang="en-GB" dirty="0"/>
              <a:t> dharma and </a:t>
            </a:r>
            <a:r>
              <a:rPr lang="en-GB" dirty="0" err="1"/>
              <a:t>vishwa</a:t>
            </a:r>
            <a:r>
              <a:rPr lang="en-GB" dirty="0"/>
              <a:t> dharma. </a:t>
            </a:r>
            <a:r>
              <a:rPr lang="en-GB" b="1" dirty="0"/>
              <a:t>When you recognise the divinity of every human being, you realise </a:t>
            </a:r>
            <a:r>
              <a:rPr lang="en-GB" b="1" dirty="0" err="1"/>
              <a:t>Easwara</a:t>
            </a:r>
            <a:r>
              <a:rPr lang="en-GB" b="1" dirty="0"/>
              <a:t> dharma. </a:t>
            </a:r>
            <a:r>
              <a:rPr lang="en-GB" dirty="0"/>
              <a:t>You will be subject to the dualities of pleasure and pain, joy and sorrow, good and evil as long as you identify yourself with the perishable and mutable physical body.</a:t>
            </a:r>
            <a:endParaRPr lang="en-IN" dirty="0"/>
          </a:p>
          <a:p>
            <a:pPr marL="0" indent="0">
              <a:buNone/>
            </a:pPr>
            <a:endParaRPr lang="en-IN" dirty="0"/>
          </a:p>
        </p:txBody>
      </p:sp>
    </p:spTree>
    <p:extLst>
      <p:ext uri="{BB962C8B-B14F-4D97-AF65-F5344CB8AC3E}">
        <p14:creationId xmlns:p14="http://schemas.microsoft.com/office/powerpoint/2010/main" val="31789972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Are you this body?</a:t>
            </a:r>
            <a:endParaRPr lang="en-IN" dirty="0"/>
          </a:p>
        </p:txBody>
      </p:sp>
      <p:sp>
        <p:nvSpPr>
          <p:cNvPr id="3" name="Content Placeholder 2"/>
          <p:cNvSpPr>
            <a:spLocks noGrp="1"/>
          </p:cNvSpPr>
          <p:nvPr>
            <p:ph idx="1"/>
          </p:nvPr>
        </p:nvSpPr>
        <p:spPr/>
        <p:txBody>
          <a:bodyPr/>
          <a:lstStyle/>
          <a:p>
            <a:pPr marL="0" indent="0">
              <a:buNone/>
            </a:pPr>
            <a:r>
              <a:rPr lang="en-GB" dirty="0" err="1"/>
              <a:t>Arjuna</a:t>
            </a:r>
            <a:r>
              <a:rPr lang="en-GB" dirty="0"/>
              <a:t> was afflicted with weakness of mind and heart. Krishna chastised </a:t>
            </a:r>
            <a:r>
              <a:rPr lang="en-GB" dirty="0" err="1"/>
              <a:t>Arjuna</a:t>
            </a:r>
            <a:r>
              <a:rPr lang="en-GB" dirty="0"/>
              <a:t> for his moral and spiritual cowardice. As long as you are weak and timid, you cannot achieve anything in life. </a:t>
            </a:r>
            <a:r>
              <a:rPr lang="en-GB" b="1" dirty="0"/>
              <a:t>Sentimentality and body consciousness should be avoided.</a:t>
            </a:r>
            <a:r>
              <a:rPr lang="en-GB" dirty="0"/>
              <a:t> As long as you think from the point of view of the perishable body, you cannot overcome your spiritual pusillanimity. </a:t>
            </a:r>
            <a:r>
              <a:rPr lang="en-GB" b="1" dirty="0"/>
              <a:t>When you think from the point of view of the immortal </a:t>
            </a:r>
            <a:r>
              <a:rPr lang="en-GB" b="1" dirty="0" err="1"/>
              <a:t>Atma</a:t>
            </a:r>
            <a:r>
              <a:rPr lang="en-GB" b="1" dirty="0"/>
              <a:t>, you will have no feelings of weakness and timidity. </a:t>
            </a:r>
            <a:r>
              <a:rPr lang="en-GB" dirty="0"/>
              <a:t>By these exhortations, Krishna galvanised </a:t>
            </a:r>
            <a:r>
              <a:rPr lang="en-GB" dirty="0" err="1"/>
              <a:t>Arjuna</a:t>
            </a:r>
            <a:r>
              <a:rPr lang="en-GB" dirty="0"/>
              <a:t> into activity on the battlefield.</a:t>
            </a: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9424555" y="4855795"/>
            <a:ext cx="2767445" cy="2002205"/>
          </a:xfrm>
          <a:prstGeom prst="rect">
            <a:avLst/>
          </a:prstGeom>
        </p:spPr>
      </p:pic>
    </p:spTree>
    <p:extLst>
      <p:ext uri="{BB962C8B-B14F-4D97-AF65-F5344CB8AC3E}">
        <p14:creationId xmlns:p14="http://schemas.microsoft.com/office/powerpoint/2010/main" val="40556541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Atma</a:t>
            </a:r>
            <a:endParaRPr lang="en-IN" dirty="0"/>
          </a:p>
        </p:txBody>
      </p:sp>
      <p:sp>
        <p:nvSpPr>
          <p:cNvPr id="3" name="Content Placeholder 2"/>
          <p:cNvSpPr>
            <a:spLocks noGrp="1"/>
          </p:cNvSpPr>
          <p:nvPr>
            <p:ph idx="1"/>
          </p:nvPr>
        </p:nvSpPr>
        <p:spPr/>
        <p:txBody>
          <a:bodyPr/>
          <a:lstStyle/>
          <a:p>
            <a:pPr marL="0" indent="0">
              <a:buNone/>
            </a:pPr>
            <a:r>
              <a:rPr lang="en-GB" dirty="0"/>
              <a:t>The duties, dichotomies, and relativities of the world do not affect the immortal </a:t>
            </a:r>
            <a:r>
              <a:rPr lang="en-GB" dirty="0" err="1"/>
              <a:t>Atma</a:t>
            </a:r>
            <a:r>
              <a:rPr lang="en-GB" dirty="0"/>
              <a:t>. The coexistence and juxtaposition of good and evil should be acknowledged. From the point of view of the </a:t>
            </a:r>
            <a:r>
              <a:rPr lang="en-GB" dirty="0" err="1"/>
              <a:t>Atma</a:t>
            </a:r>
            <a:r>
              <a:rPr lang="en-GB" dirty="0"/>
              <a:t>, good and evil are only phenomenal and not absolute.</a:t>
            </a:r>
            <a:endParaRPr lang="en-IN" dirty="0"/>
          </a:p>
          <a:p>
            <a:pPr marL="0" indent="0">
              <a:buNone/>
            </a:pPr>
            <a:endParaRPr lang="en-IN" dirty="0"/>
          </a:p>
        </p:txBody>
      </p:sp>
    </p:spTree>
    <p:extLst>
      <p:ext uri="{BB962C8B-B14F-4D97-AF65-F5344CB8AC3E}">
        <p14:creationId xmlns:p14="http://schemas.microsoft.com/office/powerpoint/2010/main" val="39363522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You are responsible!</a:t>
            </a:r>
            <a:endParaRPr lang="en-IN" dirty="0"/>
          </a:p>
        </p:txBody>
      </p:sp>
      <p:sp>
        <p:nvSpPr>
          <p:cNvPr id="3" name="Content Placeholder 2"/>
          <p:cNvSpPr>
            <a:spLocks noGrp="1"/>
          </p:cNvSpPr>
          <p:nvPr>
            <p:ph idx="1"/>
          </p:nvPr>
        </p:nvSpPr>
        <p:spPr/>
        <p:txBody>
          <a:bodyPr/>
          <a:lstStyle/>
          <a:p>
            <a:pPr marL="0" indent="0">
              <a:buNone/>
            </a:pPr>
            <a:r>
              <a:rPr lang="en-GB" dirty="0"/>
              <a:t>The realisation of the </a:t>
            </a:r>
            <a:r>
              <a:rPr lang="en-GB" dirty="0" err="1"/>
              <a:t>Atma</a:t>
            </a:r>
            <a:r>
              <a:rPr lang="en-GB" dirty="0"/>
              <a:t> is impeded by envy, malice, and jealousy which are caused by attachment to the perishable physical body. All people do not derive the same benefit from the Gita. It all depends on the deservedness and purity of the individual. Ultimately, the individual is responsible for everything that he does.</a:t>
            </a:r>
            <a:endParaRPr lang="en-IN" dirty="0"/>
          </a:p>
          <a:p>
            <a:pPr marL="0" indent="0">
              <a:buNone/>
            </a:pPr>
            <a:r>
              <a:rPr lang="en-GB" dirty="0"/>
              <a:t>Human beings may not be able to even imagine the sublime bliss of spirituality as long as they prefer to wallow in the mire of slothfulness.</a:t>
            </a: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5262562" y="4711177"/>
            <a:ext cx="1304493" cy="2146823"/>
          </a:xfrm>
          <a:prstGeom prst="rect">
            <a:avLst/>
          </a:prstGeom>
        </p:spPr>
      </p:pic>
    </p:spTree>
    <p:extLst>
      <p:ext uri="{BB962C8B-B14F-4D97-AF65-F5344CB8AC3E}">
        <p14:creationId xmlns:p14="http://schemas.microsoft.com/office/powerpoint/2010/main" val="253747871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duotone>
              <a:schemeClr val="accent6">
                <a:shade val="45000"/>
                <a:satMod val="135000"/>
              </a:schemeClr>
              <a:prstClr val="white"/>
            </a:duotone>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665017"/>
            <a:ext cx="10515600" cy="5511945"/>
          </a:xfrm>
        </p:spPr>
        <p:txBody>
          <a:bodyPr>
            <a:normAutofit fontScale="92500" lnSpcReduction="10000"/>
          </a:bodyPr>
          <a:lstStyle/>
          <a:p>
            <a:pPr marL="0" indent="0">
              <a:buNone/>
            </a:pPr>
            <a:r>
              <a:rPr lang="en-GB" sz="8000" dirty="0"/>
              <a:t>A single </a:t>
            </a:r>
            <a:r>
              <a:rPr lang="en-GB" sz="8000" dirty="0" err="1"/>
              <a:t>sloka</a:t>
            </a:r>
            <a:r>
              <a:rPr lang="en-GB" sz="8000" dirty="0"/>
              <a:t> from the Gita is enough to transform our lives. Steadfastness </a:t>
            </a:r>
            <a:r>
              <a:rPr lang="en-GB" sz="8000" dirty="0" smtClean="0"/>
              <a:t>(</a:t>
            </a:r>
            <a:r>
              <a:rPr lang="en-GB" sz="8000" dirty="0" err="1"/>
              <a:t>S</a:t>
            </a:r>
            <a:r>
              <a:rPr lang="en-GB" sz="8000" dirty="0" err="1" smtClean="0"/>
              <a:t>raddha</a:t>
            </a:r>
            <a:r>
              <a:rPr lang="en-GB" sz="8000" dirty="0"/>
              <a:t>) is necessary for acquiring the knowledge of spirituality.</a:t>
            </a:r>
            <a:endParaRPr lang="en-IN" sz="8000" dirty="0"/>
          </a:p>
          <a:p>
            <a:pPr marL="0" indent="0">
              <a:buNone/>
            </a:pPr>
            <a:endParaRPr lang="en-IN" dirty="0"/>
          </a:p>
        </p:txBody>
      </p:sp>
    </p:spTree>
    <p:extLst>
      <p:ext uri="{BB962C8B-B14F-4D97-AF65-F5344CB8AC3E}">
        <p14:creationId xmlns:p14="http://schemas.microsoft.com/office/powerpoint/2010/main" val="121097348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smtClean="0"/>
              <a:t>Indra’s</a:t>
            </a:r>
            <a:r>
              <a:rPr lang="en-GB" dirty="0" smtClean="0"/>
              <a:t> story</a:t>
            </a:r>
            <a:endParaRPr lang="en-IN" dirty="0"/>
          </a:p>
        </p:txBody>
      </p:sp>
      <p:sp>
        <p:nvSpPr>
          <p:cNvPr id="3" name="Content Placeholder 2"/>
          <p:cNvSpPr>
            <a:spLocks noGrp="1"/>
          </p:cNvSpPr>
          <p:nvPr>
            <p:ph idx="1"/>
          </p:nvPr>
        </p:nvSpPr>
        <p:spPr/>
        <p:txBody>
          <a:bodyPr/>
          <a:lstStyle/>
          <a:p>
            <a:pPr marL="0" indent="0">
              <a:buNone/>
            </a:pPr>
            <a:r>
              <a:rPr lang="en-GB" dirty="0"/>
              <a:t>Once, </a:t>
            </a:r>
            <a:r>
              <a:rPr lang="en-GB" dirty="0" err="1"/>
              <a:t>Indra</a:t>
            </a:r>
            <a:r>
              <a:rPr lang="en-GB" dirty="0"/>
              <a:t> was born as a pig on account of a curse. He forgot his past glory, married a sow, and raised a family of little pigs. He felt supremely happy and forgot his divinity. </a:t>
            </a:r>
            <a:r>
              <a:rPr lang="en-GB" dirty="0" err="1"/>
              <a:t>Narada</a:t>
            </a:r>
            <a:r>
              <a:rPr lang="en-GB" dirty="0"/>
              <a:t> took pity on him and made him realise his real destiny. </a:t>
            </a:r>
            <a:r>
              <a:rPr lang="en-GB" b="1" dirty="0"/>
              <a:t>Human beings also forget their divinity and attach themselves to sensual pleasures.</a:t>
            </a:r>
            <a:endParaRPr lang="en-IN" b="1" dirty="0"/>
          </a:p>
          <a:p>
            <a:pPr marL="0" indent="0">
              <a:buNone/>
            </a:pPr>
            <a:endParaRPr lang="en-IN" dirty="0"/>
          </a:p>
        </p:txBody>
      </p:sp>
    </p:spTree>
    <p:extLst>
      <p:ext uri="{BB962C8B-B14F-4D97-AF65-F5344CB8AC3E}">
        <p14:creationId xmlns:p14="http://schemas.microsoft.com/office/powerpoint/2010/main" val="70842521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Matchbox Analogy</a:t>
            </a:r>
            <a:endParaRPr lang="en-IN" dirty="0"/>
          </a:p>
        </p:txBody>
      </p:sp>
      <p:sp>
        <p:nvSpPr>
          <p:cNvPr id="3" name="Content Placeholder 2"/>
          <p:cNvSpPr>
            <a:spLocks noGrp="1"/>
          </p:cNvSpPr>
          <p:nvPr>
            <p:ph idx="1"/>
          </p:nvPr>
        </p:nvSpPr>
        <p:spPr/>
        <p:txBody>
          <a:bodyPr/>
          <a:lstStyle/>
          <a:p>
            <a:pPr marL="0" indent="0">
              <a:buNone/>
            </a:pPr>
            <a:r>
              <a:rPr lang="en-GB" dirty="0"/>
              <a:t>A matchbox may contain as many as fifty sticks. But, a single match is enough to light a lamp, for dispelling the darkness in a place. Similarly, a single </a:t>
            </a:r>
            <a:r>
              <a:rPr lang="en-GB" dirty="0" err="1"/>
              <a:t>sloka</a:t>
            </a:r>
            <a:r>
              <a:rPr lang="en-GB" dirty="0"/>
              <a:t> from the Gita is enough to bring the light of wisdom and dispel the darkness of ignorance. But, without </a:t>
            </a:r>
            <a:r>
              <a:rPr lang="en-GB" dirty="0" err="1"/>
              <a:t>sraddha</a:t>
            </a:r>
            <a:r>
              <a:rPr lang="en-GB" dirty="0"/>
              <a:t> or perseverance, the Bhagavad Gita will remain a sealed book.</a:t>
            </a:r>
            <a:endParaRPr lang="en-IN" dirty="0"/>
          </a:p>
        </p:txBody>
      </p:sp>
      <p:pic>
        <p:nvPicPr>
          <p:cNvPr id="8194" name="Picture 2" descr="Matchbox Stock Photo - Download Image Now - Match - Lighting Equipment,  Matchbox, Matchstick - iStoc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198070"/>
            <a:ext cx="2390775" cy="191452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3228975" y="4198070"/>
            <a:ext cx="3492715" cy="1914525"/>
          </a:xfrm>
          <a:prstGeom prst="rect">
            <a:avLst/>
          </a:prstGeom>
        </p:spPr>
      </p:pic>
      <p:pic>
        <p:nvPicPr>
          <p:cNvPr id="6" name="Picture 5"/>
          <p:cNvPicPr>
            <a:picLocks noChangeAspect="1"/>
          </p:cNvPicPr>
          <p:nvPr/>
        </p:nvPicPr>
        <p:blipFill>
          <a:blip r:embed="rId4"/>
          <a:stretch>
            <a:fillRect/>
          </a:stretch>
        </p:blipFill>
        <p:spPr>
          <a:xfrm>
            <a:off x="9502053" y="3132568"/>
            <a:ext cx="2218892" cy="3651662"/>
          </a:xfrm>
          <a:prstGeom prst="rect">
            <a:avLst/>
          </a:prstGeom>
        </p:spPr>
      </p:pic>
    </p:spTree>
    <p:extLst>
      <p:ext uri="{BB962C8B-B14F-4D97-AF65-F5344CB8AC3E}">
        <p14:creationId xmlns:p14="http://schemas.microsoft.com/office/powerpoint/2010/main" val="67342777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Phenomenal vs. Incorporeal</a:t>
            </a:r>
            <a:endParaRPr lang="en-IN" dirty="0"/>
          </a:p>
        </p:txBody>
      </p:sp>
      <p:sp>
        <p:nvSpPr>
          <p:cNvPr id="3" name="Content Placeholder 2"/>
          <p:cNvSpPr>
            <a:spLocks noGrp="1"/>
          </p:cNvSpPr>
          <p:nvPr>
            <p:ph idx="1"/>
          </p:nvPr>
        </p:nvSpPr>
        <p:spPr/>
        <p:txBody>
          <a:bodyPr/>
          <a:lstStyle/>
          <a:p>
            <a:pPr marL="0" indent="0">
              <a:buNone/>
            </a:pPr>
            <a:r>
              <a:rPr lang="en-GB" dirty="0"/>
              <a:t>Krishna told </a:t>
            </a:r>
            <a:r>
              <a:rPr lang="en-GB" dirty="0" err="1"/>
              <a:t>Arjuna</a:t>
            </a:r>
            <a:r>
              <a:rPr lang="en-GB" dirty="0"/>
              <a:t>, “You are not the killer in the real sense. You think that you are going to kill your enemies. Killing is only phenomenal. You are instrumental in this process of destruction, purification and the resurrection of dharma. </a:t>
            </a:r>
            <a:r>
              <a:rPr lang="en-GB" b="1" dirty="0"/>
              <a:t>You would not be unnecessarily perturbed if you were to remember that the corporeal body is transient and the incorporeal </a:t>
            </a:r>
            <a:r>
              <a:rPr lang="en-GB" b="1" dirty="0" err="1"/>
              <a:t>Atma</a:t>
            </a:r>
            <a:r>
              <a:rPr lang="en-GB" b="1" dirty="0"/>
              <a:t> is immortal.</a:t>
            </a:r>
            <a:r>
              <a:rPr lang="en-GB" dirty="0"/>
              <a:t>”</a:t>
            </a: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6096000" y="3821256"/>
            <a:ext cx="4073236" cy="3050995"/>
          </a:xfrm>
          <a:prstGeom prst="rect">
            <a:avLst/>
          </a:prstGeom>
        </p:spPr>
      </p:pic>
    </p:spTree>
    <p:extLst>
      <p:ext uri="{BB962C8B-B14F-4D97-AF65-F5344CB8AC3E}">
        <p14:creationId xmlns:p14="http://schemas.microsoft.com/office/powerpoint/2010/main" val="21203426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Vyasa’s blessings</a:t>
            </a:r>
            <a:endParaRPr lang="en-IN" dirty="0"/>
          </a:p>
        </p:txBody>
      </p:sp>
      <p:sp>
        <p:nvSpPr>
          <p:cNvPr id="3" name="Content Placeholder 2"/>
          <p:cNvSpPr>
            <a:spLocks noGrp="1"/>
          </p:cNvSpPr>
          <p:nvPr>
            <p:ph idx="1"/>
          </p:nvPr>
        </p:nvSpPr>
        <p:spPr/>
        <p:txBody>
          <a:bodyPr/>
          <a:lstStyle/>
          <a:p>
            <a:pPr marL="0" indent="0">
              <a:buNone/>
            </a:pPr>
            <a:r>
              <a:rPr lang="en-GB" dirty="0"/>
              <a:t>For instance, the words, “</a:t>
            </a:r>
            <a:r>
              <a:rPr lang="en-GB" b="1" dirty="0" err="1"/>
              <a:t>Samatvam</a:t>
            </a:r>
            <a:r>
              <a:rPr lang="en-GB" b="1" dirty="0"/>
              <a:t> </a:t>
            </a:r>
            <a:r>
              <a:rPr lang="en-GB" b="1" dirty="0" err="1"/>
              <a:t>yogam</a:t>
            </a:r>
            <a:r>
              <a:rPr lang="en-GB" b="1" dirty="0"/>
              <a:t> </a:t>
            </a:r>
            <a:r>
              <a:rPr lang="en-GB" b="1" dirty="0" err="1"/>
              <a:t>uchyate</a:t>
            </a:r>
            <a:r>
              <a:rPr lang="en-GB" dirty="0"/>
              <a:t>” or ‘equal-mindedness is called yoga’, were expanded into twelve verses by Vyasa; the phrase “</a:t>
            </a:r>
            <a:r>
              <a:rPr lang="en-GB" b="1" dirty="0" err="1"/>
              <a:t>Kshudram</a:t>
            </a:r>
            <a:r>
              <a:rPr lang="en-GB" b="1" dirty="0"/>
              <a:t> </a:t>
            </a:r>
            <a:r>
              <a:rPr lang="en-GB" b="1" dirty="0" err="1"/>
              <a:t>hridaya-daurbalyam</a:t>
            </a:r>
            <a:r>
              <a:rPr lang="en-GB" dirty="0"/>
              <a:t>” or ‘detestable is weakness of the heart’ was elaborated into twenty-two verses; the verse “</a:t>
            </a:r>
            <a:r>
              <a:rPr lang="en-GB" b="1" dirty="0" err="1"/>
              <a:t>anityam</a:t>
            </a:r>
            <a:r>
              <a:rPr lang="en-GB" b="1" dirty="0"/>
              <a:t> </a:t>
            </a:r>
            <a:r>
              <a:rPr lang="en-GB" b="1" dirty="0" err="1"/>
              <a:t>asukham</a:t>
            </a:r>
            <a:r>
              <a:rPr lang="en-GB" b="1" dirty="0"/>
              <a:t> </a:t>
            </a:r>
            <a:r>
              <a:rPr lang="en-GB" b="1" dirty="0" err="1"/>
              <a:t>lokam</a:t>
            </a:r>
            <a:r>
              <a:rPr lang="en-GB" b="1" dirty="0"/>
              <a:t> imam </a:t>
            </a:r>
            <a:r>
              <a:rPr lang="en-GB" b="1" dirty="0" err="1"/>
              <a:t>praapya</a:t>
            </a:r>
            <a:r>
              <a:rPr lang="en-GB" b="1" dirty="0"/>
              <a:t> </a:t>
            </a:r>
            <a:r>
              <a:rPr lang="en-GB" b="1" dirty="0" err="1"/>
              <a:t>bhajasva</a:t>
            </a:r>
            <a:r>
              <a:rPr lang="en-GB" b="1" dirty="0"/>
              <a:t> </a:t>
            </a:r>
            <a:r>
              <a:rPr lang="en-GB" b="1" dirty="0" err="1"/>
              <a:t>maam</a:t>
            </a:r>
            <a:r>
              <a:rPr lang="en-GB" dirty="0"/>
              <a:t>” which means ‘having got this transitory, miserable world, worship Me’ was made into seven verses; and the aphorism, “</a:t>
            </a:r>
            <a:r>
              <a:rPr lang="en-GB" b="1" dirty="0" err="1"/>
              <a:t>nayamatma</a:t>
            </a:r>
            <a:r>
              <a:rPr lang="en-GB" b="1" dirty="0"/>
              <a:t> </a:t>
            </a:r>
            <a:r>
              <a:rPr lang="en-GB" b="1" dirty="0" err="1"/>
              <a:t>balahinena</a:t>
            </a:r>
            <a:r>
              <a:rPr lang="en-GB" b="1" dirty="0"/>
              <a:t> </a:t>
            </a:r>
            <a:r>
              <a:rPr lang="en-GB" b="1" dirty="0" err="1"/>
              <a:t>labhyah</a:t>
            </a:r>
            <a:r>
              <a:rPr lang="en-GB" dirty="0"/>
              <a:t>” or ‘this </a:t>
            </a:r>
            <a:r>
              <a:rPr lang="en-GB" dirty="0" err="1"/>
              <a:t>Atma</a:t>
            </a:r>
            <a:r>
              <a:rPr lang="en-GB" dirty="0"/>
              <a:t> cannot be attained by the weak’ was explained in nine different verses.</a:t>
            </a:r>
            <a:endParaRPr lang="en-IN" dirty="0"/>
          </a:p>
          <a:p>
            <a:pPr marL="0" indent="0">
              <a:buNone/>
            </a:pPr>
            <a:endParaRPr lang="en-IN" dirty="0"/>
          </a:p>
        </p:txBody>
      </p:sp>
    </p:spTree>
    <p:extLst>
      <p:ext uri="{BB962C8B-B14F-4D97-AF65-F5344CB8AC3E}">
        <p14:creationId xmlns:p14="http://schemas.microsoft.com/office/powerpoint/2010/main" val="18314320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The Silent Listener</a:t>
            </a:r>
            <a:endParaRPr lang="en-IN" dirty="0"/>
          </a:p>
        </p:txBody>
      </p:sp>
      <p:sp>
        <p:nvSpPr>
          <p:cNvPr id="3" name="Content Placeholder 2"/>
          <p:cNvSpPr>
            <a:spLocks noGrp="1"/>
          </p:cNvSpPr>
          <p:nvPr>
            <p:ph idx="1"/>
          </p:nvPr>
        </p:nvSpPr>
        <p:spPr/>
        <p:txBody>
          <a:bodyPr/>
          <a:lstStyle/>
          <a:p>
            <a:pPr marL="0" indent="0">
              <a:buNone/>
            </a:pPr>
            <a:r>
              <a:rPr lang="en-GB" dirty="0"/>
              <a:t>Hanuman, who was on the flag of </a:t>
            </a:r>
            <a:r>
              <a:rPr lang="en-GB" dirty="0" err="1"/>
              <a:t>Arjuna’s</a:t>
            </a:r>
            <a:r>
              <a:rPr lang="en-GB" dirty="0"/>
              <a:t> chariot, overheard the Gita and expounded it in </a:t>
            </a:r>
            <a:r>
              <a:rPr lang="en-GB" dirty="0" smtClean="0"/>
              <a:t>twenty-one </a:t>
            </a:r>
            <a:r>
              <a:rPr lang="en-GB" dirty="0"/>
              <a:t>verses in the </a:t>
            </a:r>
            <a:r>
              <a:rPr lang="en-GB" dirty="0" err="1"/>
              <a:t>Paisachi</a:t>
            </a:r>
            <a:r>
              <a:rPr lang="en-GB" dirty="0"/>
              <a:t> language.</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4304001" y="3091728"/>
            <a:ext cx="3544599" cy="3544599"/>
          </a:xfrm>
          <a:prstGeom prst="rect">
            <a:avLst/>
          </a:prstGeom>
        </p:spPr>
      </p:pic>
    </p:spTree>
    <p:extLst>
      <p:ext uri="{BB962C8B-B14F-4D97-AF65-F5344CB8AC3E}">
        <p14:creationId xmlns:p14="http://schemas.microsoft.com/office/powerpoint/2010/main" val="134130043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Read Bhagavad Gita</a:t>
            </a:r>
            <a:endParaRPr lang="en-IN" dirty="0"/>
          </a:p>
        </p:txBody>
      </p:sp>
      <p:sp>
        <p:nvSpPr>
          <p:cNvPr id="3" name="Content Placeholder 2"/>
          <p:cNvSpPr>
            <a:spLocks noGrp="1"/>
          </p:cNvSpPr>
          <p:nvPr>
            <p:ph idx="1"/>
          </p:nvPr>
        </p:nvSpPr>
        <p:spPr/>
        <p:txBody>
          <a:bodyPr/>
          <a:lstStyle/>
          <a:p>
            <a:pPr marL="0" indent="0">
              <a:buNone/>
            </a:pPr>
            <a:r>
              <a:rPr lang="en-GB" dirty="0"/>
              <a:t>The Bhagavad Gita contains the quintessence of all scriptures. It should be studied assiduously by every spiritual aspirant. It should also be regarded as a book of great practical value in our daily lives. It has given solace to many and it will help your spiritual progress.</a:t>
            </a:r>
            <a:endParaRPr lang="en-IN" dirty="0"/>
          </a:p>
          <a:p>
            <a:pPr marL="0" indent="0">
              <a:buNone/>
            </a:pPr>
            <a:endParaRPr lang="en-IN" dirty="0"/>
          </a:p>
        </p:txBody>
      </p:sp>
      <p:pic>
        <p:nvPicPr>
          <p:cNvPr id="4" name="Picture 3"/>
          <p:cNvPicPr>
            <a:picLocks noChangeAspect="1"/>
          </p:cNvPicPr>
          <p:nvPr/>
        </p:nvPicPr>
        <p:blipFill>
          <a:blip r:embed="rId2"/>
          <a:stretch>
            <a:fillRect/>
          </a:stretch>
        </p:blipFill>
        <p:spPr>
          <a:xfrm>
            <a:off x="4986432" y="3491345"/>
            <a:ext cx="2219136" cy="3366655"/>
          </a:xfrm>
          <a:prstGeom prst="rect">
            <a:avLst/>
          </a:prstGeom>
        </p:spPr>
      </p:pic>
    </p:spTree>
    <p:extLst>
      <p:ext uri="{BB962C8B-B14F-4D97-AF65-F5344CB8AC3E}">
        <p14:creationId xmlns:p14="http://schemas.microsoft.com/office/powerpoint/2010/main" val="38453053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96</TotalTime>
  <Words>1401</Words>
  <Application>Microsoft Office PowerPoint</Application>
  <PresentationFormat>Widescreen</PresentationFormat>
  <Paragraphs>44</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Spirituality and Society</vt:lpstr>
      <vt:lpstr>Backbone</vt:lpstr>
      <vt:lpstr>Individual-Easwara Connection</vt:lpstr>
      <vt:lpstr>PowerPoint Presentation</vt:lpstr>
      <vt:lpstr>Basis</vt:lpstr>
      <vt:lpstr>Levels of Dharma</vt:lpstr>
      <vt:lpstr>PowerPoint Presentation</vt:lpstr>
      <vt:lpstr>Swadharma?</vt:lpstr>
      <vt:lpstr>Swadharma!</vt:lpstr>
      <vt:lpstr>So, what is Swadharma? </vt:lpstr>
      <vt:lpstr>Are you this body?</vt:lpstr>
      <vt:lpstr>Are you this body?</vt:lpstr>
      <vt:lpstr>Atma</vt:lpstr>
      <vt:lpstr>You are responsible!</vt:lpstr>
      <vt:lpstr>PowerPoint Presentation</vt:lpstr>
      <vt:lpstr>Indra’s story</vt:lpstr>
      <vt:lpstr>Matchbox Analogy</vt:lpstr>
      <vt:lpstr>Phenomenal vs. Incorporeal</vt:lpstr>
      <vt:lpstr>Vyasa’s blessings</vt:lpstr>
      <vt:lpstr>The Silent Listener</vt:lpstr>
      <vt:lpstr>Read Bhagavad Gita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Spirituality and Society</dc:title>
  <dc:creator>JG</dc:creator>
  <cp:lastModifiedBy>JG</cp:lastModifiedBy>
  <cp:revision>11</cp:revision>
  <dcterms:created xsi:type="dcterms:W3CDTF">2023-12-20T06:26:36Z</dcterms:created>
  <dcterms:modified xsi:type="dcterms:W3CDTF">2024-01-17T08:59:52Z</dcterms:modified>
</cp:coreProperties>
</file>