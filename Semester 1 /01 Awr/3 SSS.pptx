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5" r:id="rId1"/>
  </p:sldMasterIdLst>
  <p:sldIdLst>
    <p:sldId id="256" r:id="rId2"/>
    <p:sldId id="261" r:id="rId3"/>
    <p:sldId id="257" r:id="rId4"/>
    <p:sldId id="263" r:id="rId5"/>
    <p:sldId id="264" r:id="rId6"/>
    <p:sldId id="265" r:id="rId7"/>
    <p:sldId id="266" r:id="rId8"/>
    <p:sldId id="267" r:id="rId9"/>
    <p:sldId id="268" r:id="rId10"/>
    <p:sldId id="269" r:id="rId11"/>
    <p:sldId id="258" r:id="rId12"/>
    <p:sldId id="259" r:id="rId13"/>
    <p:sldId id="260" r:id="rId14"/>
    <p:sldId id="262"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7A2F"/>
    <a:srgbClr val="E55819"/>
    <a:srgbClr val="60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1D7E759-29F4-4B26-BA75-B6B306DBEFD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981858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1D7E759-29F4-4B26-BA75-B6B306DBEFD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3023762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1D7E759-29F4-4B26-BA75-B6B306DBEFD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3522419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1D7E759-29F4-4B26-BA75-B6B306DBEFDA}"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2945010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1D7E759-29F4-4B26-BA75-B6B306DBEFDA}" type="datetimeFigureOut">
              <a:rPr lang="en-IN" smtClean="0"/>
              <a:t>20-09-2023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2292438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1D7E759-29F4-4B26-BA75-B6B306DBEFDA}" type="datetimeFigureOut">
              <a:rPr lang="en-IN" smtClean="0"/>
              <a:t>20-09-2023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1549268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D7E759-29F4-4B26-BA75-B6B306DBEFDA}" type="datetimeFigureOut">
              <a:rPr lang="en-IN" smtClean="0"/>
              <a:t>20-09-2023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222345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1D7E759-29F4-4B26-BA75-B6B306DBEFDA}"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1572456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1D7E759-29F4-4B26-BA75-B6B306DBEFDA}"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3980931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1D7E759-29F4-4B26-BA75-B6B306DBEFD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4007297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1D7E759-29F4-4B26-BA75-B6B306DBEFD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EC35DD-41B0-4343-A69F-E90898BBBC2F}" type="slidenum">
              <a:rPr lang="en-IN" smtClean="0"/>
              <a:t>‹#›</a:t>
            </a:fld>
            <a:endParaRPr lang="en-IN"/>
          </a:p>
        </p:txBody>
      </p:sp>
    </p:spTree>
    <p:extLst>
      <p:ext uri="{BB962C8B-B14F-4D97-AF65-F5344CB8AC3E}">
        <p14:creationId xmlns:p14="http://schemas.microsoft.com/office/powerpoint/2010/main" val="4031695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1000">
              <a:schemeClr val="accent1">
                <a:lumMod val="5000"/>
                <a:lumOff val="95000"/>
              </a:schemeClr>
            </a:gs>
            <a:gs pos="100000">
              <a:schemeClr val="accent1">
                <a:lumMod val="45000"/>
                <a:lumOff val="55000"/>
              </a:schemeClr>
            </a:gs>
            <a:gs pos="70000">
              <a:schemeClr val="accent1">
                <a:lumMod val="45000"/>
                <a:lumOff val="55000"/>
              </a:schemeClr>
            </a:gs>
            <a:gs pos="100000">
              <a:schemeClr val="accent1">
                <a:lumMod val="30000"/>
                <a:lumOff val="70000"/>
              </a:schemeClr>
            </a:gs>
          </a:gsLst>
          <a:lin ang="81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7E759-29F4-4B26-BA75-B6B306DBEFDA}" type="datetimeFigureOut">
              <a:rPr lang="en-IN" smtClean="0"/>
              <a:t>20-09-2023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EC35DD-41B0-4343-A69F-E90898BBBC2F}" type="slidenum">
              <a:rPr lang="en-IN" smtClean="0"/>
              <a:t>‹#›</a:t>
            </a:fld>
            <a:endParaRPr lang="en-IN"/>
          </a:p>
        </p:txBody>
      </p:sp>
    </p:spTree>
    <p:extLst>
      <p:ext uri="{BB962C8B-B14F-4D97-AF65-F5344CB8AC3E}">
        <p14:creationId xmlns:p14="http://schemas.microsoft.com/office/powerpoint/2010/main" val="241508245"/>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ctrTitle"/>
          </p:nvPr>
        </p:nvSpPr>
        <p:spPr>
          <a:xfrm>
            <a:off x="1507652" y="4663440"/>
            <a:ext cx="9479216" cy="1849901"/>
          </a:xfrm>
        </p:spPr>
        <p:txBody>
          <a:bodyPr>
            <a:normAutofit fontScale="90000"/>
          </a:bodyPr>
          <a:lstStyle/>
          <a:p>
            <a:pPr algn="ctr"/>
            <a:r>
              <a:rPr lang="en-GB" dirty="0" smtClean="0">
                <a:solidFill>
                  <a:schemeClr val="tx2">
                    <a:lumMod val="50000"/>
                  </a:schemeClr>
                </a:solidFill>
                <a:latin typeface="Microsoft Himalaya" panose="01010100010101010101" pitchFamily="2" charset="0"/>
                <a:ea typeface="Microsoft Himalaya" panose="01010100010101010101" pitchFamily="2" charset="0"/>
                <a:cs typeface="Microsoft Himalaya" panose="01010100010101010101" pitchFamily="2" charset="0"/>
              </a:rPr>
              <a:t>Offering our collective humble </a:t>
            </a:r>
            <a:r>
              <a:rPr lang="en-GB" dirty="0" err="1" smtClean="0">
                <a:solidFill>
                  <a:schemeClr val="tx2">
                    <a:lumMod val="50000"/>
                  </a:schemeClr>
                </a:solidFill>
                <a:latin typeface="Microsoft Himalaya" panose="01010100010101010101" pitchFamily="2" charset="0"/>
                <a:ea typeface="Microsoft Himalaya" panose="01010100010101010101" pitchFamily="2" charset="0"/>
                <a:cs typeface="Microsoft Himalaya" panose="01010100010101010101" pitchFamily="2" charset="0"/>
              </a:rPr>
              <a:t>Pranams</a:t>
            </a:r>
            <a:r>
              <a:rPr lang="en-GB" dirty="0" smtClean="0">
                <a:solidFill>
                  <a:schemeClr val="tx2">
                    <a:lumMod val="50000"/>
                  </a:schemeClr>
                </a:solidFill>
                <a:latin typeface="Microsoft Himalaya" panose="01010100010101010101" pitchFamily="2" charset="0"/>
                <a:ea typeface="Microsoft Himalaya" panose="01010100010101010101" pitchFamily="2" charset="0"/>
                <a:cs typeface="Microsoft Himalaya" panose="01010100010101010101" pitchFamily="2" charset="0"/>
              </a:rPr>
              <a:t> at the divine lotus feet of our beloved  </a:t>
            </a:r>
            <a:r>
              <a:rPr lang="en-GB" dirty="0" err="1" smtClean="0">
                <a:solidFill>
                  <a:schemeClr val="tx2">
                    <a:lumMod val="50000"/>
                  </a:schemeClr>
                </a:solidFill>
                <a:latin typeface="Microsoft Himalaya" panose="01010100010101010101" pitchFamily="2" charset="0"/>
                <a:ea typeface="Microsoft Himalaya" panose="01010100010101010101" pitchFamily="2" charset="0"/>
                <a:cs typeface="Microsoft Himalaya" panose="01010100010101010101" pitchFamily="2" charset="0"/>
              </a:rPr>
              <a:t>Bhagwan</a:t>
            </a:r>
            <a:r>
              <a:rPr lang="en-GB" dirty="0" smtClean="0">
                <a:solidFill>
                  <a:schemeClr val="tx2">
                    <a:lumMod val="50000"/>
                  </a:schemeClr>
                </a:solidFill>
                <a:latin typeface="Microsoft Himalaya" panose="01010100010101010101" pitchFamily="2" charset="0"/>
                <a:ea typeface="Microsoft Himalaya" panose="01010100010101010101" pitchFamily="2" charset="0"/>
                <a:cs typeface="Microsoft Himalaya" panose="01010100010101010101" pitchFamily="2" charset="0"/>
              </a:rPr>
              <a:t>. </a:t>
            </a:r>
            <a:endParaRPr lang="en-IN" dirty="0">
              <a:solidFill>
                <a:schemeClr val="tx2">
                  <a:lumMod val="50000"/>
                </a:schemeClr>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25" name="Picture 24"/>
          <p:cNvPicPr>
            <a:picLocks noChangeAspect="1"/>
          </p:cNvPicPr>
          <p:nvPr/>
        </p:nvPicPr>
        <p:blipFill>
          <a:blip r:embed="rId2"/>
          <a:stretch>
            <a:fillRect/>
          </a:stretch>
        </p:blipFill>
        <p:spPr>
          <a:xfrm>
            <a:off x="3312945" y="493929"/>
            <a:ext cx="5521571" cy="384439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21393659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5663" y="365125"/>
            <a:ext cx="7770223" cy="1325563"/>
          </a:xfrm>
        </p:spPr>
        <p:txBody>
          <a:bodyPr>
            <a:normAutofit/>
          </a:bodyPr>
          <a:lstStyle/>
          <a:p>
            <a:r>
              <a:rPr lang="en-IN" sz="3600" b="1" u="sng" dirty="0">
                <a:latin typeface="Castellar" panose="020A0402060406010301" pitchFamily="18" charset="0"/>
              </a:rPr>
              <a:t>SATYAM SHIVAM SUNDARAM</a:t>
            </a:r>
          </a:p>
        </p:txBody>
      </p:sp>
      <p:pic>
        <p:nvPicPr>
          <p:cNvPr id="4" name="Picture 3"/>
          <p:cNvPicPr>
            <a:picLocks noChangeAspect="1"/>
          </p:cNvPicPr>
          <p:nvPr/>
        </p:nvPicPr>
        <p:blipFill>
          <a:blip r:embed="rId2"/>
          <a:stretch>
            <a:fillRect/>
          </a:stretch>
        </p:blipFill>
        <p:spPr>
          <a:xfrm>
            <a:off x="3113789" y="1841864"/>
            <a:ext cx="5073969" cy="6429690"/>
          </a:xfrm>
          <a:prstGeom prst="rect">
            <a:avLst/>
          </a:prstGeom>
        </p:spPr>
      </p:pic>
      <p:sp>
        <p:nvSpPr>
          <p:cNvPr id="5" name="Rectangle 4"/>
          <p:cNvSpPr/>
          <p:nvPr/>
        </p:nvSpPr>
        <p:spPr>
          <a:xfrm>
            <a:off x="3866027" y="5491745"/>
            <a:ext cx="3880245" cy="769441"/>
          </a:xfrm>
          <a:prstGeom prst="rect">
            <a:avLst/>
          </a:prstGeom>
        </p:spPr>
        <p:txBody>
          <a:bodyPr wrap="square">
            <a:spAutoFit/>
          </a:bodyPr>
          <a:lstStyle/>
          <a:p>
            <a:r>
              <a:rPr lang="en-GB" sz="4400" b="1" i="1" dirty="0" err="1" smtClean="0">
                <a:latin typeface="Colonna MT" panose="04020805060202030203" pitchFamily="82" charset="0"/>
              </a:rPr>
              <a:t>Aum</a:t>
            </a:r>
            <a:r>
              <a:rPr lang="en-GB" sz="4400" b="1" i="1" dirty="0" smtClean="0">
                <a:latin typeface="Colonna MT" panose="04020805060202030203" pitchFamily="82" charset="0"/>
              </a:rPr>
              <a:t> Sri </a:t>
            </a:r>
            <a:r>
              <a:rPr lang="en-GB" sz="4400" b="1" i="1" dirty="0" err="1" smtClean="0">
                <a:latin typeface="Colonna MT" panose="04020805060202030203" pitchFamily="82" charset="0"/>
              </a:rPr>
              <a:t>Sairam</a:t>
            </a:r>
            <a:endParaRPr lang="en-IN" sz="4400" b="1" i="1" dirty="0">
              <a:latin typeface="Colonna MT" panose="04020805060202030203" pitchFamily="82" charset="0"/>
            </a:endParaRPr>
          </a:p>
        </p:txBody>
      </p:sp>
    </p:spTree>
    <p:extLst>
      <p:ext uri="{BB962C8B-B14F-4D97-AF65-F5344CB8AC3E}">
        <p14:creationId xmlns:p14="http://schemas.microsoft.com/office/powerpoint/2010/main" val="182761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388" y="5580405"/>
            <a:ext cx="10515600" cy="1195754"/>
          </a:xfrm>
        </p:spPr>
        <p:txBody>
          <a:bodyPr>
            <a:normAutofit/>
          </a:bodyPr>
          <a:lstStyle/>
          <a:p>
            <a:pPr marL="0" indent="0" algn="ctr">
              <a:buNone/>
            </a:pPr>
            <a:r>
              <a:rPr lang="en-GB" sz="6600" dirty="0" smtClean="0">
                <a:latin typeface="Edwardian Script ITC" panose="030303020407070D0804" pitchFamily="66" charset="0"/>
              </a:rPr>
              <a:t>Chapter 3  </a:t>
            </a:r>
            <a:r>
              <a:rPr lang="en-GB" sz="6600" dirty="0" smtClean="0">
                <a:latin typeface="Century Schoolbook" panose="02040604050505020304" pitchFamily="18" charset="0"/>
              </a:rPr>
              <a:t>: </a:t>
            </a:r>
            <a:r>
              <a:rPr lang="en-GB" sz="6600" dirty="0" smtClean="0">
                <a:latin typeface="Edwardian Script ITC" panose="030303020407070D0804" pitchFamily="66" charset="0"/>
              </a:rPr>
              <a:t>Natanamanohara</a:t>
            </a:r>
            <a:endParaRPr lang="en-IN" sz="6600" dirty="0">
              <a:latin typeface="Edwardian Script ITC" panose="030303020407070D0804" pitchFamily="66" charset="0"/>
            </a:endParaRPr>
          </a:p>
        </p:txBody>
      </p:sp>
      <p:pic>
        <p:nvPicPr>
          <p:cNvPr id="7" name="Picture 6"/>
          <p:cNvPicPr>
            <a:picLocks noChangeAspect="1"/>
          </p:cNvPicPr>
          <p:nvPr/>
        </p:nvPicPr>
        <p:blipFill>
          <a:blip r:embed="rId2"/>
          <a:stretch>
            <a:fillRect/>
          </a:stretch>
        </p:blipFill>
        <p:spPr>
          <a:xfrm>
            <a:off x="6770182" y="730039"/>
            <a:ext cx="3124445" cy="4254927"/>
          </a:xfrm>
          <a:prstGeom prst="rect">
            <a:avLst/>
          </a:prstGeom>
          <a:ln w="57150" cap="sq" cmpd="thickThin">
            <a:solidFill>
              <a:srgbClr val="000000"/>
            </a:solidFill>
            <a:prstDash val="solid"/>
            <a:miter lim="800000"/>
          </a:ln>
          <a:effectLst>
            <a:innerShdw blurRad="76200">
              <a:srgbClr val="000000"/>
            </a:innerShdw>
          </a:effectLst>
        </p:spPr>
      </p:pic>
      <p:pic>
        <p:nvPicPr>
          <p:cNvPr id="13" name="Picture 12"/>
          <p:cNvPicPr>
            <a:picLocks noChangeAspect="1"/>
          </p:cNvPicPr>
          <p:nvPr/>
        </p:nvPicPr>
        <p:blipFill rotWithShape="1">
          <a:blip r:embed="rId3"/>
          <a:srcRect/>
          <a:stretch/>
        </p:blipFill>
        <p:spPr>
          <a:xfrm>
            <a:off x="2055175" y="730039"/>
            <a:ext cx="3185565" cy="4267989"/>
          </a:xfrm>
          <a:prstGeom prst="rect">
            <a:avLst/>
          </a:prstGeom>
          <a:ln w="5715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105592717"/>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4960" y="640080"/>
            <a:ext cx="6797040" cy="6322423"/>
          </a:xfrm>
        </p:spPr>
        <p:txBody>
          <a:bodyPr>
            <a:normAutofit fontScale="92500" lnSpcReduction="10000"/>
          </a:bodyPr>
          <a:lstStyle/>
          <a:p>
            <a:r>
              <a:rPr lang="en-GB" dirty="0" err="1"/>
              <a:t>Sathya</a:t>
            </a:r>
            <a:r>
              <a:rPr lang="en-GB" dirty="0"/>
              <a:t> at the age of 8 years started his higher elementary school at </a:t>
            </a:r>
            <a:r>
              <a:rPr lang="en-GB" dirty="0" err="1"/>
              <a:t>Bukkapatnam</a:t>
            </a:r>
            <a:r>
              <a:rPr lang="en-GB" dirty="0"/>
              <a:t>, which is about 2 ½ miles away from </a:t>
            </a:r>
            <a:r>
              <a:rPr lang="en-GB" dirty="0" err="1"/>
              <a:t>Puttaparthi</a:t>
            </a:r>
            <a:r>
              <a:rPr lang="en-GB" dirty="0"/>
              <a:t>. He had to trudge in sun or rain, over stony bunds, with a bag of books, secured on his head. He carried afternoon meal in his bag and, he goes to </a:t>
            </a:r>
            <a:r>
              <a:rPr lang="en-GB" dirty="0" err="1"/>
              <a:t>Bukkapatnam</a:t>
            </a:r>
            <a:r>
              <a:rPr lang="en-GB" dirty="0"/>
              <a:t> with his friends.</a:t>
            </a:r>
          </a:p>
          <a:p>
            <a:endParaRPr lang="en-GB" dirty="0"/>
          </a:p>
          <a:p>
            <a:endParaRPr lang="en-GB" dirty="0"/>
          </a:p>
          <a:p>
            <a:r>
              <a:rPr lang="en-GB" dirty="0"/>
              <a:t>Sri V. C. </a:t>
            </a:r>
            <a:r>
              <a:rPr lang="en-GB" dirty="0" err="1"/>
              <a:t>Kondappa</a:t>
            </a:r>
            <a:r>
              <a:rPr lang="en-GB" dirty="0"/>
              <a:t>, who found that swami was a divine incarnation as swami’s looks and actions were very much appealing to him. As swami use to guide his classmates and make them do prayers and distribute </a:t>
            </a:r>
            <a:r>
              <a:rPr lang="en-GB" dirty="0" err="1"/>
              <a:t>prasadam’s</a:t>
            </a:r>
            <a:r>
              <a:rPr lang="en-GB" dirty="0"/>
              <a:t> and he used to distribute things from his empty bag, which he used to describe as “</a:t>
            </a:r>
            <a:r>
              <a:rPr lang="en-GB" dirty="0" err="1"/>
              <a:t>Grama</a:t>
            </a:r>
            <a:r>
              <a:rPr lang="en-GB" dirty="0"/>
              <a:t> </a:t>
            </a:r>
            <a:r>
              <a:rPr lang="en-GB" dirty="0" err="1"/>
              <a:t>Shakthi</a:t>
            </a:r>
            <a:r>
              <a:rPr lang="en-GB" dirty="0"/>
              <a:t>”.One of his teachers experienced this </a:t>
            </a:r>
            <a:r>
              <a:rPr lang="en-GB" dirty="0" err="1"/>
              <a:t>grama</a:t>
            </a:r>
            <a:r>
              <a:rPr lang="en-GB" dirty="0"/>
              <a:t> Shakti on one occasion.</a:t>
            </a:r>
          </a:p>
          <a:p>
            <a:endParaRPr lang="en-IN" dirty="0"/>
          </a:p>
        </p:txBody>
      </p:sp>
      <p:pic>
        <p:nvPicPr>
          <p:cNvPr id="2" name="Picture 1"/>
          <p:cNvPicPr>
            <a:picLocks noChangeAspect="1"/>
          </p:cNvPicPr>
          <p:nvPr/>
        </p:nvPicPr>
        <p:blipFill>
          <a:blip r:embed="rId2"/>
          <a:stretch>
            <a:fillRect/>
          </a:stretch>
        </p:blipFill>
        <p:spPr>
          <a:xfrm>
            <a:off x="1645920" y="445126"/>
            <a:ext cx="2037805" cy="2868022"/>
          </a:xfrm>
          <a:prstGeom prst="rect">
            <a:avLst/>
          </a:prstGeom>
        </p:spPr>
      </p:pic>
      <p:pic>
        <p:nvPicPr>
          <p:cNvPr id="4" name="Picture 3"/>
          <p:cNvPicPr>
            <a:picLocks noChangeAspect="1"/>
          </p:cNvPicPr>
          <p:nvPr/>
        </p:nvPicPr>
        <p:blipFill>
          <a:blip r:embed="rId3"/>
          <a:stretch>
            <a:fillRect/>
          </a:stretch>
        </p:blipFill>
        <p:spPr>
          <a:xfrm>
            <a:off x="1000463" y="3966753"/>
            <a:ext cx="3328717" cy="2363048"/>
          </a:xfrm>
          <a:prstGeom prst="rect">
            <a:avLst/>
          </a:prstGeom>
        </p:spPr>
      </p:pic>
    </p:spTree>
    <p:extLst>
      <p:ext uri="{BB962C8B-B14F-4D97-AF65-F5344CB8AC3E}">
        <p14:creationId xmlns:p14="http://schemas.microsoft.com/office/powerpoint/2010/main" val="2880031788"/>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397" y="470262"/>
            <a:ext cx="6457406" cy="6204858"/>
          </a:xfrm>
        </p:spPr>
        <p:txBody>
          <a:bodyPr>
            <a:normAutofit fontScale="92500" lnSpcReduction="10000"/>
          </a:bodyPr>
          <a:lstStyle/>
          <a:p>
            <a:r>
              <a:rPr lang="en-GB" dirty="0"/>
              <a:t>Sri B. </a:t>
            </a:r>
            <a:r>
              <a:rPr lang="en-GB" dirty="0" err="1"/>
              <a:t>Subbannachar</a:t>
            </a:r>
            <a:r>
              <a:rPr lang="en-GB" dirty="0"/>
              <a:t>, in a book published in 1944. He says that “As a student, He was a simple, unostentatious, honest and well-behaved boy”. Baba was mostly composing </a:t>
            </a:r>
            <a:r>
              <a:rPr lang="en-GB" dirty="0" err="1"/>
              <a:t>bhajana</a:t>
            </a:r>
            <a:r>
              <a:rPr lang="en-GB" dirty="0"/>
              <a:t> songs, </a:t>
            </a:r>
            <a:r>
              <a:rPr lang="en-GB" dirty="0" err="1"/>
              <a:t>Ashtottara</a:t>
            </a:r>
            <a:r>
              <a:rPr lang="en-GB" dirty="0"/>
              <a:t> </a:t>
            </a:r>
            <a:r>
              <a:rPr lang="en-GB" dirty="0" err="1"/>
              <a:t>shatanamavalis</a:t>
            </a:r>
            <a:r>
              <a:rPr lang="en-GB" dirty="0"/>
              <a:t> and copying them and distribute to the whole class.</a:t>
            </a:r>
          </a:p>
          <a:p>
            <a:endParaRPr lang="en-GB" dirty="0"/>
          </a:p>
          <a:p>
            <a:endParaRPr lang="en-GB" dirty="0"/>
          </a:p>
          <a:p>
            <a:r>
              <a:rPr lang="en-GB" dirty="0"/>
              <a:t>One day the teacher saw that </a:t>
            </a:r>
            <a:r>
              <a:rPr lang="en-GB" dirty="0" err="1"/>
              <a:t>Sathya</a:t>
            </a:r>
            <a:r>
              <a:rPr lang="en-GB" dirty="0"/>
              <a:t> was not writing notes, that he was dictating. The teacher shouted “Stand up, all those who are not taking </a:t>
            </a:r>
            <a:r>
              <a:rPr lang="en-GB" dirty="0" err="1"/>
              <a:t>notes!”Teacher</a:t>
            </a:r>
            <a:r>
              <a:rPr lang="en-GB" dirty="0"/>
              <a:t> asked why he didn’t, </a:t>
            </a:r>
            <a:r>
              <a:rPr lang="en-GB" dirty="0" err="1"/>
              <a:t>Sathya</a:t>
            </a:r>
            <a:r>
              <a:rPr lang="en-GB" dirty="0"/>
              <a:t> answered nicely in a straight forward way, sir why should I write down? I understood what you dictated ask me any question I will answer.</a:t>
            </a:r>
          </a:p>
          <a:p>
            <a:endParaRPr lang="en-IN" dirty="0"/>
          </a:p>
        </p:txBody>
      </p:sp>
      <p:pic>
        <p:nvPicPr>
          <p:cNvPr id="2" name="Picture 1"/>
          <p:cNvPicPr>
            <a:picLocks noChangeAspect="1"/>
          </p:cNvPicPr>
          <p:nvPr/>
        </p:nvPicPr>
        <p:blipFill>
          <a:blip r:embed="rId2"/>
          <a:stretch>
            <a:fillRect/>
          </a:stretch>
        </p:blipFill>
        <p:spPr>
          <a:xfrm>
            <a:off x="1941195" y="403235"/>
            <a:ext cx="2251982" cy="3169456"/>
          </a:xfrm>
          <a:prstGeom prst="rect">
            <a:avLst/>
          </a:prstGeom>
        </p:spPr>
      </p:pic>
      <p:pic>
        <p:nvPicPr>
          <p:cNvPr id="4" name="Picture 3"/>
          <p:cNvPicPr>
            <a:picLocks noChangeAspect="1"/>
          </p:cNvPicPr>
          <p:nvPr/>
        </p:nvPicPr>
        <p:blipFill>
          <a:blip r:embed="rId3"/>
          <a:stretch>
            <a:fillRect/>
          </a:stretch>
        </p:blipFill>
        <p:spPr>
          <a:xfrm>
            <a:off x="1479164" y="3897979"/>
            <a:ext cx="3354094" cy="2679703"/>
          </a:xfrm>
          <a:prstGeom prst="rect">
            <a:avLst/>
          </a:prstGeom>
        </p:spPr>
      </p:pic>
    </p:spTree>
    <p:extLst>
      <p:ext uri="{BB962C8B-B14F-4D97-AF65-F5344CB8AC3E}">
        <p14:creationId xmlns:p14="http://schemas.microsoft.com/office/powerpoint/2010/main" val="37369810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39097" y="692330"/>
            <a:ext cx="6352903" cy="5734595"/>
          </a:xfrm>
        </p:spPr>
        <p:txBody>
          <a:bodyPr>
            <a:normAutofit fontScale="92500" lnSpcReduction="10000"/>
          </a:bodyPr>
          <a:lstStyle/>
          <a:p>
            <a:r>
              <a:rPr lang="en-GB" dirty="0"/>
              <a:t>But the pride of the teacher was injured. The teacher said to stand until the last bell rings. </a:t>
            </a:r>
            <a:r>
              <a:rPr lang="en-GB" dirty="0" err="1"/>
              <a:t>Sathya</a:t>
            </a:r>
            <a:r>
              <a:rPr lang="en-GB" dirty="0"/>
              <a:t> obeyed and stood on the bench. That day no boy in the class was happy. The bell rang and the teacher for the next class came in.</a:t>
            </a:r>
          </a:p>
          <a:p>
            <a:endParaRPr lang="en-GB" dirty="0"/>
          </a:p>
          <a:p>
            <a:r>
              <a:rPr lang="en-GB" dirty="0"/>
              <a:t>When </a:t>
            </a:r>
            <a:r>
              <a:rPr lang="en-GB" dirty="0" err="1"/>
              <a:t>Mahbub</a:t>
            </a:r>
            <a:r>
              <a:rPr lang="en-GB" dirty="0"/>
              <a:t> Khan enter the room, he was to find </a:t>
            </a:r>
            <a:r>
              <a:rPr lang="en-GB" dirty="0" err="1"/>
              <a:t>sathyanarayan</a:t>
            </a:r>
            <a:r>
              <a:rPr lang="en-GB" dirty="0"/>
              <a:t> on the bench and teacher still sitting on the chair. Teacher whispered that when he got up, the chair rose up along with him. The whispered was caught by the boy and he start laughed at the teacher and said it must due to </a:t>
            </a:r>
            <a:r>
              <a:rPr lang="en-GB" dirty="0" err="1"/>
              <a:t>Sathya</a:t>
            </a:r>
            <a:r>
              <a:rPr lang="en-GB" dirty="0"/>
              <a:t> magic spell. Sir told to </a:t>
            </a:r>
            <a:r>
              <a:rPr lang="en-GB" dirty="0" err="1"/>
              <a:t>Sathya</a:t>
            </a:r>
            <a:r>
              <a:rPr lang="en-GB" dirty="0"/>
              <a:t> come down immediately, the chair fall and the teacher could move.</a:t>
            </a:r>
          </a:p>
        </p:txBody>
      </p:sp>
      <p:pic>
        <p:nvPicPr>
          <p:cNvPr id="5" name="Picture 4"/>
          <p:cNvPicPr>
            <a:picLocks noChangeAspect="1"/>
          </p:cNvPicPr>
          <p:nvPr/>
        </p:nvPicPr>
        <p:blipFill>
          <a:blip r:embed="rId2"/>
          <a:stretch>
            <a:fillRect/>
          </a:stretch>
        </p:blipFill>
        <p:spPr>
          <a:xfrm>
            <a:off x="1730986" y="483217"/>
            <a:ext cx="3220842" cy="2443117"/>
          </a:xfrm>
          <a:prstGeom prst="rect">
            <a:avLst/>
          </a:prstGeom>
        </p:spPr>
      </p:pic>
      <p:pic>
        <p:nvPicPr>
          <p:cNvPr id="6" name="Picture 5"/>
          <p:cNvPicPr>
            <a:picLocks noChangeAspect="1"/>
          </p:cNvPicPr>
          <p:nvPr/>
        </p:nvPicPr>
        <p:blipFill>
          <a:blip r:embed="rId3"/>
          <a:stretch>
            <a:fillRect/>
          </a:stretch>
        </p:blipFill>
        <p:spPr>
          <a:xfrm>
            <a:off x="2220310" y="3266944"/>
            <a:ext cx="2242193" cy="3159981"/>
          </a:xfrm>
          <a:prstGeom prst="rect">
            <a:avLst/>
          </a:prstGeom>
        </p:spPr>
      </p:pic>
    </p:spTree>
    <p:extLst>
      <p:ext uri="{BB962C8B-B14F-4D97-AF65-F5344CB8AC3E}">
        <p14:creationId xmlns:p14="http://schemas.microsoft.com/office/powerpoint/2010/main" val="27058308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91349" y="666204"/>
            <a:ext cx="6300651" cy="6061166"/>
          </a:xfrm>
        </p:spPr>
        <p:txBody>
          <a:bodyPr>
            <a:normAutofit/>
          </a:bodyPr>
          <a:lstStyle/>
          <a:p>
            <a:r>
              <a:rPr lang="en-GB" dirty="0"/>
              <a:t>Year later, while relating this story, baba said ; The action is not due to his anger against the </a:t>
            </a:r>
            <a:r>
              <a:rPr lang="en-GB" dirty="0" err="1"/>
              <a:t>teacher,He</a:t>
            </a:r>
            <a:r>
              <a:rPr lang="en-GB" dirty="0"/>
              <a:t> had no anger in him(teacher), But  he wants to prepare men’s minds for the announcement of his mission and identity</a:t>
            </a:r>
            <a:r>
              <a:rPr lang="en-GB" dirty="0" smtClean="0"/>
              <a:t>.</a:t>
            </a:r>
          </a:p>
          <a:p>
            <a:endParaRPr lang="en-GB" dirty="0"/>
          </a:p>
          <a:p>
            <a:endParaRPr lang="en-GB" dirty="0" smtClean="0"/>
          </a:p>
          <a:p>
            <a:r>
              <a:rPr lang="en-GB" dirty="0"/>
              <a:t>The little prince charming(baba) was even in that  tender age a GURU to the children of the village. He is true to the nick name </a:t>
            </a:r>
            <a:r>
              <a:rPr lang="en-GB" dirty="0" err="1"/>
              <a:t>Brahmagyani</a:t>
            </a:r>
            <a:r>
              <a:rPr lang="en-GB" dirty="0"/>
              <a:t> , which he earned by his </a:t>
            </a:r>
            <a:r>
              <a:rPr lang="en-GB" dirty="0" err="1"/>
              <a:t>Satwic</a:t>
            </a:r>
            <a:r>
              <a:rPr lang="en-GB" dirty="0"/>
              <a:t> nature.</a:t>
            </a:r>
          </a:p>
          <a:p>
            <a:endParaRPr lang="en-GB" dirty="0"/>
          </a:p>
        </p:txBody>
      </p:sp>
      <p:pic>
        <p:nvPicPr>
          <p:cNvPr id="2" name="Picture 1"/>
          <p:cNvPicPr>
            <a:picLocks noChangeAspect="1"/>
          </p:cNvPicPr>
          <p:nvPr/>
        </p:nvPicPr>
        <p:blipFill>
          <a:blip r:embed="rId2"/>
          <a:stretch>
            <a:fillRect/>
          </a:stretch>
        </p:blipFill>
        <p:spPr>
          <a:xfrm>
            <a:off x="1059599" y="3696787"/>
            <a:ext cx="4054362" cy="2878182"/>
          </a:xfrm>
          <a:prstGeom prst="rect">
            <a:avLst/>
          </a:prstGeom>
        </p:spPr>
      </p:pic>
      <p:pic>
        <p:nvPicPr>
          <p:cNvPr id="4" name="Picture 3"/>
          <p:cNvPicPr>
            <a:picLocks noChangeAspect="1"/>
          </p:cNvPicPr>
          <p:nvPr/>
        </p:nvPicPr>
        <p:blipFill>
          <a:blip r:embed="rId3"/>
          <a:stretch>
            <a:fillRect/>
          </a:stretch>
        </p:blipFill>
        <p:spPr>
          <a:xfrm>
            <a:off x="2163263" y="431072"/>
            <a:ext cx="1847034" cy="2599529"/>
          </a:xfrm>
          <a:prstGeom prst="rect">
            <a:avLst/>
          </a:prstGeom>
        </p:spPr>
      </p:pic>
    </p:spTree>
    <p:extLst>
      <p:ext uri="{BB962C8B-B14F-4D97-AF65-F5344CB8AC3E}">
        <p14:creationId xmlns:p14="http://schemas.microsoft.com/office/powerpoint/2010/main" val="1975493248"/>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08469" y="731520"/>
            <a:ext cx="6483531" cy="5956663"/>
          </a:xfrm>
        </p:spPr>
        <p:txBody>
          <a:bodyPr>
            <a:normAutofit fontScale="85000" lnSpcReduction="20000"/>
          </a:bodyPr>
          <a:lstStyle/>
          <a:p>
            <a:endParaRPr lang="en-GB" dirty="0"/>
          </a:p>
          <a:p>
            <a:r>
              <a:rPr lang="en-GB" dirty="0" err="1"/>
              <a:t>Sathya</a:t>
            </a:r>
            <a:r>
              <a:rPr lang="en-GB" dirty="0"/>
              <a:t>, even as a child, against all sports and games that caused cruelty or pain. He would not allow his companions to witness the bullock-cart race on the sands of the river-bed held annually on the festival, known as the Big Ekadashi, for He objected to the twisting of tails and the flaying with sticks, for the vicarious glory of the master. Bear-baiting, cock fighting, and such other village entertainments, He condemned, as the "Guru" of his group.</a:t>
            </a:r>
          </a:p>
          <a:p>
            <a:r>
              <a:rPr lang="en-GB" dirty="0" err="1"/>
              <a:t>Sathya</a:t>
            </a:r>
            <a:r>
              <a:rPr lang="en-GB" dirty="0"/>
              <a:t> grew in the midst of about eighteen to twenty children, It was necessary to be a clean and straight child in order to win </a:t>
            </a:r>
            <a:r>
              <a:rPr lang="en-GB" dirty="0" err="1"/>
              <a:t>Sathya's</a:t>
            </a:r>
            <a:r>
              <a:rPr lang="en-GB" dirty="0"/>
              <a:t> appreciation. </a:t>
            </a:r>
            <a:r>
              <a:rPr lang="en-GB" dirty="0" err="1"/>
              <a:t>Kondama</a:t>
            </a:r>
            <a:r>
              <a:rPr lang="en-GB" dirty="0"/>
              <a:t> Raju once told the present writer how, when the tailor was called in to stitch shirts for all the children out of various types of coloured cloth that had been brought from the </a:t>
            </a:r>
            <a:r>
              <a:rPr lang="en-GB" dirty="0" err="1"/>
              <a:t>Bukkapatnam</a:t>
            </a:r>
            <a:r>
              <a:rPr lang="en-GB" dirty="0"/>
              <a:t> shanty, </a:t>
            </a:r>
            <a:r>
              <a:rPr lang="en-GB" dirty="0" err="1"/>
              <a:t>Sathya</a:t>
            </a:r>
            <a:r>
              <a:rPr lang="en-GB" dirty="0"/>
              <a:t> would say, "Let everyone be given the cloth he selects; what remains is good enough for</a:t>
            </a:r>
            <a:endParaRPr lang="en-GB" dirty="0"/>
          </a:p>
          <a:p>
            <a:endParaRPr lang="en-GB" dirty="0"/>
          </a:p>
          <a:p>
            <a:endParaRPr lang="en-IN" dirty="0"/>
          </a:p>
        </p:txBody>
      </p:sp>
      <p:pic>
        <p:nvPicPr>
          <p:cNvPr id="5" name="Picture 4"/>
          <p:cNvPicPr>
            <a:picLocks noChangeAspect="1"/>
          </p:cNvPicPr>
          <p:nvPr/>
        </p:nvPicPr>
        <p:blipFill>
          <a:blip r:embed="rId2"/>
          <a:stretch>
            <a:fillRect/>
          </a:stretch>
        </p:blipFill>
        <p:spPr>
          <a:xfrm>
            <a:off x="1166446" y="731520"/>
            <a:ext cx="3810000" cy="5715000"/>
          </a:xfrm>
          <a:prstGeom prst="rect">
            <a:avLst/>
          </a:prstGeom>
        </p:spPr>
      </p:pic>
    </p:spTree>
    <p:extLst>
      <p:ext uri="{BB962C8B-B14F-4D97-AF65-F5344CB8AC3E}">
        <p14:creationId xmlns:p14="http://schemas.microsoft.com/office/powerpoint/2010/main" val="6154308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55771" y="561703"/>
            <a:ext cx="6692536" cy="6165668"/>
          </a:xfrm>
        </p:spPr>
        <p:txBody>
          <a:bodyPr>
            <a:normAutofit fontScale="92500" lnSpcReduction="10000"/>
          </a:bodyPr>
          <a:lstStyle/>
          <a:p>
            <a:r>
              <a:rPr lang="en-GB" dirty="0" err="1"/>
              <a:t>Pedda</a:t>
            </a:r>
            <a:r>
              <a:rPr lang="en-GB" dirty="0"/>
              <a:t> </a:t>
            </a:r>
            <a:r>
              <a:rPr lang="en-GB" dirty="0" err="1"/>
              <a:t>Venkapa</a:t>
            </a:r>
            <a:r>
              <a:rPr lang="en-GB" dirty="0"/>
              <a:t> Raju tried often to take </a:t>
            </a:r>
            <a:r>
              <a:rPr lang="en-GB" dirty="0" err="1"/>
              <a:t>Sathya</a:t>
            </a:r>
            <a:r>
              <a:rPr lang="en-GB" dirty="0"/>
              <a:t> too along with the other children to the touring talkie for seeing pictures; but, He protested and refused. He spoke of the degraded ideals of the cinemas, how they vulgarised the Gods and music; in order to accumulate money.</a:t>
            </a:r>
          </a:p>
          <a:p>
            <a:endParaRPr lang="en-GB" dirty="0"/>
          </a:p>
          <a:p>
            <a:r>
              <a:rPr lang="en-GB" dirty="0" err="1"/>
              <a:t>Sathya</a:t>
            </a:r>
            <a:r>
              <a:rPr lang="en-GB" dirty="0"/>
              <a:t> formed "</a:t>
            </a:r>
            <a:r>
              <a:rPr lang="en-GB" dirty="0" err="1"/>
              <a:t>Pandhari</a:t>
            </a:r>
            <a:r>
              <a:rPr lang="en-GB" dirty="0"/>
              <a:t> </a:t>
            </a:r>
            <a:r>
              <a:rPr lang="en-GB" dirty="0" err="1"/>
              <a:t>Bhajan</a:t>
            </a:r>
            <a:r>
              <a:rPr lang="en-GB" dirty="0"/>
              <a:t>" group on the model of such as existed in some neighbouring villages. The group consisted of about sixteen to eighteen boys, dressed uniformly in </a:t>
            </a:r>
            <a:r>
              <a:rPr lang="en-GB" dirty="0" err="1"/>
              <a:t>gerua</a:t>
            </a:r>
            <a:r>
              <a:rPr lang="en-GB" dirty="0"/>
              <a:t> clothes, holding each a flag in the hand and wearing jingle-bell-anklets. They all danced to the tune of picturesque folk-songs and ballads, describing the yearning of pilgrims for </a:t>
            </a:r>
            <a:r>
              <a:rPr lang="en-GB" dirty="0" err="1"/>
              <a:t>Panduranga's</a:t>
            </a:r>
            <a:r>
              <a:rPr lang="en-GB" dirty="0"/>
              <a:t> </a:t>
            </a:r>
            <a:r>
              <a:rPr lang="en-GB" dirty="0" err="1"/>
              <a:t>darshan</a:t>
            </a:r>
            <a:r>
              <a:rPr lang="en-GB" dirty="0"/>
              <a:t>.</a:t>
            </a:r>
          </a:p>
          <a:p>
            <a:endParaRPr lang="en-IN" dirty="0"/>
          </a:p>
        </p:txBody>
      </p:sp>
      <p:pic>
        <p:nvPicPr>
          <p:cNvPr id="2" name="Picture 1"/>
          <p:cNvPicPr>
            <a:picLocks noChangeAspect="1"/>
          </p:cNvPicPr>
          <p:nvPr/>
        </p:nvPicPr>
        <p:blipFill>
          <a:blip r:embed="rId2"/>
          <a:stretch>
            <a:fillRect/>
          </a:stretch>
        </p:blipFill>
        <p:spPr>
          <a:xfrm>
            <a:off x="1058091" y="3769999"/>
            <a:ext cx="3527977" cy="2500599"/>
          </a:xfrm>
          <a:prstGeom prst="rect">
            <a:avLst/>
          </a:prstGeom>
        </p:spPr>
      </p:pic>
      <p:pic>
        <p:nvPicPr>
          <p:cNvPr id="4" name="Picture 3"/>
          <p:cNvPicPr>
            <a:picLocks noChangeAspect="1"/>
          </p:cNvPicPr>
          <p:nvPr/>
        </p:nvPicPr>
        <p:blipFill>
          <a:blip r:embed="rId3"/>
          <a:stretch>
            <a:fillRect/>
          </a:stretch>
        </p:blipFill>
        <p:spPr>
          <a:xfrm>
            <a:off x="1039670" y="561703"/>
            <a:ext cx="3546398" cy="2659799"/>
          </a:xfrm>
          <a:prstGeom prst="rect">
            <a:avLst/>
          </a:prstGeom>
        </p:spPr>
      </p:pic>
    </p:spTree>
    <p:extLst>
      <p:ext uri="{BB962C8B-B14F-4D97-AF65-F5344CB8AC3E}">
        <p14:creationId xmlns:p14="http://schemas.microsoft.com/office/powerpoint/2010/main" val="286307984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2012" y="849087"/>
            <a:ext cx="6439988" cy="5421084"/>
          </a:xfrm>
        </p:spPr>
        <p:txBody>
          <a:bodyPr>
            <a:normAutofit fontScale="92500" lnSpcReduction="10000"/>
          </a:bodyPr>
          <a:lstStyle/>
          <a:p>
            <a:r>
              <a:rPr lang="en-GB" dirty="0" err="1"/>
              <a:t>Sathya</a:t>
            </a:r>
            <a:r>
              <a:rPr lang="en-GB" dirty="0"/>
              <a:t> added some </a:t>
            </a:r>
            <a:r>
              <a:rPr lang="en-GB" dirty="0" err="1"/>
              <a:t>Bhagavata</a:t>
            </a:r>
            <a:r>
              <a:rPr lang="en-GB" dirty="0"/>
              <a:t> songs of His own in which </a:t>
            </a:r>
            <a:r>
              <a:rPr lang="en-GB" dirty="0" err="1"/>
              <a:t>Yashoda</a:t>
            </a:r>
            <a:r>
              <a:rPr lang="en-GB" dirty="0"/>
              <a:t> and Krishna in the centre of the circle and with the </a:t>
            </a:r>
            <a:r>
              <a:rPr lang="en-GB" dirty="0" err="1"/>
              <a:t>Gopis</a:t>
            </a:r>
            <a:r>
              <a:rPr lang="en-GB" dirty="0"/>
              <a:t> dancing on the circumference, this was a great attraction in the village. Baba Himself played the role of either the mother or the child and His dance, dialogue and music added to the charm of the </a:t>
            </a:r>
            <a:r>
              <a:rPr lang="en-GB" dirty="0" err="1"/>
              <a:t>Bhajan</a:t>
            </a:r>
            <a:r>
              <a:rPr lang="en-GB" dirty="0"/>
              <a:t>.</a:t>
            </a:r>
          </a:p>
          <a:p>
            <a:endParaRPr lang="en-GB" dirty="0" smtClean="0"/>
          </a:p>
          <a:p>
            <a:pPr marL="0" indent="0">
              <a:buNone/>
            </a:pPr>
            <a:endParaRPr lang="en-GB" dirty="0"/>
          </a:p>
          <a:p>
            <a:r>
              <a:rPr lang="en-GB" dirty="0"/>
              <a:t>"Sai Baba? Sai Baba of </a:t>
            </a:r>
            <a:r>
              <a:rPr lang="en-GB" dirty="0" err="1"/>
              <a:t>Shirdi</a:t>
            </a:r>
            <a:r>
              <a:rPr lang="en-GB" dirty="0"/>
              <a:t>? Who could it be? How did this little boy get inspired by that Muslim, a Fakir?" The elders wondered, as the children danced in the </a:t>
            </a:r>
            <a:r>
              <a:rPr lang="en-GB" dirty="0" smtClean="0"/>
              <a:t>streets.</a:t>
            </a:r>
            <a:endParaRPr lang="en-GB" dirty="0"/>
          </a:p>
          <a:p>
            <a:endParaRPr lang="en-IN" dirty="0"/>
          </a:p>
        </p:txBody>
      </p:sp>
      <p:pic>
        <p:nvPicPr>
          <p:cNvPr id="2" name="Picture 1"/>
          <p:cNvPicPr>
            <a:picLocks noChangeAspect="1"/>
          </p:cNvPicPr>
          <p:nvPr/>
        </p:nvPicPr>
        <p:blipFill>
          <a:blip r:embed="rId2"/>
          <a:stretch>
            <a:fillRect/>
          </a:stretch>
        </p:blipFill>
        <p:spPr>
          <a:xfrm>
            <a:off x="1251992" y="550817"/>
            <a:ext cx="3667942" cy="2603863"/>
          </a:xfrm>
          <a:prstGeom prst="rect">
            <a:avLst/>
          </a:prstGeom>
        </p:spPr>
      </p:pic>
      <p:pic>
        <p:nvPicPr>
          <p:cNvPr id="4" name="Picture 3"/>
          <p:cNvPicPr>
            <a:picLocks noChangeAspect="1"/>
          </p:cNvPicPr>
          <p:nvPr/>
        </p:nvPicPr>
        <p:blipFill>
          <a:blip r:embed="rId3"/>
          <a:stretch>
            <a:fillRect/>
          </a:stretch>
        </p:blipFill>
        <p:spPr>
          <a:xfrm>
            <a:off x="1274821" y="3664132"/>
            <a:ext cx="3579798" cy="2815045"/>
          </a:xfrm>
          <a:prstGeom prst="rect">
            <a:avLst/>
          </a:prstGeom>
        </p:spPr>
      </p:pic>
    </p:spTree>
    <p:extLst>
      <p:ext uri="{BB962C8B-B14F-4D97-AF65-F5344CB8AC3E}">
        <p14:creationId xmlns:p14="http://schemas.microsoft.com/office/powerpoint/2010/main" val="3529031647"/>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34149" y="495689"/>
            <a:ext cx="6457406" cy="5823717"/>
          </a:xfrm>
        </p:spPr>
        <p:txBody>
          <a:bodyPr>
            <a:normAutofit/>
          </a:bodyPr>
          <a:lstStyle/>
          <a:p>
            <a:r>
              <a:rPr lang="en-GB" sz="2600" dirty="0" err="1"/>
              <a:t>Sathya</a:t>
            </a:r>
            <a:r>
              <a:rPr lang="en-GB" sz="2600" dirty="0"/>
              <a:t> was  the central figure of the group, as he did every role so wonderfully that the village could feel Mathura and </a:t>
            </a:r>
            <a:r>
              <a:rPr lang="en-GB" sz="2600" dirty="0" err="1"/>
              <a:t>Brindavan</a:t>
            </a:r>
            <a:r>
              <a:rPr lang="en-GB" sz="2600" dirty="0"/>
              <a:t> reproduced, and </a:t>
            </a:r>
            <a:r>
              <a:rPr lang="en-GB" sz="2600" dirty="0" err="1"/>
              <a:t>Balagopala</a:t>
            </a:r>
            <a:r>
              <a:rPr lang="en-GB" sz="2600" dirty="0"/>
              <a:t> with His flute enchanting the </a:t>
            </a:r>
            <a:r>
              <a:rPr lang="en-GB" sz="2600" dirty="0" err="1"/>
              <a:t>Gopis</a:t>
            </a:r>
            <a:r>
              <a:rPr lang="en-GB" sz="2600" dirty="0"/>
              <a:t>. </a:t>
            </a:r>
            <a:endParaRPr lang="en-GB" sz="2600" dirty="0" smtClean="0"/>
          </a:p>
          <a:p>
            <a:pPr marL="0" indent="0">
              <a:buNone/>
            </a:pPr>
            <a:endParaRPr lang="en-GB" sz="2600" dirty="0" smtClean="0"/>
          </a:p>
          <a:p>
            <a:pPr marL="0" indent="0">
              <a:buNone/>
            </a:pPr>
            <a:endParaRPr lang="en-GB" sz="2600" dirty="0" smtClean="0"/>
          </a:p>
          <a:p>
            <a:r>
              <a:rPr lang="en-GB" sz="2600" dirty="0"/>
              <a:t> The villagers, too, heard the strange names, </a:t>
            </a:r>
            <a:r>
              <a:rPr lang="en-GB" sz="2600" dirty="0" err="1"/>
              <a:t>Shirdi</a:t>
            </a:r>
            <a:r>
              <a:rPr lang="en-GB" sz="2600" dirty="0"/>
              <a:t> and Sai, wondered what and who they were. Then, there were the dramas, the open-air operas, where </a:t>
            </a:r>
            <a:r>
              <a:rPr lang="en-GB" sz="2600" dirty="0" err="1"/>
              <a:t>puranic</a:t>
            </a:r>
            <a:r>
              <a:rPr lang="en-GB" sz="2600" dirty="0"/>
              <a:t> themes were represented by dialogue, dance and costume; where rakshasas, </a:t>
            </a:r>
            <a:r>
              <a:rPr lang="en-GB" sz="2600" dirty="0" err="1"/>
              <a:t>asuras</a:t>
            </a:r>
            <a:r>
              <a:rPr lang="en-GB" sz="2600" dirty="0"/>
              <a:t> and the powers of evil were defeated by Gods, avatars and the forces of good</a:t>
            </a:r>
            <a:r>
              <a:rPr lang="en-GB" sz="2600" dirty="0" smtClean="0"/>
              <a:t>.</a:t>
            </a:r>
          </a:p>
          <a:p>
            <a:pPr marL="0" indent="0">
              <a:buNone/>
            </a:pPr>
            <a:endParaRPr lang="en-GB" sz="2400" dirty="0" smtClean="0"/>
          </a:p>
          <a:p>
            <a:pPr marL="0" indent="0">
              <a:buNone/>
            </a:pPr>
            <a:endParaRPr lang="en-GB" sz="2400" dirty="0" smtClean="0"/>
          </a:p>
        </p:txBody>
      </p:sp>
      <p:pic>
        <p:nvPicPr>
          <p:cNvPr id="6" name="Picture 5"/>
          <p:cNvPicPr>
            <a:picLocks noChangeAspect="1"/>
          </p:cNvPicPr>
          <p:nvPr/>
        </p:nvPicPr>
        <p:blipFill>
          <a:blip r:embed="rId2"/>
          <a:stretch>
            <a:fillRect/>
          </a:stretch>
        </p:blipFill>
        <p:spPr>
          <a:xfrm>
            <a:off x="1847888" y="312809"/>
            <a:ext cx="1953403" cy="2749234"/>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454" y="3680150"/>
            <a:ext cx="3717798" cy="2639256"/>
          </a:xfrm>
          <a:prstGeom prst="rect">
            <a:avLst/>
          </a:prstGeom>
        </p:spPr>
      </p:pic>
    </p:spTree>
    <p:extLst>
      <p:ext uri="{BB962C8B-B14F-4D97-AF65-F5344CB8AC3E}">
        <p14:creationId xmlns:p14="http://schemas.microsoft.com/office/powerpoint/2010/main" val="21304651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45708" y="449985"/>
            <a:ext cx="6446292" cy="6544491"/>
          </a:xfrm>
        </p:spPr>
        <p:txBody>
          <a:bodyPr>
            <a:normAutofit/>
          </a:bodyPr>
          <a:lstStyle/>
          <a:p>
            <a:r>
              <a:rPr lang="en-GB" sz="2600" dirty="0"/>
              <a:t>The dramas was prepared in the household in which </a:t>
            </a:r>
            <a:r>
              <a:rPr lang="en-GB" sz="2600" dirty="0" err="1"/>
              <a:t>Sathya</a:t>
            </a:r>
            <a:r>
              <a:rPr lang="en-GB" sz="2600" dirty="0"/>
              <a:t> moved ; </a:t>
            </a:r>
            <a:r>
              <a:rPr lang="en-GB" sz="2600" dirty="0" err="1"/>
              <a:t>Pedda</a:t>
            </a:r>
            <a:r>
              <a:rPr lang="en-GB" sz="2600" dirty="0"/>
              <a:t> </a:t>
            </a:r>
            <a:r>
              <a:rPr lang="en-GB" sz="2600" dirty="0" err="1"/>
              <a:t>Venkapa</a:t>
            </a:r>
            <a:r>
              <a:rPr lang="en-GB" sz="2600" dirty="0"/>
              <a:t> Raju himself had become a celebrity on the popular </a:t>
            </a:r>
            <a:r>
              <a:rPr lang="en-GB" sz="2600" dirty="0" err="1"/>
              <a:t>stage.A</a:t>
            </a:r>
            <a:r>
              <a:rPr lang="en-GB" sz="2600" dirty="0"/>
              <a:t> number of plays were produced at this period, in order to collect funds for famine relief.</a:t>
            </a:r>
          </a:p>
          <a:p>
            <a:endParaRPr lang="en-GB" sz="2600" dirty="0"/>
          </a:p>
          <a:p>
            <a:r>
              <a:rPr lang="en-GB" sz="2600" dirty="0"/>
              <a:t>Once, while a song describing the prowess and achievements of Lord </a:t>
            </a:r>
            <a:r>
              <a:rPr lang="en-GB" sz="2600" dirty="0" err="1"/>
              <a:t>Narasimha</a:t>
            </a:r>
            <a:r>
              <a:rPr lang="en-GB" sz="2600" dirty="0"/>
              <a:t> of </a:t>
            </a:r>
            <a:r>
              <a:rPr lang="en-GB" sz="2600" dirty="0" err="1"/>
              <a:t>Kadiri</a:t>
            </a:r>
            <a:r>
              <a:rPr lang="en-GB" sz="2600" dirty="0"/>
              <a:t>, which was recited by the group of boys, </a:t>
            </a:r>
            <a:r>
              <a:rPr lang="en-GB" sz="2600" dirty="0" err="1"/>
              <a:t>Sathya</a:t>
            </a:r>
            <a:r>
              <a:rPr lang="en-GB" sz="2600" dirty="0"/>
              <a:t> suddenly leaped like the Lion-man Manifestation of the Lord and His face was transformed into such ferocity and at last, after a number of people had offered puja, </a:t>
            </a:r>
            <a:r>
              <a:rPr lang="en-GB" sz="2600" dirty="0" err="1"/>
              <a:t>Sathya</a:t>
            </a:r>
            <a:r>
              <a:rPr lang="en-GB" sz="2600" dirty="0"/>
              <a:t> became normal. This incident spread the fame of the </a:t>
            </a:r>
            <a:r>
              <a:rPr lang="en-GB" sz="2600" dirty="0" err="1"/>
              <a:t>Pandhari</a:t>
            </a:r>
            <a:r>
              <a:rPr lang="en-GB" sz="2600" dirty="0"/>
              <a:t> </a:t>
            </a:r>
            <a:r>
              <a:rPr lang="en-GB" sz="2600" dirty="0" err="1"/>
              <a:t>Bhajan</a:t>
            </a:r>
            <a:r>
              <a:rPr lang="en-GB" sz="2600" dirty="0"/>
              <a:t> Group. </a:t>
            </a:r>
          </a:p>
          <a:p>
            <a:endParaRPr lang="en-IN" dirty="0"/>
          </a:p>
        </p:txBody>
      </p:sp>
      <p:pic>
        <p:nvPicPr>
          <p:cNvPr id="2" name="Picture 1"/>
          <p:cNvPicPr>
            <a:picLocks noChangeAspect="1"/>
          </p:cNvPicPr>
          <p:nvPr/>
        </p:nvPicPr>
        <p:blipFill>
          <a:blip r:embed="rId2"/>
          <a:stretch>
            <a:fillRect/>
          </a:stretch>
        </p:blipFill>
        <p:spPr>
          <a:xfrm>
            <a:off x="1183549" y="1233692"/>
            <a:ext cx="3536343" cy="4977075"/>
          </a:xfrm>
          <a:prstGeom prst="rect">
            <a:avLst/>
          </a:prstGeom>
        </p:spPr>
      </p:pic>
    </p:spTree>
    <p:extLst>
      <p:ext uri="{BB962C8B-B14F-4D97-AF65-F5344CB8AC3E}">
        <p14:creationId xmlns:p14="http://schemas.microsoft.com/office/powerpoint/2010/main" val="25060576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45706" y="491318"/>
            <a:ext cx="6446293" cy="6366681"/>
          </a:xfrm>
        </p:spPr>
        <p:txBody>
          <a:bodyPr>
            <a:noAutofit/>
          </a:bodyPr>
          <a:lstStyle/>
          <a:p>
            <a:r>
              <a:rPr lang="en-GB" sz="2600" dirty="0"/>
              <a:t>It was noticed that when an infection of cholera swept like a poisonous simoom over the surrounding villages, </a:t>
            </a:r>
            <a:r>
              <a:rPr lang="en-GB" sz="2600" dirty="0" err="1"/>
              <a:t>Puttaparthi</a:t>
            </a:r>
            <a:r>
              <a:rPr lang="en-GB" sz="2600" dirty="0"/>
              <a:t> did not feel the blast of death because of  the Divine atmosphere generated by the </a:t>
            </a:r>
            <a:r>
              <a:rPr lang="en-GB" sz="2600" dirty="0" err="1"/>
              <a:t>Bhajan</a:t>
            </a:r>
            <a:r>
              <a:rPr lang="en-GB" sz="2600" dirty="0"/>
              <a:t> group. The boys were invited to a large number of villages. People sent their bullock carts to bring the group; but  sometimes, they had to walk long distances</a:t>
            </a:r>
            <a:r>
              <a:rPr lang="en-GB" sz="2600" dirty="0" smtClean="0"/>
              <a:t>.</a:t>
            </a:r>
          </a:p>
          <a:p>
            <a:pPr marL="0" indent="0">
              <a:buNone/>
            </a:pPr>
            <a:endParaRPr lang="en-GB" sz="2600" dirty="0" smtClean="0"/>
          </a:p>
          <a:p>
            <a:r>
              <a:rPr lang="en-GB" sz="2600" dirty="0"/>
              <a:t>The audiences applauded for, the rhythm in </a:t>
            </a:r>
            <a:r>
              <a:rPr lang="en-GB" sz="2600" dirty="0" err="1"/>
              <a:t>Sathya’s</a:t>
            </a:r>
            <a:r>
              <a:rPr lang="en-GB" sz="2600" dirty="0"/>
              <a:t> feet, a sense of time and tune, they had seldom seen. A litheness and a loveliness, which made them feel that he never touched the earth, he belonged to some ethereal region</a:t>
            </a:r>
            <a:r>
              <a:rPr lang="en-GB" sz="2600" dirty="0" smtClean="0"/>
              <a:t>!</a:t>
            </a:r>
          </a:p>
        </p:txBody>
      </p:sp>
      <p:pic>
        <p:nvPicPr>
          <p:cNvPr id="2" name="Picture 1"/>
          <p:cNvPicPr>
            <a:picLocks noChangeAspect="1"/>
          </p:cNvPicPr>
          <p:nvPr/>
        </p:nvPicPr>
        <p:blipFill>
          <a:blip r:embed="rId2"/>
          <a:stretch>
            <a:fillRect/>
          </a:stretch>
        </p:blipFill>
        <p:spPr>
          <a:xfrm>
            <a:off x="1408747" y="526663"/>
            <a:ext cx="3594324" cy="2551602"/>
          </a:xfrm>
          <a:prstGeom prst="rect">
            <a:avLst/>
          </a:prstGeom>
        </p:spPr>
      </p:pic>
      <p:pic>
        <p:nvPicPr>
          <p:cNvPr id="4" name="Picture 3"/>
          <p:cNvPicPr>
            <a:picLocks noChangeAspect="1"/>
          </p:cNvPicPr>
          <p:nvPr/>
        </p:nvPicPr>
        <p:blipFill>
          <a:blip r:embed="rId3"/>
          <a:stretch>
            <a:fillRect/>
          </a:stretch>
        </p:blipFill>
        <p:spPr>
          <a:xfrm>
            <a:off x="1385951" y="3992879"/>
            <a:ext cx="3617120" cy="2567785"/>
          </a:xfrm>
          <a:prstGeom prst="rect">
            <a:avLst/>
          </a:prstGeom>
        </p:spPr>
      </p:pic>
    </p:spTree>
    <p:extLst>
      <p:ext uri="{BB962C8B-B14F-4D97-AF65-F5344CB8AC3E}">
        <p14:creationId xmlns:p14="http://schemas.microsoft.com/office/powerpoint/2010/main" val="22416502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900148" y="383657"/>
            <a:ext cx="6707876" cy="467035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Title 1"/>
          <p:cNvSpPr>
            <a:spLocks noGrp="1"/>
          </p:cNvSpPr>
          <p:nvPr>
            <p:ph type="title"/>
          </p:nvPr>
        </p:nvSpPr>
        <p:spPr>
          <a:xfrm>
            <a:off x="4682545" y="5054015"/>
            <a:ext cx="3613929" cy="1325563"/>
          </a:xfrm>
        </p:spPr>
        <p:txBody>
          <a:bodyPr>
            <a:normAutofit/>
          </a:bodyPr>
          <a:lstStyle/>
          <a:p>
            <a:r>
              <a:rPr lang="en-GB" sz="8000" b="1" dirty="0" smtClean="0">
                <a:solidFill>
                  <a:schemeClr val="bg1"/>
                </a:solidFill>
                <a:effectLst>
                  <a:outerShdw blurRad="38100" dist="38100" dir="2700000" algn="tl">
                    <a:srgbClr val="000000">
                      <a:alpha val="43137"/>
                    </a:srgbClr>
                  </a:outerShdw>
                </a:effectLst>
                <a:latin typeface="Edwardian Script ITC" panose="030303020407070D0804" pitchFamily="66" charset="0"/>
              </a:rPr>
              <a:t>Thank you</a:t>
            </a:r>
            <a:endParaRPr lang="en-IN" sz="8000" b="1" dirty="0">
              <a:solidFill>
                <a:schemeClr val="bg1"/>
              </a:solidFill>
              <a:effectLst>
                <a:outerShdw blurRad="38100" dist="38100" dir="2700000" algn="tl">
                  <a:srgbClr val="000000">
                    <a:alpha val="43137"/>
                  </a:srgbClr>
                </a:outerShdw>
              </a:effectLst>
              <a:latin typeface="Edwardian Script ITC" panose="030303020407070D0804" pitchFamily="66" charset="0"/>
            </a:endParaRPr>
          </a:p>
        </p:txBody>
      </p:sp>
    </p:spTree>
    <p:extLst>
      <p:ext uri="{BB962C8B-B14F-4D97-AF65-F5344CB8AC3E}">
        <p14:creationId xmlns:p14="http://schemas.microsoft.com/office/powerpoint/2010/main" val="23543425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89868" y="1273910"/>
            <a:ext cx="10515600" cy="4351338"/>
          </a:xfrm>
        </p:spPr>
        <p:txBody>
          <a:bodyPr/>
          <a:lstStyle/>
          <a:p>
            <a:pPr marL="0" indent="0">
              <a:buNone/>
            </a:pPr>
            <a:r>
              <a:rPr lang="en-IN" sz="3200" u="sng" dirty="0">
                <a:solidFill>
                  <a:srgbClr val="002060"/>
                </a:solidFill>
                <a:latin typeface="Forte" panose="03060902040502070203" pitchFamily="66" charset="0"/>
              </a:rPr>
              <a:t>Group Members </a:t>
            </a:r>
            <a:r>
              <a:rPr lang="en-IN" sz="3200" dirty="0" smtClean="0">
                <a:solidFill>
                  <a:srgbClr val="002060"/>
                </a:solidFill>
                <a:latin typeface="Forte" panose="03060902040502070203" pitchFamily="66" charset="0"/>
              </a:rPr>
              <a:t>:-</a:t>
            </a:r>
          </a:p>
          <a:p>
            <a:endParaRPr lang="en-GB" sz="3200" dirty="0" smtClean="0">
              <a:solidFill>
                <a:schemeClr val="accent1">
                  <a:lumMod val="75000"/>
                </a:schemeClr>
              </a:solidFill>
              <a:latin typeface="Forte" panose="03060902040502070203" pitchFamily="66" charset="0"/>
            </a:endParaRPr>
          </a:p>
          <a:p>
            <a:pPr>
              <a:buFont typeface="Wingdings" panose="05000000000000000000" pitchFamily="2" charset="2"/>
              <a:buChar char="v"/>
            </a:pPr>
            <a:r>
              <a:rPr lang="en-GB" sz="3200" dirty="0" smtClean="0">
                <a:solidFill>
                  <a:schemeClr val="accent1">
                    <a:lumMod val="75000"/>
                  </a:schemeClr>
                </a:solidFill>
                <a:latin typeface="Forte" panose="03060902040502070203" pitchFamily="66" charset="0"/>
              </a:rPr>
              <a:t> Aryan Bhandari</a:t>
            </a:r>
          </a:p>
          <a:p>
            <a:pPr>
              <a:buFont typeface="Wingdings" panose="05000000000000000000" pitchFamily="2" charset="2"/>
              <a:buChar char="v"/>
            </a:pPr>
            <a:r>
              <a:rPr lang="en-GB" sz="3200" dirty="0" smtClean="0">
                <a:solidFill>
                  <a:schemeClr val="accent1">
                    <a:lumMod val="75000"/>
                  </a:schemeClr>
                </a:solidFill>
                <a:latin typeface="Forte" panose="03060902040502070203" pitchFamily="66" charset="0"/>
              </a:rPr>
              <a:t> Chaitanya</a:t>
            </a:r>
          </a:p>
          <a:p>
            <a:pPr>
              <a:buFont typeface="Wingdings" panose="05000000000000000000" pitchFamily="2" charset="2"/>
              <a:buChar char="v"/>
            </a:pPr>
            <a:r>
              <a:rPr lang="en-GB" sz="3200" dirty="0">
                <a:solidFill>
                  <a:schemeClr val="accent1">
                    <a:lumMod val="75000"/>
                  </a:schemeClr>
                </a:solidFill>
                <a:latin typeface="Forte" panose="03060902040502070203" pitchFamily="66" charset="0"/>
              </a:rPr>
              <a:t> </a:t>
            </a:r>
            <a:r>
              <a:rPr lang="en-GB" sz="3200" dirty="0" smtClean="0">
                <a:solidFill>
                  <a:schemeClr val="accent1">
                    <a:lumMod val="75000"/>
                  </a:schemeClr>
                </a:solidFill>
                <a:latin typeface="Forte" panose="03060902040502070203" pitchFamily="66" charset="0"/>
              </a:rPr>
              <a:t>Nikhil </a:t>
            </a:r>
            <a:r>
              <a:rPr lang="en-GB" sz="3200" dirty="0" err="1" smtClean="0">
                <a:solidFill>
                  <a:schemeClr val="accent1">
                    <a:lumMod val="75000"/>
                  </a:schemeClr>
                </a:solidFill>
                <a:latin typeface="Forte" panose="03060902040502070203" pitchFamily="66" charset="0"/>
              </a:rPr>
              <a:t>Bisht</a:t>
            </a:r>
            <a:endParaRPr lang="en-GB" sz="3200" dirty="0" smtClean="0">
              <a:solidFill>
                <a:schemeClr val="accent1">
                  <a:lumMod val="75000"/>
                </a:schemeClr>
              </a:solidFill>
              <a:latin typeface="Forte" panose="03060902040502070203" pitchFamily="66" charset="0"/>
            </a:endParaRPr>
          </a:p>
          <a:p>
            <a:pPr>
              <a:buFont typeface="Wingdings" panose="05000000000000000000" pitchFamily="2" charset="2"/>
              <a:buChar char="v"/>
            </a:pPr>
            <a:r>
              <a:rPr lang="en-GB" sz="3200" dirty="0">
                <a:solidFill>
                  <a:schemeClr val="accent1">
                    <a:lumMod val="75000"/>
                  </a:schemeClr>
                </a:solidFill>
                <a:latin typeface="Forte" panose="03060902040502070203" pitchFamily="66" charset="0"/>
              </a:rPr>
              <a:t> </a:t>
            </a:r>
            <a:r>
              <a:rPr lang="en-GB" sz="3200" dirty="0" err="1" smtClean="0">
                <a:solidFill>
                  <a:schemeClr val="accent1">
                    <a:lumMod val="75000"/>
                  </a:schemeClr>
                </a:solidFill>
                <a:latin typeface="Forte" panose="03060902040502070203" pitchFamily="66" charset="0"/>
              </a:rPr>
              <a:t>Sujal</a:t>
            </a:r>
            <a:r>
              <a:rPr lang="en-GB" sz="3200" dirty="0" smtClean="0">
                <a:solidFill>
                  <a:schemeClr val="accent1">
                    <a:lumMod val="75000"/>
                  </a:schemeClr>
                </a:solidFill>
                <a:latin typeface="Forte" panose="03060902040502070203" pitchFamily="66" charset="0"/>
              </a:rPr>
              <a:t> Prasad</a:t>
            </a:r>
          </a:p>
          <a:p>
            <a:pPr>
              <a:buFont typeface="Wingdings" panose="05000000000000000000" pitchFamily="2" charset="2"/>
              <a:buChar char="v"/>
            </a:pPr>
            <a:r>
              <a:rPr lang="en-GB" sz="3200" dirty="0">
                <a:solidFill>
                  <a:schemeClr val="accent1">
                    <a:lumMod val="75000"/>
                  </a:schemeClr>
                </a:solidFill>
                <a:latin typeface="Forte" panose="03060902040502070203" pitchFamily="66" charset="0"/>
              </a:rPr>
              <a:t> </a:t>
            </a:r>
            <a:r>
              <a:rPr lang="en-GB" sz="3200" dirty="0" err="1" smtClean="0">
                <a:solidFill>
                  <a:schemeClr val="accent1">
                    <a:lumMod val="75000"/>
                  </a:schemeClr>
                </a:solidFill>
                <a:latin typeface="Forte" panose="03060902040502070203" pitchFamily="66" charset="0"/>
              </a:rPr>
              <a:t>Jaswanth</a:t>
            </a:r>
            <a:r>
              <a:rPr lang="en-GB" sz="3200" dirty="0" smtClean="0">
                <a:solidFill>
                  <a:schemeClr val="accent1">
                    <a:lumMod val="75000"/>
                  </a:schemeClr>
                </a:solidFill>
                <a:latin typeface="Forte" panose="03060902040502070203" pitchFamily="66" charset="0"/>
              </a:rPr>
              <a:t> Roy</a:t>
            </a:r>
          </a:p>
          <a:p>
            <a:pPr>
              <a:buFont typeface="Wingdings" panose="05000000000000000000" pitchFamily="2" charset="2"/>
              <a:buChar char="v"/>
            </a:pPr>
            <a:endParaRPr lang="en-IN" dirty="0">
              <a:solidFill>
                <a:schemeClr val="accent1">
                  <a:lumMod val="75000"/>
                </a:schemeClr>
              </a:solidFill>
              <a:latin typeface="Forte" panose="03060902040502070203" pitchFamily="66" charset="0"/>
            </a:endParaRPr>
          </a:p>
        </p:txBody>
      </p:sp>
    </p:spTree>
    <p:extLst>
      <p:ext uri="{BB962C8B-B14F-4D97-AF65-F5344CB8AC3E}">
        <p14:creationId xmlns:p14="http://schemas.microsoft.com/office/powerpoint/2010/main" val="4209188488"/>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230</TotalTime>
  <Words>1248</Words>
  <Application>Microsoft Office PowerPoint</Application>
  <PresentationFormat>Widescreen</PresentationFormat>
  <Paragraphs>47</Paragraphs>
  <Slides>15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Arial</vt:lpstr>
      <vt:lpstr>Calibri</vt:lpstr>
      <vt:lpstr>Calibri Light</vt:lpstr>
      <vt:lpstr>Castellar</vt:lpstr>
      <vt:lpstr>Century Schoolbook</vt:lpstr>
      <vt:lpstr>Colonna MT</vt:lpstr>
      <vt:lpstr>Edwardian Script ITC</vt:lpstr>
      <vt:lpstr>Forte</vt:lpstr>
      <vt:lpstr>Microsoft Himalaya</vt:lpstr>
      <vt:lpstr>Wingdings</vt:lpstr>
      <vt:lpstr>Office Theme</vt:lpstr>
      <vt:lpstr>Offering our collective humble Pranams at the divine lotus feet of our beloved  Bhagwan. </vt:lpstr>
      <vt:lpstr>SATYAM SHIVAM SUNDARAM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bsc1</dc:creator>
  <cp:lastModifiedBy>bba1</cp:lastModifiedBy>
  <cp:revision>28</cp:revision>
  <dcterms:created xsi:type="dcterms:W3CDTF">2023-08-30T04:56:37Z</dcterms:created>
  <dcterms:modified xsi:type="dcterms:W3CDTF">2023-09-20T07:57:48Z</dcterms:modified>
</cp:coreProperties>
</file>