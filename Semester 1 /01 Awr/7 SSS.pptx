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6"/>
  </p:notesMasterIdLst>
  <p:handoutMasterIdLst>
    <p:handoutMasterId r:id="rId17"/>
  </p:handoutMasterIdLst>
  <p:sldIdLst>
    <p:sldId id="272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364" autoAdjust="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8976E-17B1-4468-B620-0B96B4B1F99E}" type="datetimeFigureOut">
              <a:rPr lang="en-IN" smtClean="0"/>
              <a:t>16-09-2023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65556-8DBF-410A-8B74-BB586B730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248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40FA1-8F92-4960-A707-1AECE8A01B53}" type="datetimeFigureOut">
              <a:rPr lang="en-IN" smtClean="0"/>
              <a:t>16-09-2023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DB43C-CCF1-4672-B23B-B99130C2A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40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667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23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856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943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979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658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6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B43C-CCF1-4672-B23B-B99130C2A29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781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60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514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38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45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58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750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02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86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366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5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20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accent2">
                <a:lumMod val="75000"/>
              </a:schemeClr>
            </a:gs>
            <a:gs pos="0">
              <a:schemeClr val="accent2">
                <a:lumMod val="75000"/>
              </a:schemeClr>
            </a:gs>
            <a:gs pos="100000">
              <a:schemeClr val="accent4">
                <a:lumMod val="67000"/>
              </a:schemeClr>
            </a:gs>
            <a:gs pos="85000">
              <a:schemeClr val="accent4">
                <a:lumMod val="7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A4A756CD-5752-4221-8E72-513FED405B30}" type="datetimeFigureOut">
              <a:rPr lang="en-IN" smtClean="0"/>
              <a:t>16-09-2023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FF9ECAB-7746-42CA-B64A-5C86E58FCE8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8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f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217" y="3893127"/>
            <a:ext cx="80079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Papyrus" panose="03070502060502030205" pitchFamily="66" charset="0"/>
              </a:rPr>
              <a:t>AN EXTRACT</a:t>
            </a:r>
          </a:p>
          <a:p>
            <a:r>
              <a:rPr lang="en-GB" sz="4000" dirty="0" smtClean="0">
                <a:latin typeface="Papyrus" panose="03070502060502030205" pitchFamily="66" charset="0"/>
              </a:rPr>
              <a:t> FROM</a:t>
            </a:r>
            <a:endParaRPr lang="en-GB" sz="4000" dirty="0">
              <a:latin typeface="Papyrus" panose="03070502060502030205" pitchFamily="66" charset="0"/>
            </a:endParaRPr>
          </a:p>
          <a:p>
            <a:r>
              <a:rPr lang="en-GB" sz="4000" dirty="0" smtClean="0">
                <a:latin typeface="Papyrus" panose="03070502060502030205" pitchFamily="66" charset="0"/>
              </a:rPr>
              <a:t> SATHYAM   SIVAM SUNDARAM</a:t>
            </a:r>
            <a:endParaRPr lang="en-IN" sz="4000" dirty="0"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004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0946" y="484909"/>
            <a:ext cx="584661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 smtClean="0">
                <a:solidFill>
                  <a:schemeClr val="bg1"/>
                </a:solidFill>
                <a:latin typeface="Segoe Script" panose="030B0504020000000003" pitchFamily="66" charset="0"/>
              </a:rPr>
              <a:t>DEDICATED AT THE LOTUS FEET OF BHAGWAN BABA</a:t>
            </a:r>
            <a:endParaRPr lang="en-IN" sz="6600" dirty="0">
              <a:solidFill>
                <a:schemeClr val="bg1"/>
              </a:solidFill>
              <a:latin typeface="Segoe Script" panose="030B05040200000000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04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655" y="273911"/>
            <a:ext cx="11568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err="1" smtClean="0">
                <a:latin typeface="Sitka Banner" panose="02000505000000020004" pitchFamily="2" charset="0"/>
              </a:rPr>
              <a:t>Prasanthi</a:t>
            </a:r>
            <a:r>
              <a:rPr lang="en-GB" sz="3200" b="1" dirty="0" smtClean="0">
                <a:latin typeface="Sitka Banner" panose="02000505000000020004" pitchFamily="2" charset="0"/>
              </a:rPr>
              <a:t> Nilayam was inaugurated on 23</a:t>
            </a:r>
            <a:r>
              <a:rPr lang="en-GB" sz="3200" b="1" baseline="30000" dirty="0" smtClean="0">
                <a:latin typeface="Sitka Banner" panose="02000505000000020004" pitchFamily="2" charset="0"/>
              </a:rPr>
              <a:t>rd</a:t>
            </a:r>
            <a:r>
              <a:rPr lang="en-GB" sz="3200" b="1" dirty="0" smtClean="0">
                <a:latin typeface="Sitka Banner" panose="02000505000000020004" pitchFamily="2" charset="0"/>
              </a:rPr>
              <a:t> November 1950,</a:t>
            </a:r>
          </a:p>
          <a:p>
            <a:pPr algn="ctr"/>
            <a:r>
              <a:rPr lang="en-GB" sz="3200" b="1" dirty="0" smtClean="0">
                <a:latin typeface="Sitka Banner" panose="02000505000000020004" pitchFamily="2" charset="0"/>
              </a:rPr>
              <a:t> marking the 25</a:t>
            </a:r>
            <a:r>
              <a:rPr lang="en-GB" sz="3200" b="1" baseline="30000" dirty="0" smtClean="0">
                <a:latin typeface="Sitka Banner" panose="02000505000000020004" pitchFamily="2" charset="0"/>
              </a:rPr>
              <a:t>th</a:t>
            </a:r>
            <a:r>
              <a:rPr lang="en-GB" sz="3200" b="1" dirty="0" smtClean="0">
                <a:latin typeface="Sitka Banner" panose="02000505000000020004" pitchFamily="2" charset="0"/>
              </a:rPr>
              <a:t> birthday of Baba</a:t>
            </a:r>
            <a:endParaRPr lang="en-IN" sz="3200" b="1" dirty="0">
              <a:latin typeface="Sitka Banner" panose="020005050000000200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954412"/>
            <a:ext cx="6456219" cy="45832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1054100">
              <a:schemeClr val="accent5">
                <a:satMod val="175000"/>
                <a:alpha val="53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  <a:softEdge rad="635000"/>
          </a:effectLst>
          <a:scene3d>
            <a:camera prst="orthographicFront"/>
            <a:lightRig rig="contrasting" dir="t">
              <a:rot lat="0" lon="0" rev="3000000"/>
            </a:lightRig>
          </a:scene3d>
          <a:sp3d extrusionH="25400" contourW="38100" prstMaterial="metal">
            <a:bevelT w="95250" h="31750" prst="artDeco"/>
            <a:bevelB prst="slope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3479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6254" y="84966"/>
            <a:ext cx="11665528" cy="1499616"/>
          </a:xfrm>
        </p:spPr>
        <p:txBody>
          <a:bodyPr>
            <a:normAutofit/>
          </a:bodyPr>
          <a:lstStyle/>
          <a:p>
            <a:pPr algn="ctr"/>
            <a:r>
              <a:rPr lang="en-GB" sz="4000" dirty="0" smtClean="0">
                <a:solidFill>
                  <a:schemeClr val="tx1"/>
                </a:solidFill>
              </a:rPr>
              <a:t>THE PRAYER HALL OF PRASANTHI NILAYAM AND IT’S SIGNIFICANCE</a:t>
            </a:r>
            <a:endParaRPr lang="en-IN" sz="40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1782" y="3021975"/>
            <a:ext cx="683029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First gate, the </a:t>
            </a:r>
            <a:r>
              <a:rPr lang="en-GB" sz="2400" b="1" dirty="0" err="1" smtClean="0">
                <a:latin typeface="Segoe Print" panose="02000600000000000000" pitchFamily="2" charset="0"/>
              </a:rPr>
              <a:t>Thamoguna</a:t>
            </a:r>
            <a:r>
              <a:rPr lang="en-GB" sz="2400" b="1" dirty="0" smtClean="0">
                <a:latin typeface="Segoe Print" panose="02000600000000000000" pitchFamily="2" charset="0"/>
              </a:rPr>
              <a:t> Ga</a:t>
            </a:r>
            <a:r>
              <a:rPr lang="en-GB" sz="2400" dirty="0" smtClean="0">
                <a:latin typeface="Segoe Print" panose="02000600000000000000" pitchFamily="2" charset="0"/>
              </a:rPr>
              <a:t>te, the one with arch, signifies the removal of </a:t>
            </a:r>
            <a:r>
              <a:rPr lang="en-GB" sz="2400" b="1" dirty="0" err="1" smtClean="0">
                <a:latin typeface="Segoe Print" panose="02000600000000000000" pitchFamily="2" charset="0"/>
              </a:rPr>
              <a:t>Thamas</a:t>
            </a:r>
            <a:r>
              <a:rPr lang="en-GB" sz="2400" dirty="0" smtClean="0">
                <a:latin typeface="Segoe Print" panose="02000600000000000000" pitchFamily="2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Second gate, </a:t>
            </a:r>
            <a:r>
              <a:rPr lang="en-GB" sz="2400" u="sng" dirty="0" smtClean="0">
                <a:latin typeface="Segoe Print" panose="02000600000000000000" pitchFamily="2" charset="0"/>
              </a:rPr>
              <a:t>containing aspect</a:t>
            </a:r>
            <a:r>
              <a:rPr lang="en-GB" sz="2400" dirty="0" smtClean="0">
                <a:latin typeface="Segoe Print" panose="02000600000000000000" pitchFamily="2" charset="0"/>
              </a:rPr>
              <a:t>s which are appealing to the </a:t>
            </a:r>
            <a:r>
              <a:rPr lang="en-GB" sz="2400" b="1" dirty="0" err="1" smtClean="0">
                <a:latin typeface="Segoe Print" panose="02000600000000000000" pitchFamily="2" charset="0"/>
              </a:rPr>
              <a:t>Rajasic</a:t>
            </a:r>
            <a:r>
              <a:rPr lang="en-GB" sz="2400" b="1" dirty="0" smtClean="0">
                <a:latin typeface="Segoe Print" panose="02000600000000000000" pitchFamily="2" charset="0"/>
              </a:rPr>
              <a:t> Individuals</a:t>
            </a:r>
            <a:r>
              <a:rPr lang="en-GB" sz="2400" dirty="0" smtClean="0">
                <a:latin typeface="Segoe Print" panose="02000600000000000000" pitchFamily="2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Third gate, the </a:t>
            </a:r>
            <a:r>
              <a:rPr lang="en-GB" sz="2400" b="1" dirty="0" smtClean="0">
                <a:latin typeface="Segoe Print" panose="02000600000000000000" pitchFamily="2" charset="0"/>
              </a:rPr>
              <a:t>Sathwik Ga</a:t>
            </a:r>
            <a:r>
              <a:rPr lang="en-GB" sz="2400" dirty="0" smtClean="0">
                <a:latin typeface="Segoe Print" panose="02000600000000000000" pitchFamily="2" charset="0"/>
              </a:rPr>
              <a:t>te, leading us to the </a:t>
            </a:r>
            <a:r>
              <a:rPr lang="en-GB" sz="2400" b="1" dirty="0" smtClean="0">
                <a:latin typeface="Segoe Print" panose="02000600000000000000" pitchFamily="2" charset="0"/>
              </a:rPr>
              <a:t>Abode of Peace</a:t>
            </a:r>
            <a:r>
              <a:rPr lang="en-GB" sz="2400" dirty="0" smtClean="0">
                <a:latin typeface="Segoe Print" panose="02000600000000000000" pitchFamily="2" charset="0"/>
              </a:rPr>
              <a:t>.</a:t>
            </a:r>
            <a:endParaRPr lang="en-IN" sz="2400" dirty="0">
              <a:latin typeface="Segoe Print" panose="020006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982" y="4215307"/>
            <a:ext cx="3490561" cy="247794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1778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/>
          <p:cNvSpPr txBox="1"/>
          <p:nvPr/>
        </p:nvSpPr>
        <p:spPr>
          <a:xfrm>
            <a:off x="401782" y="1980113"/>
            <a:ext cx="683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GB" sz="3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Three Gates of Prayer Hall</a:t>
            </a:r>
            <a:endParaRPr lang="en-GB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982" y="1424768"/>
            <a:ext cx="3490560" cy="247794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1651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0977443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315" y="762000"/>
            <a:ext cx="9365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Prayer Hall</a:t>
            </a:r>
            <a:endParaRPr lang="en-IN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315" y="2222133"/>
            <a:ext cx="7030721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The Central Prayer Hall with a platform ensconced on either side is the main part of the Nilayam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On the western platform is the shrine, where two life size </a:t>
            </a:r>
            <a:r>
              <a:rPr lang="en-GB" sz="2000" b="1" dirty="0" smtClean="0">
                <a:latin typeface="Segoe Print" panose="02000600000000000000" pitchFamily="2" charset="0"/>
              </a:rPr>
              <a:t>oil paintings of </a:t>
            </a:r>
            <a:r>
              <a:rPr lang="en-GB" sz="2000" b="1" dirty="0" err="1">
                <a:latin typeface="Segoe Print" panose="02000600000000000000" pitchFamily="2" charset="0"/>
              </a:rPr>
              <a:t>S</a:t>
            </a:r>
            <a:r>
              <a:rPr lang="en-GB" sz="2000" b="1" dirty="0" err="1" smtClean="0">
                <a:latin typeface="Segoe Print" panose="02000600000000000000" pitchFamily="2" charset="0"/>
              </a:rPr>
              <a:t>hirdi</a:t>
            </a:r>
            <a:r>
              <a:rPr lang="en-GB" sz="2000" b="1" dirty="0" smtClean="0">
                <a:latin typeface="Segoe Print" panose="02000600000000000000" pitchFamily="2" charset="0"/>
              </a:rPr>
              <a:t> Baba and </a:t>
            </a:r>
            <a:r>
              <a:rPr lang="en-GB" sz="2000" b="1" dirty="0" err="1" smtClean="0">
                <a:latin typeface="Segoe Print" panose="02000600000000000000" pitchFamily="2" charset="0"/>
              </a:rPr>
              <a:t>Sathya</a:t>
            </a:r>
            <a:r>
              <a:rPr lang="en-GB" sz="2000" b="1" dirty="0" smtClean="0">
                <a:latin typeface="Segoe Print" panose="02000600000000000000" pitchFamily="2" charset="0"/>
              </a:rPr>
              <a:t> Sai Baba</a:t>
            </a:r>
            <a:r>
              <a:rPr lang="en-GB" sz="2000" dirty="0" smtClean="0">
                <a:latin typeface="Segoe Print" panose="02000600000000000000" pitchFamily="2" charset="0"/>
              </a:rPr>
              <a:t> are placed. Centre of that is a silver figure of </a:t>
            </a:r>
            <a:r>
              <a:rPr lang="en-GB" sz="2000" b="1" dirty="0" err="1">
                <a:latin typeface="Segoe Print" panose="02000600000000000000" pitchFamily="2" charset="0"/>
              </a:rPr>
              <a:t>S</a:t>
            </a:r>
            <a:r>
              <a:rPr lang="en-GB" sz="2000" b="1" dirty="0" err="1" smtClean="0">
                <a:latin typeface="Segoe Print" panose="02000600000000000000" pitchFamily="2" charset="0"/>
              </a:rPr>
              <a:t>hirdi</a:t>
            </a:r>
            <a:r>
              <a:rPr lang="en-GB" sz="2000" b="1" dirty="0" smtClean="0">
                <a:latin typeface="Segoe Print" panose="02000600000000000000" pitchFamily="2" charset="0"/>
              </a:rPr>
              <a:t> Sai Baba</a:t>
            </a:r>
            <a:r>
              <a:rPr lang="en-GB" sz="2000" dirty="0" smtClean="0">
                <a:latin typeface="Segoe Print" panose="02000600000000000000" pitchFamily="2" charset="0"/>
              </a:rPr>
              <a:t> and </a:t>
            </a:r>
            <a:r>
              <a:rPr lang="en-GB" sz="2000" b="1" dirty="0" smtClean="0">
                <a:latin typeface="Segoe Print" panose="02000600000000000000" pitchFamily="2" charset="0"/>
              </a:rPr>
              <a:t>small portrait of </a:t>
            </a:r>
            <a:r>
              <a:rPr lang="en-GB" sz="2000" b="1" dirty="0" err="1">
                <a:latin typeface="Segoe Print" panose="02000600000000000000" pitchFamily="2" charset="0"/>
              </a:rPr>
              <a:t>S</a:t>
            </a:r>
            <a:r>
              <a:rPr lang="en-GB" sz="2000" b="1" dirty="0" err="1" smtClean="0">
                <a:latin typeface="Segoe Print" panose="02000600000000000000" pitchFamily="2" charset="0"/>
              </a:rPr>
              <a:t>athya</a:t>
            </a:r>
            <a:r>
              <a:rPr lang="en-GB" sz="2000" b="1" dirty="0" smtClean="0">
                <a:latin typeface="Segoe Print" panose="02000600000000000000" pitchFamily="2" charset="0"/>
              </a:rPr>
              <a:t> </a:t>
            </a:r>
            <a:r>
              <a:rPr lang="en-GB" sz="2000" b="1" dirty="0">
                <a:latin typeface="Segoe Print" panose="02000600000000000000" pitchFamily="2" charset="0"/>
              </a:rPr>
              <a:t>S</a:t>
            </a:r>
            <a:r>
              <a:rPr lang="en-GB" sz="2000" b="1" dirty="0" smtClean="0">
                <a:latin typeface="Segoe Print" panose="02000600000000000000" pitchFamily="2" charset="0"/>
              </a:rPr>
              <a:t>ai Baba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There is </a:t>
            </a:r>
            <a:r>
              <a:rPr lang="en-GB" sz="2000" b="1" dirty="0" smtClean="0">
                <a:latin typeface="Segoe Print" panose="02000600000000000000" pitchFamily="2" charset="0"/>
              </a:rPr>
              <a:t>big sized portico, where the charming marble image of Sai Krishna playing flute is placed</a:t>
            </a:r>
            <a:r>
              <a:rPr lang="en-GB" sz="2000" dirty="0" smtClean="0">
                <a:latin typeface="Segoe Print" panose="02000600000000000000" pitchFamily="2" charset="0"/>
              </a:rPr>
              <a:t> in the </a:t>
            </a:r>
            <a:r>
              <a:rPr lang="en-GB" sz="2000" b="1" dirty="0" smtClean="0">
                <a:latin typeface="Segoe Print" panose="02000600000000000000" pitchFamily="2" charset="0"/>
              </a:rPr>
              <a:t>centre</a:t>
            </a:r>
            <a:r>
              <a:rPr lang="en-GB" sz="2000" dirty="0" smtClean="0">
                <a:latin typeface="Segoe Print" panose="02000600000000000000" pitchFamily="2" charset="0"/>
              </a:rPr>
              <a:t>. </a:t>
            </a:r>
            <a:r>
              <a:rPr lang="en-GB" sz="2000" b="1" dirty="0" smtClean="0">
                <a:latin typeface="Segoe Print" panose="02000600000000000000" pitchFamily="2" charset="0"/>
              </a:rPr>
              <a:t>Swami on festivals</a:t>
            </a:r>
            <a:r>
              <a:rPr lang="en-GB" sz="2000" dirty="0" smtClean="0">
                <a:latin typeface="Segoe Print" panose="02000600000000000000" pitchFamily="2" charset="0"/>
              </a:rPr>
              <a:t> would give his </a:t>
            </a:r>
            <a:r>
              <a:rPr lang="en-GB" sz="2000" b="1" dirty="0" smtClean="0">
                <a:latin typeface="Segoe Print" panose="02000600000000000000" pitchFamily="2" charset="0"/>
              </a:rPr>
              <a:t>divine discourses</a:t>
            </a:r>
            <a:r>
              <a:rPr lang="en-GB" sz="2000" dirty="0" smtClean="0">
                <a:latin typeface="Segoe Print" panose="02000600000000000000" pitchFamily="2" charset="0"/>
              </a:rPr>
              <a:t> from this portico</a:t>
            </a:r>
            <a:endParaRPr lang="en-IN" sz="2000" dirty="0">
              <a:latin typeface="Segoe Print" panose="020006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668" y="197579"/>
            <a:ext cx="3767198" cy="26743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540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338" y="3263052"/>
            <a:ext cx="2452528" cy="345170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794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1012489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99" y="484909"/>
            <a:ext cx="106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 smtClean="0">
                <a:latin typeface="+mj-lt"/>
                <a:ea typeface="Segoe UI Black" panose="020B0A02040204020203" pitchFamily="34" charset="0"/>
              </a:rPr>
              <a:t>SIGNIFICANCE OF “AUM”</a:t>
            </a:r>
            <a:endParaRPr lang="en-IN" sz="5400" dirty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9382" y="2064328"/>
            <a:ext cx="7315200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Font typeface="+mj-lt"/>
              <a:buAutoNum type="arabicParenR"/>
            </a:pPr>
            <a:r>
              <a:rPr lang="en-GB" sz="2250" u="sng" dirty="0" smtClean="0">
                <a:latin typeface="Segoe Print" panose="02000600000000000000" pitchFamily="2" charset="0"/>
              </a:rPr>
              <a:t>Letter “A”</a:t>
            </a:r>
            <a:r>
              <a:rPr lang="en-GB" sz="2250" dirty="0" smtClean="0">
                <a:latin typeface="Segoe Print" panose="02000600000000000000" pitchFamily="2" charset="0"/>
              </a:rPr>
              <a:t>:  </a:t>
            </a:r>
            <a:r>
              <a:rPr lang="en-GB" sz="2250" b="1" dirty="0" err="1" smtClean="0">
                <a:latin typeface="Segoe Print" panose="02000600000000000000" pitchFamily="2" charset="0"/>
              </a:rPr>
              <a:t>Jagrat</a:t>
            </a:r>
            <a:r>
              <a:rPr lang="en-GB" sz="2250" b="1" dirty="0" smtClean="0">
                <a:latin typeface="Segoe Print" panose="02000600000000000000" pitchFamily="2" charset="0"/>
              </a:rPr>
              <a:t> or waking state</a:t>
            </a:r>
            <a:r>
              <a:rPr lang="en-GB" sz="2250" dirty="0" smtClean="0">
                <a:latin typeface="Segoe Print" panose="02000600000000000000" pitchFamily="2" charset="0"/>
              </a:rPr>
              <a:t> in which the soul of grade </a:t>
            </a:r>
            <a:r>
              <a:rPr lang="en-GB" sz="2250" b="1" dirty="0" smtClean="0">
                <a:latin typeface="Segoe Print" panose="02000600000000000000" pitchFamily="2" charset="0"/>
              </a:rPr>
              <a:t>‘</a:t>
            </a:r>
            <a:r>
              <a:rPr lang="en-GB" sz="2250" b="1" dirty="0" err="1" smtClean="0">
                <a:latin typeface="Segoe Print" panose="02000600000000000000" pitchFamily="2" charset="0"/>
              </a:rPr>
              <a:t>Viswa</a:t>
            </a:r>
            <a:r>
              <a:rPr lang="en-GB" sz="2250" b="1" dirty="0" smtClean="0">
                <a:latin typeface="Segoe Print" panose="02000600000000000000" pitchFamily="2" charset="0"/>
              </a:rPr>
              <a:t>’ </a:t>
            </a:r>
            <a:r>
              <a:rPr lang="en-GB" sz="2250" dirty="0" smtClean="0">
                <a:latin typeface="Segoe Print" panose="02000600000000000000" pitchFamily="2" charset="0"/>
              </a:rPr>
              <a:t>is </a:t>
            </a:r>
            <a:r>
              <a:rPr lang="en-GB" sz="2250" b="1" dirty="0" smtClean="0">
                <a:latin typeface="Segoe Print" panose="02000600000000000000" pitchFamily="2" charset="0"/>
              </a:rPr>
              <a:t>dominated</a:t>
            </a:r>
            <a:r>
              <a:rPr lang="en-GB" sz="2250" dirty="0" smtClean="0">
                <a:latin typeface="Segoe Print" panose="02000600000000000000" pitchFamily="2" charset="0"/>
              </a:rPr>
              <a:t> by </a:t>
            </a:r>
            <a:r>
              <a:rPr lang="en-GB" sz="2250" b="1" dirty="0" err="1" smtClean="0">
                <a:latin typeface="Segoe Print" panose="02000600000000000000" pitchFamily="2" charset="0"/>
              </a:rPr>
              <a:t>Thamas</a:t>
            </a:r>
            <a:r>
              <a:rPr lang="en-GB" sz="2250" dirty="0" smtClean="0">
                <a:latin typeface="Segoe Print" panose="02000600000000000000" pitchFamily="2" charset="0"/>
              </a:rPr>
              <a:t> and is </a:t>
            </a:r>
            <a:r>
              <a:rPr lang="en-GB" sz="2250" b="1" dirty="0" smtClean="0">
                <a:latin typeface="Segoe Print" panose="02000600000000000000" pitchFamily="2" charset="0"/>
              </a:rPr>
              <a:t>engaged</a:t>
            </a:r>
            <a:r>
              <a:rPr lang="en-GB" sz="2250" dirty="0" smtClean="0">
                <a:latin typeface="Segoe Print" panose="02000600000000000000" pitchFamily="2" charset="0"/>
              </a:rPr>
              <a:t> with the </a:t>
            </a:r>
            <a:r>
              <a:rPr lang="en-GB" sz="2250" b="1" dirty="0" err="1" smtClean="0">
                <a:latin typeface="Segoe Print" panose="02000600000000000000" pitchFamily="2" charset="0"/>
              </a:rPr>
              <a:t>Sthula</a:t>
            </a:r>
            <a:r>
              <a:rPr lang="en-GB" sz="2250" b="1" dirty="0" smtClean="0">
                <a:latin typeface="Segoe Print" panose="02000600000000000000" pitchFamily="2" charset="0"/>
              </a:rPr>
              <a:t> </a:t>
            </a:r>
            <a:r>
              <a:rPr lang="en-GB" sz="2250" b="1" dirty="0" err="1" smtClean="0">
                <a:latin typeface="Segoe Print" panose="02000600000000000000" pitchFamily="2" charset="0"/>
              </a:rPr>
              <a:t>Sarira</a:t>
            </a:r>
            <a:endParaRPr lang="en-GB" sz="2250" b="1" dirty="0" smtClean="0">
              <a:latin typeface="Segoe Print" panose="02000600000000000000" pitchFamily="2" charset="0"/>
            </a:endParaRPr>
          </a:p>
          <a:p>
            <a:pPr marL="342900" indent="-342900" algn="just">
              <a:spcAft>
                <a:spcPts val="600"/>
              </a:spcAft>
              <a:buFont typeface="+mj-lt"/>
              <a:buAutoNum type="arabicParenR"/>
            </a:pPr>
            <a:r>
              <a:rPr lang="en-GB" sz="2250" u="sng" dirty="0" smtClean="0">
                <a:latin typeface="Segoe Print" panose="02000600000000000000" pitchFamily="2" charset="0"/>
              </a:rPr>
              <a:t>Letter “U”</a:t>
            </a:r>
            <a:r>
              <a:rPr lang="en-GB" sz="2250" dirty="0" smtClean="0">
                <a:latin typeface="Segoe Print" panose="02000600000000000000" pitchFamily="2" charset="0"/>
              </a:rPr>
              <a:t>: </a:t>
            </a:r>
            <a:r>
              <a:rPr lang="en-GB" sz="2250" b="1" dirty="0" err="1" smtClean="0">
                <a:latin typeface="Segoe Print" panose="02000600000000000000" pitchFamily="2" charset="0"/>
              </a:rPr>
              <a:t>Swapna</a:t>
            </a:r>
            <a:r>
              <a:rPr lang="en-GB" sz="2250" b="1" dirty="0" smtClean="0">
                <a:latin typeface="Segoe Print" panose="02000600000000000000" pitchFamily="2" charset="0"/>
              </a:rPr>
              <a:t> or dreaming state</a:t>
            </a:r>
            <a:r>
              <a:rPr lang="en-GB" sz="2250" dirty="0" smtClean="0">
                <a:latin typeface="Segoe Print" panose="02000600000000000000" pitchFamily="2" charset="0"/>
              </a:rPr>
              <a:t> in which the soul of grade </a:t>
            </a:r>
            <a:r>
              <a:rPr lang="en-GB" sz="2250" b="1" dirty="0" smtClean="0">
                <a:latin typeface="Segoe Print" panose="02000600000000000000" pitchFamily="2" charset="0"/>
              </a:rPr>
              <a:t>’</a:t>
            </a:r>
            <a:r>
              <a:rPr lang="en-GB" sz="2250" b="1" dirty="0" err="1" smtClean="0">
                <a:latin typeface="Segoe Print" panose="02000600000000000000" pitchFamily="2" charset="0"/>
              </a:rPr>
              <a:t>Taijasa</a:t>
            </a:r>
            <a:r>
              <a:rPr lang="en-GB" sz="2250" b="1" dirty="0" smtClean="0">
                <a:latin typeface="Segoe Print" panose="02000600000000000000" pitchFamily="2" charset="0"/>
              </a:rPr>
              <a:t>’</a:t>
            </a:r>
            <a:r>
              <a:rPr lang="en-GB" sz="2250" dirty="0" smtClean="0">
                <a:latin typeface="Segoe Print" panose="02000600000000000000" pitchFamily="2" charset="0"/>
              </a:rPr>
              <a:t> is </a:t>
            </a:r>
            <a:r>
              <a:rPr lang="en-GB" sz="2250" b="1" dirty="0" smtClean="0">
                <a:latin typeface="Segoe Print" panose="02000600000000000000" pitchFamily="2" charset="0"/>
              </a:rPr>
              <a:t>dominated</a:t>
            </a:r>
            <a:r>
              <a:rPr lang="en-GB" sz="2250" dirty="0" smtClean="0">
                <a:latin typeface="Segoe Print" panose="02000600000000000000" pitchFamily="2" charset="0"/>
              </a:rPr>
              <a:t> by </a:t>
            </a:r>
            <a:r>
              <a:rPr lang="en-GB" sz="2250" b="1" dirty="0" smtClean="0">
                <a:latin typeface="Segoe Print" panose="02000600000000000000" pitchFamily="2" charset="0"/>
              </a:rPr>
              <a:t>Rajas</a:t>
            </a:r>
            <a:r>
              <a:rPr lang="en-GB" sz="2250" dirty="0" smtClean="0">
                <a:latin typeface="Segoe Print" panose="02000600000000000000" pitchFamily="2" charset="0"/>
              </a:rPr>
              <a:t> and is </a:t>
            </a:r>
            <a:r>
              <a:rPr lang="en-GB" sz="2250" b="1" dirty="0" smtClean="0">
                <a:latin typeface="Segoe Print" panose="02000600000000000000" pitchFamily="2" charset="0"/>
              </a:rPr>
              <a:t>engaged</a:t>
            </a:r>
            <a:r>
              <a:rPr lang="en-GB" sz="2250" dirty="0" smtClean="0">
                <a:latin typeface="Segoe Print" panose="02000600000000000000" pitchFamily="2" charset="0"/>
              </a:rPr>
              <a:t> with the </a:t>
            </a:r>
            <a:r>
              <a:rPr lang="en-GB" sz="2250" b="1" dirty="0" err="1" smtClean="0">
                <a:latin typeface="Segoe Print" panose="02000600000000000000" pitchFamily="2" charset="0"/>
              </a:rPr>
              <a:t>Sukshma</a:t>
            </a:r>
            <a:r>
              <a:rPr lang="en-GB" sz="2250" b="1" dirty="0" smtClean="0">
                <a:latin typeface="Segoe Print" panose="02000600000000000000" pitchFamily="2" charset="0"/>
              </a:rPr>
              <a:t> </a:t>
            </a:r>
            <a:r>
              <a:rPr lang="en-GB" sz="2250" b="1" dirty="0" err="1" smtClean="0">
                <a:latin typeface="Segoe Print" panose="02000600000000000000" pitchFamily="2" charset="0"/>
              </a:rPr>
              <a:t>Sarira</a:t>
            </a:r>
            <a:r>
              <a:rPr lang="en-GB" sz="2250" b="1" dirty="0" smtClean="0">
                <a:latin typeface="Segoe Print" panose="02000600000000000000" pitchFamily="2" charset="0"/>
              </a:rPr>
              <a:t>.</a:t>
            </a:r>
            <a:r>
              <a:rPr lang="en-GB" sz="2250" dirty="0" smtClean="0">
                <a:latin typeface="Segoe Print" panose="02000600000000000000" pitchFamily="2" charset="0"/>
              </a:rPr>
              <a:t> It also indicates ‘</a:t>
            </a:r>
            <a:r>
              <a:rPr lang="en-GB" sz="2250" b="1" dirty="0" err="1" smtClean="0">
                <a:latin typeface="Segoe Print" panose="02000600000000000000" pitchFamily="2" charset="0"/>
              </a:rPr>
              <a:t>Ubhayathwa</a:t>
            </a:r>
            <a:r>
              <a:rPr lang="en-GB" sz="2250" b="1" dirty="0" smtClean="0">
                <a:latin typeface="Segoe Print" panose="02000600000000000000" pitchFamily="2" charset="0"/>
              </a:rPr>
              <a:t>’</a:t>
            </a:r>
            <a:r>
              <a:rPr lang="en-GB" sz="2250" dirty="0" smtClean="0">
                <a:latin typeface="Segoe Print" panose="02000600000000000000" pitchFamily="2" charset="0"/>
              </a:rPr>
              <a:t> or </a:t>
            </a:r>
            <a:r>
              <a:rPr lang="en-GB" sz="2250" b="1" i="1" dirty="0" smtClean="0">
                <a:latin typeface="Segoe Print" panose="02000600000000000000" pitchFamily="2" charset="0"/>
              </a:rPr>
              <a:t>intermediateness</a:t>
            </a:r>
          </a:p>
          <a:p>
            <a:pPr marL="342900" indent="-342900" algn="just">
              <a:spcAft>
                <a:spcPts val="600"/>
              </a:spcAft>
              <a:buFont typeface="+mj-lt"/>
              <a:buAutoNum type="arabicParenR"/>
            </a:pPr>
            <a:r>
              <a:rPr lang="en-GB" sz="2250" u="sng" dirty="0" smtClean="0">
                <a:latin typeface="Segoe Print" panose="02000600000000000000" pitchFamily="2" charset="0"/>
              </a:rPr>
              <a:t>Letter “M”</a:t>
            </a:r>
            <a:r>
              <a:rPr lang="en-GB" sz="2250" dirty="0" smtClean="0">
                <a:latin typeface="Segoe Print" panose="02000600000000000000" pitchFamily="2" charset="0"/>
              </a:rPr>
              <a:t>: </a:t>
            </a:r>
            <a:r>
              <a:rPr lang="en-GB" sz="2250" b="1" dirty="0" err="1" smtClean="0">
                <a:latin typeface="Segoe Print" panose="02000600000000000000" pitchFamily="2" charset="0"/>
              </a:rPr>
              <a:t>Sushupthi</a:t>
            </a:r>
            <a:r>
              <a:rPr lang="en-GB" sz="2250" b="1" dirty="0" smtClean="0">
                <a:latin typeface="Segoe Print" panose="02000600000000000000" pitchFamily="2" charset="0"/>
              </a:rPr>
              <a:t> or deep sleep state</a:t>
            </a:r>
            <a:r>
              <a:rPr lang="en-GB" sz="2250" dirty="0" smtClean="0">
                <a:latin typeface="Segoe Print" panose="02000600000000000000" pitchFamily="2" charset="0"/>
              </a:rPr>
              <a:t> </a:t>
            </a:r>
            <a:r>
              <a:rPr lang="en-GB" sz="2250" b="1" dirty="0" smtClean="0">
                <a:latin typeface="Segoe Print" panose="02000600000000000000" pitchFamily="2" charset="0"/>
              </a:rPr>
              <a:t>finds</a:t>
            </a:r>
            <a:r>
              <a:rPr lang="en-GB" sz="2250" dirty="0" smtClean="0">
                <a:latin typeface="Segoe Print" panose="02000600000000000000" pitchFamily="2" charset="0"/>
              </a:rPr>
              <a:t> the soul of grade of </a:t>
            </a:r>
            <a:r>
              <a:rPr lang="en-GB" sz="2250" b="1" dirty="0" smtClean="0">
                <a:latin typeface="Segoe Print" panose="02000600000000000000" pitchFamily="2" charset="0"/>
              </a:rPr>
              <a:t>‘</a:t>
            </a:r>
            <a:r>
              <a:rPr lang="en-GB" sz="2250" b="1" dirty="0" err="1" smtClean="0">
                <a:latin typeface="Segoe Print" panose="02000600000000000000" pitchFamily="2" charset="0"/>
              </a:rPr>
              <a:t>Praajna</a:t>
            </a:r>
            <a:r>
              <a:rPr lang="en-GB" sz="2250" b="1" dirty="0" smtClean="0">
                <a:latin typeface="Segoe Print" panose="02000600000000000000" pitchFamily="2" charset="0"/>
              </a:rPr>
              <a:t>’,</a:t>
            </a:r>
            <a:r>
              <a:rPr lang="en-GB" sz="2250" dirty="0" smtClean="0">
                <a:latin typeface="Segoe Print" panose="02000600000000000000" pitchFamily="2" charset="0"/>
              </a:rPr>
              <a:t> </a:t>
            </a:r>
            <a:r>
              <a:rPr lang="en-GB" sz="2250" b="1" dirty="0" smtClean="0">
                <a:latin typeface="Segoe Print" panose="02000600000000000000" pitchFamily="2" charset="0"/>
              </a:rPr>
              <a:t>dominated</a:t>
            </a:r>
            <a:r>
              <a:rPr lang="en-GB" sz="2250" dirty="0" smtClean="0">
                <a:latin typeface="Segoe Print" panose="02000600000000000000" pitchFamily="2" charset="0"/>
              </a:rPr>
              <a:t> by </a:t>
            </a:r>
            <a:r>
              <a:rPr lang="en-GB" sz="2250" b="1" dirty="0" err="1" smtClean="0">
                <a:latin typeface="Segoe Print" panose="02000600000000000000" pitchFamily="2" charset="0"/>
              </a:rPr>
              <a:t>Sathwa</a:t>
            </a:r>
            <a:r>
              <a:rPr lang="en-GB" sz="2250" dirty="0" smtClean="0">
                <a:latin typeface="Segoe Print" panose="02000600000000000000" pitchFamily="2" charset="0"/>
              </a:rPr>
              <a:t> and </a:t>
            </a:r>
            <a:r>
              <a:rPr lang="en-GB" sz="2250" b="1" dirty="0" smtClean="0">
                <a:latin typeface="Segoe Print" panose="02000600000000000000" pitchFamily="2" charset="0"/>
              </a:rPr>
              <a:t>it becomes the point mergence </a:t>
            </a:r>
            <a:endParaRPr lang="en-IN" sz="2250" b="1" dirty="0">
              <a:latin typeface="Segoe Print" panose="02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753" y="206155"/>
            <a:ext cx="2082509" cy="293093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794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997" y="3543300"/>
            <a:ext cx="2257265" cy="3176890"/>
          </a:xfrm>
          <a:prstGeom prst="rect">
            <a:avLst/>
          </a:prstGeom>
          <a:effectLst>
            <a:glow rad="406400">
              <a:srgbClr val="FFC000"/>
            </a:glow>
          </a:effectLst>
        </p:spPr>
      </p:pic>
    </p:spTree>
    <p:extLst>
      <p:ext uri="{BB962C8B-B14F-4D97-AF65-F5344CB8AC3E}">
        <p14:creationId xmlns:p14="http://schemas.microsoft.com/office/powerpoint/2010/main" val="160636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6" y="415636"/>
            <a:ext cx="10196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 smtClean="0">
                <a:latin typeface="+mj-lt"/>
                <a:ea typeface="Segoe UI Black" panose="020B0A02040204020203" pitchFamily="34" charset="0"/>
              </a:rPr>
              <a:t>FESTIVALS</a:t>
            </a:r>
            <a:endParaRPr lang="en-IN" sz="5400" dirty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3345" y="2828331"/>
            <a:ext cx="647007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It starts with the flag hoisting and goes on with social work and followed by programs done by children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Then, there is a poet’s assembly and assembly and </a:t>
            </a:r>
            <a:r>
              <a:rPr lang="en-GB" sz="2400" dirty="0" err="1" smtClean="0">
                <a:latin typeface="Segoe Print" panose="02000600000000000000" pitchFamily="2" charset="0"/>
              </a:rPr>
              <a:t>bhajans</a:t>
            </a:r>
            <a:r>
              <a:rPr lang="en-GB" sz="2400" dirty="0" smtClean="0">
                <a:latin typeface="Segoe Print" panose="02000600000000000000" pitchFamily="2" charset="0"/>
              </a:rPr>
              <a:t> and Baba’s discourses.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The </a:t>
            </a:r>
            <a:r>
              <a:rPr lang="en-GB" sz="2400" dirty="0" err="1">
                <a:latin typeface="Segoe Print" panose="02000600000000000000" pitchFamily="2" charset="0"/>
              </a:rPr>
              <a:t>D</a:t>
            </a:r>
            <a:r>
              <a:rPr lang="en-GB" sz="2400" dirty="0" err="1" smtClean="0">
                <a:latin typeface="Segoe Print" panose="02000600000000000000" pitchFamily="2" charset="0"/>
              </a:rPr>
              <a:t>asara</a:t>
            </a:r>
            <a:r>
              <a:rPr lang="en-GB" sz="2400" dirty="0" smtClean="0">
                <a:latin typeface="Segoe Print" panose="02000600000000000000" pitchFamily="2" charset="0"/>
              </a:rPr>
              <a:t> celebrations mark the victory over the evil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8036" y="1693626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6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Dasara</a:t>
            </a:r>
            <a:r>
              <a:rPr lang="en-GB"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GB" sz="3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Celebrations</a:t>
            </a:r>
            <a:endParaRPr lang="en-GB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029" y="147796"/>
            <a:ext cx="2196706" cy="309166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032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31" y="3507296"/>
            <a:ext cx="2241504" cy="315470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540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2064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5634" y="637309"/>
            <a:ext cx="10584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SIVARATRI CELEBRATIONS</a:t>
            </a:r>
            <a:endParaRPr lang="en-IN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5634" y="1849298"/>
            <a:ext cx="68580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40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200" b="1" dirty="0" smtClean="0">
                <a:latin typeface="Segoe Print" panose="02000600000000000000" pitchFamily="2" charset="0"/>
              </a:rPr>
              <a:t>Devotees</a:t>
            </a:r>
            <a:r>
              <a:rPr lang="en-GB" sz="2200" dirty="0" smtClean="0">
                <a:latin typeface="Segoe Print" panose="02000600000000000000" pitchFamily="2" charset="0"/>
              </a:rPr>
              <a:t> perform </a:t>
            </a:r>
            <a:r>
              <a:rPr lang="en-GB" sz="2200" b="1" dirty="0" smtClean="0">
                <a:latin typeface="Segoe Print" panose="02000600000000000000" pitchFamily="2" charset="0"/>
              </a:rPr>
              <a:t>all night vigil</a:t>
            </a:r>
            <a:r>
              <a:rPr lang="en-GB" sz="2200" dirty="0" smtClean="0">
                <a:latin typeface="Segoe Print" panose="02000600000000000000" pitchFamily="2" charset="0"/>
              </a:rPr>
              <a:t> with </a:t>
            </a:r>
            <a:r>
              <a:rPr lang="en-GB" sz="2200" b="1" dirty="0" err="1" smtClean="0">
                <a:latin typeface="Segoe Print" panose="02000600000000000000" pitchFamily="2" charset="0"/>
              </a:rPr>
              <a:t>bhajans</a:t>
            </a:r>
            <a:r>
              <a:rPr lang="en-GB" sz="2200" dirty="0" smtClean="0">
                <a:latin typeface="Segoe Print" panose="02000600000000000000" pitchFamily="2" charset="0"/>
              </a:rPr>
              <a:t> in the </a:t>
            </a:r>
            <a:r>
              <a:rPr lang="en-GB" sz="2200" b="1" dirty="0" smtClean="0">
                <a:latin typeface="Segoe Print" panose="02000600000000000000" pitchFamily="2" charset="0"/>
              </a:rPr>
              <a:t>immediate presence of Baba</a:t>
            </a:r>
          </a:p>
          <a:p>
            <a:pPr marL="3240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200" b="1" dirty="0" err="1" smtClean="0">
                <a:latin typeface="Segoe Print" panose="02000600000000000000" pitchFamily="2" charset="0"/>
              </a:rPr>
              <a:t>Sivalingas</a:t>
            </a:r>
            <a:r>
              <a:rPr lang="en-GB" sz="2200" b="1" dirty="0" smtClean="0">
                <a:latin typeface="Segoe Print" panose="02000600000000000000" pitchFamily="2" charset="0"/>
              </a:rPr>
              <a:t> have materialised within the Swami’s body ever since his avatar declaration</a:t>
            </a:r>
          </a:p>
          <a:p>
            <a:pPr marL="3240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200" b="1" dirty="0" smtClean="0">
                <a:latin typeface="Segoe Print" panose="02000600000000000000" pitchFamily="2" charset="0"/>
              </a:rPr>
              <a:t>Swami</a:t>
            </a:r>
            <a:r>
              <a:rPr lang="en-GB" sz="2200" dirty="0" smtClean="0">
                <a:latin typeface="Segoe Print" panose="02000600000000000000" pitchFamily="2" charset="0"/>
              </a:rPr>
              <a:t> used to undergo some </a:t>
            </a:r>
            <a:r>
              <a:rPr lang="en-GB" sz="2200" dirty="0" err="1" smtClean="0">
                <a:latin typeface="Segoe Print" panose="02000600000000000000" pitchFamily="2" charset="0"/>
              </a:rPr>
              <a:t>some</a:t>
            </a:r>
            <a:r>
              <a:rPr lang="en-GB" sz="2200" dirty="0" smtClean="0">
                <a:latin typeface="Segoe Print" panose="02000600000000000000" pitchFamily="2" charset="0"/>
              </a:rPr>
              <a:t> struggles until the </a:t>
            </a:r>
            <a:r>
              <a:rPr lang="en-GB" sz="2200" b="1" dirty="0" smtClean="0">
                <a:latin typeface="Segoe Print" panose="02000600000000000000" pitchFamily="2" charset="0"/>
              </a:rPr>
              <a:t>lingams fell/came out from his mouth.</a:t>
            </a:r>
          </a:p>
          <a:p>
            <a:pPr marL="3240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200" b="1" dirty="0" smtClean="0">
                <a:latin typeface="Segoe Print" panose="02000600000000000000" pitchFamily="2" charset="0"/>
              </a:rPr>
              <a:t>These lingams </a:t>
            </a:r>
            <a:r>
              <a:rPr lang="en-GB" sz="2200" dirty="0" smtClean="0">
                <a:latin typeface="Segoe Print" panose="02000600000000000000" pitchFamily="2" charset="0"/>
              </a:rPr>
              <a:t>used to be </a:t>
            </a:r>
            <a:r>
              <a:rPr lang="en-GB" sz="2200" b="1" dirty="0" smtClean="0">
                <a:latin typeface="Segoe Print" panose="02000600000000000000" pitchFamily="2" charset="0"/>
              </a:rPr>
              <a:t>placed on </a:t>
            </a:r>
            <a:r>
              <a:rPr lang="en-GB" sz="2200" b="1" dirty="0" err="1" smtClean="0">
                <a:latin typeface="Segoe Print" panose="02000600000000000000" pitchFamily="2" charset="0"/>
              </a:rPr>
              <a:t>Shirdi</a:t>
            </a:r>
            <a:r>
              <a:rPr lang="en-GB" sz="2200" b="1" dirty="0" smtClean="0">
                <a:latin typeface="Segoe Print" panose="02000600000000000000" pitchFamily="2" charset="0"/>
              </a:rPr>
              <a:t> Sai Baba’ photo </a:t>
            </a:r>
            <a:r>
              <a:rPr lang="en-GB" sz="2200" dirty="0" smtClean="0">
                <a:latin typeface="Segoe Print" panose="02000600000000000000" pitchFamily="2" charset="0"/>
              </a:rPr>
              <a:t>and later were given to devotees</a:t>
            </a:r>
          </a:p>
          <a:p>
            <a:pPr marL="3240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200" dirty="0" smtClean="0">
                <a:latin typeface="Segoe Print" panose="02000600000000000000" pitchFamily="2" charset="0"/>
              </a:rPr>
              <a:t>This </a:t>
            </a:r>
            <a:r>
              <a:rPr lang="en-GB" sz="2200" b="1" dirty="0" smtClean="0">
                <a:latin typeface="Segoe Print" panose="02000600000000000000" pitchFamily="2" charset="0"/>
              </a:rPr>
              <a:t>occasion was celebrated </a:t>
            </a:r>
            <a:r>
              <a:rPr lang="en-GB" sz="2200" dirty="0" smtClean="0">
                <a:latin typeface="Segoe Print" panose="02000600000000000000" pitchFamily="2" charset="0"/>
              </a:rPr>
              <a:t>as </a:t>
            </a:r>
            <a:r>
              <a:rPr lang="en-GB" sz="2200" b="1" dirty="0" smtClean="0">
                <a:latin typeface="Segoe Print" panose="02000600000000000000" pitchFamily="2" charset="0"/>
              </a:rPr>
              <a:t>“</a:t>
            </a:r>
            <a:r>
              <a:rPr lang="en-GB" sz="2200" b="1" dirty="0" err="1" smtClean="0">
                <a:latin typeface="Segoe Print" panose="02000600000000000000" pitchFamily="2" charset="0"/>
              </a:rPr>
              <a:t>lingodbhavam</a:t>
            </a:r>
            <a:r>
              <a:rPr lang="en-GB" sz="2200" b="1" dirty="0" smtClean="0">
                <a:latin typeface="Segoe Print" panose="02000600000000000000" pitchFamily="2" charset="0"/>
              </a:rPr>
              <a:t>”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745" y="144241"/>
            <a:ext cx="2240695" cy="3153571"/>
          </a:xfrm>
          <a:prstGeom prst="rect">
            <a:avLst/>
          </a:prstGeom>
          <a:ln w="190500" cap="sq">
            <a:solidFill>
              <a:schemeClr val="tx1"/>
            </a:solidFill>
            <a:prstDash val="sysDash"/>
            <a:miter lim="800000"/>
          </a:ln>
          <a:effectLst>
            <a:glow rad="177800">
              <a:srgbClr val="FFC000"/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745" y="3497041"/>
            <a:ext cx="2240695" cy="315357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50671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526473"/>
            <a:ext cx="8021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3600" dirty="0" smtClean="0">
                <a:latin typeface="Segoe UI Black" panose="020B0A02040204020203" pitchFamily="34" charset="0"/>
                <a:ea typeface="Segoe UI Black" panose="020B0A02040204020203" pitchFamily="34" charset="0"/>
              </a:rPr>
              <a:t>Other  Festivals</a:t>
            </a:r>
            <a:endParaRPr lang="en-IN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510" y="1995722"/>
            <a:ext cx="648392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Swami on </a:t>
            </a:r>
            <a:r>
              <a:rPr lang="en-GB" sz="2400" b="1" dirty="0" err="1" smtClean="0">
                <a:latin typeface="Segoe Print" panose="02000600000000000000" pitchFamily="2" charset="0"/>
              </a:rPr>
              <a:t>Vaikunta</a:t>
            </a:r>
            <a:r>
              <a:rPr lang="en-GB" sz="2400" b="1" dirty="0" smtClean="0">
                <a:latin typeface="Segoe Print" panose="02000600000000000000" pitchFamily="2" charset="0"/>
              </a:rPr>
              <a:t> </a:t>
            </a:r>
            <a:r>
              <a:rPr lang="en-GB" sz="2400" b="1" dirty="0" err="1" smtClean="0">
                <a:latin typeface="Segoe Print" panose="02000600000000000000" pitchFamily="2" charset="0"/>
              </a:rPr>
              <a:t>Ekadsai</a:t>
            </a:r>
            <a:r>
              <a:rPr lang="en-GB" sz="2400" dirty="0" smtClean="0">
                <a:latin typeface="Segoe Print" panose="02000600000000000000" pitchFamily="2" charset="0"/>
              </a:rPr>
              <a:t>, would distribute </a:t>
            </a:r>
            <a:r>
              <a:rPr lang="en-GB" sz="2400" b="1" dirty="0" smtClean="0">
                <a:latin typeface="Segoe Print" panose="02000600000000000000" pitchFamily="2" charset="0"/>
              </a:rPr>
              <a:t>‘AMRITA’ </a:t>
            </a:r>
            <a:r>
              <a:rPr lang="en-GB" sz="2400" dirty="0" smtClean="0">
                <a:latin typeface="Segoe Print" panose="02000600000000000000" pitchFamily="2" charset="0"/>
              </a:rPr>
              <a:t>or divine nectar </a:t>
            </a:r>
            <a:r>
              <a:rPr lang="en-GB" sz="2400" b="1" dirty="0" smtClean="0">
                <a:latin typeface="Segoe Print" panose="02000600000000000000" pitchFamily="2" charset="0"/>
              </a:rPr>
              <a:t>to people </a:t>
            </a:r>
            <a:r>
              <a:rPr lang="en-GB" sz="2400" dirty="0" smtClean="0">
                <a:latin typeface="Segoe Print" panose="02000600000000000000" pitchFamily="2" charset="0"/>
              </a:rPr>
              <a:t>present there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He would </a:t>
            </a:r>
            <a:r>
              <a:rPr lang="en-GB" sz="2400" b="1" dirty="0" smtClean="0">
                <a:latin typeface="Segoe Print" panose="02000600000000000000" pitchFamily="2" charset="0"/>
              </a:rPr>
              <a:t>emphasise</a:t>
            </a:r>
            <a:r>
              <a:rPr lang="en-GB" sz="2400" dirty="0" smtClean="0">
                <a:latin typeface="Segoe Print" panose="02000600000000000000" pitchFamily="2" charset="0"/>
              </a:rPr>
              <a:t> on the </a:t>
            </a:r>
            <a:r>
              <a:rPr lang="en-GB" sz="2400" b="1" dirty="0" smtClean="0">
                <a:latin typeface="Segoe Print" panose="02000600000000000000" pitchFamily="2" charset="0"/>
              </a:rPr>
              <a:t>importance</a:t>
            </a:r>
            <a:r>
              <a:rPr lang="en-GB" sz="2400" dirty="0" smtClean="0">
                <a:latin typeface="Segoe Print" panose="02000600000000000000" pitchFamily="2" charset="0"/>
              </a:rPr>
              <a:t> of this festival and </a:t>
            </a:r>
            <a:r>
              <a:rPr lang="en-GB" sz="2400" b="1" dirty="0" smtClean="0">
                <a:latin typeface="Segoe Print" panose="02000600000000000000" pitchFamily="2" charset="0"/>
              </a:rPr>
              <a:t>have some </a:t>
            </a:r>
            <a:r>
              <a:rPr lang="en-GB" sz="2400" b="1" dirty="0" err="1" smtClean="0">
                <a:latin typeface="Segoe Print" panose="02000600000000000000" pitchFamily="2" charset="0"/>
              </a:rPr>
              <a:t>bhajan</a:t>
            </a:r>
            <a:r>
              <a:rPr lang="en-GB" sz="2400" b="1" dirty="0" smtClean="0">
                <a:latin typeface="Segoe Print" panose="02000600000000000000" pitchFamily="2" charset="0"/>
              </a:rPr>
              <a:t> sessions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arenR"/>
            </a:pPr>
            <a:endParaRPr lang="en-GB" sz="2400" dirty="0">
              <a:latin typeface="Segoe Print" panose="02000600000000000000" pitchFamily="2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400" dirty="0" smtClean="0">
                <a:latin typeface="Segoe Print" panose="02000600000000000000" pitchFamily="2" charset="0"/>
              </a:rPr>
              <a:t>During the </a:t>
            </a:r>
            <a:r>
              <a:rPr lang="en-GB" sz="2400" b="1" dirty="0" err="1" smtClean="0">
                <a:latin typeface="Segoe Print" panose="02000600000000000000" pitchFamily="2" charset="0"/>
              </a:rPr>
              <a:t>Varalakshmi</a:t>
            </a:r>
            <a:r>
              <a:rPr lang="en-GB" sz="2400" b="1" dirty="0" smtClean="0">
                <a:latin typeface="Segoe Print" panose="02000600000000000000" pitchFamily="2" charset="0"/>
              </a:rPr>
              <a:t> </a:t>
            </a:r>
            <a:r>
              <a:rPr lang="en-GB" sz="2400" b="1" dirty="0" err="1" smtClean="0">
                <a:latin typeface="Segoe Print" panose="02000600000000000000" pitchFamily="2" charset="0"/>
              </a:rPr>
              <a:t>Vratam</a:t>
            </a:r>
            <a:r>
              <a:rPr lang="en-GB" sz="2400" b="1" dirty="0" smtClean="0">
                <a:latin typeface="Segoe Print" panose="02000600000000000000" pitchFamily="2" charset="0"/>
              </a:rPr>
              <a:t> </a:t>
            </a:r>
            <a:r>
              <a:rPr lang="en-GB" sz="2400" dirty="0" smtClean="0">
                <a:latin typeface="Segoe Print" panose="02000600000000000000" pitchFamily="2" charset="0"/>
              </a:rPr>
              <a:t>festival, </a:t>
            </a:r>
            <a:r>
              <a:rPr lang="en-GB" sz="2400" b="1" dirty="0" smtClean="0">
                <a:latin typeface="Segoe Print" panose="02000600000000000000" pitchFamily="2" charset="0"/>
              </a:rPr>
              <a:t>Swami</a:t>
            </a:r>
            <a:r>
              <a:rPr lang="en-GB" sz="2400" dirty="0" smtClean="0">
                <a:latin typeface="Segoe Print" panose="02000600000000000000" pitchFamily="2" charset="0"/>
              </a:rPr>
              <a:t> use to </a:t>
            </a:r>
            <a:r>
              <a:rPr lang="en-GB" sz="2400" b="1" dirty="0" smtClean="0">
                <a:latin typeface="Segoe Print" panose="02000600000000000000" pitchFamily="2" charset="0"/>
              </a:rPr>
              <a:t>grant the women his ‘</a:t>
            </a:r>
            <a:r>
              <a:rPr lang="en-GB" sz="2400" b="1" dirty="0" err="1" smtClean="0">
                <a:latin typeface="Segoe Print" panose="02000600000000000000" pitchFamily="2" charset="0"/>
              </a:rPr>
              <a:t>Devirupam</a:t>
            </a:r>
            <a:r>
              <a:rPr lang="en-GB" sz="2400" b="1" dirty="0" smtClean="0">
                <a:latin typeface="Segoe Print" panose="02000600000000000000" pitchFamily="2" charset="0"/>
              </a:rPr>
              <a:t>’ </a:t>
            </a:r>
            <a:r>
              <a:rPr lang="en-GB" sz="2400" b="1" dirty="0" err="1" smtClean="0">
                <a:latin typeface="Segoe Print" panose="02000600000000000000" pitchFamily="2" charset="0"/>
              </a:rPr>
              <a:t>darshan</a:t>
            </a:r>
            <a:r>
              <a:rPr lang="en-GB" sz="2400" b="1" dirty="0" smtClean="0">
                <a:latin typeface="Segoe Print" panose="02000600000000000000" pitchFamily="2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64592"/>
            <a:ext cx="2587059" cy="364104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880" y="4003964"/>
            <a:ext cx="3889979" cy="276148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6031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308" y="233036"/>
            <a:ext cx="10432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 smtClean="0"/>
              <a:t>OTHER INSTANCES</a:t>
            </a:r>
            <a:endParaRPr lang="en-IN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471055" y="1842653"/>
            <a:ext cx="6913418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b="1" dirty="0" smtClean="0">
                <a:latin typeface="Segoe Print" panose="02000600000000000000" pitchFamily="2" charset="0"/>
              </a:rPr>
              <a:t>Baba</a:t>
            </a:r>
            <a:r>
              <a:rPr lang="en-GB" sz="2000" dirty="0" smtClean="0">
                <a:latin typeface="Segoe Print" panose="02000600000000000000" pitchFamily="2" charset="0"/>
              </a:rPr>
              <a:t> once at </a:t>
            </a:r>
            <a:r>
              <a:rPr lang="en-GB" sz="2000" dirty="0" err="1" smtClean="0">
                <a:latin typeface="Segoe Print" panose="02000600000000000000" pitchFamily="2" charset="0"/>
              </a:rPr>
              <a:t>Gokhale</a:t>
            </a:r>
            <a:r>
              <a:rPr lang="en-GB" sz="2000" dirty="0" smtClean="0">
                <a:latin typeface="Segoe Print" panose="02000600000000000000" pitchFamily="2" charset="0"/>
              </a:rPr>
              <a:t> hall, Madras </a:t>
            </a:r>
            <a:r>
              <a:rPr lang="en-GB" sz="2000" b="1" dirty="0" smtClean="0">
                <a:latin typeface="Segoe Print" panose="02000600000000000000" pitchFamily="2" charset="0"/>
              </a:rPr>
              <a:t>corrected a devotee</a:t>
            </a:r>
            <a:r>
              <a:rPr lang="en-GB" sz="2000" dirty="0" smtClean="0">
                <a:latin typeface="Segoe Print" panose="02000600000000000000" pitchFamily="2" charset="0"/>
              </a:rPr>
              <a:t> and said that the </a:t>
            </a:r>
            <a:r>
              <a:rPr lang="en-GB" sz="2000" b="1" dirty="0" err="1" smtClean="0">
                <a:latin typeface="Segoe Print" panose="02000600000000000000" pitchFamily="2" charset="0"/>
              </a:rPr>
              <a:t>bhaktas</a:t>
            </a:r>
            <a:r>
              <a:rPr lang="en-GB" sz="2000" b="1" dirty="0" smtClean="0">
                <a:latin typeface="Segoe Print" panose="02000600000000000000" pitchFamily="2" charset="0"/>
              </a:rPr>
              <a:t> can worship him from they are residing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He added that </a:t>
            </a:r>
            <a:r>
              <a:rPr lang="en-GB" sz="2000" b="1" dirty="0" smtClean="0">
                <a:latin typeface="Segoe Print" panose="02000600000000000000" pitchFamily="2" charset="0"/>
              </a:rPr>
              <a:t>he will come to his </a:t>
            </a:r>
            <a:r>
              <a:rPr lang="en-GB" sz="2000" b="1" dirty="0" err="1" smtClean="0">
                <a:latin typeface="Segoe Print" panose="02000600000000000000" pitchFamily="2" charset="0"/>
              </a:rPr>
              <a:t>bhaktas</a:t>
            </a:r>
            <a:r>
              <a:rPr lang="en-GB" sz="2000" b="1" dirty="0" smtClean="0">
                <a:latin typeface="Segoe Print" panose="02000600000000000000" pitchFamily="2" charset="0"/>
              </a:rPr>
              <a:t> </a:t>
            </a:r>
            <a:r>
              <a:rPr lang="en-GB" sz="2000" dirty="0" smtClean="0">
                <a:latin typeface="Segoe Print" panose="02000600000000000000" pitchFamily="2" charset="0"/>
              </a:rPr>
              <a:t>when </a:t>
            </a:r>
            <a:r>
              <a:rPr lang="en-GB" sz="2000" b="1" dirty="0" smtClean="0">
                <a:latin typeface="Segoe Print" panose="02000600000000000000" pitchFamily="2" charset="0"/>
              </a:rPr>
              <a:t>called upon </a:t>
            </a:r>
            <a:r>
              <a:rPr lang="en-GB" sz="2000" dirty="0" smtClean="0">
                <a:latin typeface="Segoe Print" panose="02000600000000000000" pitchFamily="2" charset="0"/>
              </a:rPr>
              <a:t>and </a:t>
            </a:r>
            <a:r>
              <a:rPr lang="en-GB" sz="2000" b="1" dirty="0" smtClean="0">
                <a:latin typeface="Segoe Print" panose="02000600000000000000" pitchFamily="2" charset="0"/>
              </a:rPr>
              <a:t>not</a:t>
            </a:r>
            <a:r>
              <a:rPr lang="en-GB" sz="2000" dirty="0" smtClean="0">
                <a:latin typeface="Segoe Print" panose="02000600000000000000" pitchFamily="2" charset="0"/>
              </a:rPr>
              <a:t> to </a:t>
            </a:r>
            <a:r>
              <a:rPr lang="en-GB" sz="2000" b="1" dirty="0" smtClean="0">
                <a:latin typeface="Segoe Print" panose="02000600000000000000" pitchFamily="2" charset="0"/>
              </a:rPr>
              <a:t>make expenses which they can’t afford.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endParaRPr lang="en-GB" sz="2000" dirty="0">
              <a:latin typeface="Segoe Print" panose="02000600000000000000" pitchFamily="2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In 1957, a hospital was inaugurated with the facilities like and x-ray unit and equipment for surgery.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There </a:t>
            </a:r>
            <a:r>
              <a:rPr lang="en-GB" sz="2000" b="1" dirty="0" smtClean="0">
                <a:latin typeface="Segoe Print" panose="02000600000000000000" pitchFamily="2" charset="0"/>
              </a:rPr>
              <a:t>were many miraculous recoveries with the blessings of Baba.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Also, sometimes </a:t>
            </a:r>
            <a:r>
              <a:rPr lang="en-GB" sz="2000" b="1" dirty="0" smtClean="0">
                <a:latin typeface="Segoe Print" panose="02000600000000000000" pitchFamily="2" charset="0"/>
              </a:rPr>
              <a:t>he recommended the medical treatment himself and gave </a:t>
            </a:r>
            <a:r>
              <a:rPr lang="en-GB" sz="2000" b="1" dirty="0" err="1" smtClean="0">
                <a:latin typeface="Segoe Print" panose="02000600000000000000" pitchFamily="2" charset="0"/>
              </a:rPr>
              <a:t>Vibhuti</a:t>
            </a:r>
            <a:r>
              <a:rPr lang="en-GB" sz="2000" b="1" dirty="0" smtClean="0">
                <a:latin typeface="Segoe Print" panose="02000600000000000000" pitchFamily="2" charset="0"/>
              </a:rPr>
              <a:t> to ill people</a:t>
            </a:r>
            <a:endParaRPr lang="en-IN" sz="2000" b="1" dirty="0">
              <a:latin typeface="Segoe Print" panose="02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122" y="4170218"/>
            <a:ext cx="3590839" cy="254912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18" y="201374"/>
            <a:ext cx="2332343" cy="32825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178549754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909" y="498764"/>
            <a:ext cx="11097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 smtClean="0"/>
              <a:t>BODHI TREE</a:t>
            </a:r>
            <a:endParaRPr lang="en-IN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602672" y="2660073"/>
            <a:ext cx="591589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In the </a:t>
            </a:r>
            <a:r>
              <a:rPr lang="en-GB" sz="2000" b="1" dirty="0" smtClean="0">
                <a:latin typeface="Segoe Print" panose="02000600000000000000" pitchFamily="2" charset="0"/>
              </a:rPr>
              <a:t>year 1959</a:t>
            </a:r>
            <a:r>
              <a:rPr lang="en-GB" sz="2000" dirty="0" smtClean="0">
                <a:latin typeface="Segoe Print" panose="02000600000000000000" pitchFamily="2" charset="0"/>
              </a:rPr>
              <a:t>, during the month of April,  </a:t>
            </a:r>
            <a:r>
              <a:rPr lang="en-GB" sz="2000" b="1" dirty="0" smtClean="0">
                <a:latin typeface="Segoe Print" panose="02000600000000000000" pitchFamily="2" charset="0"/>
              </a:rPr>
              <a:t>Swami declared to plant the ‘Bodhi’ or banyan tree</a:t>
            </a:r>
            <a:r>
              <a:rPr lang="en-GB" sz="2000" dirty="0" smtClean="0">
                <a:latin typeface="Segoe Print" panose="02000600000000000000" pitchFamily="2" charset="0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b="1" dirty="0" smtClean="0">
                <a:latin typeface="Segoe Print" panose="02000600000000000000" pitchFamily="2" charset="0"/>
              </a:rPr>
              <a:t>Swami took out a ‘</a:t>
            </a:r>
            <a:r>
              <a:rPr lang="en-GB" sz="2000" b="1" dirty="0" err="1" smtClean="0">
                <a:latin typeface="Segoe Print" panose="02000600000000000000" pitchFamily="2" charset="0"/>
              </a:rPr>
              <a:t>Sansanas</a:t>
            </a:r>
            <a:r>
              <a:rPr lang="en-GB" sz="2000" b="1" dirty="0" smtClean="0">
                <a:latin typeface="Segoe Print" panose="02000600000000000000" pitchFamily="2" charset="0"/>
              </a:rPr>
              <a:t>’</a:t>
            </a:r>
            <a:r>
              <a:rPr lang="en-GB" sz="2000" dirty="0" smtClean="0">
                <a:latin typeface="Segoe Print" panose="02000600000000000000" pitchFamily="2" charset="0"/>
              </a:rPr>
              <a:t> about 15 inches by 10 inches </a:t>
            </a:r>
            <a:r>
              <a:rPr lang="en-GB" sz="2000" b="1" dirty="0" smtClean="0">
                <a:latin typeface="Segoe Print" panose="02000600000000000000" pitchFamily="2" charset="0"/>
              </a:rPr>
              <a:t>from the </a:t>
            </a:r>
            <a:r>
              <a:rPr lang="en-GB" sz="2000" b="1" dirty="0" err="1" smtClean="0">
                <a:latin typeface="Segoe Print" panose="02000600000000000000" pitchFamily="2" charset="0"/>
              </a:rPr>
              <a:t>chitravathi</a:t>
            </a:r>
            <a:r>
              <a:rPr lang="en-GB" sz="2000" b="1" dirty="0" smtClean="0">
                <a:latin typeface="Segoe Print" panose="02000600000000000000" pitchFamily="2" charset="0"/>
              </a:rPr>
              <a:t> sands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GB" sz="2000" dirty="0" smtClean="0">
                <a:latin typeface="Segoe Print" panose="02000600000000000000" pitchFamily="2" charset="0"/>
              </a:rPr>
              <a:t>The </a:t>
            </a:r>
            <a:r>
              <a:rPr lang="en-GB" sz="2000" b="1" dirty="0" smtClean="0">
                <a:latin typeface="Segoe Print" panose="02000600000000000000" pitchFamily="2" charset="0"/>
              </a:rPr>
              <a:t>banyan tree was planted on 29</a:t>
            </a:r>
            <a:r>
              <a:rPr lang="en-GB" sz="2000" b="1" baseline="30000" dirty="0" smtClean="0">
                <a:latin typeface="Segoe Print" panose="02000600000000000000" pitchFamily="2" charset="0"/>
              </a:rPr>
              <a:t>th</a:t>
            </a:r>
            <a:r>
              <a:rPr lang="en-GB" sz="2000" b="1" dirty="0" smtClean="0">
                <a:latin typeface="Segoe Print" panose="02000600000000000000" pitchFamily="2" charset="0"/>
              </a:rPr>
              <a:t> </a:t>
            </a:r>
            <a:r>
              <a:rPr lang="en-GB" sz="2000" b="1" dirty="0" err="1" smtClean="0">
                <a:latin typeface="Segoe Print" panose="02000600000000000000" pitchFamily="2" charset="0"/>
              </a:rPr>
              <a:t>june</a:t>
            </a:r>
            <a:r>
              <a:rPr lang="en-GB" sz="2000" b="1" dirty="0" smtClean="0">
                <a:latin typeface="Segoe Print" panose="02000600000000000000" pitchFamily="2" charset="0"/>
              </a:rPr>
              <a:t> </a:t>
            </a:r>
            <a:r>
              <a:rPr lang="en-GB" sz="2000" dirty="0" smtClean="0">
                <a:latin typeface="Segoe Print" panose="02000600000000000000" pitchFamily="2" charset="0"/>
              </a:rPr>
              <a:t>and </a:t>
            </a:r>
            <a:r>
              <a:rPr lang="en-GB" sz="2000" b="1" dirty="0" smtClean="0">
                <a:latin typeface="Segoe Print" panose="02000600000000000000" pitchFamily="2" charset="0"/>
              </a:rPr>
              <a:t>Swami declared that yogis who have reached certain stage of tapas will automatically come to know of this tree and </a:t>
            </a:r>
            <a:r>
              <a:rPr lang="en-GB" sz="2000" b="1" dirty="0" err="1" smtClean="0">
                <a:latin typeface="Segoe Print" panose="02000600000000000000" pitchFamily="2" charset="0"/>
              </a:rPr>
              <a:t>sansana</a:t>
            </a:r>
            <a:endParaRPr lang="en-IN" sz="2000" b="1" dirty="0">
              <a:latin typeface="Segoe Print" panose="020006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4" r="20838"/>
          <a:stretch/>
        </p:blipFill>
        <p:spPr>
          <a:xfrm>
            <a:off x="7983843" y="2660072"/>
            <a:ext cx="4014194" cy="39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9813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582" y="443345"/>
            <a:ext cx="10695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 smtClean="0"/>
              <a:t>THE STORY OF JACK AND JILL</a:t>
            </a:r>
            <a:endParaRPr lang="en-IN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581891" y="2272147"/>
            <a:ext cx="667789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sz="2000" b="1" dirty="0" smtClean="0">
                <a:latin typeface="Segoe Print" panose="02000600000000000000" pitchFamily="2" charset="0"/>
              </a:rPr>
              <a:t>Jack and Jill </a:t>
            </a:r>
            <a:r>
              <a:rPr lang="en-GB" sz="2000" dirty="0" smtClean="0">
                <a:latin typeface="Segoe Print" panose="02000600000000000000" pitchFamily="2" charset="0"/>
              </a:rPr>
              <a:t>were two Pomeranians from </a:t>
            </a:r>
            <a:r>
              <a:rPr lang="en-GB" sz="2000" dirty="0" err="1" smtClean="0">
                <a:latin typeface="Segoe Print" panose="02000600000000000000" pitchFamily="2" charset="0"/>
              </a:rPr>
              <a:t>Oatacamud</a:t>
            </a:r>
            <a:r>
              <a:rPr lang="en-GB" sz="2000" dirty="0" smtClean="0">
                <a:latin typeface="Segoe Print" panose="02000600000000000000" pitchFamily="2" charset="0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sz="2000" b="1" dirty="0" smtClean="0">
                <a:latin typeface="Segoe Print" panose="02000600000000000000" pitchFamily="2" charset="0"/>
              </a:rPr>
              <a:t>They fasted every Thursday</a:t>
            </a:r>
            <a:r>
              <a:rPr lang="en-GB" sz="2000" dirty="0" smtClean="0">
                <a:latin typeface="Segoe Print" panose="02000600000000000000" pitchFamily="2" charset="0"/>
              </a:rPr>
              <a:t>, by some </a:t>
            </a:r>
            <a:r>
              <a:rPr lang="en-GB" sz="2000" b="1" dirty="0" smtClean="0">
                <a:latin typeface="Segoe Print" panose="02000600000000000000" pitchFamily="2" charset="0"/>
              </a:rPr>
              <a:t>holy </a:t>
            </a:r>
            <a:r>
              <a:rPr lang="en-GB" sz="2000" b="1" dirty="0" err="1" smtClean="0">
                <a:latin typeface="Segoe Print" panose="02000600000000000000" pitchFamily="2" charset="0"/>
              </a:rPr>
              <a:t>samskara</a:t>
            </a:r>
            <a:r>
              <a:rPr lang="en-GB" sz="2000" dirty="0" smtClean="0">
                <a:latin typeface="Segoe Print" panose="02000600000000000000" pitchFamily="2" charset="0"/>
              </a:rPr>
              <a:t> of the past birth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>
                <a:latin typeface="Segoe Print" panose="02000600000000000000" pitchFamily="2" charset="0"/>
              </a:rPr>
              <a:t>They </a:t>
            </a:r>
            <a:r>
              <a:rPr lang="en-GB" sz="2000" b="1" dirty="0" smtClean="0">
                <a:latin typeface="Segoe Print" panose="02000600000000000000" pitchFamily="2" charset="0"/>
              </a:rPr>
              <a:t>never consumed flesh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>
                <a:latin typeface="Segoe Print" panose="02000600000000000000" pitchFamily="2" charset="0"/>
              </a:rPr>
              <a:t>The story: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 smtClean="0">
                <a:latin typeface="Segoe Print" panose="02000600000000000000" pitchFamily="2" charset="0"/>
              </a:rPr>
              <a:t> Jack and Jill had the </a:t>
            </a:r>
            <a:r>
              <a:rPr lang="en-GB" sz="2000" b="1" dirty="0" smtClean="0">
                <a:latin typeface="Segoe Print" panose="02000600000000000000" pitchFamily="2" charset="0"/>
              </a:rPr>
              <a:t>privilege of three years ‘</a:t>
            </a:r>
            <a:r>
              <a:rPr lang="en-GB" sz="2000" b="1" dirty="0" err="1" smtClean="0">
                <a:latin typeface="Segoe Print" panose="02000600000000000000" pitchFamily="2" charset="0"/>
              </a:rPr>
              <a:t>Sampiya</a:t>
            </a:r>
            <a:r>
              <a:rPr lang="en-GB" sz="2000" b="1" dirty="0" smtClean="0">
                <a:latin typeface="Segoe Print" panose="02000600000000000000" pitchFamily="2" charset="0"/>
              </a:rPr>
              <a:t>’</a:t>
            </a:r>
            <a:r>
              <a:rPr lang="en-GB" sz="2000" dirty="0" smtClean="0">
                <a:latin typeface="Segoe Print" panose="02000600000000000000" pitchFamily="2" charset="0"/>
              </a:rPr>
              <a:t>. 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b="1" dirty="0" smtClean="0">
                <a:latin typeface="Segoe Print" panose="02000600000000000000" pitchFamily="2" charset="0"/>
              </a:rPr>
              <a:t>Jack was laying under a car </a:t>
            </a:r>
            <a:r>
              <a:rPr lang="en-GB" sz="2000" dirty="0" smtClean="0">
                <a:latin typeface="Segoe Print" panose="02000600000000000000" pitchFamily="2" charset="0"/>
              </a:rPr>
              <a:t>which was parked across the river at </a:t>
            </a:r>
            <a:r>
              <a:rPr lang="en-GB" sz="2000" dirty="0" err="1" smtClean="0">
                <a:latin typeface="Segoe Print" panose="02000600000000000000" pitchFamily="2" charset="0"/>
              </a:rPr>
              <a:t>Karnatanagepalli</a:t>
            </a:r>
            <a:r>
              <a:rPr lang="en-GB" sz="2000" dirty="0" smtClean="0">
                <a:latin typeface="Segoe Print" panose="02000600000000000000" pitchFamily="2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640" y="1749701"/>
            <a:ext cx="3508505" cy="48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01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8982" y="2216727"/>
            <a:ext cx="538941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>
                <a:latin typeface="Segoe Print" panose="02000600000000000000" pitchFamily="2" charset="0"/>
              </a:rPr>
              <a:t>It </a:t>
            </a:r>
            <a:r>
              <a:rPr lang="en-GB" sz="2000" b="1" dirty="0">
                <a:latin typeface="Segoe Print" panose="02000600000000000000" pitchFamily="2" charset="0"/>
              </a:rPr>
              <a:t>was unknown to others that Jack was lying under the car</a:t>
            </a:r>
            <a:r>
              <a:rPr lang="en-GB" sz="2000" dirty="0">
                <a:latin typeface="Segoe Print" panose="02000600000000000000" pitchFamily="2" charset="0"/>
              </a:rPr>
              <a:t>. when the </a:t>
            </a:r>
            <a:r>
              <a:rPr lang="en-GB" sz="2000" b="1" dirty="0">
                <a:latin typeface="Segoe Print" panose="02000600000000000000" pitchFamily="2" charset="0"/>
              </a:rPr>
              <a:t>car started it nearly killed Jack</a:t>
            </a:r>
            <a:r>
              <a:rPr lang="en-GB" sz="2000" dirty="0" smtClean="0">
                <a:latin typeface="Segoe Print" panose="02000600000000000000" pitchFamily="2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 smtClean="0">
                <a:latin typeface="Segoe Print" panose="02000600000000000000" pitchFamily="2" charset="0"/>
              </a:rPr>
              <a:t>He </a:t>
            </a:r>
            <a:r>
              <a:rPr lang="en-GB" sz="2000" b="1" dirty="0">
                <a:latin typeface="Segoe Print" panose="02000600000000000000" pitchFamily="2" charset="0"/>
              </a:rPr>
              <a:t>dragged himself to </a:t>
            </a:r>
            <a:r>
              <a:rPr lang="en-GB" sz="2000" b="1" dirty="0" err="1">
                <a:latin typeface="Segoe Print" panose="02000600000000000000" pitchFamily="2" charset="0"/>
              </a:rPr>
              <a:t>mandir</a:t>
            </a:r>
            <a:r>
              <a:rPr lang="en-GB" sz="2000" b="1" dirty="0">
                <a:latin typeface="Segoe Print" panose="02000600000000000000" pitchFamily="2" charset="0"/>
              </a:rPr>
              <a:t> </a:t>
            </a:r>
            <a:r>
              <a:rPr lang="en-GB" sz="2000" dirty="0">
                <a:latin typeface="Segoe Print" panose="02000600000000000000" pitchFamily="2" charset="0"/>
              </a:rPr>
              <a:t>and </a:t>
            </a:r>
            <a:r>
              <a:rPr lang="en-GB" sz="2000" b="1" dirty="0">
                <a:latin typeface="Segoe Print" panose="02000600000000000000" pitchFamily="2" charset="0"/>
              </a:rPr>
              <a:t>pulled himself on to the lap of Baba</a:t>
            </a:r>
            <a:endParaRPr lang="en-GB" sz="2000" b="1" dirty="0" smtClean="0">
              <a:latin typeface="Segoe Print" panose="020006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dirty="0" smtClean="0">
                <a:latin typeface="Segoe Print" panose="02000600000000000000" pitchFamily="2" charset="0"/>
              </a:rPr>
              <a:t>Jack thus concluded his life</a:t>
            </a:r>
            <a:r>
              <a:rPr lang="en-GB" sz="2000" b="1" dirty="0" smtClean="0">
                <a:latin typeface="Segoe Print" panose="02000600000000000000" pitchFamily="2" charset="0"/>
              </a:rPr>
              <a:t>. Jill couldn’t bear the separation </a:t>
            </a:r>
            <a:r>
              <a:rPr lang="en-GB" sz="2000" dirty="0" smtClean="0">
                <a:latin typeface="Segoe Print" panose="02000600000000000000" pitchFamily="2" charset="0"/>
              </a:rPr>
              <a:t>and </a:t>
            </a:r>
            <a:r>
              <a:rPr lang="en-GB" sz="2000" b="1" dirty="0" smtClean="0">
                <a:latin typeface="Segoe Print" panose="02000600000000000000" pitchFamily="2" charset="0"/>
              </a:rPr>
              <a:t>followed him </a:t>
            </a:r>
            <a:r>
              <a:rPr lang="en-GB" sz="2000" dirty="0" smtClean="0">
                <a:latin typeface="Segoe Print" panose="02000600000000000000" pitchFamily="2" charset="0"/>
              </a:rPr>
              <a:t>in few weeks.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000" b="1" dirty="0" smtClean="0">
                <a:latin typeface="Segoe Print" panose="02000600000000000000" pitchFamily="2" charset="0"/>
              </a:rPr>
              <a:t>Both of them are buried </a:t>
            </a:r>
            <a:r>
              <a:rPr lang="en-GB" sz="2000" dirty="0" smtClean="0">
                <a:latin typeface="Segoe Print" panose="02000600000000000000" pitchFamily="2" charset="0"/>
              </a:rPr>
              <a:t>in the centre of the quadrangle behind the ‘</a:t>
            </a:r>
            <a:r>
              <a:rPr lang="en-GB" sz="2000" b="1" dirty="0" smtClean="0">
                <a:latin typeface="Segoe Print" panose="02000600000000000000" pitchFamily="2" charset="0"/>
              </a:rPr>
              <a:t>Old Mandir</a:t>
            </a:r>
            <a:r>
              <a:rPr lang="en-GB" sz="2000" dirty="0" smtClean="0">
                <a:latin typeface="Segoe Print" panose="02000600000000000000" pitchFamily="2" charset="0"/>
              </a:rPr>
              <a:t>’, and a </a:t>
            </a:r>
            <a:r>
              <a:rPr lang="en-GB" sz="2000" b="1" dirty="0" smtClean="0">
                <a:latin typeface="Segoe Print" panose="02000600000000000000" pitchFamily="2" charset="0"/>
              </a:rPr>
              <a:t>‘</a:t>
            </a:r>
            <a:r>
              <a:rPr lang="en-GB" sz="2000" b="1" dirty="0" err="1" smtClean="0">
                <a:latin typeface="Segoe Print" panose="02000600000000000000" pitchFamily="2" charset="0"/>
              </a:rPr>
              <a:t>Brindavan</a:t>
            </a:r>
            <a:r>
              <a:rPr lang="en-GB" sz="2000" dirty="0" smtClean="0">
                <a:latin typeface="Segoe Print" panose="02000600000000000000" pitchFamily="2" charset="0"/>
              </a:rPr>
              <a:t>’ or ‘</a:t>
            </a:r>
            <a:r>
              <a:rPr lang="en-GB" sz="2000" b="1" dirty="0" err="1" smtClean="0">
                <a:latin typeface="Segoe Print" panose="02000600000000000000" pitchFamily="2" charset="0"/>
              </a:rPr>
              <a:t>Tulsi</a:t>
            </a:r>
            <a:r>
              <a:rPr lang="en-GB" sz="2000" b="1" dirty="0" smtClean="0">
                <a:latin typeface="Segoe Print" panose="02000600000000000000" pitchFamily="2" charset="0"/>
              </a:rPr>
              <a:t> structure</a:t>
            </a:r>
            <a:r>
              <a:rPr lang="en-GB" sz="2000" dirty="0" smtClean="0">
                <a:latin typeface="Segoe Print" panose="02000600000000000000" pitchFamily="2" charset="0"/>
              </a:rPr>
              <a:t>’ has ben built over their mortal remains</a:t>
            </a:r>
            <a:endParaRPr lang="en-IN" sz="2000" dirty="0">
              <a:latin typeface="Segoe Print" panose="020006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618" y="457199"/>
            <a:ext cx="10695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 smtClean="0"/>
              <a:t>THE STORY OF JACK AND JILL</a:t>
            </a:r>
            <a:endParaRPr lang="en-IN" sz="5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856" y="1687293"/>
            <a:ext cx="3630940" cy="501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50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8950" y="650255"/>
            <a:ext cx="96236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>
                <a:latin typeface="Segoe Print" panose="02000600000000000000" pitchFamily="2" charset="0"/>
              </a:rPr>
              <a:t>QUIZ</a:t>
            </a:r>
          </a:p>
          <a:p>
            <a:endParaRPr lang="en-GB" sz="2400" dirty="0">
              <a:latin typeface="Segoe Print" panose="02000600000000000000" pitchFamily="2" charset="0"/>
            </a:endParaRPr>
          </a:p>
          <a:p>
            <a:endParaRPr lang="en-GB" sz="2400" dirty="0" smtClean="0">
              <a:latin typeface="Segoe Print" panose="020006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When was Prasanthi Nilayam inaugurated? Which birthday of Swami did the inauguration mark?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The Sathwik Gate leads us to_____.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Whose paintings are present in the Prasanthi Prayer Hall?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What is the Significance of “AUM”?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What are the activities done during the </a:t>
            </a:r>
            <a:r>
              <a:rPr lang="en-GB" sz="2400" dirty="0" err="1" smtClean="0">
                <a:latin typeface="Segoe Print" panose="02000600000000000000" pitchFamily="2" charset="0"/>
              </a:rPr>
              <a:t>Dasara</a:t>
            </a:r>
            <a:r>
              <a:rPr lang="en-GB" sz="2400" dirty="0" smtClean="0">
                <a:latin typeface="Segoe Print" panose="02000600000000000000" pitchFamily="2" charset="0"/>
              </a:rPr>
              <a:t> festival?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What is </a:t>
            </a:r>
            <a:r>
              <a:rPr lang="en-GB" sz="2400" dirty="0" err="1" smtClean="0">
                <a:latin typeface="Segoe Print" panose="02000600000000000000" pitchFamily="2" charset="0"/>
              </a:rPr>
              <a:t>Sivaratri</a:t>
            </a:r>
            <a:r>
              <a:rPr lang="en-GB" sz="2400" dirty="0" smtClean="0">
                <a:latin typeface="Segoe Print" panose="02000600000000000000" pitchFamily="2" charset="0"/>
              </a:rPr>
              <a:t> festival famous for in Prasanthi Nilayam?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What did Baba insist to the devotees of Madras?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On which Auspicious day was the Bodhi tree planted?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 smtClean="0">
                <a:latin typeface="Segoe Print" panose="02000600000000000000" pitchFamily="2" charset="0"/>
              </a:rPr>
              <a:t>What are the qualities of Jack and Jill?</a:t>
            </a:r>
            <a:endParaRPr lang="en-IN" sz="2400" dirty="0"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307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646</TotalTime>
  <Words>867</Words>
  <Application>Microsoft Office PowerPoint</Application>
  <PresentationFormat>Widescreen</PresentationFormat>
  <Paragraphs>78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Corbel</vt:lpstr>
      <vt:lpstr>Papyrus</vt:lpstr>
      <vt:lpstr>Segoe Print</vt:lpstr>
      <vt:lpstr>Segoe Script</vt:lpstr>
      <vt:lpstr>Segoe UI Black</vt:lpstr>
      <vt:lpstr>Sitka Banner</vt:lpstr>
      <vt:lpstr>Wingdings</vt:lpstr>
      <vt:lpstr>Basis</vt:lpstr>
      <vt:lpstr>PowerPoint Presentation</vt:lpstr>
      <vt:lpstr>PowerPoint Presentation</vt:lpstr>
      <vt:lpstr>PowerPoint Presentation</vt:lpstr>
      <vt:lpstr>THE PRAYER HALL OF PRASANTHI NILAYAM AND IT’S SIGNIFICANCE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Prasanthi Nilayam</dc:title>
  <dc:creator>bba 1</dc:creator>
  <cp:lastModifiedBy>bba1</cp:lastModifiedBy>
  <cp:revision>73</cp:revision>
  <dcterms:created xsi:type="dcterms:W3CDTF">2023-08-26T02:04:51Z</dcterms:created>
  <dcterms:modified xsi:type="dcterms:W3CDTF">2023-09-16T10:27:41Z</dcterms:modified>
</cp:coreProperties>
</file>