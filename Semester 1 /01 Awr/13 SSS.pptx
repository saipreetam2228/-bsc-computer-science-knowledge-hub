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368" autoAdjust="0"/>
    <p:restoredTop sz="94660"/>
  </p:normalViewPr>
  <p:slideViewPr>
    <p:cSldViewPr snapToGrid="0">
      <p:cViewPr varScale="1">
        <p:scale>
          <a:sx n="73" d="100"/>
          <a:sy n="73" d="100"/>
        </p:scale>
        <p:origin x="40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5B70BC-52CB-4EA0-8A9F-E137FD873861}" type="datetimeFigureOut">
              <a:rPr lang="en-IN" smtClean="0"/>
              <a:t>01-09-2023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0D6B55-2709-494A-99C1-29E18169E0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64918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4B812-C74B-493B-9C8A-5DFC8BFB8A38}" type="datetime1">
              <a:rPr lang="en-US" smtClean="0"/>
              <a:t>9/1/2023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A4F70-E429-44DA-81B5-0FDBCC867D7D}" type="datetime1">
              <a:rPr lang="en-US" smtClean="0"/>
              <a:t>9/1/2023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9F5F-7693-4B89-8512-499F360D55B4}" type="datetime1">
              <a:rPr lang="en-US" smtClean="0"/>
              <a:t>9/1/2023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0B3C9-11D2-4613-B23D-B53237B285F4}" type="datetime1">
              <a:rPr lang="en-US" smtClean="0"/>
              <a:t>9/1/2023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817EF-CDFC-4387-A4F4-27B1F8A05903}" type="datetime1">
              <a:rPr lang="en-US" smtClean="0"/>
              <a:t>9/1/2023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1E0B5-3655-44CB-910C-4F4B4DAA9AB5}" type="datetime1">
              <a:rPr lang="en-US" smtClean="0"/>
              <a:t>9/1/2023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3D33B-37C5-42EF-A93E-010845884669}" type="datetime1">
              <a:rPr lang="en-US" smtClean="0"/>
              <a:t>9/1/2023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558C0-40EC-4F6A-8711-35F7E8479499}" type="datetime1">
              <a:rPr lang="en-US" smtClean="0"/>
              <a:t>9/1/2023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FD8B3-9BBB-496C-838C-6BF00F7D2D34}" type="datetime1">
              <a:rPr lang="en-US" smtClean="0"/>
              <a:t>9/1/2023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8DF06-59DE-4EA3-9F25-2E830830D59E}" type="datetime1">
              <a:rPr lang="en-US" smtClean="0"/>
              <a:t>9/1/2023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886F8-8120-4E23-BF64-E3C4F790C2A9}" type="datetime1">
              <a:rPr lang="en-US" smtClean="0"/>
              <a:t>9/1/2023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AB8E8-1A74-450B-BBE8-DAC8DBA614EC}" type="datetime1">
              <a:rPr lang="en-US" smtClean="0"/>
              <a:t>9/1/2023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4CAA7-29ED-4CFE-AF55-2DD792D6980B}" type="datetime1">
              <a:rPr lang="en-US" smtClean="0"/>
              <a:t>9/1/2023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B57A5-5386-4617-8842-937CC8A227C9}" type="datetime1">
              <a:rPr lang="en-US" smtClean="0"/>
              <a:t>9/1/2023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34C4B-CE41-4D2A-9DDB-CACDEB5D3B93}" type="datetime1">
              <a:rPr lang="en-US" smtClean="0"/>
              <a:t>9/1/2023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ECEFD-E640-4B21-9C52-FAEF78C3598B}" type="datetime1">
              <a:rPr lang="en-US" smtClean="0"/>
              <a:t>9/1/2023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EFCC7-6B48-4F8C-99FD-12B5253ADDB3}" type="datetime1">
              <a:rPr lang="en-US" smtClean="0"/>
              <a:t>9/1/2023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931A197F-1FB6-499C-B01B-04DEE2913A98}" type="datetime1">
              <a:rPr lang="en-US" smtClean="0"/>
              <a:t>9/1/2023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39913" y="1482671"/>
            <a:ext cx="6055742" cy="2347690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90978" y="4777380"/>
            <a:ext cx="8825658" cy="861420"/>
          </a:xfrm>
        </p:spPr>
        <p:txBody>
          <a:bodyPr>
            <a:noAutofit/>
          </a:bodyPr>
          <a:lstStyle/>
          <a:p>
            <a:r>
              <a:rPr lang="en-GB" sz="4000" dirty="0" smtClean="0">
                <a:latin typeface="Berlin Sans FB Demi" panose="020E0802020502020306" pitchFamily="34" charset="0"/>
              </a:rPr>
              <a:t>Offering our </a:t>
            </a:r>
            <a:r>
              <a:rPr lang="en-GB" sz="4000" dirty="0" err="1" smtClean="0">
                <a:latin typeface="Berlin Sans FB Demi" panose="020E0802020502020306" pitchFamily="34" charset="0"/>
              </a:rPr>
              <a:t>pranams</a:t>
            </a:r>
            <a:r>
              <a:rPr lang="en-GB" sz="4000" dirty="0" smtClean="0">
                <a:latin typeface="Berlin Sans FB Demi" panose="020E0802020502020306" pitchFamily="34" charset="0"/>
              </a:rPr>
              <a:t> at the lotus feet of mother Sai</a:t>
            </a:r>
            <a:endParaRPr lang="en-IN" sz="4000" dirty="0">
              <a:latin typeface="Berlin Sans FB Demi" panose="020E0802020502020306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9721" y="373056"/>
            <a:ext cx="8085908" cy="4156129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6222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8739" y="2036270"/>
            <a:ext cx="6303330" cy="1400530"/>
          </a:xfrm>
        </p:spPr>
        <p:txBody>
          <a:bodyPr/>
          <a:lstStyle/>
          <a:p>
            <a:r>
              <a:rPr lang="en-GB" sz="7200" dirty="0" smtClean="0"/>
              <a:t>Chapter: 13</a:t>
            </a:r>
            <a:br>
              <a:rPr lang="en-GB" sz="7200" dirty="0" smtClean="0"/>
            </a:br>
            <a:r>
              <a:rPr lang="en-GB" sz="7200" dirty="0" smtClean="0"/>
              <a:t>“I am Here”</a:t>
            </a:r>
            <a:endParaRPr lang="en-IN" sz="72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759" y="294885"/>
            <a:ext cx="4506687" cy="6563115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186772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415245" y="1423850"/>
            <a:ext cx="7502434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3200" dirty="0"/>
              <a:t>......He had 'gone' out of the body, bringing the consoling message, “I am Here,” to some </a:t>
            </a:r>
            <a:r>
              <a:rPr lang="en-GB" sz="3200" dirty="0" err="1"/>
              <a:t>bhakta</a:t>
            </a:r>
            <a:r>
              <a:rPr lang="en-GB" sz="3200" dirty="0"/>
              <a:t>, in extreme distress!... “This is My Duty! Wherever I am, whatever I may be doing, when the </a:t>
            </a:r>
            <a:r>
              <a:rPr lang="en-GB" sz="3200" dirty="0" err="1"/>
              <a:t>bhaktas</a:t>
            </a:r>
            <a:r>
              <a:rPr lang="en-GB" sz="3200" dirty="0"/>
              <a:t> call, I have to go and give them succour.” </a:t>
            </a:r>
            <a:endParaRPr lang="en-IN" sz="32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444138" y="652840"/>
            <a:ext cx="3513908" cy="476794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09414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595257" y="2424112"/>
            <a:ext cx="6396446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3200" dirty="0"/>
              <a:t>ON THE eighth day of September 1958, in the evening, Baba was addressing a vast gathering </a:t>
            </a:r>
            <a:endParaRPr lang="en-IN" sz="32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1554556"/>
            <a:ext cx="5187032" cy="356608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177411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994366" y="1491232"/>
            <a:ext cx="6096000" cy="193899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sz="2400" dirty="0">
                <a:latin typeface="Arial Black" panose="020B0A04020102020204" pitchFamily="34" charset="0"/>
              </a:rPr>
              <a:t>On the 24th November 1958, there was </a:t>
            </a:r>
            <a:r>
              <a:rPr lang="en-GB" sz="2400" dirty="0" err="1">
                <a:latin typeface="Arial Black" panose="020B0A04020102020204" pitchFamily="34" charset="0"/>
              </a:rPr>
              <a:t>Uyyalotsavam</a:t>
            </a:r>
            <a:r>
              <a:rPr lang="en-GB" sz="2400" dirty="0">
                <a:latin typeface="Arial Black" panose="020B0A04020102020204" pitchFamily="34" charset="0"/>
              </a:rPr>
              <a:t> at </a:t>
            </a:r>
            <a:r>
              <a:rPr lang="en-GB" sz="2400" dirty="0" err="1">
                <a:latin typeface="Arial Black" panose="020B0A04020102020204" pitchFamily="34" charset="0"/>
              </a:rPr>
              <a:t>Puttaparthi</a:t>
            </a:r>
            <a:r>
              <a:rPr lang="en-GB" sz="2400" dirty="0">
                <a:latin typeface="Arial Black" panose="020B0A04020102020204" pitchFamily="34" charset="0"/>
              </a:rPr>
              <a:t>, as part </a:t>
            </a:r>
            <a:r>
              <a:rPr lang="en-GB" dirty="0">
                <a:latin typeface="Arial Black" panose="020B0A04020102020204" pitchFamily="34" charset="0"/>
              </a:rPr>
              <a:t>of</a:t>
            </a:r>
            <a:r>
              <a:rPr lang="en-GB" sz="2400" dirty="0">
                <a:latin typeface="Arial Black" panose="020B0A04020102020204" pitchFamily="34" charset="0"/>
              </a:rPr>
              <a:t> the Birthday</a:t>
            </a:r>
          </a:p>
          <a:p>
            <a:r>
              <a:rPr lang="en-GB" sz="2400" dirty="0">
                <a:latin typeface="Arial Black" panose="020B0A04020102020204" pitchFamily="34" charset="0"/>
              </a:rPr>
              <a:t>celebrations of </a:t>
            </a:r>
            <a:r>
              <a:rPr lang="en-GB" sz="2400" dirty="0" err="1">
                <a:latin typeface="Arial Black" panose="020B0A04020102020204" pitchFamily="34" charset="0"/>
              </a:rPr>
              <a:t>Bhagawan</a:t>
            </a:r>
            <a:r>
              <a:rPr lang="en-GB" sz="2400" dirty="0">
                <a:latin typeface="Arial Black" panose="020B0A04020102020204" pitchFamily="34" charset="0"/>
              </a:rPr>
              <a:t> Sri </a:t>
            </a:r>
            <a:r>
              <a:rPr lang="en-GB" sz="2400" dirty="0" err="1">
                <a:latin typeface="Arial Black" panose="020B0A04020102020204" pitchFamily="34" charset="0"/>
              </a:rPr>
              <a:t>Sathya</a:t>
            </a:r>
            <a:r>
              <a:rPr lang="en-GB" sz="2400" dirty="0">
                <a:latin typeface="Arial Black" panose="020B0A04020102020204" pitchFamily="34" charset="0"/>
              </a:rPr>
              <a:t> Sai Baba.</a:t>
            </a:r>
            <a:endParaRPr lang="en-IN" sz="2400" dirty="0">
              <a:latin typeface="Arial Black" panose="020B0A040201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91232"/>
            <a:ext cx="4902500" cy="425642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7" name="Rectangle 6"/>
          <p:cNvSpPr/>
          <p:nvPr/>
        </p:nvSpPr>
        <p:spPr>
          <a:xfrm>
            <a:off x="5164183" y="3956821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dirty="0"/>
              <a:t>He said later, a devotee's father, a dropsy patient, suddenly afflicted with a heart attack, who was being lifted on to an ambulance. He gave him His </a:t>
            </a:r>
            <a:r>
              <a:rPr lang="en-GB" dirty="0" err="1"/>
              <a:t>darshan</a:t>
            </a:r>
            <a:r>
              <a:rPr lang="en-GB" dirty="0"/>
              <a:t> and </a:t>
            </a:r>
            <a:r>
              <a:rPr lang="en-GB" dirty="0" err="1"/>
              <a:t>vibhuti</a:t>
            </a:r>
            <a:r>
              <a:rPr lang="en-GB" dirty="0"/>
              <a:t> and came back to the Swing in the Hall.</a:t>
            </a:r>
            <a:endParaRPr lang="en-IN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79485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35040" y="2126122"/>
            <a:ext cx="6096000" cy="80021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dirty="0"/>
              <a:t>Baba ran up to him, with the message</a:t>
            </a:r>
            <a:r>
              <a:rPr lang="en-GB" dirty="0" smtClean="0"/>
              <a:t>,</a:t>
            </a:r>
          </a:p>
          <a:p>
            <a:r>
              <a:rPr lang="en-GB" sz="2800" dirty="0" smtClean="0"/>
              <a:t>"</a:t>
            </a:r>
            <a:r>
              <a:rPr lang="en-GB" sz="2800" dirty="0"/>
              <a:t>Why fear, when I am </a:t>
            </a:r>
            <a:r>
              <a:rPr lang="en-GB" sz="2800" dirty="0" smtClean="0"/>
              <a:t>here"</a:t>
            </a:r>
            <a:endParaRPr lang="en-IN" sz="2800" dirty="0"/>
          </a:p>
        </p:txBody>
      </p:sp>
      <p:sp>
        <p:nvSpPr>
          <p:cNvPr id="7" name="Rectangle 6"/>
          <p:cNvSpPr/>
          <p:nvPr/>
        </p:nvSpPr>
        <p:spPr>
          <a:xfrm>
            <a:off x="1149532" y="1432895"/>
            <a:ext cx="3779184" cy="4488357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6</a:t>
            </a:fld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416630" y="417085"/>
            <a:ext cx="68754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 smtClean="0">
                <a:solidFill>
                  <a:srgbClr val="FFFF00"/>
                </a:solidFill>
                <a:latin typeface="Bahnschrift SemiLight" panose="020B0502040204020203" pitchFamily="34" charset="0"/>
              </a:rPr>
              <a:t>Saving his </a:t>
            </a:r>
            <a:r>
              <a:rPr lang="en-GB" sz="3600" dirty="0" err="1" smtClean="0">
                <a:solidFill>
                  <a:srgbClr val="FFFF00"/>
                </a:solidFill>
                <a:latin typeface="Bahnschrift SemiLight" panose="020B0502040204020203" pitchFamily="34" charset="0"/>
              </a:rPr>
              <a:t>bhakta</a:t>
            </a:r>
            <a:r>
              <a:rPr lang="en-GB" sz="3600" dirty="0" smtClean="0">
                <a:solidFill>
                  <a:srgbClr val="FFFF00"/>
                </a:solidFill>
                <a:latin typeface="Bahnschrift SemiLight" panose="020B0502040204020203" pitchFamily="34" charset="0"/>
              </a:rPr>
              <a:t> from accident </a:t>
            </a:r>
            <a:endParaRPr lang="en-IN" sz="3600" dirty="0">
              <a:solidFill>
                <a:srgbClr val="FFFF00"/>
              </a:solidFill>
              <a:latin typeface="Bahnschrift Semi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0337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4095" y="1092220"/>
            <a:ext cx="3541139" cy="498382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4" name="Rectangle 3"/>
          <p:cNvSpPr/>
          <p:nvPr/>
        </p:nvSpPr>
        <p:spPr>
          <a:xfrm>
            <a:off x="853439" y="2498693"/>
            <a:ext cx="6344195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GB" sz="2400" dirty="0">
                <a:solidFill>
                  <a:prstClr val="white"/>
                </a:solidFill>
                <a:latin typeface="Arial Black" panose="020B0A04020102020204" pitchFamily="34" charset="0"/>
              </a:rPr>
              <a:t>During the </a:t>
            </a:r>
            <a:r>
              <a:rPr lang="en-GB" sz="2400" dirty="0" err="1">
                <a:solidFill>
                  <a:prstClr val="white"/>
                </a:solidFill>
                <a:latin typeface="Arial Black" panose="020B0A04020102020204" pitchFamily="34" charset="0"/>
              </a:rPr>
              <a:t>Razakar</a:t>
            </a:r>
            <a:r>
              <a:rPr lang="en-GB" sz="2400" dirty="0">
                <a:solidFill>
                  <a:prstClr val="white"/>
                </a:solidFill>
                <a:latin typeface="Arial Black" panose="020B0A04020102020204" pitchFamily="34" charset="0"/>
              </a:rPr>
              <a:t> troubles and </a:t>
            </a:r>
            <a:r>
              <a:rPr lang="en-GB" sz="2400" dirty="0" err="1">
                <a:solidFill>
                  <a:prstClr val="white"/>
                </a:solidFill>
                <a:latin typeface="Arial Black" panose="020B0A04020102020204" pitchFamily="34" charset="0"/>
              </a:rPr>
              <a:t>dacoities</a:t>
            </a:r>
            <a:r>
              <a:rPr lang="en-GB" sz="2400" dirty="0">
                <a:solidFill>
                  <a:prstClr val="white"/>
                </a:solidFill>
                <a:latin typeface="Arial Black" panose="020B0A04020102020204" pitchFamily="34" charset="0"/>
              </a:rPr>
              <a:t> in Hyderabad, when the life of a </a:t>
            </a:r>
            <a:r>
              <a:rPr lang="en-GB" sz="2400" dirty="0" err="1">
                <a:solidFill>
                  <a:prstClr val="white"/>
                </a:solidFill>
                <a:latin typeface="Arial Black" panose="020B0A04020102020204" pitchFamily="34" charset="0"/>
              </a:rPr>
              <a:t>bhakta</a:t>
            </a:r>
            <a:r>
              <a:rPr lang="en-GB" sz="2400" dirty="0">
                <a:solidFill>
                  <a:prstClr val="white"/>
                </a:solidFill>
                <a:latin typeface="Arial Black" panose="020B0A04020102020204" pitchFamily="34" charset="0"/>
              </a:rPr>
              <a:t> was in</a:t>
            </a:r>
          </a:p>
          <a:p>
            <a:pPr lvl="0"/>
            <a:r>
              <a:rPr lang="en-GB" sz="2400" dirty="0">
                <a:solidFill>
                  <a:prstClr val="white"/>
                </a:solidFill>
                <a:latin typeface="Arial Black" panose="020B0A04020102020204" pitchFamily="34" charset="0"/>
              </a:rPr>
              <a:t>imminent peril, Baba 'went' to his rescue</a:t>
            </a:r>
            <a:endParaRPr lang="en-IN" sz="2400" dirty="0">
              <a:solidFill>
                <a:prstClr val="white"/>
              </a:solidFill>
              <a:latin typeface="Arial Black" panose="020B0A04020102020204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863712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5399314" y="1692368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dirty="0">
                <a:latin typeface="Arial Black" panose="020B0A04020102020204" pitchFamily="34" charset="0"/>
              </a:rPr>
              <a:t>A villager had quarrelled with his brother about a sharing of produce and he came over to </a:t>
            </a:r>
            <a:r>
              <a:rPr lang="en-GB" dirty="0" err="1">
                <a:latin typeface="Arial Black" panose="020B0A04020102020204" pitchFamily="34" charset="0"/>
              </a:rPr>
              <a:t>Puttaparthi</a:t>
            </a:r>
            <a:r>
              <a:rPr lang="en-GB" dirty="0">
                <a:latin typeface="Arial Black" panose="020B0A04020102020204" pitchFamily="34" charset="0"/>
              </a:rPr>
              <a:t>, hoping to remain there itself on the charity of the pilgrims</a:t>
            </a:r>
            <a:endParaRPr lang="en-IN" dirty="0">
              <a:latin typeface="Arial Black" panose="020B0A040201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73842" y="1031964"/>
            <a:ext cx="4377425" cy="4193179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8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5599612" y="3612621"/>
            <a:ext cx="6096000" cy="68505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>
                <a:solidFill>
                  <a:schemeClr val="accent3"/>
                </a:solidFill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 "</a:t>
            </a:r>
            <a:r>
              <a:rPr lang="en-IN" dirty="0" err="1">
                <a:solidFill>
                  <a:schemeClr val="accent3"/>
                </a:solidFill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Dattatreya</a:t>
            </a:r>
            <a:r>
              <a:rPr lang="en-IN" dirty="0">
                <a:solidFill>
                  <a:schemeClr val="accent3"/>
                </a:solidFill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dirty="0" err="1">
                <a:solidFill>
                  <a:schemeClr val="accent3"/>
                </a:solidFill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tatkshanaath</a:t>
            </a:r>
            <a:r>
              <a:rPr lang="en-IN" dirty="0">
                <a:solidFill>
                  <a:schemeClr val="accent3"/>
                </a:solidFill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dirty="0" err="1">
                <a:solidFill>
                  <a:schemeClr val="accent3"/>
                </a:solidFill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sarvagami</a:t>
            </a:r>
            <a:r>
              <a:rPr lang="en-IN" dirty="0">
                <a:solidFill>
                  <a:schemeClr val="accent3"/>
                </a:solidFill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IN" dirty="0" err="1">
                <a:solidFill>
                  <a:schemeClr val="accent3"/>
                </a:solidFill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Tyagi</a:t>
            </a:r>
            <a:r>
              <a:rPr lang="en-IN" dirty="0">
                <a:solidFill>
                  <a:schemeClr val="accent3"/>
                </a:solidFill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dirty="0" err="1">
                <a:solidFill>
                  <a:schemeClr val="accent3"/>
                </a:solidFill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bhogi</a:t>
            </a:r>
            <a:r>
              <a:rPr lang="en-IN" dirty="0">
                <a:solidFill>
                  <a:schemeClr val="accent3"/>
                </a:solidFill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dirty="0" err="1">
                <a:solidFill>
                  <a:schemeClr val="accent3"/>
                </a:solidFill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divya</a:t>
            </a:r>
            <a:r>
              <a:rPr lang="en-IN" dirty="0">
                <a:solidFill>
                  <a:schemeClr val="accent3"/>
                </a:solidFill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yogi </a:t>
            </a:r>
            <a:r>
              <a:rPr lang="en-IN" dirty="0" err="1">
                <a:solidFill>
                  <a:schemeClr val="accent3"/>
                </a:solidFill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dayaluh</a:t>
            </a:r>
            <a:r>
              <a:rPr lang="en-IN" dirty="0">
                <a:solidFill>
                  <a:schemeClr val="accent3"/>
                </a:solidFill>
                <a:latin typeface="Arial Rounded MT Bold" panose="020F07040305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"</a:t>
            </a:r>
          </a:p>
        </p:txBody>
      </p:sp>
      <p:sp>
        <p:nvSpPr>
          <p:cNvPr id="6" name="Rectangle 5"/>
          <p:cNvSpPr/>
          <p:nvPr/>
        </p:nvSpPr>
        <p:spPr>
          <a:xfrm>
            <a:off x="5529943" y="4251222"/>
            <a:ext cx="6096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/>
              <a:t>was absolutely correct, so far as this </a:t>
            </a:r>
            <a:r>
              <a:rPr lang="en-GB" dirty="0" err="1"/>
              <a:t>Sathya</a:t>
            </a:r>
            <a:r>
              <a:rPr lang="en-GB" dirty="0"/>
              <a:t> Sai avatar of </a:t>
            </a:r>
            <a:r>
              <a:rPr lang="en-GB" dirty="0" err="1"/>
              <a:t>Dattatreya</a:t>
            </a:r>
            <a:r>
              <a:rPr lang="en-GB" dirty="0"/>
              <a:t> was concerned.</a:t>
            </a:r>
            <a:endParaRPr lang="en-IN" dirty="0"/>
          </a:p>
        </p:txBody>
      </p:sp>
      <p:sp>
        <p:nvSpPr>
          <p:cNvPr id="7" name="Rectangle 6"/>
          <p:cNvSpPr/>
          <p:nvPr/>
        </p:nvSpPr>
        <p:spPr>
          <a:xfrm>
            <a:off x="5399314" y="3370217"/>
            <a:ext cx="6226629" cy="1854926"/>
          </a:xfrm>
          <a:prstGeom prst="rect">
            <a:avLst/>
          </a:prstGeom>
          <a:noFill/>
          <a:ln>
            <a:solidFill>
              <a:schemeClr val="bg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4724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9</a:t>
            </a:fld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901337" y="601751"/>
            <a:ext cx="933994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dirty="0" smtClean="0">
                <a:solidFill>
                  <a:srgbClr val="FFFF00"/>
                </a:solidFill>
                <a:latin typeface="Elephant" panose="020209040905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Experience </a:t>
            </a:r>
            <a:r>
              <a:rPr lang="en-IN" sz="2400" dirty="0">
                <a:solidFill>
                  <a:srgbClr val="FFFF00"/>
                </a:solidFill>
                <a:latin typeface="Elephant" panose="020209040905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of a Professor of Philosophy. He had contacts with a </a:t>
            </a:r>
            <a:r>
              <a:rPr lang="en-IN" sz="2400" dirty="0" err="1">
                <a:solidFill>
                  <a:srgbClr val="FFFF00"/>
                </a:solidFill>
                <a:latin typeface="Elephant" panose="020209040905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Dattatreya</a:t>
            </a:r>
            <a:r>
              <a:rPr lang="en-IN" sz="2400" dirty="0">
                <a:solidFill>
                  <a:srgbClr val="FFFF00"/>
                </a:solidFill>
                <a:latin typeface="Elephant" panose="020209040905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2400" dirty="0" err="1">
                <a:solidFill>
                  <a:srgbClr val="FFFF00"/>
                </a:solidFill>
                <a:latin typeface="Elephant" panose="020209040905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upasaka</a:t>
            </a:r>
            <a:r>
              <a:rPr lang="en-IN" sz="2400" dirty="0">
                <a:solidFill>
                  <a:srgbClr val="FFFF00"/>
                </a:solidFill>
                <a:latin typeface="Elephant" panose="020209040905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disciple of </a:t>
            </a:r>
            <a:r>
              <a:rPr lang="en-IN" sz="2400" dirty="0" err="1">
                <a:solidFill>
                  <a:srgbClr val="FFFF00"/>
                </a:solidFill>
                <a:latin typeface="Elephant" panose="020209040905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Gondhavali</a:t>
            </a:r>
            <a:r>
              <a:rPr lang="en-IN" sz="2400" dirty="0">
                <a:solidFill>
                  <a:srgbClr val="FFFF00"/>
                </a:solidFill>
                <a:latin typeface="Elephant" panose="020209040905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Brahma Chaitanya </a:t>
            </a:r>
            <a:r>
              <a:rPr lang="en-IN" sz="2400" dirty="0" err="1">
                <a:solidFill>
                  <a:srgbClr val="FFFF00"/>
                </a:solidFill>
                <a:latin typeface="Elephant" panose="0202090409050502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Maharaj</a:t>
            </a:r>
            <a:r>
              <a:rPr lang="en-IN" sz="24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IN" sz="2400" dirty="0">
              <a:solidFill>
                <a:srgbClr val="FFFF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136" y="1802080"/>
            <a:ext cx="3381795" cy="418011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6" name="Rectangle 5"/>
          <p:cNvSpPr/>
          <p:nvPr/>
        </p:nvSpPr>
        <p:spPr>
          <a:xfrm>
            <a:off x="3775166" y="2847703"/>
            <a:ext cx="6996473" cy="8826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Once, the </a:t>
            </a:r>
            <a:r>
              <a:rPr lang="en-IN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upasaka</a:t>
            </a: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told him about </a:t>
            </a:r>
            <a: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Sri </a:t>
            </a:r>
            <a:r>
              <a:rPr lang="en-IN" sz="24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Sathya</a:t>
            </a:r>
            <a: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Sai Baba </a:t>
            </a: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as the </a:t>
            </a:r>
            <a: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incarnation of </a:t>
            </a:r>
            <a:r>
              <a:rPr lang="en-IN" sz="24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Dattatreya</a:t>
            </a:r>
            <a: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90991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10</a:t>
            </a:fld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4942115" y="2450013"/>
            <a:ext cx="6096000" cy="156966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sz="2400" dirty="0"/>
              <a:t>very first words with which Baba began the conversation were, "Come on! Have your </a:t>
            </a:r>
            <a:r>
              <a:rPr lang="en-GB" sz="2400" dirty="0" err="1"/>
              <a:t>Namaskaram</a:t>
            </a:r>
            <a:r>
              <a:rPr lang="en-GB" sz="2400" dirty="0"/>
              <a:t>. This is the </a:t>
            </a:r>
            <a:r>
              <a:rPr lang="en-GB" sz="2400" b="1" dirty="0" err="1"/>
              <a:t>Dattatreya</a:t>
            </a:r>
            <a:r>
              <a:rPr lang="en-GB" sz="2400" b="1" dirty="0"/>
              <a:t> </a:t>
            </a:r>
            <a:r>
              <a:rPr lang="en-GB" sz="2400" b="1" dirty="0" err="1"/>
              <a:t>peetham</a:t>
            </a:r>
            <a:r>
              <a:rPr lang="en-GB" sz="2400" b="1" dirty="0"/>
              <a:t> </a:t>
            </a:r>
            <a:r>
              <a:rPr lang="en-GB" sz="2400" dirty="0"/>
              <a:t>for you!"</a:t>
            </a:r>
            <a:endParaRPr lang="en-IN" sz="24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122" y="142941"/>
            <a:ext cx="4306695" cy="639604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220899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11</a:t>
            </a:fld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541418" y="488248"/>
            <a:ext cx="93336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800" dirty="0" smtClean="0">
                <a:solidFill>
                  <a:srgbClr val="FFFF00"/>
                </a:solidFill>
                <a:latin typeface="Bookman Old Style" panose="02050604050505020204" pitchFamily="18" charset="0"/>
              </a:rPr>
              <a:t>He </a:t>
            </a:r>
            <a:r>
              <a:rPr lang="en-GB" sz="2800" dirty="0">
                <a:solidFill>
                  <a:srgbClr val="FFFF00"/>
                </a:solidFill>
                <a:latin typeface="Bookman Old Style" panose="02050604050505020204" pitchFamily="18" charset="0"/>
              </a:rPr>
              <a:t>left to vouchsafe </a:t>
            </a:r>
            <a:r>
              <a:rPr lang="en-GB" sz="2800" dirty="0" err="1">
                <a:solidFill>
                  <a:srgbClr val="FFFF00"/>
                </a:solidFill>
                <a:latin typeface="Bookman Old Style" panose="02050604050505020204" pitchFamily="18" charset="0"/>
              </a:rPr>
              <a:t>darshan</a:t>
            </a:r>
            <a:r>
              <a:rPr lang="en-GB" sz="2800" dirty="0">
                <a:solidFill>
                  <a:srgbClr val="FFFF00"/>
                </a:solidFill>
                <a:latin typeface="Bookman Old Style" panose="02050604050505020204" pitchFamily="18" charset="0"/>
              </a:rPr>
              <a:t> to the dying man! </a:t>
            </a:r>
            <a:endParaRPr lang="en-IN" sz="2800" dirty="0">
              <a:solidFill>
                <a:srgbClr val="FFFF0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643154" y="3095898"/>
            <a:ext cx="643998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/>
              <a:t>"If I ask for water to be given to a dying man somewhere, water is brought here also."</a:t>
            </a:r>
            <a:endParaRPr lang="en-IN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213" y="1298548"/>
            <a:ext cx="3579221" cy="510079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9" name="Cloud 8"/>
          <p:cNvSpPr/>
          <p:nvPr/>
        </p:nvSpPr>
        <p:spPr>
          <a:xfrm>
            <a:off x="4950823" y="2403565"/>
            <a:ext cx="6727371" cy="2047463"/>
          </a:xfrm>
          <a:prstGeom prst="cloud">
            <a:avLst/>
          </a:prstGeom>
          <a:noFill/>
          <a:ln>
            <a:solidFill>
              <a:schemeClr val="bg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380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12</a:t>
            </a:fld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5434374" y="1555072"/>
            <a:ext cx="6096000" cy="35394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sz="3200" dirty="0">
                <a:solidFill>
                  <a:srgbClr val="FFC000"/>
                </a:solidFill>
                <a:latin typeface="Bahnschrift" panose="020B0502040204020203" pitchFamily="34" charset="0"/>
              </a:rPr>
              <a:t>Baba says very often, "Do not waste your </a:t>
            </a:r>
            <a:r>
              <a:rPr lang="en-GB" sz="3200" b="1" dirty="0">
                <a:solidFill>
                  <a:srgbClr val="FFC000"/>
                </a:solidFill>
                <a:latin typeface="Bahnschrift" panose="020B0502040204020203" pitchFamily="34" charset="0"/>
              </a:rPr>
              <a:t>time</a:t>
            </a:r>
            <a:r>
              <a:rPr lang="en-GB" sz="3200" dirty="0">
                <a:solidFill>
                  <a:srgbClr val="FFC000"/>
                </a:solidFill>
                <a:latin typeface="Bahnschrift" panose="020B0502040204020203" pitchFamily="34" charset="0"/>
              </a:rPr>
              <a:t> and </a:t>
            </a:r>
            <a:r>
              <a:rPr lang="en-GB" sz="3200" b="1" dirty="0">
                <a:solidFill>
                  <a:srgbClr val="FFC000"/>
                </a:solidFill>
                <a:latin typeface="Bahnschrift" panose="020B0502040204020203" pitchFamily="34" charset="0"/>
              </a:rPr>
              <a:t>energy</a:t>
            </a:r>
            <a:r>
              <a:rPr lang="en-GB" sz="3200" dirty="0">
                <a:solidFill>
                  <a:srgbClr val="FFC000"/>
                </a:solidFill>
                <a:latin typeface="Bahnschrift" panose="020B0502040204020203" pitchFamily="34" charset="0"/>
              </a:rPr>
              <a:t> trying to find explanations for My deeds. Understand yourselves and your own nature, first. That will give the clue even to </a:t>
            </a:r>
            <a:r>
              <a:rPr lang="en-GB" sz="3200" b="1" dirty="0">
                <a:solidFill>
                  <a:srgbClr val="FFC000"/>
                </a:solidFill>
                <a:latin typeface="Bahnschrift" panose="020B0502040204020203" pitchFamily="34" charset="0"/>
              </a:rPr>
              <a:t>Me</a:t>
            </a:r>
            <a:r>
              <a:rPr lang="en-GB" sz="3200" dirty="0">
                <a:solidFill>
                  <a:srgbClr val="FFC000"/>
                </a:solidFill>
                <a:latin typeface="Bahnschrift" panose="020B0502040204020203" pitchFamily="34" charset="0"/>
              </a:rPr>
              <a:t>."</a:t>
            </a:r>
            <a:endParaRPr lang="en-IN" sz="3200" dirty="0">
              <a:solidFill>
                <a:srgbClr val="FFC000"/>
              </a:solidFill>
              <a:latin typeface="Bahnschrift" panose="020B0502040204020203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221" y="243465"/>
            <a:ext cx="5303153" cy="6374371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562772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13</a:t>
            </a:fld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484914" y="1726364"/>
            <a:ext cx="707571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/>
              <a:t>"Did you get the telegram?" It seemed he had got one! "What does it say? Prasad has high fever, is it?" asked Baba.</a:t>
            </a:r>
            <a:endParaRPr lang="en-IN" sz="2400" dirty="0"/>
          </a:p>
        </p:txBody>
      </p:sp>
      <p:sp>
        <p:nvSpPr>
          <p:cNvPr id="5" name="Rectangle 4"/>
          <p:cNvSpPr/>
          <p:nvPr/>
        </p:nvSpPr>
        <p:spPr>
          <a:xfrm>
            <a:off x="4484914" y="4090742"/>
            <a:ext cx="764635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/>
              <a:t>He tore it open, it was found that 'Prasad' had fever and that the temperature was as high as 104 degrees</a:t>
            </a:r>
            <a:r>
              <a:rPr lang="en-GB" dirty="0"/>
              <a:t>.</a:t>
            </a:r>
            <a:endParaRPr lang="en-IN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406" y="230667"/>
            <a:ext cx="2576297" cy="299139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406" y="3378816"/>
            <a:ext cx="2576297" cy="328324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7155449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14</a:t>
            </a:fld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5094739" y="1735986"/>
            <a:ext cx="6096000" cy="138499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sz="2800" dirty="0">
                <a:solidFill>
                  <a:schemeClr val="accent3"/>
                </a:solidFill>
              </a:rPr>
              <a:t>Baba said, "Don't worry at all; I had been there just now; the boy is out of danger."</a:t>
            </a:r>
            <a:endParaRPr lang="en-IN" sz="2800" dirty="0">
              <a:solidFill>
                <a:schemeClr val="accent3"/>
              </a:solidFill>
            </a:endParaRPr>
          </a:p>
        </p:txBody>
      </p:sp>
      <p:sp>
        <p:nvSpPr>
          <p:cNvPr id="4" name="Cloud Callout 3"/>
          <p:cNvSpPr/>
          <p:nvPr/>
        </p:nvSpPr>
        <p:spPr>
          <a:xfrm>
            <a:off x="4193178" y="1063416"/>
            <a:ext cx="7358743" cy="2730137"/>
          </a:xfrm>
          <a:prstGeom prst="cloudCallout">
            <a:avLst>
              <a:gd name="adj1" fmla="val -61129"/>
              <a:gd name="adj2" fmla="val 22309"/>
            </a:avLst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1656" y="3422904"/>
            <a:ext cx="8687" cy="1219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853" y="1259954"/>
            <a:ext cx="3129086" cy="432589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7661367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15</a:t>
            </a:fld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5094739" y="1537192"/>
            <a:ext cx="6096000" cy="375756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3200" dirty="0">
                <a:solidFill>
                  <a:schemeClr val="accent2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 you know, I had been to Madras just now, to see your </a:t>
            </a:r>
            <a:r>
              <a:rPr lang="en-IN" sz="3200" dirty="0" err="1">
                <a:solidFill>
                  <a:schemeClr val="accent2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Kusa</a:t>
            </a:r>
            <a:r>
              <a:rPr lang="en-IN" sz="3200" dirty="0">
                <a:solidFill>
                  <a:schemeClr val="accent2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? The little fellow developed Diphtheria and your brother had taken him to the Hospital. Don't worry My dear man; I have given him </a:t>
            </a:r>
            <a:r>
              <a:rPr lang="en-IN" sz="3200" dirty="0" err="1">
                <a:solidFill>
                  <a:schemeClr val="accent2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darshan</a:t>
            </a:r>
            <a:r>
              <a:rPr lang="en-IN" sz="3200" dirty="0">
                <a:solidFill>
                  <a:schemeClr val="accent2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he will be all right soon."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112" y="569838"/>
            <a:ext cx="4209202" cy="5504391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91735701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16</a:t>
            </a:fld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4675639" y="2113058"/>
            <a:ext cx="6096000" cy="1354217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GB" dirty="0">
              <a:solidFill>
                <a:srgbClr val="FFFF00"/>
              </a:solidFill>
            </a:endParaRPr>
          </a:p>
          <a:p>
            <a:r>
              <a:rPr lang="en-GB" sz="3200" dirty="0">
                <a:solidFill>
                  <a:srgbClr val="FFFF00"/>
                </a:solidFill>
              </a:rPr>
              <a:t>Baba speaks of His </a:t>
            </a:r>
            <a:r>
              <a:rPr lang="en-GB" sz="3200" dirty="0" err="1">
                <a:solidFill>
                  <a:srgbClr val="FFFF00"/>
                </a:solidFill>
              </a:rPr>
              <a:t>Mahimas</a:t>
            </a:r>
            <a:r>
              <a:rPr lang="en-GB" sz="3200" dirty="0">
                <a:solidFill>
                  <a:srgbClr val="FFFF00"/>
                </a:solidFill>
              </a:rPr>
              <a:t> as 'My visiting card!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015" y="849389"/>
            <a:ext cx="3771041" cy="5614472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73843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3573" y="2709331"/>
            <a:ext cx="9404723" cy="1400530"/>
          </a:xfrm>
        </p:spPr>
        <p:txBody>
          <a:bodyPr/>
          <a:lstStyle/>
          <a:p>
            <a:r>
              <a:rPr lang="en-GB" sz="4800" dirty="0" smtClean="0">
                <a:latin typeface="Century Schoolbook" panose="02040604050505020304" pitchFamily="18" charset="0"/>
              </a:rPr>
              <a:t>Thank you</a:t>
            </a:r>
            <a:br>
              <a:rPr lang="en-GB" sz="4800" dirty="0" smtClean="0">
                <a:latin typeface="Century Schoolbook" panose="02040604050505020304" pitchFamily="18" charset="0"/>
              </a:rPr>
            </a:br>
            <a:r>
              <a:rPr lang="en-GB" sz="4800" dirty="0" smtClean="0">
                <a:latin typeface="Century Schoolbook" panose="02040604050505020304" pitchFamily="18" charset="0"/>
              </a:rPr>
              <a:t>Jai Sai Ram…</a:t>
            </a:r>
            <a:endParaRPr lang="en-IN" sz="4800" dirty="0">
              <a:latin typeface="Century Schoolbook" panose="02040604050505020304" pitchFamily="18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17</a:t>
            </a:fld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6662" y="1441257"/>
            <a:ext cx="5799909" cy="3936679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07903574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172</TotalTime>
  <Words>561</Words>
  <Application>Microsoft Office PowerPoint</Application>
  <PresentationFormat>Widescreen</PresentationFormat>
  <Paragraphs>45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31" baseType="lpstr">
      <vt:lpstr>Arial</vt:lpstr>
      <vt:lpstr>Arial Black</vt:lpstr>
      <vt:lpstr>Arial Rounded MT Bold</vt:lpstr>
      <vt:lpstr>Bahnschrift</vt:lpstr>
      <vt:lpstr>Bahnschrift SemiLight</vt:lpstr>
      <vt:lpstr>Berlin Sans FB Demi</vt:lpstr>
      <vt:lpstr>Bookman Old Style</vt:lpstr>
      <vt:lpstr>Calibri</vt:lpstr>
      <vt:lpstr>Century Gothic</vt:lpstr>
      <vt:lpstr>Century Schoolbook</vt:lpstr>
      <vt:lpstr>Elephant</vt:lpstr>
      <vt:lpstr>Times New Roman</vt:lpstr>
      <vt:lpstr>Wingdings 3</vt:lpstr>
      <vt:lpstr>Ion</vt:lpstr>
      <vt:lpstr>PowerPoint Presentation</vt:lpstr>
      <vt:lpstr>Chapter: 13 “I am Here”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 Jai Sai Ram…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bba1</dc:creator>
  <cp:lastModifiedBy>bba1</cp:lastModifiedBy>
  <cp:revision>23</cp:revision>
  <dcterms:created xsi:type="dcterms:W3CDTF">2023-08-30T03:17:23Z</dcterms:created>
  <dcterms:modified xsi:type="dcterms:W3CDTF">2023-09-01T04:30:40Z</dcterms:modified>
</cp:coreProperties>
</file>