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1" r:id="rId6"/>
    <p:sldId id="262" r:id="rId7"/>
    <p:sldId id="264" r:id="rId8"/>
    <p:sldId id="269" r:id="rId9"/>
    <p:sldId id="270" r:id="rId10"/>
    <p:sldId id="272" r:id="rId11"/>
    <p:sldId id="271" r:id="rId12"/>
    <p:sldId id="274"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08B858-4359-44DE-8990-47032AE16E40}">
          <p14:sldIdLst>
            <p14:sldId id="256"/>
            <p14:sldId id="257"/>
          </p14:sldIdLst>
        </p14:section>
        <p14:section name="Untitled Section" id="{222F157A-0616-4110-AE3E-A4C48FB747EA}">
          <p14:sldIdLst>
            <p14:sldId id="258"/>
            <p14:sldId id="259"/>
            <p14:sldId id="261"/>
            <p14:sldId id="262"/>
            <p14:sldId id="264"/>
            <p14:sldId id="269"/>
            <p14:sldId id="270"/>
            <p14:sldId id="272"/>
            <p14:sldId id="271"/>
            <p14:sldId id="274"/>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085D78"/>
    <a:srgbClr val="ED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10C051A-F876-4008-BC48-F31A023ED9EB}" type="datetimeFigureOut">
              <a:rPr lang="en-IN" smtClean="0"/>
              <a:t>18-09-2023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766DC3-3F51-427E-BDD3-1F61AEB59E2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503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0C051A-F876-4008-BC48-F31A023ED9EB}" type="datetimeFigureOut">
              <a:rPr lang="en-IN" smtClean="0"/>
              <a:t>18-09-2023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548437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0C051A-F876-4008-BC48-F31A023ED9EB}" type="datetimeFigureOut">
              <a:rPr lang="en-IN" smtClean="0"/>
              <a:t>18-09-2023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766DC3-3F51-427E-BDD3-1F61AEB59E2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313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10C051A-F876-4008-BC48-F31A023ED9EB}" type="datetimeFigureOut">
              <a:rPr lang="en-IN" smtClean="0"/>
              <a:t>18-09-2023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144327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10C051A-F876-4008-BC48-F31A023ED9EB}" type="datetimeFigureOut">
              <a:rPr lang="en-IN" smtClean="0"/>
              <a:t>18-09-2023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1033985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10C051A-F876-4008-BC48-F31A023ED9EB}" type="datetimeFigureOut">
              <a:rPr lang="en-IN" smtClean="0"/>
              <a:t>18-09-2023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3205516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10C051A-F876-4008-BC48-F31A023ED9EB}" type="datetimeFigureOut">
              <a:rPr lang="en-IN" smtClean="0"/>
              <a:t>18-09-2023</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275438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10C051A-F876-4008-BC48-F31A023ED9EB}" type="datetimeFigureOut">
              <a:rPr lang="en-IN" smtClean="0"/>
              <a:t>18-09-2023</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766DC3-3F51-427E-BDD3-1F61AEB59E24}" type="slidenum">
              <a:rPr lang="en-IN" smtClean="0"/>
              <a:t>‹#›</a:t>
            </a:fld>
            <a:endParaRPr lang="en-IN"/>
          </a:p>
        </p:txBody>
      </p:sp>
    </p:spTree>
    <p:extLst>
      <p:ext uri="{BB962C8B-B14F-4D97-AF65-F5344CB8AC3E}">
        <p14:creationId xmlns:p14="http://schemas.microsoft.com/office/powerpoint/2010/main" val="356468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10C051A-F876-4008-BC48-F31A023ED9EB}" type="datetimeFigureOut">
              <a:rPr lang="en-IN" smtClean="0"/>
              <a:t>18-09-2023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3362579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0C051A-F876-4008-BC48-F31A023ED9EB}" type="datetimeFigureOut">
              <a:rPr lang="en-IN" smtClean="0"/>
              <a:t>18-09-2023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345741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0C051A-F876-4008-BC48-F31A023ED9EB}" type="datetimeFigureOut">
              <a:rPr lang="en-IN" smtClean="0"/>
              <a:t>18-09-2023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766DC3-3F51-427E-BDD3-1F61AEB59E24}" type="slidenum">
              <a:rPr lang="en-IN" smtClean="0"/>
              <a:t>‹#›</a:t>
            </a:fld>
            <a:endParaRPr lang="en-IN"/>
          </a:p>
        </p:txBody>
      </p:sp>
    </p:spTree>
    <p:extLst>
      <p:ext uri="{BB962C8B-B14F-4D97-AF65-F5344CB8AC3E}">
        <p14:creationId xmlns:p14="http://schemas.microsoft.com/office/powerpoint/2010/main" val="1164867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0C051A-F876-4008-BC48-F31A023ED9EB}" type="datetimeFigureOut">
              <a:rPr lang="en-IN" smtClean="0"/>
              <a:t>18-09-2023</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766DC3-3F51-427E-BDD3-1F61AEB59E2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0697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18856" y="140565"/>
            <a:ext cx="9144000" cy="2387600"/>
          </a:xfrm>
        </p:spPr>
        <p:txBody>
          <a:bodyPr anchor="ctr">
            <a:normAutofit/>
          </a:bodyPr>
          <a:lstStyle/>
          <a:p>
            <a:r>
              <a:rPr lang="en-GB" sz="6000" dirty="0" smtClean="0">
                <a:solidFill>
                  <a:schemeClr val="accent2"/>
                </a:solidFill>
                <a:effectLst>
                  <a:outerShdw blurRad="38100" dist="38100" dir="2700000" algn="tl">
                    <a:srgbClr val="000000">
                      <a:alpha val="43137"/>
                    </a:srgbClr>
                  </a:outerShdw>
                </a:effectLst>
                <a:latin typeface="Castellar" panose="020A0402060406010301" pitchFamily="18" charset="0"/>
              </a:rPr>
              <a:t>2.bALAGOPALA</a:t>
            </a:r>
            <a:endParaRPr lang="en-IN" sz="6000" dirty="0">
              <a:solidFill>
                <a:schemeClr val="accent2"/>
              </a:solidFill>
              <a:effectLst>
                <a:outerShdw blurRad="38100" dist="38100" dir="2700000" algn="tl">
                  <a:srgbClr val="000000">
                    <a:alpha val="43137"/>
                  </a:srgbClr>
                </a:outerShdw>
              </a:effectLst>
              <a:latin typeface="Castellar" panose="020A0402060406010301" pitchFamily="18" charset="0"/>
            </a:endParaRPr>
          </a:p>
        </p:txBody>
      </p:sp>
      <p:sp>
        <p:nvSpPr>
          <p:cNvPr id="3" name="Subtitle 2"/>
          <p:cNvSpPr>
            <a:spLocks noGrp="1"/>
          </p:cNvSpPr>
          <p:nvPr>
            <p:ph type="subTitle" idx="1"/>
          </p:nvPr>
        </p:nvSpPr>
        <p:spPr>
          <a:xfrm>
            <a:off x="3263645" y="1515291"/>
            <a:ext cx="8273143" cy="731520"/>
          </a:xfrm>
        </p:spPr>
        <p:txBody>
          <a:bodyPr>
            <a:normAutofit fontScale="25000" lnSpcReduction="20000"/>
          </a:bodyPr>
          <a:lstStyle/>
          <a:p>
            <a:r>
              <a:rPr lang="en-GB" dirty="0" smtClean="0"/>
              <a:t>  </a:t>
            </a:r>
          </a:p>
          <a:p>
            <a:endParaRPr lang="en-GB" sz="3200" dirty="0">
              <a:solidFill>
                <a:schemeClr val="tx1">
                  <a:lumMod val="95000"/>
                  <a:lumOff val="5000"/>
                </a:schemeClr>
              </a:solidFill>
            </a:endParaRPr>
          </a:p>
          <a:p>
            <a:r>
              <a:rPr lang="en-GB" sz="8000" dirty="0" smtClean="0">
                <a:solidFill>
                  <a:schemeClr val="accent2"/>
                </a:solidFill>
                <a:effectLst>
                  <a:outerShdw blurRad="38100" dist="38100" dir="2700000" algn="tl">
                    <a:srgbClr val="000000">
                      <a:alpha val="43137"/>
                    </a:srgbClr>
                  </a:outerShdw>
                </a:effectLst>
                <a:latin typeface="Comic Sans MS" panose="030F0702030302020204" pitchFamily="66" charset="0"/>
              </a:rPr>
              <a:t>                                      </a:t>
            </a:r>
            <a:r>
              <a:rPr lang="en-GB" sz="8000" dirty="0" smtClean="0">
                <a:solidFill>
                  <a:schemeClr val="accent2"/>
                </a:solidFill>
                <a:effectLst>
                  <a:outerShdw blurRad="38100" dist="38100" dir="2700000" algn="tl">
                    <a:srgbClr val="000000">
                      <a:alpha val="43137"/>
                    </a:srgbClr>
                  </a:outerShdw>
                </a:effectLst>
                <a:latin typeface="Bahnschrift SemiLight" panose="020B0502040204020203" pitchFamily="34" charset="0"/>
              </a:rPr>
              <a:t>~SATHYAM SIVAM SUNDARAM</a:t>
            </a:r>
            <a:endParaRPr lang="en-IN" sz="8000" dirty="0">
              <a:solidFill>
                <a:schemeClr val="accent2"/>
              </a:solidFill>
              <a:effectLst>
                <a:outerShdw blurRad="38100" dist="38100" dir="2700000" algn="tl">
                  <a:srgbClr val="000000">
                    <a:alpha val="43137"/>
                  </a:srgbClr>
                </a:outerShdw>
              </a:effectLst>
              <a:latin typeface="Bahnschrift SemiLight" panose="020B0502040204020203" pitchFamily="34" charset="0"/>
            </a:endParaRPr>
          </a:p>
        </p:txBody>
      </p:sp>
      <p:sp>
        <p:nvSpPr>
          <p:cNvPr id="6" name="TextBox 5"/>
          <p:cNvSpPr txBox="1"/>
          <p:nvPr/>
        </p:nvSpPr>
        <p:spPr>
          <a:xfrm>
            <a:off x="5765074" y="3621537"/>
            <a:ext cx="6426926" cy="2554545"/>
          </a:xfrm>
          <a:prstGeom prst="rect">
            <a:avLst/>
          </a:prstGeom>
          <a:noFill/>
          <a:effectLst>
            <a:reflection stA="0" endPos="65000" dist="50800" dir="5400000" sy="-100000" algn="bl" rotWithShape="0"/>
          </a:effectLst>
        </p:spPr>
        <p:txBody>
          <a:bodyPr wrap="square" rtlCol="0">
            <a:spAutoFit/>
          </a:bodyPr>
          <a:lstStyle/>
          <a:p>
            <a:r>
              <a:rPr lang="en-GB" sz="4000" b="1" i="1" dirty="0" smtClean="0">
                <a:solidFill>
                  <a:schemeClr val="accent3">
                    <a:lumMod val="50000"/>
                  </a:schemeClr>
                </a:solidFill>
                <a:latin typeface="Calibri Light" panose="020F0302020204030204" pitchFamily="34" charset="0"/>
                <a:cs typeface="Calibri Light" panose="020F0302020204030204" pitchFamily="34" charset="0"/>
              </a:rPr>
              <a:t>OM SRI SAI RAM OFFERING OUR HUMBLE PRANAMS AT THY LOTUS FEET OF OUR BELOVED MOTHER SAI.</a:t>
            </a:r>
            <a:endParaRPr lang="en-IN" sz="4000" b="1" i="1" dirty="0">
              <a:solidFill>
                <a:schemeClr val="accent3">
                  <a:lumMod val="50000"/>
                </a:schemeClr>
              </a:solidFill>
              <a:latin typeface="Calibri Light" panose="020F0302020204030204" pitchFamily="34" charset="0"/>
              <a:cs typeface="Calibri Light" panose="020F030202020403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178" y="2246811"/>
            <a:ext cx="2644609" cy="3722042"/>
          </a:xfrm>
          <a:prstGeom prst="rect">
            <a:avLst/>
          </a:prstGeom>
          <a:solidFill>
            <a:schemeClr val="tx1">
              <a:lumMod val="50000"/>
              <a:lumOff val="50000"/>
              <a:alpha val="81000"/>
            </a:schemeClr>
          </a:solidFill>
          <a:effectLst>
            <a:glow rad="241300">
              <a:schemeClr val="accent1">
                <a:alpha val="13000"/>
              </a:schemeClr>
            </a:glow>
            <a:outerShdw blurRad="152400" dir="6000000" sx="106000" sy="106000" algn="ctr" rotWithShape="0">
              <a:srgbClr val="000000">
                <a:alpha val="71000"/>
              </a:srgbClr>
            </a:outerShdw>
            <a:reflection stA="0" endPos="69000" dist="50800" dir="5400000" sy="-100000" algn="bl" rotWithShape="0"/>
            <a:softEdge rad="127000"/>
          </a:effectLst>
        </p:spPr>
      </p:pic>
    </p:spTree>
    <p:extLst>
      <p:ext uri="{BB962C8B-B14F-4D97-AF65-F5344CB8AC3E}">
        <p14:creationId xmlns:p14="http://schemas.microsoft.com/office/powerpoint/2010/main" val="13264706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75000"/>
          </a:schemeClr>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1999" cy="6857999"/>
          </a:xfrm>
          <a:prstGeom prst="rect">
            <a:avLst/>
          </a:prstGeom>
        </p:spPr>
      </p:pic>
      <p:sp>
        <p:nvSpPr>
          <p:cNvPr id="2" name="Title 1"/>
          <p:cNvSpPr>
            <a:spLocks noGrp="1"/>
          </p:cNvSpPr>
          <p:nvPr>
            <p:ph type="title"/>
          </p:nvPr>
        </p:nvSpPr>
        <p:spPr>
          <a:xfrm>
            <a:off x="1097280" y="1"/>
            <a:ext cx="10058400" cy="2468880"/>
          </a:xfrm>
        </p:spPr>
        <p:txBody>
          <a:bodyPr>
            <a:normAutofit/>
          </a:bodyPr>
          <a:lstStyle/>
          <a:p>
            <a:r>
              <a:rPr lang="en-GB" sz="5400" dirty="0" err="1" smtClean="0">
                <a:solidFill>
                  <a:schemeClr val="accent6"/>
                </a:solidFill>
                <a:effectLst>
                  <a:outerShdw blurRad="38100" dist="38100" dir="2700000" algn="tl">
                    <a:srgbClr val="000000">
                      <a:alpha val="43137"/>
                    </a:srgbClr>
                  </a:outerShdw>
                </a:effectLst>
                <a:latin typeface="Jokerman" panose="04090605060D06020702" pitchFamily="82" charset="0"/>
              </a:rPr>
              <a:t>botHe</a:t>
            </a:r>
            <a:r>
              <a:rPr lang="en-GB" sz="5400" dirty="0" smtClean="0">
                <a:solidFill>
                  <a:schemeClr val="accent6"/>
                </a:solidFill>
                <a:effectLst>
                  <a:outerShdw blurRad="38100" dist="38100" dir="2700000" algn="tl">
                    <a:srgbClr val="000000">
                      <a:alpha val="43137"/>
                    </a:srgbClr>
                  </a:outerShdw>
                </a:effectLst>
                <a:latin typeface="Jokerman" panose="04090605060D06020702" pitchFamily="82" charset="0"/>
              </a:rPr>
              <a:t> </a:t>
            </a:r>
            <a:r>
              <a:rPr lang="en-GB" sz="5400" dirty="0">
                <a:solidFill>
                  <a:schemeClr val="accent6"/>
                </a:solidFill>
                <a:effectLst>
                  <a:outerShdw blurRad="38100" dist="38100" dir="2700000" algn="tl">
                    <a:srgbClr val="000000">
                      <a:alpha val="43137"/>
                    </a:srgbClr>
                  </a:outerShdw>
                </a:effectLst>
                <a:latin typeface="Jokerman" panose="04090605060D06020702" pitchFamily="82" charset="0"/>
              </a:rPr>
              <a:t>is Shiva , he is Shakti ; he must have </a:t>
            </a:r>
            <a:r>
              <a:rPr lang="en-GB" sz="5400" dirty="0">
                <a:effectLst>
                  <a:outerShdw blurRad="38100" dist="38100" dir="2700000" algn="tl">
                    <a:srgbClr val="000000">
                      <a:alpha val="43137"/>
                    </a:srgbClr>
                  </a:outerShdw>
                </a:effectLst>
                <a:latin typeface="Jokerman" panose="04090605060D06020702" pitchFamily="82" charset="0"/>
              </a:rPr>
              <a:t>h </a:t>
            </a:r>
            <a:r>
              <a:rPr lang="en-GB" sz="5400" dirty="0" err="1">
                <a:solidFill>
                  <a:schemeClr val="bg1">
                    <a:lumMod val="50000"/>
                  </a:schemeClr>
                </a:solidFill>
                <a:effectLst>
                  <a:outerShdw blurRad="38100" dist="38100" dir="2700000" algn="tl">
                    <a:srgbClr val="000000">
                      <a:alpha val="43137"/>
                    </a:srgbClr>
                  </a:outerShdw>
                </a:effectLst>
                <a:latin typeface="Jokerman" panose="04090605060D06020702" pitchFamily="82" charset="0"/>
              </a:rPr>
              <a:t>V</a:t>
            </a:r>
            <a:r>
              <a:rPr lang="en-GB" sz="5400" dirty="0" err="1" smtClean="0">
                <a:solidFill>
                  <a:schemeClr val="bg1">
                    <a:lumMod val="50000"/>
                  </a:schemeClr>
                </a:solidFill>
                <a:effectLst>
                  <a:outerShdw blurRad="38100" dist="38100" dir="2700000" algn="tl">
                    <a:srgbClr val="000000">
                      <a:alpha val="43137"/>
                    </a:srgbClr>
                  </a:outerShdw>
                </a:effectLst>
                <a:latin typeface="Jokerman" panose="04090605060D06020702" pitchFamily="82" charset="0"/>
              </a:rPr>
              <a:t>ibhuti</a:t>
            </a:r>
            <a:r>
              <a:rPr lang="en-GB" sz="5400" dirty="0" smtClean="0">
                <a:effectLst>
                  <a:outerShdw blurRad="38100" dist="38100" dir="2700000" algn="tl">
                    <a:srgbClr val="000000">
                      <a:alpha val="43137"/>
                    </a:srgbClr>
                  </a:outerShdw>
                </a:effectLst>
                <a:latin typeface="Jokerman" panose="04090605060D06020702" pitchFamily="82" charset="0"/>
              </a:rPr>
              <a:t> </a:t>
            </a:r>
            <a:r>
              <a:rPr lang="en-GB" sz="5400" dirty="0" smtClean="0">
                <a:solidFill>
                  <a:schemeClr val="accent6"/>
                </a:solidFill>
                <a:effectLst>
                  <a:outerShdw blurRad="38100" dist="38100" dir="2700000" algn="tl">
                    <a:srgbClr val="000000">
                      <a:alpha val="43137"/>
                    </a:srgbClr>
                  </a:outerShdw>
                </a:effectLst>
                <a:latin typeface="Jokerman" panose="04090605060D06020702" pitchFamily="82" charset="0"/>
              </a:rPr>
              <a:t>and</a:t>
            </a:r>
            <a:r>
              <a:rPr lang="en-GB" sz="5400" dirty="0" smtClean="0">
                <a:effectLst>
                  <a:outerShdw blurRad="38100" dist="38100" dir="2700000" algn="tl">
                    <a:srgbClr val="000000">
                      <a:alpha val="43137"/>
                    </a:srgbClr>
                  </a:outerShdw>
                </a:effectLst>
                <a:latin typeface="Jokerman" panose="04090605060D06020702" pitchFamily="82" charset="0"/>
              </a:rPr>
              <a:t> </a:t>
            </a:r>
            <a:r>
              <a:rPr lang="en-GB" sz="5400" dirty="0" err="1">
                <a:solidFill>
                  <a:srgbClr val="ED1111"/>
                </a:solidFill>
                <a:effectLst>
                  <a:outerShdw blurRad="38100" dist="38100" dir="2700000" algn="tl">
                    <a:srgbClr val="000000">
                      <a:alpha val="43137"/>
                    </a:srgbClr>
                  </a:outerShdw>
                </a:effectLst>
                <a:latin typeface="Jokerman" panose="04090605060D06020702" pitchFamily="82" charset="0"/>
              </a:rPr>
              <a:t>K</a:t>
            </a:r>
            <a:r>
              <a:rPr lang="en-GB" sz="5400" dirty="0" err="1" smtClean="0">
                <a:solidFill>
                  <a:srgbClr val="ED1111"/>
                </a:solidFill>
                <a:effectLst>
                  <a:outerShdw blurRad="38100" dist="38100" dir="2700000" algn="tl">
                    <a:srgbClr val="000000">
                      <a:alpha val="43137"/>
                    </a:srgbClr>
                  </a:outerShdw>
                </a:effectLst>
                <a:latin typeface="Jokerman" panose="04090605060D06020702" pitchFamily="82" charset="0"/>
              </a:rPr>
              <a:t>umkum</a:t>
            </a:r>
            <a:r>
              <a:rPr lang="en-GB" sz="2800" dirty="0" smtClean="0">
                <a:effectLst>
                  <a:outerShdw blurRad="38100" dist="38100" dir="2700000" algn="tl">
                    <a:srgbClr val="000000">
                      <a:alpha val="43137"/>
                    </a:srgbClr>
                  </a:outerShdw>
                </a:effectLst>
                <a:latin typeface="Copperplate Gothic Light" panose="020E0507020206020404" pitchFamily="34" charset="0"/>
              </a:rPr>
              <a:t>.</a:t>
            </a:r>
            <a:endParaRPr lang="en-IN" sz="4400" dirty="0">
              <a:effectLst>
                <a:outerShdw blurRad="38100" dist="38100" dir="2700000" algn="tl">
                  <a:srgbClr val="000000">
                    <a:alpha val="43137"/>
                  </a:srgbClr>
                </a:outerShdw>
              </a:effectLst>
              <a:latin typeface="Copperplate Gothic Light" panose="020E0507020206020404" pitchFamily="34" charset="0"/>
            </a:endParaRPr>
          </a:p>
        </p:txBody>
      </p:sp>
      <p:sp>
        <p:nvSpPr>
          <p:cNvPr id="3" name="TextBox 2"/>
          <p:cNvSpPr txBox="1"/>
          <p:nvPr/>
        </p:nvSpPr>
        <p:spPr>
          <a:xfrm>
            <a:off x="1097280" y="2302078"/>
            <a:ext cx="10655271" cy="3328347"/>
          </a:xfrm>
          <a:prstGeom prst="rect">
            <a:avLst/>
          </a:prstGeom>
          <a:noFill/>
        </p:spPr>
        <p:txBody>
          <a:bodyPr wrap="square" rtlCol="0">
            <a:spAutoFit/>
          </a:bodyPr>
          <a:lstStyle/>
          <a:p>
            <a:pPr>
              <a:lnSpc>
                <a:spcPct val="150000"/>
              </a:lnSpc>
            </a:pPr>
            <a:r>
              <a:rPr lang="en-GB" sz="3600" dirty="0" smtClean="0"/>
              <a:t> ~ </a:t>
            </a:r>
            <a:r>
              <a:rPr lang="en-GB" sz="3600" dirty="0" smtClean="0">
                <a:solidFill>
                  <a:srgbClr val="FFC000"/>
                </a:solidFill>
                <a:latin typeface="Gill Sans Ultra Bold" panose="020B0A02020104020203" pitchFamily="34" charset="0"/>
              </a:rPr>
              <a:t>Many  mysterious things were being happening in </a:t>
            </a:r>
            <a:r>
              <a:rPr lang="en-GB" sz="3600" dirty="0" err="1" smtClean="0">
                <a:solidFill>
                  <a:srgbClr val="FFC000"/>
                </a:solidFill>
                <a:latin typeface="Gill Sans Ultra Bold" panose="020B0A02020104020203" pitchFamily="34" charset="0"/>
              </a:rPr>
              <a:t>Pedda</a:t>
            </a:r>
            <a:r>
              <a:rPr lang="en-GB" sz="3600" dirty="0" smtClean="0">
                <a:solidFill>
                  <a:srgbClr val="FFC000"/>
                </a:solidFill>
                <a:latin typeface="Gill Sans Ultra Bold" panose="020B0A02020104020203" pitchFamily="34" charset="0"/>
              </a:rPr>
              <a:t> </a:t>
            </a:r>
            <a:r>
              <a:rPr lang="en-GB" sz="3600" dirty="0" err="1" smtClean="0">
                <a:solidFill>
                  <a:srgbClr val="FFC000"/>
                </a:solidFill>
                <a:latin typeface="Gill Sans Ultra Bold" panose="020B0A02020104020203" pitchFamily="34" charset="0"/>
              </a:rPr>
              <a:t>Venkama</a:t>
            </a:r>
            <a:r>
              <a:rPr lang="en-GB" sz="3600" dirty="0" smtClean="0">
                <a:solidFill>
                  <a:srgbClr val="FFC000"/>
                </a:solidFill>
                <a:latin typeface="Gill Sans Ultra Bold" panose="020B0A02020104020203" pitchFamily="34" charset="0"/>
              </a:rPr>
              <a:t> Raju’s house. This was the time when the divine birth was about </a:t>
            </a:r>
            <a:r>
              <a:rPr lang="en-GB" sz="3600" dirty="0" smtClean="0">
                <a:latin typeface="Gill Sans Ultra Bold" panose="020B0A02020104020203" pitchFamily="34" charset="0"/>
              </a:rPr>
              <a:t>to </a:t>
            </a:r>
            <a:r>
              <a:rPr lang="en-GB" sz="3600" dirty="0" smtClean="0"/>
              <a:t>occur. </a:t>
            </a:r>
            <a:endParaRPr lang="en-IN" sz="3600" dirty="0"/>
          </a:p>
        </p:txBody>
      </p:sp>
    </p:spTree>
    <p:extLst>
      <p:ext uri="{BB962C8B-B14F-4D97-AF65-F5344CB8AC3E}">
        <p14:creationId xmlns:p14="http://schemas.microsoft.com/office/powerpoint/2010/main" val="11952528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ontent Placeholder 3"/>
          <p:cNvSpPr>
            <a:spLocks noGrp="1"/>
          </p:cNvSpPr>
          <p:nvPr>
            <p:ph idx="1"/>
          </p:nvPr>
        </p:nvSpPr>
        <p:spPr>
          <a:xfrm>
            <a:off x="112542" y="815926"/>
            <a:ext cx="11236569" cy="5489278"/>
          </a:xfrm>
        </p:spPr>
        <p:txBody>
          <a:bodyPr>
            <a:normAutofit/>
          </a:bodyPr>
          <a:lstStyle/>
          <a:p>
            <a:r>
              <a:rPr lang="en-GB" sz="2400" dirty="0" smtClean="0">
                <a:solidFill>
                  <a:srgbClr val="CC6600"/>
                </a:solidFill>
              </a:rPr>
              <a:t>Mystical happenings took place –</a:t>
            </a:r>
          </a:p>
          <a:p>
            <a:endParaRPr lang="en-GB" sz="2400" dirty="0" smtClean="0">
              <a:solidFill>
                <a:srgbClr val="CC6600"/>
              </a:solidFill>
            </a:endParaRPr>
          </a:p>
          <a:p>
            <a:pPr>
              <a:buClrTx/>
              <a:buFont typeface="Wingdings" panose="05000000000000000000" pitchFamily="2" charset="2"/>
              <a:buChar char="q"/>
            </a:pPr>
            <a:r>
              <a:rPr lang="en-GB" sz="2400" dirty="0" smtClean="0">
                <a:solidFill>
                  <a:srgbClr val="CC6600"/>
                </a:solidFill>
              </a:rPr>
              <a:t>The brothers and the father were all very much interested in the village operas on </a:t>
            </a:r>
            <a:r>
              <a:rPr lang="en-GB" sz="2400" dirty="0" err="1" smtClean="0">
                <a:solidFill>
                  <a:srgbClr val="CC6600"/>
                </a:solidFill>
              </a:rPr>
              <a:t>puranic</a:t>
            </a:r>
            <a:r>
              <a:rPr lang="en-GB" sz="2400" dirty="0" smtClean="0">
                <a:solidFill>
                  <a:srgbClr val="CC6600"/>
                </a:solidFill>
              </a:rPr>
              <a:t> incidents.</a:t>
            </a:r>
          </a:p>
          <a:p>
            <a:pPr>
              <a:buClrTx/>
              <a:buFont typeface="Wingdings" panose="05000000000000000000" pitchFamily="2" charset="2"/>
              <a:buChar char="q"/>
            </a:pPr>
            <a:r>
              <a:rPr lang="en-GB" sz="2400" dirty="0" smtClean="0">
                <a:solidFill>
                  <a:srgbClr val="CC6600"/>
                </a:solidFill>
              </a:rPr>
              <a:t>There was a tambura leaning against the wall ,  </a:t>
            </a:r>
            <a:r>
              <a:rPr lang="en-GB" sz="2400" dirty="0" err="1" smtClean="0">
                <a:solidFill>
                  <a:srgbClr val="CC6600"/>
                </a:solidFill>
              </a:rPr>
              <a:t>maddela</a:t>
            </a:r>
            <a:r>
              <a:rPr lang="en-GB" sz="2400" dirty="0" smtClean="0">
                <a:solidFill>
                  <a:srgbClr val="CC6600"/>
                </a:solidFill>
              </a:rPr>
              <a:t>  or drum.</a:t>
            </a:r>
          </a:p>
          <a:p>
            <a:pPr>
              <a:buClrTx/>
              <a:buFont typeface="Wingdings" panose="05000000000000000000" pitchFamily="2" charset="2"/>
              <a:buChar char="q"/>
            </a:pPr>
            <a:r>
              <a:rPr lang="en-GB" sz="2400" dirty="0" smtClean="0">
                <a:solidFill>
                  <a:srgbClr val="CC6600"/>
                </a:solidFill>
              </a:rPr>
              <a:t>These two were silent only when the inmates of the retired from the house.</a:t>
            </a:r>
          </a:p>
          <a:p>
            <a:pPr>
              <a:buClrTx/>
              <a:buFont typeface="Wingdings" panose="05000000000000000000" pitchFamily="2" charset="2"/>
              <a:buChar char="q"/>
            </a:pPr>
            <a:r>
              <a:rPr lang="en-GB" sz="2400" dirty="0" smtClean="0">
                <a:solidFill>
                  <a:srgbClr val="CC6600"/>
                </a:solidFill>
              </a:rPr>
              <a:t>Tambura </a:t>
            </a:r>
            <a:r>
              <a:rPr lang="en-GB" sz="2400" dirty="0">
                <a:solidFill>
                  <a:srgbClr val="CC6600"/>
                </a:solidFill>
              </a:rPr>
              <a:t>twanging </a:t>
            </a:r>
            <a:r>
              <a:rPr lang="en-GB" sz="2400" dirty="0" smtClean="0">
                <a:solidFill>
                  <a:srgbClr val="CC6600"/>
                </a:solidFill>
              </a:rPr>
              <a:t>automatically.</a:t>
            </a:r>
          </a:p>
          <a:p>
            <a:pPr>
              <a:buClrTx/>
              <a:buFont typeface="Wingdings" panose="05000000000000000000" pitchFamily="2" charset="2"/>
              <a:buChar char="q"/>
            </a:pPr>
            <a:r>
              <a:rPr lang="en-GB" sz="2400" dirty="0" err="1" smtClean="0">
                <a:solidFill>
                  <a:srgbClr val="CC6600"/>
                </a:solidFill>
              </a:rPr>
              <a:t>Maddala</a:t>
            </a:r>
            <a:r>
              <a:rPr lang="en-GB" sz="2400" dirty="0" smtClean="0">
                <a:solidFill>
                  <a:srgbClr val="CC6600"/>
                </a:solidFill>
              </a:rPr>
              <a:t> beating as if an expert’s hand was handling it.</a:t>
            </a:r>
          </a:p>
          <a:p>
            <a:pPr marL="0" indent="0">
              <a:buClrTx/>
              <a:buNone/>
            </a:pPr>
            <a:r>
              <a:rPr lang="en-GB" sz="2400" dirty="0">
                <a:solidFill>
                  <a:srgbClr val="CC6600"/>
                </a:solidFill>
              </a:rPr>
              <a:t> </a:t>
            </a:r>
            <a:r>
              <a:rPr lang="en-GB" sz="2400" dirty="0" smtClean="0">
                <a:solidFill>
                  <a:srgbClr val="CC6600"/>
                </a:solidFill>
              </a:rPr>
              <a:t>  Later these happenings were defined by a </a:t>
            </a:r>
            <a:r>
              <a:rPr lang="en-GB" sz="2400" dirty="0" err="1" smtClean="0">
                <a:solidFill>
                  <a:srgbClr val="CC6600"/>
                </a:solidFill>
              </a:rPr>
              <a:t>sastri</a:t>
            </a:r>
            <a:r>
              <a:rPr lang="en-GB" sz="2400" dirty="0" smtClean="0">
                <a:solidFill>
                  <a:srgbClr val="CC6600"/>
                </a:solidFill>
              </a:rPr>
              <a:t> that it meant the presence of SAKTHI, a </a:t>
            </a:r>
            <a:r>
              <a:rPr lang="en-GB" sz="2400" dirty="0" err="1" smtClean="0">
                <a:solidFill>
                  <a:srgbClr val="CC6600"/>
                </a:solidFill>
              </a:rPr>
              <a:t>beneficiant</a:t>
            </a:r>
            <a:r>
              <a:rPr lang="en-GB" sz="2400" dirty="0" smtClean="0">
                <a:solidFill>
                  <a:srgbClr val="CC6600"/>
                </a:solidFill>
              </a:rPr>
              <a:t>  power , conferring harmony, melody ,order ,</a:t>
            </a:r>
            <a:r>
              <a:rPr lang="en-IN" sz="2400" dirty="0" smtClean="0">
                <a:solidFill>
                  <a:srgbClr val="CC6600"/>
                </a:solidFill>
              </a:rPr>
              <a:t>symmetry ,spiritual elevation and joy.</a:t>
            </a:r>
            <a:endParaRPr lang="en-GB" sz="2400" dirty="0" smtClean="0">
              <a:solidFill>
                <a:srgbClr val="CC6600"/>
              </a:solidFill>
            </a:endParaRPr>
          </a:p>
        </p:txBody>
      </p:sp>
      <p:sp>
        <p:nvSpPr>
          <p:cNvPr id="5" name="Text Placeholder 4"/>
          <p:cNvSpPr>
            <a:spLocks noGrp="1"/>
          </p:cNvSpPr>
          <p:nvPr>
            <p:ph type="body" sz="half" idx="2"/>
          </p:nvPr>
        </p:nvSpPr>
        <p:spPr>
          <a:xfrm>
            <a:off x="633046" y="5514536"/>
            <a:ext cx="548640" cy="211015"/>
          </a:xfrm>
        </p:spPr>
        <p:txBody>
          <a:bodyPr>
            <a:normAutofit fontScale="70000" lnSpcReduction="20000"/>
          </a:bodyPr>
          <a:lstStyle/>
          <a:p>
            <a:endParaRPr lang="en-IN" dirty="0"/>
          </a:p>
        </p:txBody>
      </p:sp>
    </p:spTree>
    <p:extLst>
      <p:ext uri="{BB962C8B-B14F-4D97-AF65-F5344CB8AC3E}">
        <p14:creationId xmlns:p14="http://schemas.microsoft.com/office/powerpoint/2010/main" val="13799407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smtClean="0"/>
              <a:t>THE BIRTH </a:t>
            </a:r>
            <a:endParaRPr lang="en-IN" dirty="0"/>
          </a:p>
        </p:txBody>
      </p:sp>
      <p:sp>
        <p:nvSpPr>
          <p:cNvPr id="6" name="Content Placeholder 5"/>
          <p:cNvSpPr>
            <a:spLocks noGrp="1"/>
          </p:cNvSpPr>
          <p:nvPr>
            <p:ph idx="1"/>
          </p:nvPr>
        </p:nvSpPr>
        <p:spPr/>
        <p:txBody>
          <a:bodyPr>
            <a:normAutofit fontScale="62500" lnSpcReduction="20000"/>
          </a:bodyPr>
          <a:lstStyle/>
          <a:p>
            <a:pPr>
              <a:buClr>
                <a:schemeClr val="tx1"/>
              </a:buClr>
              <a:buFont typeface="Wingdings" panose="05000000000000000000" pitchFamily="2" charset="2"/>
              <a:buChar char="v"/>
            </a:pPr>
            <a:r>
              <a:rPr lang="en-GB" sz="2400" dirty="0" smtClean="0"/>
              <a:t> On 23</a:t>
            </a:r>
            <a:r>
              <a:rPr lang="en-GB" sz="2400" baseline="30000" dirty="0" smtClean="0"/>
              <a:t>rd</a:t>
            </a:r>
            <a:r>
              <a:rPr lang="en-GB" sz="2400" dirty="0" smtClean="0"/>
              <a:t> of November, 1926, the divine birth took place.  </a:t>
            </a:r>
          </a:p>
          <a:p>
            <a:pPr>
              <a:buClr>
                <a:schemeClr val="tx1"/>
              </a:buClr>
              <a:buFont typeface="Wingdings" panose="05000000000000000000" pitchFamily="2" charset="2"/>
              <a:buChar char="v"/>
            </a:pPr>
            <a:r>
              <a:rPr lang="en-GB" sz="2400" dirty="0"/>
              <a:t> </a:t>
            </a:r>
            <a:r>
              <a:rPr lang="en-GB" sz="2400" dirty="0" smtClean="0"/>
              <a:t>The villagers were chanting the names of SIVA.</a:t>
            </a:r>
          </a:p>
          <a:p>
            <a:pPr>
              <a:buClr>
                <a:schemeClr val="tx1"/>
              </a:buClr>
              <a:buFont typeface="Wingdings" panose="05000000000000000000" pitchFamily="2" charset="2"/>
              <a:buChar char="v"/>
            </a:pPr>
            <a:r>
              <a:rPr lang="en-GB" sz="2400" dirty="0"/>
              <a:t> </a:t>
            </a:r>
            <a:r>
              <a:rPr lang="en-GB" sz="2400" dirty="0" smtClean="0"/>
              <a:t>It was the holy day of KARTHIK SOMAVARA.</a:t>
            </a:r>
          </a:p>
          <a:p>
            <a:pPr>
              <a:buClr>
                <a:schemeClr val="tx1"/>
              </a:buClr>
              <a:buFont typeface="Wingdings" panose="05000000000000000000" pitchFamily="2" charset="2"/>
              <a:buChar char="v"/>
            </a:pPr>
            <a:r>
              <a:rPr lang="en-GB" sz="2400" dirty="0" smtClean="0"/>
              <a:t>  The year was AKSHAYA, the ‘never-declining, the ever-full! ’.</a:t>
            </a:r>
          </a:p>
          <a:p>
            <a:pPr>
              <a:buClr>
                <a:schemeClr val="tx1"/>
              </a:buClr>
              <a:buFont typeface="Wingdings" panose="05000000000000000000" pitchFamily="2" charset="2"/>
              <a:buChar char="v"/>
            </a:pPr>
            <a:r>
              <a:rPr lang="en-GB" sz="2400" dirty="0"/>
              <a:t> </a:t>
            </a:r>
            <a:r>
              <a:rPr lang="en-GB" sz="2400" dirty="0" smtClean="0"/>
              <a:t>The mother had just finished her </a:t>
            </a:r>
            <a:r>
              <a:rPr lang="en-GB" sz="2400" dirty="0" err="1" smtClean="0"/>
              <a:t>Sathyanarayana</a:t>
            </a:r>
            <a:r>
              <a:rPr lang="en-GB" sz="2400" dirty="0" smtClean="0"/>
              <a:t> Pooja.</a:t>
            </a:r>
          </a:p>
          <a:p>
            <a:pPr>
              <a:buClr>
                <a:schemeClr val="tx1"/>
              </a:buClr>
              <a:buFont typeface="Wingdings" panose="05000000000000000000" pitchFamily="2" charset="2"/>
              <a:buChar char="v"/>
            </a:pPr>
            <a:r>
              <a:rPr lang="en-GB" sz="2400" dirty="0" smtClean="0"/>
              <a:t>Grandmother gave the mother, the flower and sacred water.</a:t>
            </a:r>
          </a:p>
          <a:p>
            <a:pPr>
              <a:buClr>
                <a:schemeClr val="tx1"/>
              </a:buClr>
              <a:buFont typeface="Wingdings" panose="05000000000000000000" pitchFamily="2" charset="2"/>
              <a:buChar char="v"/>
            </a:pPr>
            <a:r>
              <a:rPr lang="en-GB" sz="2400" dirty="0" smtClean="0"/>
              <a:t>Next moment, the Lord was born.</a:t>
            </a:r>
          </a:p>
          <a:p>
            <a:pPr>
              <a:buClr>
                <a:schemeClr val="tx1"/>
              </a:buClr>
              <a:buFont typeface="Wingdings" panose="05000000000000000000" pitchFamily="2" charset="2"/>
              <a:buChar char="v"/>
            </a:pPr>
            <a:r>
              <a:rPr lang="en-GB" sz="2400" dirty="0" smtClean="0"/>
              <a:t>The sun rose above the ground.</a:t>
            </a:r>
          </a:p>
          <a:p>
            <a:pPr marL="0" indent="0">
              <a:buClr>
                <a:schemeClr val="tx1"/>
              </a:buClr>
              <a:buNone/>
            </a:pPr>
            <a:r>
              <a:rPr lang="en-GB" sz="2400" dirty="0" smtClean="0"/>
              <a:t> </a:t>
            </a:r>
            <a:br>
              <a:rPr lang="en-GB" sz="2400" dirty="0" smtClean="0"/>
            </a:br>
            <a:endParaRPr lang="en-GB" sz="2400" dirty="0" smtClean="0"/>
          </a:p>
          <a:p>
            <a:pPr>
              <a:buClrTx/>
              <a:buFont typeface="Wingdings" panose="05000000000000000000" pitchFamily="2" charset="2"/>
              <a:buChar char="§"/>
            </a:pPr>
            <a:endParaRPr lang="en-GB" sz="2400" dirty="0"/>
          </a:p>
          <a:p>
            <a:r>
              <a:rPr lang="en-GB" sz="2400" dirty="0"/>
              <a:t> </a:t>
            </a:r>
            <a:endParaRPr lang="en-IN" sz="2400" dirty="0"/>
          </a:p>
        </p:txBody>
      </p:sp>
    </p:spTree>
    <p:extLst>
      <p:ext uri="{BB962C8B-B14F-4D97-AF65-F5344CB8AC3E}">
        <p14:creationId xmlns:p14="http://schemas.microsoft.com/office/powerpoint/2010/main" val="1602909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0" cy="6858000"/>
          </a:xfrm>
          <a:prstGeom prst="rect">
            <a:avLst/>
          </a:prstGeom>
        </p:spPr>
      </p:pic>
      <p:sp>
        <p:nvSpPr>
          <p:cNvPr id="2" name="Title 1"/>
          <p:cNvSpPr>
            <a:spLocks noGrp="1"/>
          </p:cNvSpPr>
          <p:nvPr>
            <p:ph type="title"/>
          </p:nvPr>
        </p:nvSpPr>
        <p:spPr>
          <a:xfrm>
            <a:off x="1097280" y="2"/>
            <a:ext cx="10058400" cy="886263"/>
          </a:xfrm>
        </p:spPr>
        <p:txBody>
          <a:bodyPr/>
          <a:lstStyle/>
          <a:p>
            <a:pPr algn="ctr"/>
            <a:r>
              <a:rPr lang="en-GB" dirty="0" smtClean="0">
                <a:solidFill>
                  <a:schemeClr val="accent1">
                    <a:lumMod val="50000"/>
                  </a:schemeClr>
                </a:solidFill>
                <a:latin typeface="Bauhaus 93" panose="04030905020B02020C02" pitchFamily="82" charset="0"/>
              </a:rPr>
              <a:t>ABOUT THE INCARNATION</a:t>
            </a:r>
            <a:endParaRPr lang="en-IN" dirty="0">
              <a:solidFill>
                <a:schemeClr val="accent1">
                  <a:lumMod val="50000"/>
                </a:schemeClr>
              </a:solidFill>
              <a:latin typeface="Bauhaus 93" panose="04030905020B02020C02" pitchFamily="82" charset="0"/>
            </a:endParaRPr>
          </a:p>
        </p:txBody>
      </p:sp>
      <p:sp>
        <p:nvSpPr>
          <p:cNvPr id="3" name="Content Placeholder 2"/>
          <p:cNvSpPr>
            <a:spLocks noGrp="1"/>
          </p:cNvSpPr>
          <p:nvPr>
            <p:ph idx="1"/>
          </p:nvPr>
        </p:nvSpPr>
        <p:spPr>
          <a:xfrm>
            <a:off x="1097279" y="3742007"/>
            <a:ext cx="10058401" cy="3115994"/>
          </a:xfrm>
        </p:spPr>
        <p:txBody>
          <a:bodyPr>
            <a:normAutofit/>
          </a:bodyPr>
          <a:lstStyle/>
          <a:p>
            <a:pPr>
              <a:buClrTx/>
              <a:buFont typeface="Wingdings" panose="05000000000000000000" pitchFamily="2" charset="2"/>
              <a:buChar char="§"/>
            </a:pPr>
            <a:r>
              <a:rPr lang="en-GB" sz="2400" dirty="0">
                <a:solidFill>
                  <a:schemeClr val="accent3">
                    <a:lumMod val="40000"/>
                    <a:lumOff val="60000"/>
                  </a:schemeClr>
                </a:solidFill>
              </a:rPr>
              <a:t>Baba has ones said that one special point to be noted about this manifestation is that the incarnation is not been transplanted away from the place where the body was born he has chosen that particular place  as the centre of his alleviatory Mission</a:t>
            </a:r>
            <a:r>
              <a:rPr lang="en-GB" sz="2400" dirty="0" smtClean="0">
                <a:solidFill>
                  <a:schemeClr val="accent3">
                    <a:lumMod val="40000"/>
                    <a:lumOff val="60000"/>
                  </a:schemeClr>
                </a:solidFill>
              </a:rPr>
              <a:t>.</a:t>
            </a:r>
          </a:p>
          <a:p>
            <a:pPr>
              <a:buClrTx/>
              <a:buFont typeface="Wingdings" panose="05000000000000000000" pitchFamily="2" charset="2"/>
              <a:buChar char="§"/>
            </a:pPr>
            <a:r>
              <a:rPr lang="en-GB" sz="2400" dirty="0" err="1" smtClean="0">
                <a:solidFill>
                  <a:schemeClr val="accent3">
                    <a:lumMod val="40000"/>
                    <a:lumOff val="60000"/>
                  </a:schemeClr>
                </a:solidFill>
              </a:rPr>
              <a:t>Puttaparthi</a:t>
            </a:r>
            <a:r>
              <a:rPr lang="en-GB" sz="2400" dirty="0" smtClean="0">
                <a:solidFill>
                  <a:schemeClr val="accent3">
                    <a:lumMod val="40000"/>
                    <a:lumOff val="60000"/>
                  </a:schemeClr>
                </a:solidFill>
              </a:rPr>
              <a:t> must have been doubly happy , for the avatar had chosen that village for his birth, as well as his habitation.</a:t>
            </a:r>
          </a:p>
          <a:p>
            <a:pPr>
              <a:buClrTx/>
              <a:buFont typeface="Wingdings" panose="05000000000000000000" pitchFamily="2" charset="2"/>
              <a:buChar char="§"/>
            </a:pPr>
            <a:endParaRPr lang="en-GB" sz="2400" dirty="0"/>
          </a:p>
        </p:txBody>
      </p:sp>
    </p:spTree>
    <p:extLst>
      <p:ext uri="{BB962C8B-B14F-4D97-AF65-F5344CB8AC3E}">
        <p14:creationId xmlns:p14="http://schemas.microsoft.com/office/powerpoint/2010/main" val="14604921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a:ln>
            <a:noFill/>
          </a:ln>
          <a:effectLst>
            <a:softEdge rad="112500"/>
          </a:effectLst>
        </p:spPr>
      </p:pic>
      <p:sp>
        <p:nvSpPr>
          <p:cNvPr id="2" name="Title 1"/>
          <p:cNvSpPr>
            <a:spLocks noGrp="1"/>
          </p:cNvSpPr>
          <p:nvPr>
            <p:ph type="title"/>
          </p:nvPr>
        </p:nvSpPr>
        <p:spPr>
          <a:xfrm>
            <a:off x="1097280" y="1"/>
            <a:ext cx="10058400" cy="1111348"/>
          </a:xfrm>
        </p:spPr>
        <p:txBody>
          <a:bodyPr/>
          <a:lstStyle/>
          <a:p>
            <a:pPr algn="ctr"/>
            <a:r>
              <a:rPr lang="en-GB" dirty="0" err="1" smtClean="0">
                <a:latin typeface="Snap ITC" panose="04040A07060A02020202" pitchFamily="82" charset="0"/>
              </a:rPr>
              <a:t>Sheshasai</a:t>
            </a:r>
            <a:endParaRPr lang="en-IN" dirty="0">
              <a:latin typeface="Snap ITC" panose="04040A07060A02020202" pitchFamily="82" charset="0"/>
            </a:endParaRPr>
          </a:p>
        </p:txBody>
      </p:sp>
      <p:sp>
        <p:nvSpPr>
          <p:cNvPr id="3" name="Content Placeholder 2"/>
          <p:cNvSpPr>
            <a:spLocks noGrp="1"/>
          </p:cNvSpPr>
          <p:nvPr>
            <p:ph idx="1"/>
          </p:nvPr>
        </p:nvSpPr>
        <p:spPr>
          <a:xfrm>
            <a:off x="1097280" y="1111349"/>
            <a:ext cx="10058400" cy="5472331"/>
          </a:xfrm>
        </p:spPr>
        <p:txBody>
          <a:bodyPr>
            <a:noAutofit/>
          </a:bodyPr>
          <a:lstStyle/>
          <a:p>
            <a:pPr>
              <a:buFont typeface="Wingdings" panose="05000000000000000000" pitchFamily="2" charset="2"/>
              <a:buChar char="v"/>
            </a:pPr>
            <a:r>
              <a:rPr lang="en-GB" sz="3600" dirty="0" smtClean="0">
                <a:solidFill>
                  <a:srgbClr val="C00000"/>
                </a:solidFill>
              </a:rPr>
              <a:t>A snake was there in the lying-in room!</a:t>
            </a:r>
          </a:p>
          <a:p>
            <a:pPr>
              <a:buFont typeface="Wingdings" panose="05000000000000000000" pitchFamily="2" charset="2"/>
              <a:buChar char="v"/>
            </a:pPr>
            <a:r>
              <a:rPr lang="en-GB" sz="3600" dirty="0" smtClean="0">
                <a:solidFill>
                  <a:srgbClr val="C00000"/>
                </a:solidFill>
              </a:rPr>
              <a:t>The women didn’t notice it for a long; but , when the baby, laid on a bed of clothes , was being moved up and  down in a peculiar way by something underneath , they watched with bated breath and when at last they searched , they found a cobra below the bed!</a:t>
            </a:r>
          </a:p>
          <a:p>
            <a:pPr>
              <a:buFont typeface="Wingdings" panose="05000000000000000000" pitchFamily="2" charset="2"/>
              <a:buChar char="v"/>
            </a:pPr>
            <a:r>
              <a:rPr lang="en-GB" sz="3600" dirty="0" smtClean="0">
                <a:solidFill>
                  <a:srgbClr val="C00000"/>
                </a:solidFill>
              </a:rPr>
              <a:t>The snake was acting the role of SHESHA to the SHESHASHAYI.</a:t>
            </a:r>
            <a:endParaRPr lang="en-IN" sz="3600" dirty="0">
              <a:solidFill>
                <a:srgbClr val="C00000"/>
              </a:solidFill>
            </a:endParaRPr>
          </a:p>
        </p:txBody>
      </p:sp>
    </p:spTree>
    <p:extLst>
      <p:ext uri="{BB962C8B-B14F-4D97-AF65-F5344CB8AC3E}">
        <p14:creationId xmlns:p14="http://schemas.microsoft.com/office/powerpoint/2010/main" val="42580048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450165" cy="590842"/>
          </a:xfrm>
        </p:spPr>
        <p:txBody>
          <a:bodyPr>
            <a:normAutofit fontScale="90000"/>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3417536" cy="6857999"/>
          </a:xfrm>
          <a:prstGeom prst="rect">
            <a:avLst/>
          </a:prstGeom>
        </p:spPr>
      </p:pic>
      <p:sp>
        <p:nvSpPr>
          <p:cNvPr id="3" name="Subtitle 2"/>
          <p:cNvSpPr>
            <a:spLocks noGrp="1"/>
          </p:cNvSpPr>
          <p:nvPr>
            <p:ph type="subTitle" idx="1"/>
          </p:nvPr>
        </p:nvSpPr>
        <p:spPr>
          <a:xfrm>
            <a:off x="1100051" y="1167618"/>
            <a:ext cx="10058400" cy="5690381"/>
          </a:xfrm>
        </p:spPr>
        <p:txBody>
          <a:bodyPr>
            <a:noAutofit/>
          </a:bodyPr>
          <a:lstStyle/>
          <a:p>
            <a:pPr marL="342900" indent="-342900">
              <a:buFont typeface="Wingdings" panose="05000000000000000000" pitchFamily="2" charset="2"/>
              <a:buChar char="ü"/>
            </a:pPr>
            <a:r>
              <a:rPr lang="en-GB" sz="2800" dirty="0">
                <a:solidFill>
                  <a:srgbClr val="FFC000"/>
                </a:solidFill>
                <a:latin typeface="Showcard Gothic" panose="04020904020102020604" pitchFamily="82" charset="0"/>
              </a:rPr>
              <a:t>He kept away from where any animal were killed or tortured , or where fish was trapped or caught</a:t>
            </a:r>
            <a:r>
              <a:rPr lang="en-GB" sz="2800" dirty="0" smtClean="0">
                <a:solidFill>
                  <a:srgbClr val="FFC000"/>
                </a:solidFill>
                <a:latin typeface="Showcard Gothic" panose="04020904020102020604" pitchFamily="82" charset="0"/>
              </a:rPr>
              <a:t>;</a:t>
            </a:r>
          </a:p>
          <a:p>
            <a:pPr marL="342900" indent="-342900">
              <a:buFont typeface="Wingdings" panose="05000000000000000000" pitchFamily="2" charset="2"/>
              <a:buChar char="ü"/>
            </a:pPr>
            <a:r>
              <a:rPr lang="en-GB" sz="2800" dirty="0" smtClean="0">
                <a:solidFill>
                  <a:srgbClr val="FFC000"/>
                </a:solidFill>
                <a:latin typeface="Showcard Gothic" panose="04020904020102020604" pitchFamily="82" charset="0"/>
              </a:rPr>
              <a:t>He avoided kitchens and vessels used for cooking flesh or fowl.</a:t>
            </a:r>
          </a:p>
          <a:p>
            <a:pPr marL="342900" indent="-342900">
              <a:buFont typeface="Wingdings" panose="05000000000000000000" pitchFamily="2" charset="2"/>
              <a:buChar char="ü"/>
            </a:pPr>
            <a:r>
              <a:rPr lang="en-GB" sz="2800" dirty="0" smtClean="0">
                <a:solidFill>
                  <a:srgbClr val="FFC000"/>
                </a:solidFill>
                <a:latin typeface="Showcard Gothic" panose="04020904020102020604" pitchFamily="82" charset="0"/>
              </a:rPr>
              <a:t>He was called by the neighbours , ”BRAHMAGNANI” on account on his type of aversion and this measure of love towards creation.</a:t>
            </a:r>
          </a:p>
          <a:p>
            <a:pPr marL="342900" indent="-342900">
              <a:buFont typeface="Wingdings" panose="05000000000000000000" pitchFamily="2" charset="2"/>
              <a:buChar char="ü"/>
            </a:pPr>
            <a:r>
              <a:rPr lang="en-GB" sz="2800" dirty="0" smtClean="0">
                <a:solidFill>
                  <a:srgbClr val="FFC000"/>
                </a:solidFill>
                <a:latin typeface="Showcard Gothic" panose="04020904020102020604" pitchFamily="82" charset="0"/>
              </a:rPr>
              <a:t>The boy used to run to the </a:t>
            </a:r>
            <a:r>
              <a:rPr lang="en-GB" sz="2800" dirty="0" err="1" smtClean="0">
                <a:solidFill>
                  <a:srgbClr val="FFC000"/>
                </a:solidFill>
                <a:latin typeface="Showcard Gothic" panose="04020904020102020604" pitchFamily="82" charset="0"/>
              </a:rPr>
              <a:t>karman’s</a:t>
            </a:r>
            <a:r>
              <a:rPr lang="en-GB" sz="2800" dirty="0" smtClean="0">
                <a:solidFill>
                  <a:srgbClr val="FFC000"/>
                </a:solidFill>
                <a:latin typeface="Showcard Gothic" panose="04020904020102020604" pitchFamily="82" charset="0"/>
              </a:rPr>
              <a:t> house , for they were </a:t>
            </a:r>
            <a:r>
              <a:rPr lang="en-GB" sz="2800" dirty="0" err="1" smtClean="0">
                <a:solidFill>
                  <a:srgbClr val="FFC000"/>
                </a:solidFill>
                <a:latin typeface="Showcard Gothic" panose="04020904020102020604" pitchFamily="82" charset="0"/>
              </a:rPr>
              <a:t>brahmins</a:t>
            </a:r>
            <a:r>
              <a:rPr lang="en-GB" sz="2800" dirty="0" smtClean="0">
                <a:solidFill>
                  <a:srgbClr val="FFC000"/>
                </a:solidFill>
                <a:latin typeface="Showcard Gothic" panose="04020904020102020604" pitchFamily="82" charset="0"/>
              </a:rPr>
              <a:t> and vegetarians,  and take food offered by </a:t>
            </a:r>
            <a:r>
              <a:rPr lang="en-GB" sz="2800" dirty="0" err="1" smtClean="0">
                <a:solidFill>
                  <a:srgbClr val="FFC000"/>
                </a:solidFill>
                <a:latin typeface="Showcard Gothic" panose="04020904020102020604" pitchFamily="82" charset="0"/>
              </a:rPr>
              <a:t>subbama,the</a:t>
            </a:r>
            <a:r>
              <a:rPr lang="en-GB" sz="2800" dirty="0" smtClean="0">
                <a:solidFill>
                  <a:srgbClr val="FFC000"/>
                </a:solidFill>
                <a:latin typeface="Showcard Gothic" panose="04020904020102020604" pitchFamily="82" charset="0"/>
              </a:rPr>
              <a:t> aged lady residing there.</a:t>
            </a:r>
          </a:p>
          <a:p>
            <a:pPr marL="342900" indent="-342900">
              <a:buFont typeface="Wingdings" panose="05000000000000000000" pitchFamily="2" charset="2"/>
              <a:buChar char="ü"/>
            </a:pPr>
            <a:endParaRPr lang="en-IN" sz="2800" dirty="0">
              <a:solidFill>
                <a:srgbClr val="FFC000"/>
              </a:solidFill>
              <a:latin typeface="Showcard Gothic" panose="04020904020102020604" pitchFamily="82" charset="0"/>
            </a:endParaRPr>
          </a:p>
        </p:txBody>
      </p:sp>
    </p:spTree>
    <p:extLst>
      <p:ext uri="{BB962C8B-B14F-4D97-AF65-F5344CB8AC3E}">
        <p14:creationId xmlns:p14="http://schemas.microsoft.com/office/powerpoint/2010/main" val="31087638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43357"/>
            <a:ext cx="261257" cy="275100"/>
          </a:xfrm>
        </p:spPr>
        <p:txBody>
          <a:bodyPr>
            <a:normAutofit fontScale="90000"/>
          </a:bodyPr>
          <a:lstStyle/>
          <a:p>
            <a:endParaRPr lang="en-IN" dirty="0"/>
          </a:p>
        </p:txBody>
      </p:sp>
      <p:sp>
        <p:nvSpPr>
          <p:cNvPr id="3" name="Content Placeholder 2"/>
          <p:cNvSpPr>
            <a:spLocks noGrp="1"/>
          </p:cNvSpPr>
          <p:nvPr>
            <p:ph idx="1"/>
          </p:nvPr>
        </p:nvSpPr>
        <p:spPr>
          <a:xfrm>
            <a:off x="1097280" y="0"/>
            <a:ext cx="10058400" cy="6740434"/>
          </a:xfrm>
        </p:spPr>
        <p:txBody>
          <a:bodyPr>
            <a:noAutofit/>
          </a:bodyPr>
          <a:lstStyle/>
          <a:p>
            <a:pPr>
              <a:buFont typeface="Wingdings" panose="05000000000000000000" pitchFamily="2" charset="2"/>
              <a:buChar char="Ø"/>
            </a:pPr>
            <a:r>
              <a:rPr lang="en-GB" sz="2800" dirty="0" smtClean="0">
                <a:latin typeface="Bahnschrift SemiBold SemiConden" panose="020B0502040204020203" pitchFamily="34" charset="0"/>
              </a:rPr>
              <a:t>At this tender age of three and four ,”This </a:t>
            </a:r>
            <a:r>
              <a:rPr lang="en-GB" sz="2800" dirty="0" err="1" smtClean="0">
                <a:latin typeface="Bahnschrift SemiBold SemiConden" panose="020B0502040204020203" pitchFamily="34" charset="0"/>
              </a:rPr>
              <a:t>braahmin</a:t>
            </a:r>
            <a:r>
              <a:rPr lang="en-GB" sz="2800" dirty="0" smtClean="0">
                <a:latin typeface="Bahnschrift SemiBold SemiConden" panose="020B0502040204020203" pitchFamily="34" charset="0"/>
              </a:rPr>
              <a:t>” behaved as if he had a heart that melted at human sufferings.</a:t>
            </a:r>
          </a:p>
          <a:p>
            <a:pPr>
              <a:buFont typeface="Wingdings" panose="05000000000000000000" pitchFamily="2" charset="2"/>
              <a:buChar char="Ø"/>
            </a:pPr>
            <a:r>
              <a:rPr lang="en-GB" sz="2800" dirty="0" smtClean="0">
                <a:latin typeface="Bahnschrift SemiBold SemiConden" panose="020B0502040204020203" pitchFamily="34" charset="0"/>
              </a:rPr>
              <a:t>Whenever a beggar appeared at the door and raised his cry, </a:t>
            </a:r>
            <a:r>
              <a:rPr lang="en-GB" sz="2800" dirty="0" err="1" smtClean="0">
                <a:latin typeface="Bahnschrift SemiBold SemiConden" panose="020B0502040204020203" pitchFamily="34" charset="0"/>
              </a:rPr>
              <a:t>satya</a:t>
            </a:r>
            <a:r>
              <a:rPr lang="en-GB" sz="2800" dirty="0" smtClean="0">
                <a:latin typeface="Bahnschrift SemiBold SemiConden" panose="020B0502040204020203" pitchFamily="34" charset="0"/>
              </a:rPr>
              <a:t> left his play and rushed in , to force his sisters to dole out the grain or food.</a:t>
            </a:r>
          </a:p>
          <a:p>
            <a:pPr>
              <a:buFont typeface="Wingdings" panose="05000000000000000000" pitchFamily="2" charset="2"/>
              <a:buChar char="Ø"/>
            </a:pPr>
            <a:r>
              <a:rPr lang="en-GB" sz="2800" dirty="0" smtClean="0">
                <a:latin typeface="Bahnschrift SemiBold SemiConden" panose="020B0502040204020203" pitchFamily="34" charset="0"/>
              </a:rPr>
              <a:t>The adults naturally irritated by the endless procession and usually lost  temper and shouted the beggar off, before </a:t>
            </a:r>
            <a:r>
              <a:rPr lang="en-GB" sz="2800" dirty="0" err="1" smtClean="0">
                <a:latin typeface="Bahnschrift SemiBold SemiConden" panose="020B0502040204020203" pitchFamily="34" charset="0"/>
              </a:rPr>
              <a:t>satya</a:t>
            </a:r>
            <a:r>
              <a:rPr lang="en-GB" sz="2800" dirty="0" smtClean="0">
                <a:latin typeface="Bahnschrift SemiBold SemiConden" panose="020B0502040204020203" pitchFamily="34" charset="0"/>
              </a:rPr>
              <a:t> could bring relief;</a:t>
            </a:r>
          </a:p>
          <a:p>
            <a:pPr>
              <a:buFont typeface="Wingdings" panose="05000000000000000000" pitchFamily="2" charset="2"/>
              <a:buChar char="Ø"/>
            </a:pPr>
            <a:r>
              <a:rPr lang="en-GB" sz="2800" dirty="0" smtClean="0">
                <a:latin typeface="Bahnschrift SemiBold SemiConden" panose="020B0502040204020203" pitchFamily="34" charset="0"/>
              </a:rPr>
              <a:t>This made the child weep so long and that only by bringing the beggar back could the elders stop the wailing.</a:t>
            </a:r>
          </a:p>
          <a:p>
            <a:pPr>
              <a:buFont typeface="Wingdings" panose="05000000000000000000" pitchFamily="2" charset="2"/>
              <a:buChar char="Ø"/>
            </a:pPr>
            <a:r>
              <a:rPr lang="en-GB" sz="2800" dirty="0" smtClean="0">
                <a:latin typeface="Bahnschrift SemiBold SemiConden" panose="020B0502040204020203" pitchFamily="34" charset="0"/>
              </a:rPr>
              <a:t>Sometimes mother used to caught hold the child and warned him that “look here! You may give him food; but , mind You ,you will have to starve.”</a:t>
            </a:r>
          </a:p>
          <a:p>
            <a:pPr>
              <a:buFont typeface="Wingdings" panose="05000000000000000000" pitchFamily="2" charset="2"/>
              <a:buChar char="Ø"/>
            </a:pPr>
            <a:r>
              <a:rPr lang="en-GB" sz="2800" dirty="0" smtClean="0">
                <a:latin typeface="Bahnschrift SemiBold SemiConden" panose="020B0502040204020203" pitchFamily="34" charset="0"/>
              </a:rPr>
              <a:t>That didn’t daunt the child ; he used to run inside and bring out food to hungry man and he himself didn’t touch his lunch or dinner.</a:t>
            </a:r>
            <a:endParaRPr lang="en-IN" sz="2800" dirty="0">
              <a:latin typeface="Bahnschrift SemiBold SemiConden" panose="020B0502040204020203" pitchFamily="34" charset="0"/>
            </a:endParaRPr>
          </a:p>
        </p:txBody>
      </p:sp>
    </p:spTree>
    <p:extLst>
      <p:ext uri="{BB962C8B-B14F-4D97-AF65-F5344CB8AC3E}">
        <p14:creationId xmlns:p14="http://schemas.microsoft.com/office/powerpoint/2010/main" val="1645571222"/>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342709" cy="5290457"/>
          </a:xfrm>
        </p:spPr>
        <p:txBody>
          <a:bodyPr>
            <a:normAutofit/>
          </a:bodyPr>
          <a:lstStyle/>
          <a:p>
            <a:endParaRPr lang="en-IN" dirty="0"/>
          </a:p>
        </p:txBody>
      </p:sp>
      <p:sp>
        <p:nvSpPr>
          <p:cNvPr id="3" name="Content Placeholder 2"/>
          <p:cNvSpPr>
            <a:spLocks noGrp="1"/>
          </p:cNvSpPr>
          <p:nvPr>
            <p:ph idx="1"/>
          </p:nvPr>
        </p:nvSpPr>
        <p:spPr>
          <a:xfrm>
            <a:off x="5799908" y="222068"/>
            <a:ext cx="6087292" cy="5647025"/>
          </a:xfrm>
        </p:spPr>
        <p:txBody>
          <a:bodyPr>
            <a:normAutofit/>
          </a:bodyPr>
          <a:lstStyle/>
          <a:p>
            <a:pPr>
              <a:buFont typeface="Wingdings" panose="05000000000000000000" pitchFamily="2" charset="2"/>
              <a:buChar char="v"/>
            </a:pPr>
            <a:r>
              <a:rPr lang="en-GB" sz="2800" dirty="0" smtClean="0">
                <a:latin typeface="Cooper Black" panose="0208090404030B020404" pitchFamily="18" charset="0"/>
              </a:rPr>
              <a:t>But the child has mysterious visitor who was feeding it !</a:t>
            </a:r>
          </a:p>
          <a:p>
            <a:pPr>
              <a:buFont typeface="Wingdings" panose="05000000000000000000" pitchFamily="2" charset="2"/>
              <a:buChar char="v"/>
            </a:pPr>
            <a:r>
              <a:rPr lang="en-GB" sz="2800" dirty="0" smtClean="0">
                <a:latin typeface="Cooper Black" panose="0208090404030B020404" pitchFamily="18" charset="0"/>
              </a:rPr>
              <a:t>For when he refused food and persisted in the refused for days , his behaviour showed no sign of starvation.</a:t>
            </a:r>
          </a:p>
          <a:p>
            <a:pPr>
              <a:buFont typeface="Wingdings" panose="05000000000000000000" pitchFamily="2" charset="2"/>
              <a:buChar char="v"/>
            </a:pPr>
            <a:r>
              <a:rPr lang="en-GB" sz="2800" dirty="0" smtClean="0">
                <a:latin typeface="Cooper Black" panose="0208090404030B020404" pitchFamily="18" charset="0"/>
              </a:rPr>
              <a:t>He would also declared that he had eaten and that Tata(an old man),had fed him </a:t>
            </a:r>
            <a:r>
              <a:rPr lang="en-GB" sz="2800" dirty="0" err="1" smtClean="0">
                <a:latin typeface="Cooper Black" panose="0208090404030B020404" pitchFamily="18" charset="0"/>
              </a:rPr>
              <a:t>sumptuously,doling</a:t>
            </a:r>
            <a:r>
              <a:rPr lang="en-GB" sz="2800" dirty="0" smtClean="0">
                <a:latin typeface="Cooper Black" panose="0208090404030B020404" pitchFamily="18" charset="0"/>
              </a:rPr>
              <a:t> balls of milk </a:t>
            </a:r>
            <a:r>
              <a:rPr lang="en-GB" sz="2800" dirty="0" err="1" smtClean="0">
                <a:latin typeface="Cooper Black" panose="0208090404030B020404" pitchFamily="18" charset="0"/>
              </a:rPr>
              <a:t>rice.the</a:t>
            </a:r>
            <a:r>
              <a:rPr lang="en-GB" sz="2800" dirty="0" smtClean="0">
                <a:latin typeface="Cooper Black" panose="0208090404030B020404" pitchFamily="18" charset="0"/>
              </a:rPr>
              <a:t> full </a:t>
            </a:r>
            <a:r>
              <a:rPr lang="en-GB" sz="2800" dirty="0" err="1" smtClean="0">
                <a:latin typeface="Cooper Black" panose="0208090404030B020404" pitchFamily="18" charset="0"/>
              </a:rPr>
              <a:t>stomack</a:t>
            </a:r>
            <a:r>
              <a:rPr lang="en-GB" sz="2800" dirty="0" smtClean="0">
                <a:latin typeface="Cooper Black" panose="0208090404030B020404" pitchFamily="18" charset="0"/>
              </a:rPr>
              <a:t> was </a:t>
            </a:r>
            <a:r>
              <a:rPr lang="en-GB" sz="2800" dirty="0" err="1" smtClean="0">
                <a:latin typeface="Cooper Black" panose="0208090404030B020404" pitchFamily="18" charset="0"/>
              </a:rPr>
              <a:t>prrof</a:t>
            </a:r>
            <a:r>
              <a:rPr lang="en-GB" sz="2800" dirty="0" smtClean="0">
                <a:latin typeface="Cooper Black" panose="0208090404030B020404" pitchFamily="18" charset="0"/>
              </a:rPr>
              <a:t> of that.</a:t>
            </a:r>
            <a:endParaRPr lang="en-IN" sz="2800" dirty="0">
              <a:latin typeface="Cooper Black" panose="0208090404030B020404" pitchFamily="18" charset="0"/>
            </a:endParaRPr>
          </a:p>
        </p:txBody>
      </p:sp>
    </p:spTree>
    <p:extLst>
      <p:ext uri="{BB962C8B-B14F-4D97-AF65-F5344CB8AC3E}">
        <p14:creationId xmlns:p14="http://schemas.microsoft.com/office/powerpoint/2010/main" val="1382406017"/>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3305683"/>
          </a:xfrm>
        </p:spPr>
        <p:txBody>
          <a:bodyPr/>
          <a:lstStyle/>
          <a:p>
            <a:r>
              <a:rPr lang="en-GB" dirty="0" smtClean="0">
                <a:latin typeface="Showcard Gothic" panose="04020904020102020604" pitchFamily="82" charset="0"/>
              </a:rPr>
              <a:t>Who is mysterious person who fed </a:t>
            </a:r>
            <a:r>
              <a:rPr lang="en-GB" dirty="0" err="1" smtClean="0">
                <a:latin typeface="Showcard Gothic" panose="04020904020102020604" pitchFamily="82" charset="0"/>
              </a:rPr>
              <a:t>swamy</a:t>
            </a:r>
            <a:r>
              <a:rPr lang="en-GB" dirty="0">
                <a:latin typeface="Showcard Gothic" panose="04020904020102020604" pitchFamily="82" charset="0"/>
              </a:rPr>
              <a:t>?</a:t>
            </a:r>
            <a:endParaRPr lang="en-IN" dirty="0">
              <a:latin typeface="Showcard Gothic" panose="04020904020102020604" pitchFamily="82" charset="0"/>
            </a:endParaRPr>
          </a:p>
        </p:txBody>
      </p:sp>
    </p:spTree>
    <p:extLst>
      <p:ext uri="{BB962C8B-B14F-4D97-AF65-F5344CB8AC3E}">
        <p14:creationId xmlns:p14="http://schemas.microsoft.com/office/powerpoint/2010/main" val="426284174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4023360" cy="1554480"/>
          </a:xfrm>
        </p:spPr>
        <p:txBody>
          <a:bodyPr/>
          <a:lstStyle/>
          <a:p>
            <a:endParaRPr lang="en-IN"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GB" sz="3200" dirty="0" smtClean="0">
                <a:latin typeface="Elephant" panose="02020904090505020303" pitchFamily="18" charset="0"/>
              </a:rPr>
              <a:t>There is a primary school in the village of </a:t>
            </a:r>
            <a:r>
              <a:rPr lang="en-GB" sz="3200" dirty="0" err="1" smtClean="0">
                <a:latin typeface="Elephant" panose="02020904090505020303" pitchFamily="18" charset="0"/>
              </a:rPr>
              <a:t>puttaparty</a:t>
            </a:r>
            <a:r>
              <a:rPr lang="en-GB" sz="3200" dirty="0" smtClean="0">
                <a:latin typeface="Elephant" panose="02020904090505020303" pitchFamily="18" charset="0"/>
              </a:rPr>
              <a:t> and </a:t>
            </a:r>
            <a:r>
              <a:rPr lang="en-GB" sz="3200" dirty="0" err="1" smtClean="0">
                <a:latin typeface="Elephant" panose="02020904090505020303" pitchFamily="18" charset="0"/>
              </a:rPr>
              <a:t>satya</a:t>
            </a:r>
            <a:r>
              <a:rPr lang="en-GB" sz="3200" dirty="0" smtClean="0">
                <a:latin typeface="Elephant" panose="02020904090505020303" pitchFamily="18" charset="0"/>
              </a:rPr>
              <a:t> also used to go.</a:t>
            </a:r>
          </a:p>
          <a:p>
            <a:pPr>
              <a:buFont typeface="Wingdings" panose="05000000000000000000" pitchFamily="2" charset="2"/>
              <a:buChar char="q"/>
            </a:pPr>
            <a:r>
              <a:rPr lang="en-GB" sz="3200" dirty="0" smtClean="0">
                <a:latin typeface="Elephant" panose="02020904090505020303" pitchFamily="18" charset="0"/>
              </a:rPr>
              <a:t>And there are punishments at that time on time concerns.</a:t>
            </a:r>
          </a:p>
          <a:p>
            <a:pPr>
              <a:buFont typeface="Wingdings" panose="05000000000000000000" pitchFamily="2" charset="2"/>
              <a:buChar char="q"/>
            </a:pPr>
            <a:r>
              <a:rPr lang="en-GB" sz="3200" dirty="0" smtClean="0">
                <a:latin typeface="Elephant" panose="02020904090505020303" pitchFamily="18" charset="0"/>
              </a:rPr>
              <a:t>In order to escape these punishments students used to gathered eaves of the school house.</a:t>
            </a:r>
          </a:p>
          <a:p>
            <a:pPr>
              <a:buFont typeface="Wingdings" panose="05000000000000000000" pitchFamily="2" charset="2"/>
              <a:buChar char="q"/>
            </a:pPr>
            <a:r>
              <a:rPr lang="en-GB" sz="3200" dirty="0" smtClean="0">
                <a:latin typeface="Elephant" panose="02020904090505020303" pitchFamily="18" charset="0"/>
              </a:rPr>
              <a:t>Satya helps them by giving towels , shirts etc…, to make them comfortable</a:t>
            </a:r>
            <a:r>
              <a:rPr lang="en-GB" dirty="0" smtClean="0"/>
              <a:t>.</a:t>
            </a:r>
            <a:endParaRPr lang="en-IN" dirty="0"/>
          </a:p>
        </p:txBody>
      </p:sp>
      <p:sp>
        <p:nvSpPr>
          <p:cNvPr id="4" name="Text Placeholder 3"/>
          <p:cNvSpPr>
            <a:spLocks noGrp="1"/>
          </p:cNvSpPr>
          <p:nvPr>
            <p:ph type="body" sz="half" idx="2"/>
          </p:nvPr>
        </p:nvSpPr>
        <p:spPr>
          <a:xfrm>
            <a:off x="0" y="1554481"/>
            <a:ext cx="4023360" cy="4750723"/>
          </a:xfrm>
        </p:spPr>
        <p:txBody>
          <a:bodyPr/>
          <a:lstStyle/>
          <a:p>
            <a:endParaRPr lang="en-IN" dirty="0"/>
          </a:p>
        </p:txBody>
      </p:sp>
    </p:spTree>
    <p:extLst>
      <p:ext uri="{BB962C8B-B14F-4D97-AF65-F5344CB8AC3E}">
        <p14:creationId xmlns:p14="http://schemas.microsoft.com/office/powerpoint/2010/main" val="1549312475"/>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9600" dirty="0">
                <a:latin typeface="Magneto" panose="04030805050802020D02" pitchFamily="82" charset="0"/>
              </a:rPr>
              <a:t>Q</a:t>
            </a:r>
            <a:r>
              <a:rPr lang="en-GB" sz="9600" dirty="0" smtClean="0">
                <a:latin typeface="Magneto" panose="04030805050802020D02" pitchFamily="82" charset="0"/>
              </a:rPr>
              <a:t>uestions</a:t>
            </a:r>
            <a:endParaRPr lang="en-IN" sz="9600" dirty="0">
              <a:latin typeface="Magneto" panose="04030805050802020D02" pitchFamily="82" charset="0"/>
            </a:endParaRPr>
          </a:p>
        </p:txBody>
      </p:sp>
      <p:sp>
        <p:nvSpPr>
          <p:cNvPr id="3" name="Content Placeholder 2"/>
          <p:cNvSpPr>
            <a:spLocks noGrp="1"/>
          </p:cNvSpPr>
          <p:nvPr>
            <p:ph idx="1"/>
          </p:nvPr>
        </p:nvSpPr>
        <p:spPr>
          <a:xfrm>
            <a:off x="1097280" y="1737360"/>
            <a:ext cx="10058400" cy="4598126"/>
          </a:xfrm>
        </p:spPr>
        <p:txBody>
          <a:bodyPr>
            <a:normAutofit/>
          </a:bodyPr>
          <a:lstStyle/>
          <a:p>
            <a:pPr marL="457200" indent="-457200">
              <a:buFont typeface="+mj-lt"/>
              <a:buAutoNum type="arabicPeriod"/>
            </a:pPr>
            <a:r>
              <a:rPr lang="en-GB" sz="2400" dirty="0" smtClean="0">
                <a:latin typeface="Segoe UI Black" panose="020B0A02040204020203" pitchFamily="34" charset="0"/>
                <a:ea typeface="Segoe UI Black" panose="020B0A02040204020203" pitchFamily="34" charset="0"/>
              </a:rPr>
              <a:t>why and how tambura twanging automatically and beating itself ? And what did </a:t>
            </a:r>
            <a:r>
              <a:rPr lang="en-GB" sz="2400" dirty="0" err="1" smtClean="0">
                <a:latin typeface="Segoe UI Black" panose="020B0A02040204020203" pitchFamily="34" charset="0"/>
                <a:ea typeface="Segoe UI Black" panose="020B0A02040204020203" pitchFamily="34" charset="0"/>
              </a:rPr>
              <a:t>shastry</a:t>
            </a:r>
            <a:r>
              <a:rPr lang="en-GB" sz="2400" dirty="0" smtClean="0">
                <a:latin typeface="Segoe UI Black" panose="020B0A02040204020203" pitchFamily="34" charset="0"/>
                <a:ea typeface="Segoe UI Black" panose="020B0A02040204020203" pitchFamily="34" charset="0"/>
              </a:rPr>
              <a:t> said to </a:t>
            </a:r>
            <a:r>
              <a:rPr lang="en-GB" sz="2400" dirty="0" err="1" smtClean="0">
                <a:latin typeface="Segoe UI Black" panose="020B0A02040204020203" pitchFamily="34" charset="0"/>
                <a:ea typeface="Segoe UI Black" panose="020B0A02040204020203" pitchFamily="34" charset="0"/>
              </a:rPr>
              <a:t>pedda</a:t>
            </a:r>
            <a:r>
              <a:rPr lang="en-GB" sz="2400" dirty="0" smtClean="0">
                <a:latin typeface="Segoe UI Black" panose="020B0A02040204020203" pitchFamily="34" charset="0"/>
                <a:ea typeface="Segoe UI Black" panose="020B0A02040204020203" pitchFamily="34" charset="0"/>
              </a:rPr>
              <a:t> </a:t>
            </a:r>
            <a:r>
              <a:rPr lang="en-GB" sz="2400" dirty="0" err="1" smtClean="0">
                <a:latin typeface="Segoe UI Black" panose="020B0A02040204020203" pitchFamily="34" charset="0"/>
                <a:ea typeface="Segoe UI Black" panose="020B0A02040204020203" pitchFamily="34" charset="0"/>
              </a:rPr>
              <a:t>venkapa</a:t>
            </a:r>
            <a:r>
              <a:rPr lang="en-GB" sz="2400" dirty="0" smtClean="0">
                <a:latin typeface="Segoe UI Black" panose="020B0A02040204020203" pitchFamily="34" charset="0"/>
                <a:ea typeface="Segoe UI Black" panose="020B0A02040204020203" pitchFamily="34" charset="0"/>
              </a:rPr>
              <a:t>  Raju?</a:t>
            </a:r>
          </a:p>
          <a:p>
            <a:pPr marL="457200" indent="-457200">
              <a:buFont typeface="+mj-lt"/>
              <a:buAutoNum type="arabicPeriod"/>
            </a:pPr>
            <a:r>
              <a:rPr lang="en-GB" sz="2400" dirty="0" smtClean="0">
                <a:latin typeface="Segoe UI Black" panose="020B0A02040204020203" pitchFamily="34" charset="0"/>
                <a:ea typeface="Segoe UI Black" panose="020B0A02040204020203" pitchFamily="34" charset="0"/>
              </a:rPr>
              <a:t>On which auspicious day did </a:t>
            </a:r>
            <a:r>
              <a:rPr lang="en-GB" sz="2400" dirty="0" err="1" smtClean="0">
                <a:latin typeface="Segoe UI Black" panose="020B0A02040204020203" pitchFamily="34" charset="0"/>
                <a:ea typeface="Segoe UI Black" panose="020B0A02040204020203" pitchFamily="34" charset="0"/>
              </a:rPr>
              <a:t>swamy</a:t>
            </a:r>
            <a:r>
              <a:rPr lang="en-GB" sz="2400" dirty="0" smtClean="0">
                <a:latin typeface="Segoe UI Black" panose="020B0A02040204020203" pitchFamily="34" charset="0"/>
                <a:ea typeface="Segoe UI Black" panose="020B0A02040204020203" pitchFamily="34" charset="0"/>
              </a:rPr>
              <a:t> was born ? Which God people used to worship at that day ? {please mention month and year}</a:t>
            </a:r>
          </a:p>
          <a:p>
            <a:pPr marL="457200" indent="-457200">
              <a:buFont typeface="+mj-lt"/>
              <a:buAutoNum type="arabicPeriod"/>
            </a:pPr>
            <a:r>
              <a:rPr lang="en-GB" sz="2400" dirty="0" smtClean="0">
                <a:latin typeface="Segoe UI Black" panose="020B0A02040204020203" pitchFamily="34" charset="0"/>
                <a:ea typeface="Segoe UI Black" panose="020B0A02040204020203" pitchFamily="34" charset="0"/>
              </a:rPr>
              <a:t>After searching the bed of clothes what came out in a peculiar way when the baby was slept and which role it was playing ?</a:t>
            </a:r>
          </a:p>
          <a:p>
            <a:pPr marL="457200" indent="-457200">
              <a:buFont typeface="+mj-lt"/>
              <a:buAutoNum type="arabicPeriod"/>
            </a:pPr>
            <a:r>
              <a:rPr lang="en-GB" sz="2400" dirty="0" smtClean="0">
                <a:latin typeface="Segoe UI Black" panose="020B0A02040204020203" pitchFamily="34" charset="0"/>
                <a:ea typeface="Segoe UI Black" panose="020B0A02040204020203" pitchFamily="34" charset="0"/>
              </a:rPr>
              <a:t>On whose house CHILD  used to eat food  ? [VEGETARIAN].</a:t>
            </a:r>
          </a:p>
          <a:p>
            <a:pPr marL="457200" indent="-457200">
              <a:buFont typeface="+mj-lt"/>
              <a:buAutoNum type="arabicPeriod"/>
            </a:pPr>
            <a:r>
              <a:rPr lang="en-GB" sz="2400" dirty="0" smtClean="0">
                <a:latin typeface="Segoe UI Black" panose="020B0A02040204020203" pitchFamily="34" charset="0"/>
                <a:ea typeface="Segoe UI Black" panose="020B0A02040204020203" pitchFamily="34" charset="0"/>
              </a:rPr>
              <a:t>Where was </a:t>
            </a:r>
            <a:r>
              <a:rPr lang="en-GB" sz="2400" dirty="0" err="1" smtClean="0">
                <a:latin typeface="Segoe UI Black" panose="020B0A02040204020203" pitchFamily="34" charset="0"/>
                <a:ea typeface="Segoe UI Black" panose="020B0A02040204020203" pitchFamily="34" charset="0"/>
              </a:rPr>
              <a:t>satya</a:t>
            </a:r>
            <a:r>
              <a:rPr lang="en-GB" sz="2400" dirty="0" smtClean="0">
                <a:latin typeface="Segoe UI Black" panose="020B0A02040204020203" pitchFamily="34" charset="0"/>
                <a:ea typeface="Segoe UI Black" panose="020B0A02040204020203" pitchFamily="34" charset="0"/>
              </a:rPr>
              <a:t> there at the midnight of </a:t>
            </a:r>
            <a:r>
              <a:rPr lang="en-GB" sz="2400" dirty="0" err="1" smtClean="0">
                <a:latin typeface="Segoe UI Black" panose="020B0A02040204020203" pitchFamily="34" charset="0"/>
                <a:ea typeface="Segoe UI Black" panose="020B0A02040204020203" pitchFamily="34" charset="0"/>
              </a:rPr>
              <a:t>sri</a:t>
            </a:r>
            <a:r>
              <a:rPr lang="en-GB" sz="2400" dirty="0" smtClean="0">
                <a:latin typeface="Segoe UI Black" panose="020B0A02040204020203" pitchFamily="34" charset="0"/>
                <a:ea typeface="Segoe UI Black" panose="020B0A02040204020203" pitchFamily="34" charset="0"/>
              </a:rPr>
              <a:t> </a:t>
            </a:r>
            <a:r>
              <a:rPr lang="en-GB" sz="2400" dirty="0" err="1" smtClean="0">
                <a:latin typeface="Segoe UI Black" panose="020B0A02040204020203" pitchFamily="34" charset="0"/>
                <a:ea typeface="Segoe UI Black" panose="020B0A02040204020203" pitchFamily="34" charset="0"/>
              </a:rPr>
              <a:t>rama</a:t>
            </a:r>
            <a:r>
              <a:rPr lang="en-GB" sz="2400" dirty="0" smtClean="0">
                <a:latin typeface="Segoe UI Black" panose="020B0A02040204020203" pitchFamily="34" charset="0"/>
                <a:ea typeface="Segoe UI Black" panose="020B0A02040204020203" pitchFamily="34" charset="0"/>
              </a:rPr>
              <a:t> Navami and what did the companions said ?</a:t>
            </a:r>
            <a:endParaRPr lang="en-IN" sz="24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618071039"/>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5265111"/>
          </a:xfrm>
        </p:spPr>
        <p:txBody>
          <a:bodyPr/>
          <a:lstStyle/>
          <a:p>
            <a:endParaRPr lang="en-IN" dirty="0"/>
          </a:p>
        </p:txBody>
      </p:sp>
    </p:spTree>
    <p:extLst>
      <p:ext uri="{BB962C8B-B14F-4D97-AF65-F5344CB8AC3E}">
        <p14:creationId xmlns:p14="http://schemas.microsoft.com/office/powerpoint/2010/main" val="3274751328"/>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277</TotalTime>
  <Words>885</Words>
  <Application>Microsoft Office PowerPoint</Application>
  <PresentationFormat>Widescreen</PresentationFormat>
  <Paragraphs>58</Paragraphs>
  <Slides>13</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13</vt:i4>
      </vt:variant>
    </vt:vector>
  </HeadingPairs>
  <TitlesOfParts>
    <vt:vector size="31" baseType="lpstr">
      <vt:lpstr>Bahnschrift SemiBold SemiConden</vt:lpstr>
      <vt:lpstr>Bahnschrift SemiLight</vt:lpstr>
      <vt:lpstr>Bauhaus 93</vt:lpstr>
      <vt:lpstr>Calibri</vt:lpstr>
      <vt:lpstr>Calibri Light</vt:lpstr>
      <vt:lpstr>Castellar</vt:lpstr>
      <vt:lpstr>Comic Sans MS</vt:lpstr>
      <vt:lpstr>Cooper Black</vt:lpstr>
      <vt:lpstr>Copperplate Gothic Light</vt:lpstr>
      <vt:lpstr>Elephant</vt:lpstr>
      <vt:lpstr>Gill Sans Ultra Bold</vt:lpstr>
      <vt:lpstr>Jokerman</vt:lpstr>
      <vt:lpstr>Magneto</vt:lpstr>
      <vt:lpstr>Segoe UI Black</vt:lpstr>
      <vt:lpstr>Showcard Gothic</vt:lpstr>
      <vt:lpstr>Snap ITC</vt:lpstr>
      <vt:lpstr>Wingdings</vt:lpstr>
      <vt:lpstr>Retrospect</vt:lpstr>
      <vt:lpstr>2.bALAGOPALA</vt:lpstr>
      <vt:lpstr>botHe is Shiva , he is Shakti ; he must have h Vibhuti and Kumkum.</vt:lpstr>
      <vt:lpstr>PowerPoint Presentation</vt:lpstr>
      <vt:lpstr>THE BIRTH </vt:lpstr>
      <vt:lpstr>ABOUT THE INCARNATION</vt:lpstr>
      <vt:lpstr>Sheshasai</vt:lpstr>
      <vt:lpstr>PowerPoint Presentation</vt:lpstr>
      <vt:lpstr>PowerPoint Presentation</vt:lpstr>
      <vt:lpstr>PowerPoint Presentation</vt:lpstr>
      <vt:lpstr>Who is mysterious person who fed swamy?</vt:lpstr>
      <vt:lpstr>PowerPoint Presentation</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BALAGOPALA</dc:title>
  <dc:creator>bba1</dc:creator>
  <cp:lastModifiedBy>bsc1</cp:lastModifiedBy>
  <cp:revision>31</cp:revision>
  <dcterms:created xsi:type="dcterms:W3CDTF">2023-08-28T06:24:07Z</dcterms:created>
  <dcterms:modified xsi:type="dcterms:W3CDTF">2023-09-18T06:08:41Z</dcterms:modified>
</cp:coreProperties>
</file>