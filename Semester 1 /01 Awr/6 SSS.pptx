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71" r:id="rId3"/>
    <p:sldId id="263" r:id="rId4"/>
    <p:sldId id="264" r:id="rId5"/>
    <p:sldId id="265" r:id="rId6"/>
    <p:sldId id="257" r:id="rId7"/>
    <p:sldId id="258" r:id="rId8"/>
    <p:sldId id="259" r:id="rId9"/>
    <p:sldId id="260" r:id="rId10"/>
    <p:sldId id="261" r:id="rId11"/>
    <p:sldId id="262" r:id="rId12"/>
    <p:sldId id="266" r:id="rId13"/>
    <p:sldId id="267" r:id="rId14"/>
    <p:sldId id="268" r:id="rId15"/>
    <p:sldId id="269" r:id="rId16"/>
    <p:sldId id="270" r:id="rId17"/>
    <p:sldId id="272" r:id="rId18"/>
    <p:sldId id="273" r:id="rId19"/>
    <p:sldId id="274" r:id="rId20"/>
    <p:sldId id="275" r:id="rId21"/>
    <p:sldId id="277" r:id="rId22"/>
    <p:sldId id="278"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ba1" initials="b" lastIdx="1" clrIdx="0">
    <p:extLst>
      <p:ext uri="{19B8F6BF-5375-455C-9EA6-DF929625EA0E}">
        <p15:presenceInfo xmlns:p15="http://schemas.microsoft.com/office/powerpoint/2012/main" userId="bba1"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67" d="100"/>
          <a:sy n="67" d="100"/>
        </p:scale>
        <p:origin x="7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9C2956-9E1E-46CF-968B-E86EC76A2C2B}"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3902310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C2956-9E1E-46CF-968B-E86EC76A2C2B}"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2892396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9C2956-9E1E-46CF-968B-E86EC76A2C2B}"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38993188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5443936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9C2956-9E1E-46CF-968B-E86EC76A2C2B}" type="datetimeFigureOut">
              <a:rPr lang="en-IN" smtClean="0"/>
              <a:t>20-09-2023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934769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9C2956-9E1E-46CF-968B-E86EC76A2C2B}" type="datetimeFigureOut">
              <a:rPr lang="en-IN" smtClean="0"/>
              <a:t>20-09-2023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738254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9C2956-9E1E-46CF-968B-E86EC76A2C2B}" type="datetimeFigureOut">
              <a:rPr lang="en-IN" smtClean="0"/>
              <a:t>20-09-2023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1031839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3188632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4182348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1675280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1025945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91057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9C2956-9E1E-46CF-968B-E86EC76A2C2B}" type="datetimeFigureOut">
              <a:rPr lang="en-IN" smtClean="0"/>
              <a:t>20-09-2023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2144443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F9C2956-9E1E-46CF-968B-E86EC76A2C2B}" type="datetimeFigureOut">
              <a:rPr lang="en-IN" smtClean="0"/>
              <a:t>20-09-2023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2034862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6F9C2956-9E1E-46CF-968B-E86EC76A2C2B}" type="datetimeFigureOut">
              <a:rPr lang="en-IN" smtClean="0"/>
              <a:t>20-09-2023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3590436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C2956-9E1E-46CF-968B-E86EC76A2C2B}"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3286998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9C2956-9E1E-46CF-968B-E86EC76A2C2B}" type="datetimeFigureOut">
              <a:rPr lang="en-IN" smtClean="0"/>
              <a:t>20-09-2023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5D00AD-F40C-414B-9B3D-0B5D3560F419}" type="slidenum">
              <a:rPr lang="en-IN" smtClean="0"/>
              <a:t>‹#›</a:t>
            </a:fld>
            <a:endParaRPr lang="en-IN"/>
          </a:p>
        </p:txBody>
      </p:sp>
    </p:spTree>
    <p:extLst>
      <p:ext uri="{BB962C8B-B14F-4D97-AF65-F5344CB8AC3E}">
        <p14:creationId xmlns:p14="http://schemas.microsoft.com/office/powerpoint/2010/main" val="1180357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F9C2956-9E1E-46CF-968B-E86EC76A2C2B}" type="datetimeFigureOut">
              <a:rPr lang="en-IN" smtClean="0"/>
              <a:t>20-09-2023</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95D00AD-F40C-414B-9B3D-0B5D3560F419}" type="slidenum">
              <a:rPr lang="en-IN" smtClean="0"/>
              <a:t>‹#›</a:t>
            </a:fld>
            <a:endParaRPr lang="en-IN"/>
          </a:p>
        </p:txBody>
      </p:sp>
    </p:spTree>
    <p:extLst>
      <p:ext uri="{BB962C8B-B14F-4D97-AF65-F5344CB8AC3E}">
        <p14:creationId xmlns:p14="http://schemas.microsoft.com/office/powerpoint/2010/main" val="1273107925"/>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flipH="1" flipV="1">
            <a:off x="11371382" y="1983545"/>
            <a:ext cx="332937" cy="422030"/>
          </a:xfrm>
        </p:spPr>
        <p:txBody>
          <a:bodyPr>
            <a:normAutofit fontScale="90000"/>
          </a:bodyPr>
          <a:lstStyle/>
          <a:p>
            <a:pPr algn="l"/>
            <a:r>
              <a:rPr lang="en-GB" dirty="0" smtClean="0">
                <a:latin typeface="Algerian" panose="04020705040A02060702" pitchFamily="82" charset="0"/>
              </a:rPr>
              <a:t>.</a:t>
            </a:r>
            <a:endParaRPr lang="en-IN" dirty="0">
              <a:latin typeface="Algerian" panose="04020705040A02060702" pitchFamily="82" charset="0"/>
            </a:endParaRPr>
          </a:p>
        </p:txBody>
      </p:sp>
      <p:sp>
        <p:nvSpPr>
          <p:cNvPr id="3" name="Subtitle 2"/>
          <p:cNvSpPr>
            <a:spLocks noGrp="1"/>
          </p:cNvSpPr>
          <p:nvPr>
            <p:ph type="subTitle" idx="1"/>
          </p:nvPr>
        </p:nvSpPr>
        <p:spPr>
          <a:xfrm>
            <a:off x="-103276" y="2883309"/>
            <a:ext cx="5499461" cy="1808706"/>
          </a:xfrm>
        </p:spPr>
        <p:txBody>
          <a:bodyPr>
            <a:normAutofit/>
          </a:bodyPr>
          <a:lstStyle/>
          <a:p>
            <a:pPr algn="l"/>
            <a:r>
              <a:rPr lang="en-GB" sz="3200" dirty="0" smtClean="0">
                <a:ln>
                  <a:solidFill>
                    <a:schemeClr val="accent4">
                      <a:alpha val="88000"/>
                    </a:schemeClr>
                  </a:solidFill>
                </a:ln>
                <a:solidFill>
                  <a:schemeClr val="accent4"/>
                </a:solidFill>
                <a:effectLst>
                  <a:glow rad="139700">
                    <a:schemeClr val="accent4">
                      <a:lumMod val="75000"/>
                      <a:alpha val="40000"/>
                    </a:schemeClr>
                  </a:glow>
                </a:effectLst>
                <a:latin typeface="Bell MT" panose="02020503060305020303" pitchFamily="18" charset="0"/>
              </a:rPr>
              <a:t>               </a:t>
            </a:r>
          </a:p>
          <a:p>
            <a:pPr algn="l"/>
            <a:r>
              <a:rPr lang="en-GB" sz="3200" dirty="0" smtClean="0">
                <a:ln>
                  <a:solidFill>
                    <a:schemeClr val="accent4">
                      <a:alpha val="88000"/>
                    </a:schemeClr>
                  </a:solidFill>
                </a:ln>
                <a:solidFill>
                  <a:schemeClr val="accent4"/>
                </a:solidFill>
                <a:effectLst>
                  <a:glow rad="139700">
                    <a:schemeClr val="accent4">
                      <a:lumMod val="75000"/>
                      <a:alpha val="40000"/>
                    </a:schemeClr>
                  </a:glow>
                </a:effectLst>
                <a:latin typeface="Bell MT" panose="02020503060305020303" pitchFamily="18" charset="0"/>
              </a:rPr>
              <a:t>            </a:t>
            </a:r>
          </a:p>
        </p:txBody>
      </p:sp>
      <p:sp>
        <p:nvSpPr>
          <p:cNvPr id="4" name="Rectangle 3"/>
          <p:cNvSpPr/>
          <p:nvPr/>
        </p:nvSpPr>
        <p:spPr>
          <a:xfrm>
            <a:off x="339636" y="830997"/>
            <a:ext cx="8314006" cy="3416320"/>
          </a:xfrm>
          <a:prstGeom prst="rect">
            <a:avLst/>
          </a:prstGeom>
          <a:noFill/>
        </p:spPr>
        <p:txBody>
          <a:bodyPr wrap="square" lIns="91440" tIns="45720" rIns="91440" bIns="45720">
            <a:spAutoFit/>
          </a:bodyPr>
          <a:lstStyle/>
          <a:p>
            <a:r>
              <a:rPr lang="en-US" sz="5400" b="1" dirty="0" smtClean="0">
                <a:ln w="13462">
                  <a:solidFill>
                    <a:schemeClr val="bg1"/>
                  </a:solidFill>
                  <a:prstDash val="solid"/>
                </a:ln>
                <a:effectLst>
                  <a:glow rad="152400">
                    <a:schemeClr val="accent3">
                      <a:satMod val="175000"/>
                      <a:alpha val="40000"/>
                    </a:schemeClr>
                  </a:glow>
                  <a:outerShdw blurRad="38100" dist="38100" dir="2700000" algn="tl">
                    <a:srgbClr val="000000">
                      <a:alpha val="43137"/>
                    </a:srgbClr>
                  </a:outerShdw>
                </a:effectLst>
              </a:rPr>
              <a:t>Sathyam</a:t>
            </a:r>
            <a:r>
              <a:rPr lang="en-US" sz="5400" b="1" u="sng" dirty="0" smtClean="0">
                <a:ln w="13462">
                  <a:solidFill>
                    <a:schemeClr val="bg1"/>
                  </a:solidFill>
                  <a:prstDash val="solid"/>
                </a:ln>
                <a:effectLst>
                  <a:glow rad="152400">
                    <a:schemeClr val="accent3">
                      <a:satMod val="175000"/>
                      <a:alpha val="40000"/>
                    </a:schemeClr>
                  </a:glow>
                  <a:outerShdw blurRad="38100" dist="38100" dir="2700000" algn="tl">
                    <a:srgbClr val="000000">
                      <a:alpha val="43137"/>
                    </a:srgbClr>
                  </a:outerShdw>
                </a:effectLst>
              </a:rPr>
              <a:t> </a:t>
            </a:r>
          </a:p>
          <a:p>
            <a:r>
              <a:rPr lang="en-US" sz="5400" b="1" cap="none" spc="0" dirty="0" smtClean="0">
                <a:ln w="13462">
                  <a:solidFill>
                    <a:schemeClr val="bg1"/>
                  </a:solidFill>
                  <a:prstDash val="solid"/>
                </a:ln>
                <a:effectLst>
                  <a:glow rad="152400">
                    <a:schemeClr val="accent3">
                      <a:satMod val="175000"/>
                      <a:alpha val="40000"/>
                    </a:schemeClr>
                  </a:glow>
                  <a:outerShdw blurRad="38100" dist="38100" dir="2700000" algn="tl">
                    <a:srgbClr val="000000">
                      <a:alpha val="43137"/>
                    </a:srgbClr>
                  </a:outerShdw>
                </a:effectLst>
              </a:rPr>
              <a:t>Shivam</a:t>
            </a:r>
          </a:p>
          <a:p>
            <a:r>
              <a:rPr lang="en-US" sz="5400" b="1" dirty="0" smtClean="0">
                <a:ln w="13462">
                  <a:solidFill>
                    <a:schemeClr val="bg1"/>
                  </a:solidFill>
                  <a:prstDash val="solid"/>
                </a:ln>
                <a:effectLst>
                  <a:glow rad="152400">
                    <a:schemeClr val="accent3">
                      <a:satMod val="175000"/>
                      <a:alpha val="40000"/>
                    </a:schemeClr>
                  </a:glow>
                  <a:outerShdw blurRad="38100" dist="38100" dir="2700000" algn="tl">
                    <a:srgbClr val="000000">
                      <a:alpha val="43137"/>
                    </a:srgbClr>
                  </a:outerShdw>
                </a:effectLst>
              </a:rPr>
              <a:t>S</a:t>
            </a:r>
            <a:r>
              <a:rPr lang="en-US" sz="5400" b="1" cap="none" spc="0" dirty="0" smtClean="0">
                <a:ln w="13462">
                  <a:solidFill>
                    <a:schemeClr val="bg1"/>
                  </a:solidFill>
                  <a:prstDash val="solid"/>
                </a:ln>
                <a:effectLst>
                  <a:glow rad="152400">
                    <a:schemeClr val="accent3">
                      <a:satMod val="175000"/>
                      <a:alpha val="40000"/>
                    </a:schemeClr>
                  </a:glow>
                  <a:outerShdw blurRad="38100" dist="38100" dir="2700000" algn="tl">
                    <a:srgbClr val="000000">
                      <a:alpha val="43137"/>
                    </a:srgbClr>
                  </a:outerShdw>
                </a:effectLst>
              </a:rPr>
              <a:t>undaram</a:t>
            </a:r>
          </a:p>
          <a:p>
            <a:pPr algn="ctr"/>
            <a:endParaRPr lang="en-US" sz="5400" b="1" u="sng" cap="none" spc="0" dirty="0">
              <a:ln w="13462">
                <a:solidFill>
                  <a:schemeClr val="tx1"/>
                </a:solidFill>
                <a:prstDash val="solid"/>
              </a:ln>
              <a:effectLst>
                <a:outerShdw blurRad="38100" dist="38100" dir="2700000" algn="tl">
                  <a:srgbClr val="000000">
                    <a:alpha val="43137"/>
                  </a:srgbClr>
                </a:outerShdw>
              </a:effectLst>
            </a:endParaRPr>
          </a:p>
        </p:txBody>
      </p:sp>
      <p:sp>
        <p:nvSpPr>
          <p:cNvPr id="6" name="Rectangle 5"/>
          <p:cNvSpPr/>
          <p:nvPr/>
        </p:nvSpPr>
        <p:spPr>
          <a:xfrm>
            <a:off x="139611" y="0"/>
            <a:ext cx="4767943" cy="830997"/>
          </a:xfrm>
          <a:prstGeom prst="rect">
            <a:avLst/>
          </a:prstGeom>
          <a:noFill/>
        </p:spPr>
        <p:txBody>
          <a:bodyPr wrap="square" lIns="91440" tIns="45720" rIns="91440" bIns="45720">
            <a:spAutoFit/>
          </a:bodyPr>
          <a:lstStyle/>
          <a:p>
            <a:pPr algn="ctr"/>
            <a:r>
              <a:rPr lang="en-US" sz="4800" b="1" dirty="0" smtClean="0">
                <a:ln w="22225">
                  <a:solidFill>
                    <a:schemeClr val="tx1"/>
                  </a:solidFill>
                  <a:prstDash val="solid"/>
                </a:ln>
                <a:solidFill>
                  <a:schemeClr val="accent6">
                    <a:lumMod val="75000"/>
                  </a:schemeClr>
                </a:solidFill>
                <a:effectLst>
                  <a:glow rad="63500">
                    <a:schemeClr val="accent2">
                      <a:lumMod val="60000"/>
                      <a:lumOff val="40000"/>
                      <a:alpha val="40000"/>
                    </a:schemeClr>
                  </a:glow>
                  <a:innerShdw blurRad="63500" dist="50800" dir="18900000">
                    <a:prstClr val="black">
                      <a:alpha val="50000"/>
                    </a:prstClr>
                  </a:innerShdw>
                </a:effectLst>
                <a:latin typeface="Cambria" panose="02040503050406030204" pitchFamily="18" charset="0"/>
                <a:ea typeface="Cambria" panose="02040503050406030204" pitchFamily="18" charset="0"/>
              </a:rPr>
              <a:t>OM SRI SAI RAM </a:t>
            </a:r>
            <a:endParaRPr lang="en-US" sz="4800" b="1" dirty="0">
              <a:ln w="22225">
                <a:solidFill>
                  <a:schemeClr val="tx1"/>
                </a:solidFill>
                <a:prstDash val="solid"/>
              </a:ln>
              <a:solidFill>
                <a:schemeClr val="accent6">
                  <a:lumMod val="75000"/>
                </a:schemeClr>
              </a:solidFill>
              <a:effectLst>
                <a:glow rad="63500">
                  <a:schemeClr val="accent2">
                    <a:lumMod val="60000"/>
                    <a:lumOff val="40000"/>
                    <a:alpha val="40000"/>
                  </a:schemeClr>
                </a:glow>
                <a:innerShdw blurRad="63500" dist="50800" dir="18900000">
                  <a:prstClr val="black">
                    <a:alpha val="50000"/>
                  </a:prstClr>
                </a:innerShdw>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05178355"/>
      </p:ext>
    </p:extLst>
  </p:cSld>
  <p:clrMapOvr>
    <a:masterClrMapping/>
  </p:clrMapOvr>
  <mc:AlternateContent xmlns:mc="http://schemas.openxmlformats.org/markup-compatibility/2006" xmlns:p14="http://schemas.microsoft.com/office/powerpoint/2010/main">
    <mc:Choice Requires="p14">
      <p:transition spd="slow" p14:dur="275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p:txBody>
          <a:bodyPr/>
          <a:lstStyle/>
          <a:p>
            <a:pPr marL="0" indent="0">
              <a:buNone/>
            </a:pPr>
            <a:r>
              <a:rPr lang="en-GB" dirty="0" smtClean="0"/>
              <a:t> </a:t>
            </a:r>
          </a:p>
          <a:p>
            <a:pPr marL="0" indent="0">
              <a:buNone/>
            </a:pPr>
            <a:endParaRPr lang="en-IN" dirty="0"/>
          </a:p>
        </p:txBody>
      </p:sp>
      <p:sp>
        <p:nvSpPr>
          <p:cNvPr id="4" name="Rectangle 3"/>
          <p:cNvSpPr/>
          <p:nvPr/>
        </p:nvSpPr>
        <p:spPr>
          <a:xfrm>
            <a:off x="473761" y="538460"/>
            <a:ext cx="4855886" cy="1938992"/>
          </a:xfrm>
          <a:prstGeom prst="rect">
            <a:avLst/>
          </a:prstGeom>
          <a:noFill/>
          <a:ln>
            <a:noFill/>
          </a:ln>
          <a:effectLst>
            <a:glow rad="1905000">
              <a:schemeClr val="accent5">
                <a:lumMod val="75000"/>
                <a:alpha val="0"/>
              </a:schemeClr>
            </a:glow>
            <a:outerShdw blurRad="50800" dist="38100" dir="8100000" algn="tr" rotWithShape="0">
              <a:schemeClr val="bg2">
                <a:lumMod val="75000"/>
                <a:alpha val="40000"/>
              </a:schemeClr>
            </a:outerShdw>
          </a:effectLst>
        </p:spPr>
        <p:txBody>
          <a:bodyPr wrap="square" lIns="91440" tIns="45720" rIns="91440" bIns="45720">
            <a:spAutoFit/>
          </a:bodyPr>
          <a:lstStyle/>
          <a:p>
            <a:pPr algn="ctr"/>
            <a:r>
              <a:rPr lang="en-US" sz="6000" b="1" dirty="0" smtClean="0">
                <a:ln w="6600">
                  <a:solidFill>
                    <a:schemeClr val="bg1">
                      <a:lumMod val="75000"/>
                      <a:lumOff val="25000"/>
                    </a:schemeClr>
                  </a:solidFill>
                  <a:prstDash val="solid"/>
                </a:ln>
                <a:solidFill>
                  <a:schemeClr val="tx1">
                    <a:lumMod val="95000"/>
                  </a:schemeClr>
                </a:solidFill>
                <a:effectLst>
                  <a:glow rad="127000">
                    <a:schemeClr val="tx2">
                      <a:lumMod val="25000"/>
                    </a:schemeClr>
                  </a:glow>
                  <a:outerShdw blurRad="50800" dist="38100" dir="2700000" algn="tl" rotWithShape="0">
                    <a:schemeClr val="tx1">
                      <a:lumMod val="95000"/>
                      <a:lumOff val="5000"/>
                      <a:alpha val="40000"/>
                    </a:schemeClr>
                  </a:outerShdw>
                </a:effectLst>
                <a:latin typeface="Berlin Sans FB Demi" panose="020E0802020502020306" pitchFamily="34" charset="0"/>
              </a:rPr>
              <a:t>CHAPTER-6</a:t>
            </a:r>
          </a:p>
          <a:p>
            <a:pPr algn="ctr"/>
            <a:r>
              <a:rPr lang="en-US" sz="6000" b="1" dirty="0" smtClean="0">
                <a:ln w="6600">
                  <a:solidFill>
                    <a:schemeClr val="bg1">
                      <a:lumMod val="75000"/>
                      <a:lumOff val="25000"/>
                    </a:schemeClr>
                  </a:solidFill>
                  <a:prstDash val="solid"/>
                </a:ln>
                <a:solidFill>
                  <a:schemeClr val="tx1">
                    <a:lumMod val="95000"/>
                  </a:schemeClr>
                </a:solidFill>
                <a:effectLst>
                  <a:glow rad="127000">
                    <a:schemeClr val="tx2">
                      <a:lumMod val="25000"/>
                    </a:schemeClr>
                  </a:glow>
                  <a:outerShdw blurRad="50800" dist="38100" dir="2700000" algn="tl" rotWithShape="0">
                    <a:schemeClr val="tx1">
                      <a:lumMod val="95000"/>
                      <a:lumOff val="5000"/>
                      <a:alpha val="40000"/>
                    </a:schemeClr>
                  </a:outerShdw>
                </a:effectLst>
                <a:latin typeface="Berlin Sans FB Demi" panose="020E0802020502020306" pitchFamily="34" charset="0"/>
              </a:rPr>
              <a:t>BALA SAI</a:t>
            </a:r>
          </a:p>
        </p:txBody>
      </p:sp>
    </p:spTree>
    <p:extLst>
      <p:ext uri="{BB962C8B-B14F-4D97-AF65-F5344CB8AC3E}">
        <p14:creationId xmlns:p14="http://schemas.microsoft.com/office/powerpoint/2010/main" val="3901827402"/>
      </p:ext>
    </p:extLst>
  </p:cSld>
  <p:clrMapOvr>
    <a:masterClrMapping/>
  </p:clrMapOvr>
  <mc:AlternateContent xmlns:mc="http://schemas.openxmlformats.org/markup-compatibility/2006" xmlns:p14="http://schemas.microsoft.com/office/powerpoint/2010/main">
    <mc:Choice Requires="p14">
      <p:transition spd="slow" p14:dur="3000">
        <p:fad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385763" y="365126"/>
            <a:ext cx="7286625" cy="5811838"/>
          </a:xfrm>
        </p:spPr>
        <p:txBody>
          <a:bodyPr>
            <a:normAutofit/>
          </a:bodyPr>
          <a:lstStyle/>
          <a:p>
            <a:pPr>
              <a:lnSpc>
                <a:spcPct val="100000"/>
              </a:lnSpc>
            </a:pPr>
            <a:r>
              <a:rPr lang="en-GB" sz="2400" dirty="0">
                <a:latin typeface="Baskerville Old Face" panose="02020602080505020303" pitchFamily="18" charset="0"/>
              </a:rPr>
              <a:t>As Swami himself mentioned ,the first sixteen years of his life will be marked mainly by </a:t>
            </a:r>
            <a:r>
              <a:rPr lang="en-GB" sz="2400" dirty="0" err="1">
                <a:latin typeface="Baskerville Old Face" panose="02020602080505020303" pitchFamily="18" charset="0"/>
              </a:rPr>
              <a:t>Leelas</a:t>
            </a:r>
            <a:r>
              <a:rPr lang="en-GB" sz="2400" dirty="0">
                <a:latin typeface="Baskerville Old Face" panose="02020602080505020303" pitchFamily="18" charset="0"/>
              </a:rPr>
              <a:t>, next by his miracles and the subsequent years by his </a:t>
            </a:r>
            <a:r>
              <a:rPr lang="en-GB" sz="2400" dirty="0" err="1">
                <a:latin typeface="Baskerville Old Face" panose="02020602080505020303" pitchFamily="18" charset="0"/>
              </a:rPr>
              <a:t>upadesham</a:t>
            </a:r>
            <a:r>
              <a:rPr lang="en-GB" sz="2400" dirty="0">
                <a:latin typeface="Baskerville Old Face" panose="02020602080505020303" pitchFamily="18" charset="0"/>
              </a:rPr>
              <a:t>(messages</a:t>
            </a:r>
            <a:r>
              <a:rPr lang="en-GB" sz="2400" dirty="0" smtClean="0">
                <a:latin typeface="Baskerville Old Face" panose="02020602080505020303" pitchFamily="18" charset="0"/>
              </a:rPr>
              <a:t>).</a:t>
            </a:r>
          </a:p>
          <a:p>
            <a:pPr marL="0" indent="0">
              <a:lnSpc>
                <a:spcPct val="100000"/>
              </a:lnSpc>
              <a:buNone/>
            </a:pPr>
            <a:endParaRPr lang="en-GB" sz="2400" dirty="0">
              <a:latin typeface="Baskerville Old Face" panose="02020602080505020303" pitchFamily="18" charset="0"/>
            </a:endParaRPr>
          </a:p>
          <a:p>
            <a:pPr>
              <a:lnSpc>
                <a:spcPct val="100000"/>
              </a:lnSpc>
            </a:pPr>
            <a:r>
              <a:rPr lang="en-GB" sz="2400" dirty="0">
                <a:latin typeface="Baskerville Old Face" panose="02020602080505020303" pitchFamily="18" charset="0"/>
              </a:rPr>
              <a:t>Our dearest swami ( incarnation of </a:t>
            </a:r>
            <a:r>
              <a:rPr lang="en-GB" sz="2400" dirty="0" err="1">
                <a:latin typeface="Baskerville Old Face" panose="02020602080505020303" pitchFamily="18" charset="0"/>
              </a:rPr>
              <a:t>shirdi</a:t>
            </a:r>
            <a:r>
              <a:rPr lang="en-GB" sz="2400" dirty="0">
                <a:latin typeface="Baskerville Old Face" panose="02020602080505020303" pitchFamily="18" charset="0"/>
              </a:rPr>
              <a:t> </a:t>
            </a:r>
            <a:r>
              <a:rPr lang="en-GB" sz="2400" dirty="0" err="1">
                <a:latin typeface="Baskerville Old Face" panose="02020602080505020303" pitchFamily="18" charset="0"/>
              </a:rPr>
              <a:t>sai</a:t>
            </a:r>
            <a:r>
              <a:rPr lang="en-GB" sz="2400" dirty="0">
                <a:latin typeface="Baskerville Old Face" panose="02020602080505020303" pitchFamily="18" charset="0"/>
              </a:rPr>
              <a:t> ) belonged to </a:t>
            </a:r>
            <a:r>
              <a:rPr lang="en-GB" sz="2400" dirty="0" err="1">
                <a:latin typeface="Baskerville Old Face" panose="02020602080505020303" pitchFamily="18" charset="0"/>
              </a:rPr>
              <a:t>Bharadwaja</a:t>
            </a:r>
            <a:r>
              <a:rPr lang="en-GB" sz="2400" dirty="0">
                <a:latin typeface="Baskerville Old Face" panose="02020602080505020303" pitchFamily="18" charset="0"/>
              </a:rPr>
              <a:t> </a:t>
            </a:r>
            <a:r>
              <a:rPr lang="en-GB" sz="2400" dirty="0" err="1">
                <a:latin typeface="Baskerville Old Face" panose="02020602080505020303" pitchFamily="18" charset="0"/>
              </a:rPr>
              <a:t>Gothram</a:t>
            </a:r>
            <a:r>
              <a:rPr lang="en-GB" sz="2400" dirty="0">
                <a:latin typeface="Baskerville Old Face" panose="02020602080505020303" pitchFamily="18" charset="0"/>
              </a:rPr>
              <a:t> and the </a:t>
            </a:r>
            <a:r>
              <a:rPr lang="en-GB" sz="2400" dirty="0" err="1">
                <a:latin typeface="Baskerville Old Face" panose="02020602080505020303" pitchFamily="18" charset="0"/>
              </a:rPr>
              <a:t>Apasthamba</a:t>
            </a:r>
            <a:r>
              <a:rPr lang="en-GB" sz="2400" dirty="0">
                <a:latin typeface="Baskerville Old Face" panose="02020602080505020303" pitchFamily="18" charset="0"/>
              </a:rPr>
              <a:t> </a:t>
            </a:r>
            <a:r>
              <a:rPr lang="en-GB" sz="2400" dirty="0" err="1">
                <a:latin typeface="Baskerville Old Face" panose="02020602080505020303" pitchFamily="18" charset="0"/>
              </a:rPr>
              <a:t>Suthram.His</a:t>
            </a:r>
            <a:r>
              <a:rPr lang="en-GB" sz="2400" dirty="0">
                <a:latin typeface="Baskerville Old Face" panose="02020602080505020303" pitchFamily="18" charset="0"/>
              </a:rPr>
              <a:t> origin name was </a:t>
            </a:r>
            <a:r>
              <a:rPr lang="en-GB" sz="2400" dirty="0" err="1">
                <a:latin typeface="Baskerville Old Face" panose="02020602080505020303" pitchFamily="18" charset="0"/>
              </a:rPr>
              <a:t>sathyanarayana</a:t>
            </a:r>
            <a:r>
              <a:rPr lang="en-GB" sz="2400" dirty="0">
                <a:latin typeface="Baskerville Old Face" panose="02020602080505020303" pitchFamily="18" charset="0"/>
              </a:rPr>
              <a:t> </a:t>
            </a:r>
            <a:r>
              <a:rPr lang="en-GB" sz="2400" dirty="0" err="1">
                <a:latin typeface="Baskerville Old Face" panose="02020602080505020303" pitchFamily="18" charset="0"/>
              </a:rPr>
              <a:t>raju</a:t>
            </a:r>
            <a:r>
              <a:rPr lang="en-GB" sz="2400" dirty="0">
                <a:latin typeface="Baskerville Old Face" panose="02020602080505020303" pitchFamily="18" charset="0"/>
              </a:rPr>
              <a:t>, but he commonly came to be known as </a:t>
            </a:r>
            <a:r>
              <a:rPr lang="en-GB" sz="2400" dirty="0" err="1">
                <a:latin typeface="Baskerville Old Face" panose="02020602080505020303" pitchFamily="18" charset="0"/>
              </a:rPr>
              <a:t>Bala</a:t>
            </a:r>
            <a:r>
              <a:rPr lang="en-GB" sz="2400" dirty="0">
                <a:latin typeface="Baskerville Old Face" panose="02020602080505020303" pitchFamily="18" charset="0"/>
              </a:rPr>
              <a:t> Sai or </a:t>
            </a:r>
            <a:r>
              <a:rPr lang="en-GB" sz="2400" dirty="0" err="1">
                <a:latin typeface="Baskerville Old Face" panose="02020602080505020303" pitchFamily="18" charset="0"/>
              </a:rPr>
              <a:t>Sathya</a:t>
            </a:r>
            <a:r>
              <a:rPr lang="en-GB" sz="2400" dirty="0">
                <a:latin typeface="Baskerville Old Face" panose="02020602080505020303" pitchFamily="18" charset="0"/>
              </a:rPr>
              <a:t> Sai Baba. His father name was </a:t>
            </a:r>
            <a:r>
              <a:rPr lang="en-GB" sz="2400" dirty="0" err="1">
                <a:latin typeface="Baskerville Old Face" panose="02020602080505020303" pitchFamily="18" charset="0"/>
              </a:rPr>
              <a:t>Pedda</a:t>
            </a:r>
            <a:r>
              <a:rPr lang="en-GB" sz="2400" dirty="0">
                <a:latin typeface="Baskerville Old Face" panose="02020602080505020303" pitchFamily="18" charset="0"/>
              </a:rPr>
              <a:t> </a:t>
            </a:r>
            <a:r>
              <a:rPr lang="en-GB" sz="2400" dirty="0" err="1">
                <a:latin typeface="Baskerville Old Face" panose="02020602080505020303" pitchFamily="18" charset="0"/>
              </a:rPr>
              <a:t>Venkapa</a:t>
            </a:r>
            <a:r>
              <a:rPr lang="en-GB" sz="2400" dirty="0">
                <a:latin typeface="Baskerville Old Face" panose="02020602080505020303" pitchFamily="18" charset="0"/>
              </a:rPr>
              <a:t> </a:t>
            </a:r>
            <a:r>
              <a:rPr lang="en-GB" sz="2400" dirty="0" err="1">
                <a:latin typeface="Baskerville Old Face" panose="02020602080505020303" pitchFamily="18" charset="0"/>
              </a:rPr>
              <a:t>Raju.Bhajans</a:t>
            </a:r>
            <a:r>
              <a:rPr lang="en-GB" sz="2400" dirty="0">
                <a:latin typeface="Baskerville Old Face" panose="02020602080505020303" pitchFamily="18" charset="0"/>
              </a:rPr>
              <a:t> were done in presence </a:t>
            </a:r>
            <a:r>
              <a:rPr lang="en-GB" sz="2400" dirty="0" err="1">
                <a:latin typeface="Baskerville Old Face" panose="02020602080505020303" pitchFamily="18" charset="0"/>
              </a:rPr>
              <a:t>os</a:t>
            </a:r>
            <a:r>
              <a:rPr lang="en-GB" sz="2400" dirty="0">
                <a:latin typeface="Baskerville Old Face" panose="02020602080505020303" pitchFamily="18" charset="0"/>
              </a:rPr>
              <a:t> swami not only on Thursdays evening ,but gradually everyday or some times twice a </a:t>
            </a:r>
            <a:r>
              <a:rPr lang="en-GB" dirty="0">
                <a:latin typeface="Baskerville Old Face" panose="02020602080505020303" pitchFamily="18" charset="0"/>
              </a:rPr>
              <a:t>day.</a:t>
            </a:r>
          </a:p>
          <a:p>
            <a:endParaRPr lang="en-IN" dirty="0"/>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824787" y="625792"/>
            <a:ext cx="4065080" cy="50368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74495854"/>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IN" dirty="0"/>
              <a:t> </a:t>
            </a:r>
            <a:r>
              <a:rPr lang="en-IN" dirty="0" smtClean="0"/>
              <a:t/>
            </a:r>
            <a:br>
              <a:rPr lang="en-IN" dirty="0" smtClean="0"/>
            </a:br>
            <a:endParaRPr lang="en-IN" dirty="0"/>
          </a:p>
        </p:txBody>
      </p:sp>
      <p:sp>
        <p:nvSpPr>
          <p:cNvPr id="3" name="Content Placeholder 2"/>
          <p:cNvSpPr>
            <a:spLocks noGrp="1"/>
          </p:cNvSpPr>
          <p:nvPr>
            <p:ph idx="1"/>
          </p:nvPr>
        </p:nvSpPr>
        <p:spPr>
          <a:xfrm>
            <a:off x="5400675" y="514350"/>
            <a:ext cx="6657975" cy="5948363"/>
          </a:xfrm>
        </p:spPr>
        <p:txBody>
          <a:bodyPr>
            <a:normAutofit fontScale="92500"/>
          </a:bodyPr>
          <a:lstStyle/>
          <a:p>
            <a:r>
              <a:rPr lang="en-GB" sz="2400" dirty="0">
                <a:latin typeface="Baskerville Old Face" panose="02020602080505020303" pitchFamily="18" charset="0"/>
              </a:rPr>
              <a:t>Once a  recruiting officer came in a jeep for baba’s </a:t>
            </a:r>
            <a:r>
              <a:rPr lang="en-GB" sz="2400" dirty="0" err="1">
                <a:latin typeface="Baskerville Old Face" panose="02020602080505020303" pitchFamily="18" charset="0"/>
              </a:rPr>
              <a:t>darshan</a:t>
            </a:r>
            <a:r>
              <a:rPr lang="en-GB" sz="2400" dirty="0">
                <a:latin typeface="Baskerville Old Face" panose="02020602080505020303" pitchFamily="18" charset="0"/>
              </a:rPr>
              <a:t> ,giving the </a:t>
            </a:r>
            <a:r>
              <a:rPr lang="en-GB" sz="2400" dirty="0" err="1">
                <a:latin typeface="Baskerville Old Face" panose="02020602080505020303" pitchFamily="18" charset="0"/>
              </a:rPr>
              <a:t>villegers</a:t>
            </a:r>
            <a:r>
              <a:rPr lang="en-GB" sz="2400" dirty="0">
                <a:latin typeface="Baskerville Old Face" panose="02020602080505020303" pitchFamily="18" charset="0"/>
              </a:rPr>
              <a:t> their first contact with a self – propelled vehicle. But here came the first obstacle of the sitting place for the devotees. At first the  devotees used to gather  in </a:t>
            </a:r>
            <a:r>
              <a:rPr lang="en-GB" sz="2400" dirty="0" err="1">
                <a:latin typeface="Baskerville Old Face" panose="02020602080505020303" pitchFamily="18" charset="0"/>
              </a:rPr>
              <a:t>Pedda</a:t>
            </a:r>
            <a:r>
              <a:rPr lang="en-GB" sz="2400" dirty="0">
                <a:latin typeface="Baskerville Old Face" panose="02020602080505020303" pitchFamily="18" charset="0"/>
              </a:rPr>
              <a:t> </a:t>
            </a:r>
            <a:r>
              <a:rPr lang="en-GB" sz="2400" dirty="0" err="1">
                <a:latin typeface="Baskerville Old Face" panose="02020602080505020303" pitchFamily="18" charset="0"/>
              </a:rPr>
              <a:t>Venkapa</a:t>
            </a:r>
            <a:r>
              <a:rPr lang="en-GB" sz="2400" dirty="0">
                <a:latin typeface="Baskerville Old Face" panose="02020602080505020303" pitchFamily="18" charset="0"/>
              </a:rPr>
              <a:t> Raju home ,then gradually  the roads too was being filled to overflow </a:t>
            </a:r>
            <a:r>
              <a:rPr lang="en-GB" sz="2400" dirty="0" smtClean="0">
                <a:latin typeface="Baskerville Old Face" panose="02020602080505020303" pitchFamily="18" charset="0"/>
              </a:rPr>
              <a:t>.</a:t>
            </a:r>
          </a:p>
          <a:p>
            <a:endParaRPr lang="en-GB" sz="2400" dirty="0">
              <a:latin typeface="Baskerville Old Face" panose="02020602080505020303" pitchFamily="18" charset="0"/>
            </a:endParaRPr>
          </a:p>
          <a:p>
            <a:endParaRPr lang="en-GB" sz="2400" dirty="0" smtClean="0">
              <a:latin typeface="Baskerville Old Face" panose="02020602080505020303" pitchFamily="18" charset="0"/>
            </a:endParaRPr>
          </a:p>
          <a:p>
            <a:r>
              <a:rPr lang="en-GB" sz="2400" dirty="0" smtClean="0">
                <a:latin typeface="Baskerville Old Face" panose="02020602080505020303" pitchFamily="18" charset="0"/>
              </a:rPr>
              <a:t>To </a:t>
            </a:r>
            <a:r>
              <a:rPr lang="en-GB" sz="2400" dirty="0">
                <a:latin typeface="Baskerville Old Face" panose="02020602080505020303" pitchFamily="18" charset="0"/>
              </a:rPr>
              <a:t>the solution for this issue the family of </a:t>
            </a:r>
            <a:r>
              <a:rPr lang="en-GB" sz="2400" dirty="0" err="1">
                <a:latin typeface="Baskerville Old Face" panose="02020602080505020303" pitchFamily="18" charset="0"/>
              </a:rPr>
              <a:t>karnam</a:t>
            </a:r>
            <a:r>
              <a:rPr lang="en-GB" sz="2400" dirty="0">
                <a:latin typeface="Baskerville Old Face" panose="02020602080505020303" pitchFamily="18" charset="0"/>
              </a:rPr>
              <a:t> put up a shed ,which was strengthened as the months passed. Even a tent was rigged up and some devotees who came from </a:t>
            </a:r>
            <a:r>
              <a:rPr lang="en-GB" sz="2400" dirty="0" err="1">
                <a:latin typeface="Baskerville Old Face" panose="02020602080505020303" pitchFamily="18" charset="0"/>
              </a:rPr>
              <a:t>banglore</a:t>
            </a:r>
            <a:r>
              <a:rPr lang="en-GB" sz="2400" dirty="0">
                <a:latin typeface="Baskerville Old Face" panose="02020602080505020303" pitchFamily="18" charset="0"/>
              </a:rPr>
              <a:t> and </a:t>
            </a:r>
            <a:r>
              <a:rPr lang="en-GB" sz="2400" dirty="0" err="1">
                <a:latin typeface="Baskerville Old Face" panose="02020602080505020303" pitchFamily="18" charset="0"/>
              </a:rPr>
              <a:t>anantpur</a:t>
            </a:r>
            <a:r>
              <a:rPr lang="en-GB" sz="2400" dirty="0">
                <a:latin typeface="Baskerville Old Face" panose="02020602080505020303" pitchFamily="18" charset="0"/>
              </a:rPr>
              <a:t> brought and pitched their own tents.</a:t>
            </a:r>
            <a:endParaRPr lang="en-IN" sz="2400" dirty="0">
              <a:latin typeface="Baskerville Old Face" panose="02020602080505020303" pitchFamily="18" charset="0"/>
            </a:endParaRPr>
          </a:p>
          <a:p>
            <a:endParaRPr lang="en-IN" sz="2400" dirty="0">
              <a:latin typeface="Baskerville Old Face" panose="02020602080505020303"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88" y="852487"/>
            <a:ext cx="4071937" cy="5272088"/>
          </a:xfrm>
          <a:prstGeom prst="rect">
            <a:avLst/>
          </a:prstGeom>
          <a:ln>
            <a:noFill/>
          </a:ln>
          <a:effectLst>
            <a:softEdge rad="112500"/>
          </a:effectLst>
        </p:spPr>
      </p:pic>
    </p:spTree>
    <p:extLst>
      <p:ext uri="{BB962C8B-B14F-4D97-AF65-F5344CB8AC3E}">
        <p14:creationId xmlns:p14="http://schemas.microsoft.com/office/powerpoint/2010/main" val="4122429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tx2">
                <a:lumMod val="25000"/>
              </a:schemeClr>
            </a:gs>
            <a:gs pos="52000">
              <a:srgbClr val="074068"/>
            </a:gs>
            <a:gs pos="100000">
              <a:schemeClr val="accent3">
                <a:lumMod val="6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1" y="573088"/>
            <a:ext cx="6186489" cy="6027737"/>
          </a:xfrm>
        </p:spPr>
        <p:txBody>
          <a:bodyPr>
            <a:normAutofit fontScale="92500"/>
          </a:bodyPr>
          <a:lstStyle/>
          <a:p>
            <a:pPr marL="540000" indent="-216000">
              <a:lnSpc>
                <a:spcPct val="110000"/>
              </a:lnSpc>
              <a:spcBef>
                <a:spcPts val="1200"/>
              </a:spcBef>
            </a:pPr>
            <a:r>
              <a:rPr lang="en-GB" sz="2400" dirty="0">
                <a:solidFill>
                  <a:schemeClr val="tx1">
                    <a:lumMod val="85000"/>
                    <a:lumOff val="15000"/>
                  </a:schemeClr>
                </a:solidFill>
                <a:latin typeface="Baskerville Old Face" panose="02020602080505020303" pitchFamily="18" charset="0"/>
              </a:rPr>
              <a:t>The spacious house of </a:t>
            </a:r>
            <a:r>
              <a:rPr lang="en-GB" sz="2400" dirty="0" err="1">
                <a:solidFill>
                  <a:schemeClr val="tx1">
                    <a:lumMod val="85000"/>
                    <a:lumOff val="15000"/>
                  </a:schemeClr>
                </a:solidFill>
                <a:latin typeface="Baskerville Old Face" panose="02020602080505020303" pitchFamily="18" charset="0"/>
              </a:rPr>
              <a:t>Karnam</a:t>
            </a:r>
            <a:r>
              <a:rPr lang="en-GB" sz="2400" dirty="0">
                <a:solidFill>
                  <a:schemeClr val="tx1">
                    <a:lumMod val="85000"/>
                    <a:lumOff val="15000"/>
                  </a:schemeClr>
                </a:solidFill>
                <a:latin typeface="Baskerville Old Face" panose="02020602080505020303" pitchFamily="18" charset="0"/>
              </a:rPr>
              <a:t> even became insufficient because baba insisted on feeding all those who came to see </a:t>
            </a:r>
            <a:r>
              <a:rPr lang="en-GB" sz="2400" dirty="0" err="1">
                <a:solidFill>
                  <a:schemeClr val="tx1">
                    <a:lumMod val="85000"/>
                    <a:lumOff val="15000"/>
                  </a:schemeClr>
                </a:solidFill>
                <a:latin typeface="Baskerville Old Face" panose="02020602080505020303" pitchFamily="18" charset="0"/>
              </a:rPr>
              <a:t>him,and</a:t>
            </a:r>
            <a:r>
              <a:rPr lang="en-GB" sz="2400" dirty="0">
                <a:solidFill>
                  <a:schemeClr val="tx1">
                    <a:lumMod val="85000"/>
                    <a:lumOff val="15000"/>
                  </a:schemeClr>
                </a:solidFill>
                <a:latin typeface="Baskerville Old Face" panose="02020602080505020303" pitchFamily="18" charset="0"/>
              </a:rPr>
              <a:t> the huge dining hall became necessary</a:t>
            </a:r>
            <a:r>
              <a:rPr lang="en-GB" sz="2400" dirty="0" smtClean="0">
                <a:solidFill>
                  <a:schemeClr val="tx1">
                    <a:lumMod val="85000"/>
                    <a:lumOff val="15000"/>
                  </a:schemeClr>
                </a:solidFill>
                <a:latin typeface="Baskerville Old Face" panose="02020602080505020303" pitchFamily="18" charset="0"/>
              </a:rPr>
              <a:t>. </a:t>
            </a:r>
          </a:p>
          <a:p>
            <a:pPr marL="540000" indent="-216000">
              <a:lnSpc>
                <a:spcPct val="110000"/>
              </a:lnSpc>
              <a:spcBef>
                <a:spcPts val="1200"/>
              </a:spcBef>
            </a:pPr>
            <a:endParaRPr lang="en-GB" sz="2400" dirty="0">
              <a:solidFill>
                <a:schemeClr val="tx1">
                  <a:lumMod val="85000"/>
                  <a:lumOff val="15000"/>
                </a:schemeClr>
              </a:solidFill>
              <a:latin typeface="Baskerville Old Face" panose="02020602080505020303" pitchFamily="18" charset="0"/>
            </a:endParaRPr>
          </a:p>
          <a:p>
            <a:pPr marL="540000" indent="-216000">
              <a:lnSpc>
                <a:spcPct val="110000"/>
              </a:lnSpc>
              <a:spcBef>
                <a:spcPts val="1200"/>
              </a:spcBef>
            </a:pPr>
            <a:r>
              <a:rPr lang="en-GB" sz="2400" dirty="0">
                <a:solidFill>
                  <a:schemeClr val="tx1">
                    <a:lumMod val="85000"/>
                    <a:lumOff val="15000"/>
                  </a:schemeClr>
                </a:solidFill>
                <a:latin typeface="Baskerville Old Face" panose="02020602080505020303" pitchFamily="18" charset="0"/>
              </a:rPr>
              <a:t>Very often ,when the food was cooked seemed to be too less in </a:t>
            </a:r>
            <a:r>
              <a:rPr lang="en-GB" sz="2400" dirty="0" err="1">
                <a:solidFill>
                  <a:schemeClr val="tx1">
                    <a:lumMod val="85000"/>
                    <a:lumOff val="15000"/>
                  </a:schemeClr>
                </a:solidFill>
                <a:latin typeface="Baskerville Old Face" panose="02020602080505020303" pitchFamily="18" charset="0"/>
              </a:rPr>
              <a:t>quantity,swami</a:t>
            </a:r>
            <a:r>
              <a:rPr lang="en-GB" sz="2400" dirty="0">
                <a:solidFill>
                  <a:schemeClr val="tx1">
                    <a:lumMod val="85000"/>
                    <a:lumOff val="15000"/>
                  </a:schemeClr>
                </a:solidFill>
                <a:latin typeface="Baskerville Old Face" panose="02020602080505020303" pitchFamily="18" charset="0"/>
              </a:rPr>
              <a:t> was </a:t>
            </a:r>
            <a:r>
              <a:rPr lang="en-GB" sz="2400" dirty="0" err="1">
                <a:solidFill>
                  <a:schemeClr val="tx1">
                    <a:lumMod val="85000"/>
                    <a:lumOff val="15000"/>
                  </a:schemeClr>
                </a:solidFill>
                <a:latin typeface="Baskerville Old Face" panose="02020602080505020303" pitchFamily="18" charset="0"/>
              </a:rPr>
              <a:t>quietlt</a:t>
            </a:r>
            <a:r>
              <a:rPr lang="en-GB" sz="2400" dirty="0">
                <a:solidFill>
                  <a:schemeClr val="tx1">
                    <a:lumMod val="85000"/>
                    <a:lumOff val="15000"/>
                  </a:schemeClr>
                </a:solidFill>
                <a:latin typeface="Baskerville Old Face" panose="02020602080505020303" pitchFamily="18" charset="0"/>
              </a:rPr>
              <a:t> informed about the incident he asked two coconuts to be brought to </a:t>
            </a:r>
            <a:r>
              <a:rPr lang="en-GB" sz="2400" dirty="0" err="1">
                <a:solidFill>
                  <a:schemeClr val="tx1">
                    <a:lumMod val="85000"/>
                    <a:lumOff val="15000"/>
                  </a:schemeClr>
                </a:solidFill>
                <a:latin typeface="Baskerville Old Face" panose="02020602080505020303" pitchFamily="18" charset="0"/>
              </a:rPr>
              <a:t>him,as</a:t>
            </a:r>
            <a:r>
              <a:rPr lang="en-GB" sz="2400" dirty="0">
                <a:solidFill>
                  <a:schemeClr val="tx1">
                    <a:lumMod val="85000"/>
                    <a:lumOff val="15000"/>
                  </a:schemeClr>
                </a:solidFill>
                <a:latin typeface="Baskerville Old Face" panose="02020602080505020303" pitchFamily="18" charset="0"/>
              </a:rPr>
              <a:t> </a:t>
            </a:r>
            <a:r>
              <a:rPr lang="en-GB" sz="2400" b="1" dirty="0">
                <a:solidFill>
                  <a:schemeClr val="tx1">
                    <a:lumMod val="85000"/>
                    <a:lumOff val="15000"/>
                  </a:schemeClr>
                </a:solidFill>
                <a:latin typeface="Baskerville Old Face" panose="02020602080505020303" pitchFamily="18" charset="0"/>
              </a:rPr>
              <a:t>the coconuts were given to him he struck the coconuts one against </a:t>
            </a:r>
            <a:r>
              <a:rPr lang="en-GB" sz="2400" dirty="0">
                <a:solidFill>
                  <a:schemeClr val="tx1">
                    <a:lumMod val="85000"/>
                    <a:lumOff val="15000"/>
                  </a:schemeClr>
                </a:solidFill>
                <a:latin typeface="Baskerville Old Face" panose="02020602080505020303" pitchFamily="18" charset="0"/>
              </a:rPr>
              <a:t>the other and they broke into two </a:t>
            </a:r>
            <a:r>
              <a:rPr lang="en-GB" sz="2400" dirty="0" err="1">
                <a:solidFill>
                  <a:schemeClr val="tx1">
                    <a:lumMod val="85000"/>
                    <a:lumOff val="15000"/>
                  </a:schemeClr>
                </a:solidFill>
                <a:latin typeface="Baskerville Old Face" panose="02020602080505020303" pitchFamily="18" charset="0"/>
              </a:rPr>
              <a:t>halves,he</a:t>
            </a:r>
            <a:r>
              <a:rPr lang="en-GB" sz="2400" dirty="0">
                <a:solidFill>
                  <a:schemeClr val="tx1">
                    <a:lumMod val="85000"/>
                    <a:lumOff val="15000"/>
                  </a:schemeClr>
                </a:solidFill>
                <a:latin typeface="Baskerville Old Face" panose="02020602080505020303" pitchFamily="18" charset="0"/>
              </a:rPr>
              <a:t> then sprinkled the coconut water on the little heaps of rice and the vessels containing other items and gave them the signal to proceed with the serving of the food to all the devotees </a:t>
            </a:r>
            <a:endParaRPr lang="en-IN" sz="2400" dirty="0">
              <a:solidFill>
                <a:schemeClr val="tx1">
                  <a:lumMod val="85000"/>
                  <a:lumOff val="15000"/>
                </a:schemeClr>
              </a:solidFill>
              <a:latin typeface="Baskerville Old Face" panose="02020602080505020303" pitchFamily="18" charset="0"/>
            </a:endParaRPr>
          </a:p>
          <a:p>
            <a:pPr marL="540000" indent="-216000">
              <a:lnSpc>
                <a:spcPct val="110000"/>
              </a:lnSpc>
              <a:spcBef>
                <a:spcPts val="1200"/>
              </a:spcBef>
            </a:pPr>
            <a:endParaRPr lang="en-IN" sz="2400" dirty="0">
              <a:latin typeface="Baskerville Old Face" panose="02020602080505020303" pitchFamily="18" charset="0"/>
            </a:endParaRPr>
          </a:p>
        </p:txBody>
      </p:sp>
      <p:pic>
        <p:nvPicPr>
          <p:cNvPr id="5" name="Picture 4"/>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672262" y="573088"/>
            <a:ext cx="4681537" cy="5327650"/>
          </a:xfrm>
          <a:prstGeom prst="rect">
            <a:avLst/>
          </a:prstGeom>
          <a:effectLst>
            <a:glow rad="457200">
              <a:schemeClr val="accent4">
                <a:lumMod val="20000"/>
                <a:lumOff val="80000"/>
                <a:alpha val="40000"/>
              </a:schemeClr>
            </a:glow>
          </a:effectLst>
        </p:spPr>
      </p:pic>
    </p:spTree>
    <p:extLst>
      <p:ext uri="{BB962C8B-B14F-4D97-AF65-F5344CB8AC3E}">
        <p14:creationId xmlns:p14="http://schemas.microsoft.com/office/powerpoint/2010/main" val="23924633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365124"/>
            <a:ext cx="10515600" cy="1325563"/>
          </a:xfrm>
        </p:spPr>
        <p:txBody>
          <a:bodyPr/>
          <a:lstStyle/>
          <a:p>
            <a:r>
              <a:rPr lang="en-GB" dirty="0" smtClean="0"/>
              <a:t> </a:t>
            </a:r>
            <a:br>
              <a:rPr lang="en-GB" dirty="0" smtClean="0"/>
            </a:br>
            <a:endParaRPr lang="en-IN" dirty="0"/>
          </a:p>
        </p:txBody>
      </p:sp>
      <p:sp>
        <p:nvSpPr>
          <p:cNvPr id="5" name="Content Placeholder 4"/>
          <p:cNvSpPr>
            <a:spLocks noGrp="1"/>
          </p:cNvSpPr>
          <p:nvPr>
            <p:ph idx="1"/>
          </p:nvPr>
        </p:nvSpPr>
        <p:spPr>
          <a:xfrm>
            <a:off x="5281613" y="365124"/>
            <a:ext cx="6691393" cy="6249988"/>
          </a:xfrm>
        </p:spPr>
        <p:txBody>
          <a:bodyPr>
            <a:noAutofit/>
          </a:bodyPr>
          <a:lstStyle/>
          <a:p>
            <a:r>
              <a:rPr lang="en-GB" sz="2000" dirty="0" smtClean="0">
                <a:latin typeface="Baskerville Old Face" panose="02020602080505020303" pitchFamily="18" charset="0"/>
              </a:rPr>
              <a:t>A devote from </a:t>
            </a:r>
            <a:r>
              <a:rPr lang="en-GB" sz="2000" b="1" dirty="0">
                <a:latin typeface="Baskerville Old Face" panose="02020602080505020303" pitchFamily="18" charset="0"/>
              </a:rPr>
              <a:t>K</a:t>
            </a:r>
            <a:r>
              <a:rPr lang="en-GB" sz="2000" b="1" dirty="0" smtClean="0">
                <a:latin typeface="Baskerville Old Face" panose="02020602080505020303" pitchFamily="18" charset="0"/>
              </a:rPr>
              <a:t>amalapuram</a:t>
            </a:r>
            <a:r>
              <a:rPr lang="en-GB" sz="2000" dirty="0" smtClean="0">
                <a:latin typeface="Baskerville Old Face" panose="02020602080505020303" pitchFamily="18" charset="0"/>
              </a:rPr>
              <a:t> was asking baba to show him some miracles and one day ,Baba called him and his family and offered to show them the dhshaavatar </a:t>
            </a:r>
          </a:p>
          <a:p>
            <a:endParaRPr lang="en-GB" sz="2000" dirty="0" smtClean="0">
              <a:latin typeface="Baskerville Old Face" panose="02020602080505020303" pitchFamily="18" charset="0"/>
            </a:endParaRPr>
          </a:p>
          <a:p>
            <a:endParaRPr lang="en-GB" sz="2000" dirty="0" smtClean="0">
              <a:latin typeface="Baskerville Old Face" panose="02020602080505020303" pitchFamily="18" charset="0"/>
            </a:endParaRPr>
          </a:p>
          <a:p>
            <a:r>
              <a:rPr lang="en-GB" sz="2000" dirty="0" smtClean="0">
                <a:latin typeface="Baskerville Old Face" panose="02020602080505020303" pitchFamily="18" charset="0"/>
              </a:rPr>
              <a:t>The ten incarnation of </a:t>
            </a:r>
            <a:r>
              <a:rPr lang="en-GB" sz="2000" b="1" i="1" dirty="0" smtClean="0">
                <a:latin typeface="Baskerville Old Face" panose="02020602080505020303" pitchFamily="18" charset="0"/>
              </a:rPr>
              <a:t>Vishnu,Matsy,Kurma, and Varaha </a:t>
            </a:r>
            <a:r>
              <a:rPr lang="en-GB" sz="2000" dirty="0" smtClean="0">
                <a:latin typeface="Baskerville Old Face" panose="02020602080505020303" pitchFamily="18" charset="0"/>
              </a:rPr>
              <a:t>passed off without any incident but when form of Naraghsiama appeared they shrieked and faring of house might collapse on. their heads .</a:t>
            </a:r>
          </a:p>
          <a:p>
            <a:pPr marL="0" indent="0">
              <a:buNone/>
            </a:pPr>
            <a:endParaRPr lang="en-GB" sz="2000" dirty="0" smtClean="0">
              <a:latin typeface="Baskerville Old Face" panose="02020602080505020303" pitchFamily="18" charset="0"/>
            </a:endParaRPr>
          </a:p>
          <a:p>
            <a:pPr marL="0" indent="0">
              <a:buNone/>
            </a:pPr>
            <a:endParaRPr lang="en-GB" sz="2000" dirty="0" smtClean="0">
              <a:latin typeface="Baskerville Old Face" panose="02020602080505020303" pitchFamily="18" charset="0"/>
            </a:endParaRPr>
          </a:p>
          <a:p>
            <a:r>
              <a:rPr lang="en-GB" sz="2000" dirty="0" smtClean="0">
                <a:latin typeface="Baskerville Old Face" panose="02020602080505020303" pitchFamily="18" charset="0"/>
              </a:rPr>
              <a:t>The </a:t>
            </a:r>
            <a:r>
              <a:rPr lang="en-GB" sz="2000" b="1" i="1" dirty="0">
                <a:latin typeface="Baskerville Old Face" panose="02020602080505020303" pitchFamily="18" charset="0"/>
              </a:rPr>
              <a:t>D</a:t>
            </a:r>
            <a:r>
              <a:rPr lang="en-GB" sz="2000" b="1" i="1" dirty="0" smtClean="0">
                <a:latin typeface="Baskerville Old Face" panose="02020602080505020303" pitchFamily="18" charset="0"/>
              </a:rPr>
              <a:t>ashaavatar Form  </a:t>
            </a:r>
            <a:r>
              <a:rPr lang="en-GB" sz="2000" dirty="0" smtClean="0">
                <a:latin typeface="Baskerville Old Face" panose="02020602080505020303" pitchFamily="18" charset="0"/>
              </a:rPr>
              <a:t>were vouchsafed to another gentleman , as a matter of fact he passed away ,because his physical frame was too weak to contain the joy of the vision.</a:t>
            </a:r>
          </a:p>
          <a:p>
            <a:endParaRPr lang="en-IN" sz="2400" dirty="0">
              <a:latin typeface="Baskerville Old Face" panose="02020602080505020303" pitchFamily="18" charset="0"/>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04744" y="365124"/>
            <a:ext cx="3824207" cy="52149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546794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295275" y="122236"/>
            <a:ext cx="6577013" cy="6492875"/>
          </a:xfrm>
        </p:spPr>
        <p:txBody>
          <a:bodyPr>
            <a:normAutofit lnSpcReduction="10000"/>
          </a:bodyPr>
          <a:lstStyle/>
          <a:p>
            <a:r>
              <a:rPr lang="en-GB" sz="2000" dirty="0" smtClean="0">
                <a:latin typeface="Baskerville Old Face" panose="02020602080505020303" pitchFamily="18" charset="0"/>
              </a:rPr>
              <a:t>Baba was then at Bangalore ,there was a little boy </a:t>
            </a:r>
            <a:r>
              <a:rPr lang="en-GB" sz="2000" dirty="0" err="1" smtClean="0">
                <a:latin typeface="Baskerville Old Face" panose="02020602080505020303" pitchFamily="18" charset="0"/>
              </a:rPr>
              <a:t>of.he</a:t>
            </a:r>
            <a:r>
              <a:rPr lang="en-GB" sz="2000" dirty="0" smtClean="0">
                <a:latin typeface="Baskerville Old Face" panose="02020602080505020303" pitchFamily="18" charset="0"/>
              </a:rPr>
              <a:t> was very enthusiastic member of bhajan group.one day he ask swami that </a:t>
            </a:r>
            <a:r>
              <a:rPr lang="en-GB" sz="2000" b="1" i="1" dirty="0" smtClean="0">
                <a:latin typeface="Baskerville Old Face" panose="02020602080505020303" pitchFamily="18" charset="0"/>
              </a:rPr>
              <a:t>“I know you are a god ;show me your divine form”.</a:t>
            </a:r>
          </a:p>
          <a:p>
            <a:endParaRPr lang="en-GB" sz="2000" dirty="0" smtClean="0">
              <a:latin typeface="Baskerville Old Face" panose="02020602080505020303" pitchFamily="18" charset="0"/>
            </a:endParaRPr>
          </a:p>
          <a:p>
            <a:r>
              <a:rPr lang="en-GB" sz="2000" dirty="0" smtClean="0">
                <a:latin typeface="Baskerville Old Face" panose="02020602080505020303" pitchFamily="18" charset="0"/>
              </a:rPr>
              <a:t>First baba avoid him but after many request baba gave him a picture of </a:t>
            </a:r>
            <a:r>
              <a:rPr lang="en-GB" sz="2000" b="1" i="1" dirty="0" smtClean="0">
                <a:latin typeface="Baskerville Old Face" panose="02020602080505020303" pitchFamily="18" charset="0"/>
              </a:rPr>
              <a:t>“Shirdi Sai Baba”</a:t>
            </a:r>
            <a:r>
              <a:rPr lang="en-IN" sz="2400" dirty="0" smtClean="0"/>
              <a:t> </a:t>
            </a:r>
            <a:r>
              <a:rPr lang="en-IN" sz="2000" dirty="0" smtClean="0">
                <a:latin typeface="Baskerville Old Face" panose="02020602080505020303" pitchFamily="18" charset="0"/>
              </a:rPr>
              <a:t>and direct him to mediated  and by commanding baba left the house.</a:t>
            </a:r>
          </a:p>
          <a:p>
            <a:endParaRPr lang="en-GB" sz="2000" b="1" i="1" dirty="0">
              <a:latin typeface="Baskerville Old Face" panose="02020602080505020303" pitchFamily="18" charset="0"/>
            </a:endParaRPr>
          </a:p>
          <a:p>
            <a:r>
              <a:rPr lang="en-GB" sz="2000" dirty="0" smtClean="0">
                <a:latin typeface="Baskerville Old Face" panose="02020602080505020303" pitchFamily="18" charset="0"/>
              </a:rPr>
              <a:t>At 12 swami came back .and he saw that that man raised a huge cry of joy .he kept his eyes tightly closed and pursuing baba room –to-room and asking ,“</a:t>
            </a:r>
            <a:r>
              <a:rPr lang="en-GB" sz="2000" b="1" i="1" dirty="0">
                <a:latin typeface="Baskerville Old Face" panose="02020602080505020303" pitchFamily="18" charset="0"/>
              </a:rPr>
              <a:t>G</a:t>
            </a:r>
            <a:r>
              <a:rPr lang="en-GB" sz="2000" b="1" i="1" dirty="0" smtClean="0">
                <a:latin typeface="Baskerville Old Face" panose="02020602080505020303" pitchFamily="18" charset="0"/>
              </a:rPr>
              <a:t>ive me padd namaskar</a:t>
            </a:r>
            <a:r>
              <a:rPr lang="en-GB" sz="2000" dirty="0" smtClean="0">
                <a:latin typeface="Baskerville Old Face" panose="02020602080505020303" pitchFamily="18" charset="0"/>
              </a:rPr>
              <a:t>!” </a:t>
            </a:r>
          </a:p>
          <a:p>
            <a:endParaRPr lang="en-GB" sz="2000" dirty="0" smtClean="0">
              <a:latin typeface="Baskerville Old Face" panose="02020602080505020303" pitchFamily="18" charset="0"/>
            </a:endParaRPr>
          </a:p>
          <a:p>
            <a:r>
              <a:rPr lang="en-GB" sz="2000" dirty="0" smtClean="0">
                <a:latin typeface="Baskerville Old Face" panose="02020602080505020303" pitchFamily="18" charset="0"/>
              </a:rPr>
              <a:t>Swami asked him to open his eye but he refuse .swami told him that if he touched his feet while in that ecstatic mood he would passed away soon. </a:t>
            </a:r>
            <a:endParaRPr lang="en-GB" sz="1400" dirty="0">
              <a:latin typeface="Baskerville Old Face" panose="020206020805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2325" y="365125"/>
            <a:ext cx="4914900" cy="5473272"/>
          </a:xfrm>
          <a:prstGeom prst="rect">
            <a:avLst/>
          </a:prstGeom>
        </p:spPr>
      </p:pic>
    </p:spTree>
    <p:extLst>
      <p:ext uri="{BB962C8B-B14F-4D97-AF65-F5344CB8AC3E}">
        <p14:creationId xmlns:p14="http://schemas.microsoft.com/office/powerpoint/2010/main" val="18573774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156120"/>
            <a:ext cx="10515600" cy="1325563"/>
          </a:xfrm>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6000750" y="312873"/>
            <a:ext cx="5843588" cy="5811838"/>
          </a:xfrm>
        </p:spPr>
        <p:txBody>
          <a:bodyPr>
            <a:normAutofit lnSpcReduction="10000"/>
          </a:bodyPr>
          <a:lstStyle/>
          <a:p>
            <a:r>
              <a:rPr lang="en-GB" sz="2000" dirty="0" smtClean="0">
                <a:latin typeface="Baskerville Old Face" panose="02020602080505020303" pitchFamily="18" charset="0"/>
              </a:rPr>
              <a:t>His  eye capsuled  for many days and because of this one day he was taken to hospital .baba send him a </a:t>
            </a:r>
            <a:r>
              <a:rPr lang="en-GB" sz="2000" dirty="0" err="1" smtClean="0">
                <a:latin typeface="Baskerville Old Face" panose="02020602080505020303" pitchFamily="18" charset="0"/>
              </a:rPr>
              <a:t>littelm</a:t>
            </a:r>
            <a:r>
              <a:rPr lang="en-GB" sz="2000" dirty="0" smtClean="0">
                <a:latin typeface="Baskerville Old Face" panose="02020602080505020303" pitchFamily="18" charset="0"/>
              </a:rPr>
              <a:t> </a:t>
            </a:r>
            <a:r>
              <a:rPr lang="en-GB" sz="2000" b="1" i="1" dirty="0" err="1" smtClean="0">
                <a:latin typeface="Baskerville Old Face" panose="02020602080505020303" pitchFamily="18" charset="0"/>
              </a:rPr>
              <a:t>Padatirtham</a:t>
            </a:r>
            <a:r>
              <a:rPr lang="en-GB" sz="2000" dirty="0" smtClean="0">
                <a:latin typeface="Baskerville Old Face" panose="02020602080505020303" pitchFamily="18" charset="0"/>
              </a:rPr>
              <a:t> , he drank it and then he became fit enough to taken home.</a:t>
            </a:r>
          </a:p>
          <a:p>
            <a:endParaRPr lang="en-GB" sz="2000" dirty="0">
              <a:latin typeface="Baskerville Old Face" panose="02020602080505020303" pitchFamily="18" charset="0"/>
            </a:endParaRPr>
          </a:p>
          <a:p>
            <a:endParaRPr lang="en-GB" sz="2000" dirty="0" smtClean="0">
              <a:latin typeface="Baskerville Old Face" panose="02020602080505020303" pitchFamily="18" charset="0"/>
            </a:endParaRPr>
          </a:p>
          <a:p>
            <a:r>
              <a:rPr lang="en-GB" sz="2000" dirty="0" smtClean="0">
                <a:latin typeface="Baskerville Old Face" panose="02020602080505020303" pitchFamily="18" charset="0"/>
              </a:rPr>
              <a:t>At home he asked everyone to do </a:t>
            </a:r>
            <a:r>
              <a:rPr lang="en-GB" sz="2000" dirty="0" err="1" smtClean="0">
                <a:latin typeface="Baskerville Old Face" panose="02020602080505020303" pitchFamily="18" charset="0"/>
              </a:rPr>
              <a:t>bhajan</a:t>
            </a:r>
            <a:r>
              <a:rPr lang="en-GB" sz="2000" dirty="0" smtClean="0">
                <a:latin typeface="Baskerville Old Face" panose="02020602080505020303" pitchFamily="18" charset="0"/>
              </a:rPr>
              <a:t> ,himself lying on a cot in the same </a:t>
            </a:r>
            <a:r>
              <a:rPr lang="en-GB" sz="2000" dirty="0" err="1" smtClean="0">
                <a:latin typeface="Baskerville Old Face" panose="02020602080505020303" pitchFamily="18" charset="0"/>
              </a:rPr>
              <a:t>room.when</a:t>
            </a:r>
            <a:r>
              <a:rPr lang="en-GB" sz="2000" dirty="0" smtClean="0">
                <a:latin typeface="Baskerville Old Face" panose="02020602080505020303" pitchFamily="18" charset="0"/>
              </a:rPr>
              <a:t> the </a:t>
            </a:r>
            <a:r>
              <a:rPr lang="en-GB" sz="2000" dirty="0" err="1" smtClean="0">
                <a:latin typeface="Baskerville Old Face" panose="02020602080505020303" pitchFamily="18" charset="0"/>
              </a:rPr>
              <a:t>bhajan</a:t>
            </a:r>
            <a:r>
              <a:rPr lang="en-GB" sz="2000" dirty="0" smtClean="0">
                <a:latin typeface="Baskerville Old Face" panose="02020602080505020303" pitchFamily="18" charset="0"/>
              </a:rPr>
              <a:t> was over they found he did nor </a:t>
            </a:r>
            <a:r>
              <a:rPr lang="en-GB" sz="2000" dirty="0" err="1" smtClean="0">
                <a:latin typeface="Baskerville Old Face" panose="02020602080505020303" pitchFamily="18" charset="0"/>
              </a:rPr>
              <a:t>rise.he</a:t>
            </a:r>
            <a:r>
              <a:rPr lang="en-GB" sz="2000" dirty="0" smtClean="0">
                <a:latin typeface="Baskerville Old Face" panose="02020602080505020303" pitchFamily="18" charset="0"/>
              </a:rPr>
              <a:t> had touched the feet of the lord. </a:t>
            </a:r>
          </a:p>
          <a:p>
            <a:endParaRPr lang="en-GB" sz="2000" dirty="0" smtClean="0">
              <a:latin typeface="Baskerville Old Face" panose="02020602080505020303" pitchFamily="18" charset="0"/>
            </a:endParaRPr>
          </a:p>
          <a:p>
            <a:endParaRPr lang="en-GB" sz="2000" dirty="0">
              <a:latin typeface="Baskerville Old Face" panose="02020602080505020303" pitchFamily="18" charset="0"/>
            </a:endParaRPr>
          </a:p>
          <a:p>
            <a:endParaRPr lang="en-GB" sz="2000" dirty="0">
              <a:latin typeface="Baskerville Old Face" panose="02020602080505020303" pitchFamily="18" charset="0"/>
            </a:endParaRPr>
          </a:p>
          <a:p>
            <a:r>
              <a:rPr lang="en-GB" sz="2000" b="1" i="1" dirty="0" smtClean="0">
                <a:latin typeface="Baskerville Old Face" panose="02020602080505020303" pitchFamily="18" charset="0"/>
              </a:rPr>
              <a:t>“The river had found the sea.”</a:t>
            </a:r>
            <a:endParaRPr lang="en-IN" sz="2000" b="1" i="1" dirty="0">
              <a:latin typeface="Baskerville Old Face" panose="02020602080505020303" pitchFamily="18" charset="0"/>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10995" y="570048"/>
            <a:ext cx="4332505" cy="4867742"/>
          </a:xfrm>
          <a:prstGeom prst="rect">
            <a:avLst/>
          </a:prstGeom>
        </p:spPr>
      </p:pic>
    </p:spTree>
    <p:extLst>
      <p:ext uri="{BB962C8B-B14F-4D97-AF65-F5344CB8AC3E}">
        <p14:creationId xmlns:p14="http://schemas.microsoft.com/office/powerpoint/2010/main" val="41682320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t>
            </a:r>
            <a:br>
              <a:rPr lang="en-GB" dirty="0" smtClean="0"/>
            </a:br>
            <a:r>
              <a:rPr lang="en-GB" dirty="0"/>
              <a:t/>
            </a:r>
            <a:br>
              <a:rPr lang="en-GB" dirty="0"/>
            </a:br>
            <a:endParaRPr lang="en-IN" dirty="0"/>
          </a:p>
        </p:txBody>
      </p:sp>
      <p:sp>
        <p:nvSpPr>
          <p:cNvPr id="3" name="Content Placeholder 2"/>
          <p:cNvSpPr>
            <a:spLocks noGrp="1"/>
          </p:cNvSpPr>
          <p:nvPr>
            <p:ph idx="1"/>
          </p:nvPr>
        </p:nvSpPr>
        <p:spPr>
          <a:xfrm>
            <a:off x="490537" y="365125"/>
            <a:ext cx="5605463" cy="5948363"/>
          </a:xfrm>
        </p:spPr>
        <p:txBody>
          <a:bodyPr>
            <a:normAutofit fontScale="92500" lnSpcReduction="20000"/>
          </a:bodyPr>
          <a:lstStyle/>
          <a:p>
            <a:r>
              <a:rPr lang="en-GB" sz="2400" dirty="0" smtClean="0">
                <a:latin typeface="Baskerville Old Face" panose="02020602080505020303" pitchFamily="18" charset="0"/>
              </a:rPr>
              <a:t>One day some people came to </a:t>
            </a:r>
            <a:r>
              <a:rPr lang="en-GB" sz="2400" dirty="0">
                <a:latin typeface="Baskerville Old Face" panose="02020602080505020303" pitchFamily="18" charset="0"/>
              </a:rPr>
              <a:t>P</a:t>
            </a:r>
            <a:r>
              <a:rPr lang="en-GB" sz="2400" dirty="0" smtClean="0">
                <a:latin typeface="Baskerville Old Face" panose="02020602080505020303" pitchFamily="18" charset="0"/>
              </a:rPr>
              <a:t>uttaparti .the people initially don’t believe on swami .They told that it is dark  magic .</a:t>
            </a:r>
          </a:p>
          <a:p>
            <a:endParaRPr lang="en-GB" sz="2400" dirty="0" smtClean="0">
              <a:latin typeface="Baskerville Old Face" panose="02020602080505020303" pitchFamily="18" charset="0"/>
            </a:endParaRPr>
          </a:p>
          <a:p>
            <a:r>
              <a:rPr lang="en-GB" sz="2400" dirty="0" smtClean="0">
                <a:latin typeface="Baskerville Old Face" panose="02020602080505020303" pitchFamily="18" charset="0"/>
              </a:rPr>
              <a:t>Baba coolly asked the Venkapa Raju to bring everyone who had any doubt ,direct to him.</a:t>
            </a:r>
          </a:p>
          <a:p>
            <a:endParaRPr lang="en-GB" sz="2400" dirty="0" smtClean="0">
              <a:latin typeface="Baskerville Old Face" panose="02020602080505020303" pitchFamily="18" charset="0"/>
            </a:endParaRPr>
          </a:p>
          <a:p>
            <a:r>
              <a:rPr lang="en-GB" sz="2400" dirty="0" smtClean="0">
                <a:latin typeface="Baskerville Old Face" panose="02020602080505020303" pitchFamily="18" charset="0"/>
              </a:rPr>
              <a:t>Baba asked them if they would like to see the Shirdi </a:t>
            </a:r>
            <a:r>
              <a:rPr lang="en-GB" sz="2400" dirty="0" err="1" smtClean="0">
                <a:latin typeface="Baskerville Old Face" panose="02020602080505020303" pitchFamily="18" charset="0"/>
              </a:rPr>
              <a:t>sai</a:t>
            </a:r>
            <a:r>
              <a:rPr lang="en-GB" sz="2400" dirty="0" smtClean="0">
                <a:latin typeface="Baskerville Old Face" panose="02020602080505020303" pitchFamily="18" charset="0"/>
              </a:rPr>
              <a:t> Samadhi .and on there saying Yes ,he took them inside the room.</a:t>
            </a:r>
          </a:p>
          <a:p>
            <a:endParaRPr lang="en-GB" sz="2400" dirty="0" smtClean="0">
              <a:latin typeface="Baskerville Old Face" panose="02020602080505020303" pitchFamily="18" charset="0"/>
            </a:endParaRPr>
          </a:p>
          <a:p>
            <a:r>
              <a:rPr lang="en-GB" sz="2400" dirty="0" smtClean="0">
                <a:latin typeface="Baskerville Old Face" panose="02020602080505020303" pitchFamily="18" charset="0"/>
              </a:rPr>
              <a:t>He said ‘LOOK’’ and there they could see the Samadhi with the flower  Incense stick with smoke and fragrance.</a:t>
            </a:r>
            <a:endParaRPr lang="en-GB" sz="2400" dirty="0">
              <a:latin typeface="Baskerville Old Face" panose="02020602080505020303" pitchFamily="18" charset="0"/>
            </a:endParaRP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79000"/>
                    </a14:imgEffect>
                  </a14:imgLayer>
                </a14:imgProps>
              </a:ext>
              <a:ext uri="{28A0092B-C50C-407E-A947-70E740481C1C}">
                <a14:useLocalDpi xmlns:a14="http://schemas.microsoft.com/office/drawing/2010/main" val="0"/>
              </a:ext>
            </a:extLst>
          </a:blip>
          <a:stretch>
            <a:fillRect/>
          </a:stretch>
        </p:blipFill>
        <p:spPr>
          <a:xfrm>
            <a:off x="7454456" y="970756"/>
            <a:ext cx="3418332" cy="4737099"/>
          </a:xfrm>
          <a:prstGeom prst="rect">
            <a:avLst/>
          </a:prstGeom>
          <a:effectLst>
            <a:outerShdw blurRad="88900" dist="266700" dir="2880000" sx="113000" sy="113000" algn="bl" rotWithShape="0">
              <a:schemeClr val="bg1">
                <a:lumMod val="65000"/>
              </a:schemeClr>
            </a:outerShdw>
          </a:effectLst>
        </p:spPr>
      </p:pic>
    </p:spTree>
    <p:extLst>
      <p:ext uri="{BB962C8B-B14F-4D97-AF65-F5344CB8AC3E}">
        <p14:creationId xmlns:p14="http://schemas.microsoft.com/office/powerpoint/2010/main" val="32120324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endParaRPr lang="en-IN" dirty="0"/>
          </a:p>
        </p:txBody>
      </p:sp>
      <p:sp>
        <p:nvSpPr>
          <p:cNvPr id="3" name="Content Placeholder 2"/>
          <p:cNvSpPr>
            <a:spLocks noGrp="1"/>
          </p:cNvSpPr>
          <p:nvPr>
            <p:ph idx="1"/>
          </p:nvPr>
        </p:nvSpPr>
        <p:spPr>
          <a:xfrm>
            <a:off x="838200" y="214313"/>
            <a:ext cx="6829697" cy="6513058"/>
          </a:xfrm>
        </p:spPr>
        <p:txBody>
          <a:bodyPr>
            <a:normAutofit fontScale="92500"/>
          </a:bodyPr>
          <a:lstStyle/>
          <a:p>
            <a:r>
              <a:rPr lang="en-GB" sz="2200" dirty="0" smtClean="0">
                <a:latin typeface="Baskerville Old Face" panose="02020602080505020303" pitchFamily="18" charset="0"/>
              </a:rPr>
              <a:t>Baba was engaged even during those days in upadesh .a clear example of this he gave to </a:t>
            </a:r>
            <a:r>
              <a:rPr lang="en-GB" sz="2200" b="1" i="1" dirty="0">
                <a:latin typeface="Baskerville Old Face" panose="02020602080505020303" pitchFamily="18" charset="0"/>
              </a:rPr>
              <a:t>D</a:t>
            </a:r>
            <a:r>
              <a:rPr lang="en-GB" sz="2200" b="1" i="1" dirty="0" smtClean="0">
                <a:latin typeface="Baskerville Old Face" panose="02020602080505020303" pitchFamily="18" charset="0"/>
              </a:rPr>
              <a:t>igambara Swami </a:t>
            </a:r>
            <a:r>
              <a:rPr lang="en-GB" sz="2200" dirty="0" smtClean="0">
                <a:latin typeface="Baskerville Old Face" panose="02020602080505020303" pitchFamily="18" charset="0"/>
              </a:rPr>
              <a:t>when he came to puttaparti .</a:t>
            </a:r>
          </a:p>
          <a:p>
            <a:endParaRPr lang="en-GB" sz="2200" dirty="0" smtClean="0">
              <a:latin typeface="Baskerville Old Face" panose="02020602080505020303" pitchFamily="18" charset="0"/>
            </a:endParaRPr>
          </a:p>
          <a:p>
            <a:r>
              <a:rPr lang="en-GB" sz="2200" dirty="0" smtClean="0">
                <a:latin typeface="Baskerville Old Face" panose="02020602080505020303" pitchFamily="18" charset="0"/>
              </a:rPr>
              <a:t>When digambara swami met to  swami .swami gave the unclothed a towel and some advice to digamabara. </a:t>
            </a:r>
          </a:p>
          <a:p>
            <a:endParaRPr lang="en-GB" sz="2200" dirty="0">
              <a:latin typeface="Baskerville Old Face" panose="02020602080505020303" pitchFamily="18" charset="0"/>
            </a:endParaRPr>
          </a:p>
          <a:p>
            <a:r>
              <a:rPr lang="en-GB" sz="2200" dirty="0" smtClean="0">
                <a:latin typeface="Baskerville Old Face" panose="02020602080505020303" pitchFamily="18" charset="0"/>
              </a:rPr>
              <a:t>“if you have cut down the relationship with society ,as your nakedness indicates ,then why you do not go to cave or forest .”they stuck everyone with wonder and admiration.</a:t>
            </a:r>
          </a:p>
          <a:p>
            <a:endParaRPr lang="en-GB" sz="2200" dirty="0">
              <a:latin typeface="Baskerville Old Face" panose="02020602080505020303" pitchFamily="18" charset="0"/>
            </a:endParaRPr>
          </a:p>
          <a:p>
            <a:r>
              <a:rPr lang="en-GB" sz="2200" dirty="0" smtClean="0">
                <a:latin typeface="Baskerville Old Face" panose="02020602080505020303" pitchFamily="18" charset="0"/>
              </a:rPr>
              <a:t>The Digambra </a:t>
            </a:r>
            <a:r>
              <a:rPr lang="en-GB" sz="2200" dirty="0">
                <a:latin typeface="Baskerville Old Face" panose="02020602080505020303" pitchFamily="18" charset="0"/>
              </a:rPr>
              <a:t>S</a:t>
            </a:r>
            <a:r>
              <a:rPr lang="en-GB" sz="2200" dirty="0" smtClean="0">
                <a:latin typeface="Baskerville Old Face" panose="02020602080505020303" pitchFamily="18" charset="0"/>
              </a:rPr>
              <a:t>wami was not able to answer baba question ,then swami said that “I know your difficulty. You are afraid you may not get shelter and food. Well I assure you who ever take god name ,wherever he will get food.”</a:t>
            </a:r>
          </a:p>
          <a:p>
            <a:endParaRPr lang="en-GB" sz="2200" dirty="0" smtClean="0">
              <a:latin typeface="Baskerville Old Face" panose="02020602080505020303" pitchFamily="18" charset="0"/>
            </a:endParaRPr>
          </a:p>
          <a:p>
            <a:endParaRPr lang="en-GB" sz="2000" dirty="0" smtClean="0">
              <a:latin typeface="Baskerville Old Face" panose="02020602080505020303" pitchFamily="18" charset="0"/>
            </a:endParaRPr>
          </a:p>
          <a:p>
            <a:endParaRPr lang="en-GB" dirty="0">
              <a:latin typeface="Baskerville Old Face" panose="02020602080505020303" pitchFamily="18" charset="0"/>
            </a:endParaRPr>
          </a:p>
          <a:p>
            <a:endParaRPr lang="en-GB" dirty="0" smtClean="0">
              <a:latin typeface="Baskerville Old Face" panose="02020602080505020303" pitchFamily="18" charset="0"/>
            </a:endParaRPr>
          </a:p>
          <a:p>
            <a:pPr marL="0" indent="0">
              <a:buNone/>
            </a:pPr>
            <a:endParaRPr lang="en-IN" dirty="0">
              <a:latin typeface="Baskerville Old Face" panose="02020602080505020303" pitchFamily="18" charset="0"/>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43851" y="579437"/>
            <a:ext cx="3857623" cy="5492750"/>
          </a:xfrm>
          <a:prstGeom prst="rect">
            <a:avLst/>
          </a:prstGeom>
        </p:spPr>
      </p:pic>
    </p:spTree>
    <p:extLst>
      <p:ext uri="{BB962C8B-B14F-4D97-AF65-F5344CB8AC3E}">
        <p14:creationId xmlns:p14="http://schemas.microsoft.com/office/powerpoint/2010/main" val="3796920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633548" y="365125"/>
            <a:ext cx="5462452" cy="5523820"/>
          </a:xfrm>
        </p:spPr>
        <p:txBody>
          <a:bodyPr>
            <a:normAutofit/>
          </a:bodyPr>
          <a:lstStyle/>
          <a:p>
            <a:r>
              <a:rPr lang="en-GB" sz="2400" dirty="0" smtClean="0">
                <a:latin typeface="Baskerville Old Face" panose="02020602080505020303" pitchFamily="18" charset="0"/>
              </a:rPr>
              <a:t>As the became popular among people ,the no of devote who are visiting puttaparti was increasing .there was no place for there stay. </a:t>
            </a:r>
          </a:p>
          <a:p>
            <a:endParaRPr lang="en-GB" sz="2400" dirty="0" smtClean="0">
              <a:latin typeface="Baskerville Old Face" panose="02020602080505020303" pitchFamily="18" charset="0"/>
            </a:endParaRPr>
          </a:p>
          <a:p>
            <a:endParaRPr lang="en-GB" sz="2400" dirty="0">
              <a:latin typeface="Baskerville Old Face" panose="02020602080505020303" pitchFamily="18" charset="0"/>
            </a:endParaRPr>
          </a:p>
          <a:p>
            <a:r>
              <a:rPr lang="en-GB" sz="2400" dirty="0" smtClean="0">
                <a:latin typeface="Baskerville Old Face" panose="02020602080505020303" pitchFamily="18" charset="0"/>
              </a:rPr>
              <a:t>There was a need of bigger mandir where baba could reside and devotee </a:t>
            </a:r>
            <a:r>
              <a:rPr lang="en-GB" sz="2400" smtClean="0">
                <a:latin typeface="Baskerville Old Face" panose="02020602080505020303" pitchFamily="18" charset="0"/>
              </a:rPr>
              <a:t>can accommodated .This </a:t>
            </a:r>
            <a:r>
              <a:rPr lang="en-GB" sz="2400" dirty="0" smtClean="0">
                <a:latin typeface="Baskerville Old Face" panose="02020602080505020303" pitchFamily="18" charset="0"/>
              </a:rPr>
              <a:t>how the old mandir got planned by Tirumala Rao of Bangalore and other in 1945.</a:t>
            </a:r>
            <a:endParaRPr lang="en-IN" sz="2400" dirty="0">
              <a:latin typeface="Baskerville Old Face" panose="020206020805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0" y="871538"/>
            <a:ext cx="5157651" cy="5143500"/>
          </a:xfrm>
          <a:prstGeom prst="rect">
            <a:avLst/>
          </a:prstGeom>
        </p:spPr>
      </p:pic>
    </p:spTree>
    <p:extLst>
      <p:ext uri="{BB962C8B-B14F-4D97-AF65-F5344CB8AC3E}">
        <p14:creationId xmlns:p14="http://schemas.microsoft.com/office/powerpoint/2010/main" val="34934077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IN" dirty="0"/>
              <a:t> </a:t>
            </a:r>
            <a:r>
              <a:rPr lang="en-IN" dirty="0" smtClean="0"/>
              <a:t/>
            </a:r>
            <a:br>
              <a:rPr lang="en-IN" dirty="0" smtClean="0"/>
            </a:br>
            <a:endParaRPr lang="en-IN" dirty="0"/>
          </a:p>
        </p:txBody>
      </p:sp>
      <p:sp>
        <p:nvSpPr>
          <p:cNvPr id="3" name="Content Placeholder 2"/>
          <p:cNvSpPr>
            <a:spLocks noGrp="1"/>
          </p:cNvSpPr>
          <p:nvPr>
            <p:ph idx="1"/>
          </p:nvPr>
        </p:nvSpPr>
        <p:spPr>
          <a:xfrm>
            <a:off x="457201" y="365125"/>
            <a:ext cx="6557554" cy="5811838"/>
          </a:xfrm>
        </p:spPr>
        <p:txBody>
          <a:bodyPr>
            <a:normAutofit fontScale="92500"/>
          </a:bodyPr>
          <a:lstStyle/>
          <a:p>
            <a:r>
              <a:rPr lang="en-GB" sz="2000" dirty="0">
                <a:latin typeface="Baskerville Old Face" panose="02020602080505020303" pitchFamily="18" charset="0"/>
              </a:rPr>
              <a:t>Baba tells that </a:t>
            </a:r>
            <a:r>
              <a:rPr lang="en-GB" sz="2000" b="1" dirty="0">
                <a:latin typeface="Baskerville Old Face" panose="02020602080505020303" pitchFamily="18" charset="0"/>
              </a:rPr>
              <a:t>LINGAMS</a:t>
            </a:r>
            <a:r>
              <a:rPr lang="en-GB" sz="2000" dirty="0">
                <a:latin typeface="Baskerville Old Face" panose="02020602080505020303" pitchFamily="18" charset="0"/>
              </a:rPr>
              <a:t> are all in his stomach</a:t>
            </a:r>
            <a:r>
              <a:rPr lang="en-IN" sz="2000" dirty="0">
                <a:latin typeface="Baskerville Old Face" panose="02020602080505020303" pitchFamily="18" charset="0"/>
              </a:rPr>
              <a:t>.</a:t>
            </a:r>
            <a:r>
              <a:rPr lang="en-GB" sz="2000" dirty="0">
                <a:latin typeface="Baskerville Old Face" panose="02020602080505020303" pitchFamily="18" charset="0"/>
              </a:rPr>
              <a:t>The people who have witnessed the emanation of lingams from baba’s mouth on the night of </a:t>
            </a:r>
            <a:r>
              <a:rPr lang="en-GB" sz="2000" dirty="0" err="1">
                <a:latin typeface="Baskerville Old Face" panose="02020602080505020303" pitchFamily="18" charset="0"/>
              </a:rPr>
              <a:t>shivaratri</a:t>
            </a:r>
            <a:endParaRPr lang="en-GB" sz="2000" dirty="0">
              <a:latin typeface="Baskerville Old Face" panose="02020602080505020303" pitchFamily="18" charset="0"/>
            </a:endParaRPr>
          </a:p>
          <a:p>
            <a:endParaRPr lang="en-IN" sz="2000" dirty="0">
              <a:latin typeface="Baskerville Old Face" panose="02020602080505020303" pitchFamily="18" charset="0"/>
            </a:endParaRPr>
          </a:p>
          <a:p>
            <a:r>
              <a:rPr lang="en-GB" sz="2000" dirty="0">
                <a:latin typeface="Baskerville Old Face" panose="02020602080505020303" pitchFamily="18" charset="0"/>
              </a:rPr>
              <a:t>Baba went to </a:t>
            </a:r>
            <a:r>
              <a:rPr lang="en-GB" sz="2000" b="1" dirty="0">
                <a:latin typeface="Baskerville Old Face" panose="02020602080505020303" pitchFamily="18" charset="0"/>
              </a:rPr>
              <a:t>MASULIPATNAM</a:t>
            </a:r>
            <a:r>
              <a:rPr lang="en-GB" sz="2000" dirty="0">
                <a:latin typeface="Baskerville Old Face" panose="02020602080505020303" pitchFamily="18" charset="0"/>
              </a:rPr>
              <a:t>. He visited the seashore, then he walked straight into the sea, the devotees took some time to realise the situation. Then, heard the voice of thunder towards the waves, they a vision of </a:t>
            </a:r>
            <a:r>
              <a:rPr lang="en-GB" sz="2000" dirty="0" err="1">
                <a:latin typeface="Baskerville Old Face" panose="02020602080505020303" pitchFamily="18" charset="0"/>
              </a:rPr>
              <a:t>sheshashayee</a:t>
            </a:r>
            <a:r>
              <a:rPr lang="en-GB" sz="2000" dirty="0">
                <a:latin typeface="Baskerville Old Face" panose="02020602080505020303" pitchFamily="18" charset="0"/>
              </a:rPr>
              <a:t> (the lord of serpent </a:t>
            </a:r>
            <a:r>
              <a:rPr lang="en-GB" sz="2000" dirty="0" err="1">
                <a:latin typeface="Baskerville Old Face" panose="02020602080505020303" pitchFamily="18" charset="0"/>
              </a:rPr>
              <a:t>shesha</a:t>
            </a:r>
            <a:r>
              <a:rPr lang="en-GB" sz="2000" dirty="0">
                <a:latin typeface="Baskerville Old Face" panose="02020602080505020303" pitchFamily="18" charset="0"/>
              </a:rPr>
              <a:t>) next second baba was by their side. </a:t>
            </a:r>
          </a:p>
          <a:p>
            <a:endParaRPr lang="en-GB" sz="2000" dirty="0">
              <a:latin typeface="Baskerville Old Face" panose="02020602080505020303" pitchFamily="18" charset="0"/>
            </a:endParaRPr>
          </a:p>
          <a:p>
            <a:r>
              <a:rPr lang="en-GB" sz="2000" dirty="0"/>
              <a:t>They couldn’t believe the fact that his clothes were not at all wet. Next day he went to the seashore and took a silver cup, threw far into the waves, the cup came back. Baba lifted up along with saltwater and gave it to the devotees, each of them found it fragrant and sweet.</a:t>
            </a:r>
            <a:endParaRPr lang="en-IN" sz="2000"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8504" y="587828"/>
            <a:ext cx="3957638" cy="49577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402108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4767943" y="365125"/>
            <a:ext cx="6585857" cy="5811838"/>
          </a:xfrm>
        </p:spPr>
        <p:txBody>
          <a:bodyPr>
            <a:normAutofit fontScale="92500" lnSpcReduction="10000"/>
          </a:bodyPr>
          <a:lstStyle/>
          <a:p>
            <a:pPr marL="0" indent="0">
              <a:buNone/>
            </a:pPr>
            <a:r>
              <a:rPr lang="en-GB" sz="2400" dirty="0">
                <a:latin typeface="Baskerville Old Face" panose="02020602080505020303" pitchFamily="18" charset="0"/>
              </a:rPr>
              <a:t>One incident that happened at  Bengaluru…….</a:t>
            </a:r>
          </a:p>
          <a:p>
            <a:pPr marL="0" indent="0">
              <a:buNone/>
            </a:pPr>
            <a:endParaRPr lang="en-GB" sz="2400" dirty="0">
              <a:latin typeface="Baskerville Old Face" panose="02020602080505020303" pitchFamily="18" charset="0"/>
            </a:endParaRPr>
          </a:p>
          <a:p>
            <a:r>
              <a:rPr lang="en-GB" sz="2400" dirty="0">
                <a:latin typeface="Baskerville Old Face" panose="02020602080505020303" pitchFamily="18" charset="0"/>
              </a:rPr>
              <a:t>Baba stayed in a bungalow, just opposite to this there was a cobbler in a small hut .one day the cobbler ventured to enter the gate and peep nervously into the hall, where baba was seated, his eyes fell on baba just when baba looked at him, baba got up from the chair and started moving towards him, baba asked him in Tamil “What do you want from me”. </a:t>
            </a:r>
          </a:p>
          <a:p>
            <a:endParaRPr lang="en-GB" sz="2400" dirty="0">
              <a:latin typeface="Baskerville Old Face" panose="02020602080505020303" pitchFamily="18" charset="0"/>
            </a:endParaRPr>
          </a:p>
          <a:p>
            <a:r>
              <a:rPr lang="en-GB" sz="2400" dirty="0">
                <a:latin typeface="Baskerville Old Face" panose="02020602080505020303" pitchFamily="18" charset="0"/>
              </a:rPr>
              <a:t>He said please come to my house and accept something then he waited for baba to come, after many days baba makes a visit to his home giving him fruits and sweets as </a:t>
            </a:r>
            <a:r>
              <a:rPr lang="en-GB" sz="2400" dirty="0" err="1">
                <a:latin typeface="Baskerville Old Face" panose="02020602080505020303" pitchFamily="18" charset="0"/>
              </a:rPr>
              <a:t>prasadam</a:t>
            </a:r>
            <a:r>
              <a:rPr lang="en-GB" sz="2400" dirty="0">
                <a:latin typeface="Baskerville Old Face" panose="02020602080505020303" pitchFamily="18" charset="0"/>
              </a:rPr>
              <a:t>. This shows baba’s </a:t>
            </a:r>
            <a:r>
              <a:rPr lang="en-GB" sz="2400" dirty="0" err="1">
                <a:latin typeface="Baskerville Old Face" panose="02020602080505020303" pitchFamily="18" charset="0"/>
              </a:rPr>
              <a:t>prema</a:t>
            </a:r>
            <a:r>
              <a:rPr lang="en-GB" sz="2400" dirty="0">
                <a:latin typeface="Baskerville Old Face" panose="02020602080505020303" pitchFamily="18" charset="0"/>
              </a:rPr>
              <a:t>.</a:t>
            </a:r>
            <a:endParaRPr lang="en-IN" sz="2400" dirty="0">
              <a:latin typeface="Baskerville Old Face" panose="02020602080505020303" pitchFamily="18" charset="0"/>
            </a:endParaRPr>
          </a:p>
          <a:p>
            <a:endParaRPr lang="en-IN" sz="2400" dirty="0"/>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8200" y="1423851"/>
            <a:ext cx="3208195" cy="42976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8789823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143693" y="483325"/>
            <a:ext cx="8151221" cy="5576072"/>
          </a:xfrm>
        </p:spPr>
        <p:txBody>
          <a:bodyPr>
            <a:normAutofit fontScale="85000" lnSpcReduction="20000"/>
          </a:bodyPr>
          <a:lstStyle/>
          <a:p>
            <a:r>
              <a:rPr lang="en-GB" sz="2600" dirty="0">
                <a:latin typeface="Baskerville Old Face" panose="02020602080505020303" pitchFamily="18" charset="0"/>
              </a:rPr>
              <a:t>But there are some people who attempted to give poison to baba, but baba will not allow the attempt to be called an “an attempt to kill” and his words are truth we shall repeat that it was just an attempt to test that he could survive by eating poison.</a:t>
            </a:r>
          </a:p>
          <a:p>
            <a:endParaRPr lang="en-GB" sz="2600" dirty="0">
              <a:latin typeface="Baskerville Old Face" panose="02020602080505020303" pitchFamily="18" charset="0"/>
            </a:endParaRPr>
          </a:p>
          <a:p>
            <a:r>
              <a:rPr lang="en-GB" sz="2600" dirty="0" err="1">
                <a:latin typeface="Baskerville Old Face" panose="02020602080505020303" pitchFamily="18" charset="0"/>
              </a:rPr>
              <a:t>Subbamma</a:t>
            </a:r>
            <a:r>
              <a:rPr lang="en-GB" sz="2600" dirty="0">
                <a:latin typeface="Baskerville Old Face" panose="02020602080505020303" pitchFamily="18" charset="0"/>
              </a:rPr>
              <a:t> was the person most anxious about </a:t>
            </a:r>
            <a:r>
              <a:rPr lang="en-GB" sz="2600" dirty="0" err="1">
                <a:latin typeface="Baskerville Old Face" panose="02020602080505020303" pitchFamily="18" charset="0"/>
              </a:rPr>
              <a:t>babas</a:t>
            </a:r>
            <a:r>
              <a:rPr lang="en-GB" sz="2600" dirty="0">
                <a:latin typeface="Baskerville Old Face" panose="02020602080505020303" pitchFamily="18" charset="0"/>
              </a:rPr>
              <a:t> health and most worried about the hundreds of pilgrim ‘s who gathered at </a:t>
            </a:r>
            <a:r>
              <a:rPr lang="en-GB" sz="2600" dirty="0" err="1">
                <a:latin typeface="Baskerville Old Face" panose="02020602080505020303" pitchFamily="18" charset="0"/>
              </a:rPr>
              <a:t>puttaparthi</a:t>
            </a:r>
            <a:r>
              <a:rPr lang="en-GB" sz="2600" dirty="0">
                <a:latin typeface="Baskerville Old Face" panose="02020602080505020303" pitchFamily="18" charset="0"/>
              </a:rPr>
              <a:t>. </a:t>
            </a:r>
          </a:p>
          <a:p>
            <a:endParaRPr lang="en-GB" sz="2600" dirty="0">
              <a:latin typeface="Baskerville Old Face" panose="02020602080505020303" pitchFamily="18" charset="0"/>
            </a:endParaRPr>
          </a:p>
          <a:p>
            <a:r>
              <a:rPr lang="en-GB" sz="2600" dirty="0" err="1">
                <a:latin typeface="Baskerville Old Face" panose="02020602080505020303" pitchFamily="18" charset="0"/>
              </a:rPr>
              <a:t>Subbamma</a:t>
            </a:r>
            <a:r>
              <a:rPr lang="en-GB" sz="2600" dirty="0">
                <a:latin typeface="Baskerville Old Face" panose="02020602080505020303" pitchFamily="18" charset="0"/>
              </a:rPr>
              <a:t> fell ill, she was taken to </a:t>
            </a:r>
            <a:r>
              <a:rPr lang="en-GB" sz="2600" dirty="0" err="1">
                <a:latin typeface="Baskerville Old Face" panose="02020602080505020303" pitchFamily="18" charset="0"/>
              </a:rPr>
              <a:t>bukkapatnam</a:t>
            </a:r>
            <a:r>
              <a:rPr lang="en-GB" sz="2600" dirty="0">
                <a:latin typeface="Baskerville Old Face" panose="02020602080505020303" pitchFamily="18" charset="0"/>
              </a:rPr>
              <a:t> but in spite of her illness she came over one day in a bull-cart to see the </a:t>
            </a:r>
            <a:r>
              <a:rPr lang="en-GB" sz="2600" dirty="0" err="1">
                <a:latin typeface="Baskerville Old Face" panose="02020602080505020303" pitchFamily="18" charset="0"/>
              </a:rPr>
              <a:t>prashanthi</a:t>
            </a:r>
            <a:r>
              <a:rPr lang="en-GB" sz="2600" dirty="0">
                <a:latin typeface="Baskerville Old Face" panose="02020602080505020303" pitchFamily="18" charset="0"/>
              </a:rPr>
              <a:t> </a:t>
            </a:r>
            <a:r>
              <a:rPr lang="en-GB" sz="2600" dirty="0" err="1">
                <a:latin typeface="Baskerville Old Face" panose="02020602080505020303" pitchFamily="18" charset="0"/>
              </a:rPr>
              <a:t>nilayam</a:t>
            </a:r>
            <a:r>
              <a:rPr lang="en-GB" sz="2600" dirty="0">
                <a:latin typeface="Baskerville Old Face" panose="02020602080505020303" pitchFamily="18" charset="0"/>
              </a:rPr>
              <a:t>. She was bed ridden. she could not move, her condition worsened. Baba was away (Bangalore). </a:t>
            </a:r>
            <a:r>
              <a:rPr lang="en-GB" sz="2600" dirty="0" err="1">
                <a:latin typeface="Baskerville Old Face" panose="02020602080505020303" pitchFamily="18" charset="0"/>
              </a:rPr>
              <a:t>subbamma</a:t>
            </a:r>
            <a:r>
              <a:rPr lang="en-GB" sz="2600" dirty="0">
                <a:latin typeface="Baskerville Old Face" panose="02020602080505020303" pitchFamily="18" charset="0"/>
              </a:rPr>
              <a:t> in her delirium talked about baba and the vision of </a:t>
            </a:r>
            <a:r>
              <a:rPr lang="en-GB" sz="2600" dirty="0" err="1">
                <a:latin typeface="Baskerville Old Face" panose="02020602080505020303" pitchFamily="18" charset="0"/>
              </a:rPr>
              <a:t>shiridi</a:t>
            </a:r>
            <a:r>
              <a:rPr lang="en-GB" sz="2600" dirty="0">
                <a:latin typeface="Baskerville Old Face" panose="02020602080505020303" pitchFamily="18" charset="0"/>
              </a:rPr>
              <a:t> </a:t>
            </a:r>
            <a:r>
              <a:rPr lang="en-GB" sz="2600" dirty="0" err="1">
                <a:latin typeface="Baskerville Old Face" panose="02020602080505020303" pitchFamily="18" charset="0"/>
              </a:rPr>
              <a:t>sai</a:t>
            </a:r>
            <a:r>
              <a:rPr lang="en-GB" sz="2600" dirty="0">
                <a:latin typeface="Baskerville Old Face" panose="02020602080505020303" pitchFamily="18" charset="0"/>
              </a:rPr>
              <a:t> which she had been privileged to see, of the manifold of the Krishna she had witnessed  </a:t>
            </a:r>
            <a:endParaRPr lang="en-IN" sz="2600" dirty="0">
              <a:latin typeface="Baskerville Old Face" panose="02020602080505020303" pitchFamily="18" charset="0"/>
            </a:endParaRPr>
          </a:p>
          <a:p>
            <a:endParaRPr lang="en-IN" dirty="0"/>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495591" y="923643"/>
            <a:ext cx="3091162" cy="469543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31227375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457199" y="496387"/>
            <a:ext cx="8046721" cy="6035041"/>
          </a:xfrm>
        </p:spPr>
        <p:txBody>
          <a:bodyPr>
            <a:normAutofit lnSpcReduction="10000"/>
          </a:bodyPr>
          <a:lstStyle/>
          <a:p>
            <a:r>
              <a:rPr lang="en-IN" dirty="0">
                <a:latin typeface="Baskerville Old Face" panose="02020602080505020303" pitchFamily="18" charset="0"/>
              </a:rPr>
              <a:t> </a:t>
            </a:r>
            <a:r>
              <a:rPr lang="en-GB" sz="2400" dirty="0">
                <a:latin typeface="Baskerville Old Face" panose="02020602080505020303" pitchFamily="18" charset="0"/>
              </a:rPr>
              <a:t>When she came back to her sense’s her talk was about the same incident and same person.</a:t>
            </a:r>
          </a:p>
          <a:p>
            <a:pPr marL="0" indent="0">
              <a:buNone/>
            </a:pPr>
            <a:r>
              <a:rPr lang="en-GB" sz="2400" dirty="0">
                <a:latin typeface="Baskerville Old Face" panose="02020602080505020303" pitchFamily="18" charset="0"/>
              </a:rPr>
              <a:t> </a:t>
            </a:r>
            <a:endParaRPr lang="en-IN" sz="2400" dirty="0">
              <a:latin typeface="Baskerville Old Face" panose="02020602080505020303" pitchFamily="18" charset="0"/>
            </a:endParaRPr>
          </a:p>
          <a:p>
            <a:r>
              <a:rPr lang="en-GB" sz="2400" dirty="0">
                <a:latin typeface="Baskerville Old Face" panose="02020602080505020303" pitchFamily="18" charset="0"/>
              </a:rPr>
              <a:t>Baba was 100 miles away. Meanwhile baba left Bangalore to </a:t>
            </a:r>
            <a:r>
              <a:rPr lang="en-GB" sz="2400" dirty="0" err="1">
                <a:latin typeface="Baskerville Old Face" panose="02020602080505020303" pitchFamily="18" charset="0"/>
              </a:rPr>
              <a:t>tirupathi</a:t>
            </a:r>
            <a:r>
              <a:rPr lang="en-GB" sz="2400" dirty="0">
                <a:latin typeface="Baskerville Old Face" panose="02020602080505020303" pitchFamily="18" charset="0"/>
              </a:rPr>
              <a:t>. Where he spent time with his devotees of course baba knew that </a:t>
            </a:r>
            <a:r>
              <a:rPr lang="en-GB" sz="2400" dirty="0" err="1">
                <a:latin typeface="Baskerville Old Face" panose="02020602080505020303" pitchFamily="18" charset="0"/>
              </a:rPr>
              <a:t>subbammas</a:t>
            </a:r>
            <a:r>
              <a:rPr lang="en-GB" sz="2400" dirty="0">
                <a:latin typeface="Baskerville Old Face" panose="02020602080505020303" pitchFamily="18" charset="0"/>
              </a:rPr>
              <a:t> soul was struggling to free itself from mortal coil and that she was rolling in her deathbed in </a:t>
            </a:r>
            <a:r>
              <a:rPr lang="en-GB" sz="2400" dirty="0" err="1">
                <a:latin typeface="Baskerville Old Face" panose="02020602080505020303" pitchFamily="18" charset="0"/>
              </a:rPr>
              <a:t>bukkapatnam</a:t>
            </a:r>
            <a:r>
              <a:rPr lang="en-GB" sz="2400" dirty="0">
                <a:latin typeface="Baskerville Old Face" panose="02020602080505020303" pitchFamily="18" charset="0"/>
              </a:rPr>
              <a:t>. The people announced that she had her last breath but some peculiar glow in her face made them nervous to take her to cremation ground. A few wiser people shook their heads when it was said that she died. They told that “The bird hasn’t flown yet, how could the bird not fly even though the door of the cage was </a:t>
            </a:r>
            <a:r>
              <a:rPr lang="en-GB" sz="2400" dirty="0" smtClean="0">
                <a:latin typeface="Baskerville Old Face" panose="02020602080505020303" pitchFamily="18" charset="0"/>
              </a:rPr>
              <a:t>open.’’</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3920" y="862149"/>
            <a:ext cx="3230881" cy="475487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349823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3696790" y="744583"/>
            <a:ext cx="8203474" cy="5510757"/>
          </a:xfrm>
        </p:spPr>
        <p:txBody>
          <a:bodyPr>
            <a:normAutofit/>
          </a:bodyPr>
          <a:lstStyle/>
          <a:p>
            <a:endParaRPr lang="en-GB" sz="2000" dirty="0" smtClean="0">
              <a:latin typeface="Baskerville Old Face" panose="02020602080505020303" pitchFamily="18" charset="0"/>
            </a:endParaRPr>
          </a:p>
          <a:p>
            <a:endParaRPr lang="en-GB" sz="2000" dirty="0">
              <a:latin typeface="Baskerville Old Face" panose="02020602080505020303" pitchFamily="18" charset="0"/>
            </a:endParaRPr>
          </a:p>
          <a:p>
            <a:r>
              <a:rPr lang="en-GB" sz="2400" dirty="0" smtClean="0">
                <a:latin typeface="Baskerville Old Face" panose="02020602080505020303" pitchFamily="18" charset="0"/>
              </a:rPr>
              <a:t>She </a:t>
            </a:r>
            <a:r>
              <a:rPr lang="en-GB" sz="2400" dirty="0">
                <a:latin typeface="Baskerville Old Face" panose="02020602080505020303" pitchFamily="18" charset="0"/>
              </a:rPr>
              <a:t>must have the </a:t>
            </a:r>
            <a:r>
              <a:rPr lang="en-GB" sz="2400" dirty="0" err="1">
                <a:latin typeface="Baskerville Old Face" panose="02020602080505020303" pitchFamily="18" charset="0"/>
              </a:rPr>
              <a:t>darshan</a:t>
            </a:r>
            <a:r>
              <a:rPr lang="en-GB" sz="2400" dirty="0">
                <a:latin typeface="Baskerville Old Face" panose="02020602080505020303" pitchFamily="18" charset="0"/>
              </a:rPr>
              <a:t> and she must wait until baba come. And baba was too hurrying towards her bedside and sat by her side and in a low voice he called “SUBBAMMA  </a:t>
            </a:r>
            <a:r>
              <a:rPr lang="en-GB" sz="2400" dirty="0" err="1">
                <a:latin typeface="Baskerville Old Face" panose="02020602080505020303" pitchFamily="18" charset="0"/>
              </a:rPr>
              <a:t>SUBBAMMA</a:t>
            </a:r>
            <a:r>
              <a:rPr lang="en-GB" sz="2400" dirty="0">
                <a:latin typeface="Baskerville Old Face" panose="02020602080505020303" pitchFamily="18" charset="0"/>
              </a:rPr>
              <a:t>” just twice and no more then SUBBAMMA opened her eyes ,her hand extended towards baba and grasped his palm firmly and being to stroke it lovingly, baba put his fingers in her lips  , her mouth opened a little as she knew that baba was giving her something to slake the thirst of the soul from the fingers of baba there poured into her mouth the immortal ganga and SUBBAMMA joined the ranks of released </a:t>
            </a:r>
            <a:r>
              <a:rPr lang="en-GB" sz="2400" dirty="0" smtClean="0">
                <a:latin typeface="Baskerville Old Face" panose="02020602080505020303" pitchFamily="18" charset="0"/>
              </a:rPr>
              <a:t>.</a:t>
            </a:r>
          </a:p>
          <a:p>
            <a:endParaRPr lang="en-IN" sz="2000" dirty="0">
              <a:latin typeface="Baskerville Old Face" panose="02020602080505020303" pitchFamily="18" charset="0"/>
            </a:endParaRPr>
          </a:p>
          <a:p>
            <a:endParaRPr lang="en-GB" dirty="0" smtClean="0">
              <a:latin typeface="Baskerville Old Face" panose="02020602080505020303" pitchFamily="18" charset="0"/>
            </a:endParaRPr>
          </a:p>
          <a:p>
            <a:endParaRPr lang="en-IN" dirty="0">
              <a:latin typeface="Baskerville Old Face" panose="02020602080505020303" pitchFamily="18" charset="0"/>
            </a:endParaRP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086" y="1392500"/>
            <a:ext cx="2869692" cy="3780391"/>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16202355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 </a:t>
            </a:r>
            <a:br>
              <a:rPr lang="en-GB" dirty="0" smtClean="0"/>
            </a:br>
            <a:endParaRPr lang="en-IN" dirty="0"/>
          </a:p>
        </p:txBody>
      </p:sp>
      <p:sp>
        <p:nvSpPr>
          <p:cNvPr id="3" name="Subtitle 2"/>
          <p:cNvSpPr>
            <a:spLocks noGrp="1"/>
          </p:cNvSpPr>
          <p:nvPr>
            <p:ph type="subTitle" idx="1"/>
          </p:nvPr>
        </p:nvSpPr>
        <p:spPr>
          <a:xfrm>
            <a:off x="627016" y="714511"/>
            <a:ext cx="6871063" cy="5590903"/>
          </a:xfrm>
        </p:spPr>
        <p:txBody>
          <a:bodyPr>
            <a:normAutofit fontScale="92500" lnSpcReduction="20000"/>
          </a:bodyPr>
          <a:lstStyle/>
          <a:p>
            <a:pPr algn="just"/>
            <a:r>
              <a:rPr lang="en-GB" dirty="0">
                <a:latin typeface="Baskerville Old Face" panose="02020602080505020303" pitchFamily="18" charset="0"/>
              </a:rPr>
              <a:t>The possessed </a:t>
            </a:r>
            <a:r>
              <a:rPr lang="en-GB" dirty="0" err="1">
                <a:latin typeface="Baskerville Old Face" panose="02020602080505020303" pitchFamily="18" charset="0"/>
              </a:rPr>
              <a:t>muslim</a:t>
            </a:r>
            <a:r>
              <a:rPr lang="en-GB" dirty="0">
                <a:latin typeface="Baskerville Old Face" panose="02020602080505020303" pitchFamily="18" charset="0"/>
              </a:rPr>
              <a:t>:</a:t>
            </a:r>
            <a:endParaRPr lang="en-IN" dirty="0">
              <a:latin typeface="Baskerville Old Face" panose="02020602080505020303" pitchFamily="18" charset="0"/>
            </a:endParaRPr>
          </a:p>
          <a:p>
            <a:pPr algn="just"/>
            <a:r>
              <a:rPr lang="en-GB" dirty="0">
                <a:latin typeface="Baskerville Old Face" panose="02020602080505020303" pitchFamily="18" charset="0"/>
              </a:rPr>
              <a:t>When </a:t>
            </a:r>
            <a:r>
              <a:rPr lang="en-GB" dirty="0" err="1">
                <a:latin typeface="Baskerville Old Face" panose="02020602080505020303" pitchFamily="18" charset="0"/>
              </a:rPr>
              <a:t>muslims</a:t>
            </a:r>
            <a:r>
              <a:rPr lang="en-GB" dirty="0">
                <a:latin typeface="Baskerville Old Face" panose="02020602080505020303" pitchFamily="18" charset="0"/>
              </a:rPr>
              <a:t> were proceeding from</a:t>
            </a:r>
            <a:r>
              <a:rPr lang="en-GB" b="1" i="1" dirty="0">
                <a:latin typeface="Baskerville Old Face" panose="02020602080505020303" pitchFamily="18" charset="0"/>
              </a:rPr>
              <a:t> mandir</a:t>
            </a:r>
            <a:r>
              <a:rPr lang="en-GB" dirty="0">
                <a:latin typeface="Baskerville Old Face" panose="02020602080505020303" pitchFamily="18" charset="0"/>
              </a:rPr>
              <a:t>, after accepting </a:t>
            </a:r>
            <a:r>
              <a:rPr lang="en-GB" b="1" i="1" dirty="0" err="1">
                <a:latin typeface="Baskerville Old Face" panose="02020602080505020303" pitchFamily="18" charset="0"/>
              </a:rPr>
              <a:t>Pirs</a:t>
            </a:r>
            <a:r>
              <a:rPr lang="en-GB" b="1" i="1" dirty="0">
                <a:latin typeface="Baskerville Old Face" panose="02020602080505020303" pitchFamily="18" charset="0"/>
              </a:rPr>
              <a:t> </a:t>
            </a:r>
            <a:r>
              <a:rPr lang="en-GB" dirty="0">
                <a:latin typeface="Baskerville Old Face" panose="02020602080505020303" pitchFamily="18" charset="0"/>
              </a:rPr>
              <a:t>from </a:t>
            </a:r>
            <a:r>
              <a:rPr lang="en-GB" b="1" i="1" dirty="0">
                <a:latin typeface="Baskerville Old Face" panose="02020602080505020303" pitchFamily="18" charset="0"/>
              </a:rPr>
              <a:t>Baba’s</a:t>
            </a:r>
            <a:r>
              <a:rPr lang="en-GB" dirty="0">
                <a:latin typeface="Baskerville Old Face" panose="02020602080505020303" pitchFamily="18" charset="0"/>
              </a:rPr>
              <a:t> hands, the person who carried them began to act like ‘</a:t>
            </a:r>
            <a:r>
              <a:rPr lang="en-GB" i="1" dirty="0">
                <a:latin typeface="Baskerville Old Face" panose="02020602080505020303" pitchFamily="18" charset="0"/>
              </a:rPr>
              <a:t>possessed’</a:t>
            </a:r>
            <a:r>
              <a:rPr lang="en-GB" dirty="0">
                <a:latin typeface="Baskerville Old Face" panose="02020602080505020303" pitchFamily="18" charset="0"/>
              </a:rPr>
              <a:t> and all started to gather around him, to watch the holy man in that elevated mood. He danced, ran round in circles, muttered the </a:t>
            </a:r>
            <a:r>
              <a:rPr lang="en-GB" b="1" i="1" dirty="0">
                <a:latin typeface="Baskerville Old Face" panose="02020602080505020303" pitchFamily="18" charset="0"/>
              </a:rPr>
              <a:t>Holy Quran</a:t>
            </a:r>
            <a:r>
              <a:rPr lang="en-GB" dirty="0">
                <a:latin typeface="Baskerville Old Face" panose="02020602080505020303" pitchFamily="18" charset="0"/>
              </a:rPr>
              <a:t> to himself and walked back to </a:t>
            </a:r>
            <a:r>
              <a:rPr lang="en-GB" b="1" i="1" dirty="0">
                <a:latin typeface="Baskerville Old Face" panose="02020602080505020303" pitchFamily="18" charset="0"/>
              </a:rPr>
              <a:t>Baba.</a:t>
            </a:r>
            <a:endParaRPr lang="en-IN" dirty="0">
              <a:latin typeface="Baskerville Old Face" panose="02020602080505020303" pitchFamily="18" charset="0"/>
            </a:endParaRPr>
          </a:p>
          <a:p>
            <a:pPr algn="just"/>
            <a:r>
              <a:rPr lang="en-GB" dirty="0">
                <a:latin typeface="Baskerville Old Face" panose="02020602080505020303" pitchFamily="18" charset="0"/>
              </a:rPr>
              <a:t> </a:t>
            </a:r>
            <a:endParaRPr lang="en-GB" dirty="0" smtClean="0">
              <a:latin typeface="Baskerville Old Face" panose="02020602080505020303" pitchFamily="18" charset="0"/>
            </a:endParaRPr>
          </a:p>
          <a:p>
            <a:pPr algn="just"/>
            <a:endParaRPr lang="en-IN" dirty="0">
              <a:latin typeface="Baskerville Old Face" panose="02020602080505020303" pitchFamily="18" charset="0"/>
            </a:endParaRPr>
          </a:p>
          <a:p>
            <a:pPr algn="just"/>
            <a:r>
              <a:rPr lang="en-GB" dirty="0">
                <a:latin typeface="Baskerville Old Face" panose="02020602080505020303" pitchFamily="18" charset="0"/>
              </a:rPr>
              <a:t>Devotees would come to </a:t>
            </a:r>
            <a:r>
              <a:rPr lang="en-GB" dirty="0" err="1">
                <a:latin typeface="Baskerville Old Face" panose="02020602080505020303" pitchFamily="18" charset="0"/>
              </a:rPr>
              <a:t>puttaparthi</a:t>
            </a:r>
            <a:r>
              <a:rPr lang="en-GB" dirty="0">
                <a:latin typeface="Baskerville Old Face" panose="02020602080505020303" pitchFamily="18" charset="0"/>
              </a:rPr>
              <a:t> from far or near, each one was drawn from his place by some inexplicable circumstances for the glimpse of </a:t>
            </a:r>
            <a:r>
              <a:rPr lang="en-GB" b="1" i="1" dirty="0">
                <a:latin typeface="Baskerville Old Face" panose="02020602080505020303" pitchFamily="18" charset="0"/>
              </a:rPr>
              <a:t>Baba’s Omniscience,</a:t>
            </a:r>
            <a:r>
              <a:rPr lang="en-GB" dirty="0">
                <a:latin typeface="Baskerville Old Face" panose="02020602080505020303" pitchFamily="18" charset="0"/>
              </a:rPr>
              <a:t> or</a:t>
            </a:r>
            <a:r>
              <a:rPr lang="en-GB" b="1" i="1" dirty="0">
                <a:latin typeface="Baskerville Old Face" panose="02020602080505020303" pitchFamily="18" charset="0"/>
              </a:rPr>
              <a:t> Omnipresence, </a:t>
            </a:r>
            <a:r>
              <a:rPr lang="en-GB" dirty="0">
                <a:latin typeface="Baskerville Old Face" panose="02020602080505020303" pitchFamily="18" charset="0"/>
              </a:rPr>
              <a:t>or</a:t>
            </a:r>
            <a:r>
              <a:rPr lang="en-GB" b="1" i="1" dirty="0">
                <a:latin typeface="Baskerville Old Face" panose="02020602080505020303" pitchFamily="18" charset="0"/>
              </a:rPr>
              <a:t> Omnipotence. </a:t>
            </a:r>
            <a:endParaRPr lang="en-IN" dirty="0">
              <a:latin typeface="Baskerville Old Face" panose="02020602080505020303" pitchFamily="18" charset="0"/>
            </a:endParaRPr>
          </a:p>
          <a:p>
            <a:pPr algn="just"/>
            <a:r>
              <a:rPr lang="en-GB" dirty="0">
                <a:latin typeface="Baskerville Old Face" panose="02020602080505020303" pitchFamily="18" charset="0"/>
              </a:rPr>
              <a:t> </a:t>
            </a:r>
            <a:endParaRPr lang="en-IN" dirty="0">
              <a:latin typeface="Baskerville Old Face" panose="02020602080505020303" pitchFamily="18" charset="0"/>
            </a:endParaRP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7531" y="1405564"/>
            <a:ext cx="3161212" cy="3793454"/>
          </a:xfrm>
          <a:prstGeom prst="rect">
            <a:avLst/>
          </a:prstGeom>
          <a:ln>
            <a:noFill/>
          </a:ln>
          <a:effectLst>
            <a:softEdge rad="112500"/>
          </a:effectLst>
        </p:spPr>
      </p:pic>
    </p:spTree>
    <p:extLst>
      <p:ext uri="{BB962C8B-B14F-4D97-AF65-F5344CB8AC3E}">
        <p14:creationId xmlns:p14="http://schemas.microsoft.com/office/powerpoint/2010/main" val="326297256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0" y="470263"/>
            <a:ext cx="8098971" cy="5706700"/>
          </a:xfrm>
        </p:spPr>
        <p:txBody>
          <a:bodyPr>
            <a:normAutofit fontScale="77500" lnSpcReduction="20000"/>
          </a:bodyPr>
          <a:lstStyle/>
          <a:p>
            <a:pPr marL="0" indent="0">
              <a:buNone/>
            </a:pPr>
            <a:r>
              <a:rPr lang="en-GB" dirty="0" smtClean="0"/>
              <a:t> </a:t>
            </a:r>
            <a:r>
              <a:rPr lang="en-GB" sz="2600" dirty="0" smtClean="0">
                <a:latin typeface="Baskerville Old Face" panose="02020602080505020303" pitchFamily="18" charset="0"/>
              </a:rPr>
              <a:t>The </a:t>
            </a:r>
            <a:r>
              <a:rPr lang="en-GB" sz="2600" dirty="0">
                <a:latin typeface="Baskerville Old Face" panose="02020602080505020303" pitchFamily="18" charset="0"/>
              </a:rPr>
              <a:t>story of Operation:</a:t>
            </a:r>
            <a:endParaRPr lang="en-IN" sz="2600" dirty="0">
              <a:latin typeface="Baskerville Old Face" panose="02020602080505020303" pitchFamily="18" charset="0"/>
            </a:endParaRPr>
          </a:p>
          <a:p>
            <a:pPr marL="0" indent="0">
              <a:buNone/>
            </a:pPr>
            <a:r>
              <a:rPr lang="en-GB" sz="2600" dirty="0">
                <a:latin typeface="Baskerville Old Face" panose="02020602080505020303" pitchFamily="18" charset="0"/>
              </a:rPr>
              <a:t>A gentleman from Madurai came to </a:t>
            </a:r>
            <a:r>
              <a:rPr lang="en-GB" sz="2600" dirty="0" err="1">
                <a:latin typeface="Baskerville Old Face" panose="02020602080505020303" pitchFamily="18" charset="0"/>
              </a:rPr>
              <a:t>Parthi</a:t>
            </a:r>
            <a:r>
              <a:rPr lang="en-GB" sz="2600" dirty="0">
                <a:latin typeface="Baskerville Old Face" panose="02020602080505020303" pitchFamily="18" charset="0"/>
              </a:rPr>
              <a:t> , as his sister at Vellore accepted to have an operation performed on her only if Baba agreed it was essential. He came to </a:t>
            </a:r>
            <a:r>
              <a:rPr lang="en-GB" sz="2600" dirty="0" err="1">
                <a:latin typeface="Baskerville Old Face" panose="02020602080505020303" pitchFamily="18" charset="0"/>
              </a:rPr>
              <a:t>Parthi</a:t>
            </a:r>
            <a:r>
              <a:rPr lang="en-GB" sz="2600" dirty="0">
                <a:latin typeface="Baskerville Old Face" panose="02020602080505020303" pitchFamily="18" charset="0"/>
              </a:rPr>
              <a:t>, Baba didn’t speak to him for few days, at last when to spoke, he only asked him to go back to </a:t>
            </a:r>
            <a:r>
              <a:rPr lang="en-GB" sz="2600" dirty="0" err="1">
                <a:latin typeface="Baskerville Old Face" panose="02020602080505020303" pitchFamily="18" charset="0"/>
              </a:rPr>
              <a:t>vellore</a:t>
            </a:r>
            <a:r>
              <a:rPr lang="en-GB" sz="2600" dirty="0">
                <a:latin typeface="Baskerville Old Face" panose="02020602080505020303" pitchFamily="18" charset="0"/>
              </a:rPr>
              <a:t> by the next bus. The Doc was furious cause the silly patient was endangering her own life, waiting for the </a:t>
            </a:r>
            <a:r>
              <a:rPr lang="en-GB" sz="2600" b="1" i="1" dirty="0">
                <a:latin typeface="Baskerville Old Face" panose="02020602080505020303" pitchFamily="18" charset="0"/>
              </a:rPr>
              <a:t>HUKUM </a:t>
            </a:r>
            <a:r>
              <a:rPr lang="en-GB" sz="2600" dirty="0">
                <a:latin typeface="Baskerville Old Face" panose="02020602080505020303" pitchFamily="18" charset="0"/>
              </a:rPr>
              <a:t>of a Boy, who she says is her Guru and God! The Brother came at last. Another examination was made; and wonders of wonders, there was no need for an operation</a:t>
            </a:r>
            <a:r>
              <a:rPr lang="en-GB" sz="2600" dirty="0" smtClean="0">
                <a:latin typeface="Baskerville Old Face" panose="02020602080505020303" pitchFamily="18" charset="0"/>
              </a:rPr>
              <a:t>.</a:t>
            </a:r>
          </a:p>
          <a:p>
            <a:pPr marL="0" indent="0">
              <a:buNone/>
            </a:pPr>
            <a:endParaRPr lang="en-IN" sz="2600" dirty="0">
              <a:latin typeface="Baskerville Old Face" panose="02020602080505020303" pitchFamily="18" charset="0"/>
            </a:endParaRPr>
          </a:p>
          <a:p>
            <a:pPr marL="0" indent="0">
              <a:buNone/>
            </a:pPr>
            <a:r>
              <a:rPr lang="en-GB" sz="2600" dirty="0">
                <a:latin typeface="Baskerville Old Face" panose="02020602080505020303" pitchFamily="18" charset="0"/>
              </a:rPr>
              <a:t>The story of </a:t>
            </a:r>
            <a:r>
              <a:rPr lang="en-GB" sz="2600" b="1" i="1" dirty="0">
                <a:latin typeface="Baskerville Old Face" panose="02020602080505020303" pitchFamily="18" charset="0"/>
              </a:rPr>
              <a:t>Smt. </a:t>
            </a:r>
            <a:r>
              <a:rPr lang="en-GB" sz="2600" b="1" i="1" dirty="0" err="1">
                <a:latin typeface="Baskerville Old Face" panose="02020602080505020303" pitchFamily="18" charset="0"/>
              </a:rPr>
              <a:t>Sakamma</a:t>
            </a:r>
            <a:r>
              <a:rPr lang="en-GB" sz="2600" dirty="0">
                <a:latin typeface="Baskerville Old Face" panose="02020602080505020303" pitchFamily="18" charset="0"/>
              </a:rPr>
              <a:t>, famous coffee planter and philanthropist of Coorg, honorary of the title </a:t>
            </a:r>
            <a:r>
              <a:rPr lang="en-GB" sz="2600" b="1" i="1" dirty="0" err="1">
                <a:latin typeface="Baskerville Old Face" panose="02020602080505020303" pitchFamily="18" charset="0"/>
              </a:rPr>
              <a:t>Dharmaparayani</a:t>
            </a:r>
            <a:r>
              <a:rPr lang="en-GB" sz="2600" b="1" i="1" dirty="0">
                <a:latin typeface="Baskerville Old Face" panose="02020602080505020303" pitchFamily="18" charset="0"/>
              </a:rPr>
              <a:t> </a:t>
            </a:r>
            <a:r>
              <a:rPr lang="en-GB" sz="2600" dirty="0">
                <a:latin typeface="Baskerville Old Face" panose="02020602080505020303" pitchFamily="18" charset="0"/>
              </a:rPr>
              <a:t>by the Maharaja of Mysore. </a:t>
            </a:r>
            <a:endParaRPr lang="en-GB" sz="2600" dirty="0" smtClean="0">
              <a:latin typeface="Baskerville Old Face" panose="02020602080505020303" pitchFamily="18" charset="0"/>
            </a:endParaRPr>
          </a:p>
          <a:p>
            <a:pPr marL="0" indent="0">
              <a:buNone/>
            </a:pPr>
            <a:endParaRPr lang="en-IN" sz="2600" dirty="0">
              <a:latin typeface="Baskerville Old Face" panose="02020602080505020303" pitchFamily="18" charset="0"/>
            </a:endParaRPr>
          </a:p>
          <a:p>
            <a:pPr marL="0" indent="0">
              <a:buNone/>
            </a:pPr>
            <a:r>
              <a:rPr lang="en-GB" sz="2600" dirty="0">
                <a:latin typeface="Baskerville Old Face" panose="02020602080505020303" pitchFamily="18" charset="0"/>
              </a:rPr>
              <a:t>Baba does not mind a person being rich, nor </a:t>
            </a:r>
            <a:r>
              <a:rPr lang="en-GB" sz="2600" dirty="0" smtClean="0">
                <a:latin typeface="Baskerville Old Face" panose="02020602080505020303" pitchFamily="18" charset="0"/>
              </a:rPr>
              <a:t>being </a:t>
            </a:r>
            <a:r>
              <a:rPr lang="en-GB" sz="2600" dirty="0">
                <a:latin typeface="Baskerville Old Face" panose="02020602080505020303" pitchFamily="18" charset="0"/>
              </a:rPr>
              <a:t>poor. He cares for the richness of character, the wealth of </a:t>
            </a:r>
            <a:r>
              <a:rPr lang="en-GB" sz="2600" dirty="0" err="1">
                <a:latin typeface="Baskerville Old Face" panose="02020602080505020303" pitchFamily="18" charset="0"/>
              </a:rPr>
              <a:t>sadhana</a:t>
            </a:r>
            <a:r>
              <a:rPr lang="en-GB" sz="2600" dirty="0">
                <a:latin typeface="Baskerville Old Face" panose="02020602080505020303" pitchFamily="18" charset="0"/>
              </a:rPr>
              <a:t>, the treasure of spirit.</a:t>
            </a:r>
            <a:endParaRPr lang="en-IN" sz="2600" dirty="0">
              <a:latin typeface="Baskerville Old Face" panose="02020602080505020303" pitchFamily="18" charset="0"/>
            </a:endParaRPr>
          </a:p>
          <a:p>
            <a:pPr marL="0" indent="0">
              <a:buNone/>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5379" y="1795826"/>
            <a:ext cx="3909387" cy="2833334"/>
          </a:xfrm>
          <a:prstGeom prst="rect">
            <a:avLst/>
          </a:prstGeom>
        </p:spPr>
      </p:pic>
    </p:spTree>
    <p:extLst>
      <p:ext uri="{BB962C8B-B14F-4D97-AF65-F5344CB8AC3E}">
        <p14:creationId xmlns:p14="http://schemas.microsoft.com/office/powerpoint/2010/main" val="20783829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t>
            </a:r>
            <a:br>
              <a:rPr lang="en-GB" dirty="0" smtClean="0"/>
            </a:br>
            <a:endParaRPr lang="en-IN" dirty="0"/>
          </a:p>
        </p:txBody>
      </p:sp>
      <p:sp>
        <p:nvSpPr>
          <p:cNvPr id="3" name="Content Placeholder 2"/>
          <p:cNvSpPr>
            <a:spLocks noGrp="1"/>
          </p:cNvSpPr>
          <p:nvPr>
            <p:ph idx="1"/>
          </p:nvPr>
        </p:nvSpPr>
        <p:spPr>
          <a:xfrm>
            <a:off x="300446" y="1046162"/>
            <a:ext cx="7694021" cy="5811838"/>
          </a:xfrm>
        </p:spPr>
        <p:txBody>
          <a:bodyPr>
            <a:noAutofit/>
          </a:bodyPr>
          <a:lstStyle/>
          <a:p>
            <a:r>
              <a:rPr lang="en-GB" sz="2000" dirty="0">
                <a:latin typeface="Baskerville Old Face" panose="02020602080505020303" pitchFamily="18" charset="0"/>
              </a:rPr>
              <a:t>The late Smt. </a:t>
            </a:r>
            <a:r>
              <a:rPr lang="en-GB" sz="2000" dirty="0" err="1">
                <a:latin typeface="Baskerville Old Face" panose="02020602080505020303" pitchFamily="18" charset="0"/>
              </a:rPr>
              <a:t>Sakamma</a:t>
            </a:r>
            <a:r>
              <a:rPr lang="en-GB" sz="2000" dirty="0">
                <a:latin typeface="Baskerville Old Face" panose="02020602080505020303" pitchFamily="18" charset="0"/>
              </a:rPr>
              <a:t> used to tell this strange story that she experienced. One day at her own </a:t>
            </a:r>
            <a:r>
              <a:rPr lang="en-GB" sz="2000" dirty="0" err="1">
                <a:latin typeface="Baskerville Old Face" panose="02020602080505020303" pitchFamily="18" charset="0"/>
              </a:rPr>
              <a:t>banglow</a:t>
            </a:r>
            <a:r>
              <a:rPr lang="en-GB" sz="2000" dirty="0">
                <a:latin typeface="Baskerville Old Face" panose="02020602080505020303" pitchFamily="18" charset="0"/>
              </a:rPr>
              <a:t> in </a:t>
            </a:r>
            <a:r>
              <a:rPr lang="en-GB" sz="2000" dirty="0" err="1">
                <a:latin typeface="Baskerville Old Face" panose="02020602080505020303" pitchFamily="18" charset="0"/>
              </a:rPr>
              <a:t>Somawarpet</a:t>
            </a:r>
            <a:r>
              <a:rPr lang="en-GB" sz="2000" dirty="0">
                <a:latin typeface="Baskerville Old Face" panose="02020602080505020303" pitchFamily="18" charset="0"/>
              </a:rPr>
              <a:t>, Coorg, when she was engaged in worship, a </a:t>
            </a:r>
            <a:r>
              <a:rPr lang="en-GB" sz="2000" dirty="0" err="1">
                <a:latin typeface="Baskerville Old Face" panose="02020602080505020303" pitchFamily="18" charset="0"/>
              </a:rPr>
              <a:t>servent</a:t>
            </a:r>
            <a:r>
              <a:rPr lang="en-GB" sz="2000" dirty="0">
                <a:latin typeface="Baskerville Old Face" panose="02020602080505020303" pitchFamily="18" charset="0"/>
              </a:rPr>
              <a:t> disturb her an announced that a car had come into the compound and the person inside insisted on seeing her immediately. She was rather upset, but never the less went out to find who could take such liberty with her time table. She found in the car a tall, fair, old man with a very reverend beard, sitting on the deerskin, his whole body bathed in ash. She was struck by the age of the car too, for it matched the age of the owner or occupant. The car was driven by a weak little boy in his teen and Smt. </a:t>
            </a:r>
            <a:r>
              <a:rPr lang="en-GB" sz="2000" dirty="0" err="1">
                <a:latin typeface="Baskerville Old Face" panose="02020602080505020303" pitchFamily="18" charset="0"/>
              </a:rPr>
              <a:t>Sakamma</a:t>
            </a:r>
            <a:r>
              <a:rPr lang="en-GB" sz="2000" dirty="0">
                <a:latin typeface="Baskerville Old Face" panose="02020602080505020303" pitchFamily="18" charset="0"/>
              </a:rPr>
              <a:t> wondered how he could have managed to secure a licence or whether he had one at all. The car had a name plate on top in front, “THE KAILASH COMMITTEE!”.</a:t>
            </a:r>
            <a:endParaRPr lang="en-IN" sz="2000" dirty="0">
              <a:latin typeface="Baskerville Old Face" panose="02020602080505020303" pitchFamily="18" charset="0"/>
            </a:endParaRPr>
          </a:p>
          <a:p>
            <a:pPr marL="0" indent="0">
              <a:buNone/>
            </a:pPr>
            <a:r>
              <a:rPr lang="en-GB" sz="2000" dirty="0" smtClean="0">
                <a:latin typeface="Baskerville Old Face" panose="02020602080505020303" pitchFamily="18" charset="0"/>
              </a:rPr>
              <a:t>  </a:t>
            </a:r>
            <a:endParaRPr lang="en-IN" sz="2000" dirty="0">
              <a:latin typeface="Baskerville Old Face" panose="02020602080505020303" pitchFamily="18" charset="0"/>
            </a:endParaRPr>
          </a:p>
          <a:p>
            <a:endParaRPr lang="en-IN" sz="2000" dirty="0">
              <a:latin typeface="Baskerville Old Face" panose="02020602080505020303" pitchFamily="18" charset="0"/>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289742" y="876345"/>
            <a:ext cx="3601812" cy="4572002"/>
          </a:xfrm>
          <a:prstGeom prst="rect">
            <a:avLst/>
          </a:prstGeom>
          <a:ln>
            <a:noFill/>
          </a:ln>
          <a:effectLst>
            <a:softEdge rad="112500"/>
          </a:effectLst>
        </p:spPr>
      </p:pic>
    </p:spTree>
    <p:extLst>
      <p:ext uri="{BB962C8B-B14F-4D97-AF65-F5344CB8AC3E}">
        <p14:creationId xmlns:p14="http://schemas.microsoft.com/office/powerpoint/2010/main" val="24553881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 </a:t>
            </a:r>
            <a:br>
              <a:rPr lang="en-GB" dirty="0" smtClean="0"/>
            </a:br>
            <a:endParaRPr lang="en-IN" dirty="0"/>
          </a:p>
        </p:txBody>
      </p:sp>
      <p:sp>
        <p:nvSpPr>
          <p:cNvPr id="3" name="Subtitle 2"/>
          <p:cNvSpPr>
            <a:spLocks noGrp="1"/>
          </p:cNvSpPr>
          <p:nvPr>
            <p:ph type="subTitle" idx="1"/>
          </p:nvPr>
        </p:nvSpPr>
        <p:spPr>
          <a:xfrm>
            <a:off x="583474" y="849086"/>
            <a:ext cx="6352903" cy="4957354"/>
          </a:xfrm>
        </p:spPr>
        <p:txBody>
          <a:bodyPr>
            <a:normAutofit fontScale="85000" lnSpcReduction="20000"/>
          </a:bodyPr>
          <a:lstStyle/>
          <a:p>
            <a:pPr marL="342900" indent="-342900" algn="just">
              <a:buFont typeface="Arial" panose="020B0604020202020204" pitchFamily="34" charset="0"/>
              <a:buChar char="•"/>
            </a:pPr>
            <a:r>
              <a:rPr lang="en-GB" dirty="0" err="1">
                <a:latin typeface="Baskerville Old Face" panose="02020602080505020303" pitchFamily="18" charset="0"/>
              </a:rPr>
              <a:t>Venkatanarayanan</a:t>
            </a:r>
            <a:r>
              <a:rPr lang="en-GB" dirty="0">
                <a:latin typeface="Baskerville Old Face" panose="02020602080505020303" pitchFamily="18" charset="0"/>
              </a:rPr>
              <a:t> </a:t>
            </a:r>
            <a:endParaRPr lang="en-GB" dirty="0" smtClean="0">
              <a:latin typeface="Baskerville Old Face" panose="02020602080505020303" pitchFamily="18" charset="0"/>
            </a:endParaRPr>
          </a:p>
          <a:p>
            <a:pPr marL="342900" indent="-342900" algn="just">
              <a:buFont typeface="Arial" panose="020B0604020202020204" pitchFamily="34" charset="0"/>
              <a:buChar char="•"/>
            </a:pPr>
            <a:endParaRPr lang="en-IN" dirty="0">
              <a:latin typeface="Baskerville Old Face" panose="02020602080505020303" pitchFamily="18" charset="0"/>
            </a:endParaRPr>
          </a:p>
          <a:p>
            <a:pPr algn="just"/>
            <a:r>
              <a:rPr lang="en-GB" dirty="0">
                <a:latin typeface="Baskerville Old Face" panose="02020602080505020303" pitchFamily="18" charset="0"/>
              </a:rPr>
              <a:t>At a public in Trichinopoly, which was held to Baba, someone doubted about his divinity, sensing this from the platform, Baba immediately called up deaf &amp; dumb lad, who was standing near the aforesaid person, and making him stand in front of the mike, He asked him ‘what is your name?’ immediately the boy spoke into the mike for all the thousands to hear, “Venkatanarayanan1” The doubter swallowed his tongue and hung his head in shame, but there was another consequence too. For, when the morning dawned, the entire length of the street where He was residing was packed with the dumb and </a:t>
            </a:r>
            <a:r>
              <a:rPr lang="en-GB" dirty="0" smtClean="0">
                <a:latin typeface="Baskerville Old Face" panose="02020602080505020303" pitchFamily="18" charset="0"/>
              </a:rPr>
              <a:t>deaf ! </a:t>
            </a:r>
            <a:r>
              <a:rPr lang="en-GB" dirty="0">
                <a:latin typeface="Baskerville Old Face" panose="02020602080505020303" pitchFamily="18" charset="0"/>
              </a:rPr>
              <a:t>It had been a silent lane of pain!                                   </a:t>
            </a:r>
            <a:endParaRPr lang="en-IN" dirty="0">
              <a:latin typeface="Baskerville Old Face" panose="02020602080505020303" pitchFamily="18" charset="0"/>
            </a:endParaRPr>
          </a:p>
          <a:p>
            <a:pPr algn="just"/>
            <a:endParaRPr lang="en-IN" dirty="0">
              <a:latin typeface="Baskerville Old Face" panose="020206020805050203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2949" y="1907177"/>
            <a:ext cx="4611188" cy="3019453"/>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1446052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
            </a:r>
            <a:br>
              <a:rPr lang="en-GB" dirty="0" smtClean="0"/>
            </a:br>
            <a:r>
              <a:rPr lang="en-IN" dirty="0"/>
              <a:t> </a:t>
            </a:r>
            <a:r>
              <a:rPr lang="en-IN" dirty="0" smtClean="0"/>
              <a:t/>
            </a:r>
            <a:br>
              <a:rPr lang="en-IN" dirty="0" smtClean="0"/>
            </a:br>
            <a:endParaRPr lang="en-IN" dirty="0"/>
          </a:p>
        </p:txBody>
      </p:sp>
      <p:sp>
        <p:nvSpPr>
          <p:cNvPr id="3" name="Content Placeholder 2"/>
          <p:cNvSpPr>
            <a:spLocks noGrp="1"/>
          </p:cNvSpPr>
          <p:nvPr>
            <p:ph idx="1"/>
          </p:nvPr>
        </p:nvSpPr>
        <p:spPr>
          <a:xfrm>
            <a:off x="209006" y="365125"/>
            <a:ext cx="7393577" cy="5811838"/>
          </a:xfrm>
        </p:spPr>
        <p:txBody>
          <a:bodyPr>
            <a:normAutofit fontScale="70000" lnSpcReduction="20000"/>
          </a:bodyPr>
          <a:lstStyle/>
          <a:p>
            <a:pPr>
              <a:lnSpc>
                <a:spcPct val="107000"/>
              </a:lnSpc>
              <a:spcAft>
                <a:spcPts val="800"/>
              </a:spcAft>
            </a:pPr>
            <a:r>
              <a:rPr lang="en-GB" b="1" dirty="0" err="1">
                <a:latin typeface="Constantia" panose="02030602050306030303" pitchFamily="18" charset="0"/>
                <a:ea typeface="Calibri" panose="020F0502020204030204" pitchFamily="34" charset="0"/>
                <a:cs typeface="Times New Roman" panose="02020603050405020304" pitchFamily="18" charset="0"/>
              </a:rPr>
              <a:t>Dasara</a:t>
            </a:r>
            <a:r>
              <a:rPr lang="en-GB" b="1" dirty="0">
                <a:latin typeface="Constantia" panose="02030602050306030303" pitchFamily="18" charset="0"/>
                <a:ea typeface="Calibri" panose="020F0502020204030204" pitchFamily="34" charset="0"/>
                <a:cs typeface="Times New Roman" panose="02020603050405020304" pitchFamily="18" charset="0"/>
              </a:rPr>
              <a:t> soon became the festival par excellence at </a:t>
            </a:r>
            <a:r>
              <a:rPr lang="en-GB" b="1" dirty="0" err="1">
                <a:latin typeface="Constantia" panose="02030602050306030303" pitchFamily="18" charset="0"/>
                <a:ea typeface="Calibri" panose="020F0502020204030204" pitchFamily="34" charset="0"/>
                <a:cs typeface="Times New Roman" panose="02020603050405020304" pitchFamily="18" charset="0"/>
              </a:rPr>
              <a:t>puttaparthi</a:t>
            </a:r>
            <a:r>
              <a:rPr lang="en-GB" b="1" dirty="0">
                <a:latin typeface="Constantia" panose="02030602050306030303" pitchFamily="18" charset="0"/>
                <a:ea typeface="Calibri" panose="020F0502020204030204" pitchFamily="34" charset="0"/>
                <a:cs typeface="Times New Roman" panose="02020603050405020304" pitchFamily="18" charset="0"/>
              </a:rPr>
              <a:t>,</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err="1">
                <a:latin typeface="Constantia" panose="02030602050306030303" pitchFamily="18" charset="0"/>
                <a:ea typeface="Calibri" panose="020F0502020204030204" pitchFamily="34" charset="0"/>
                <a:cs typeface="Times New Roman" panose="02020603050405020304" pitchFamily="18" charset="0"/>
              </a:rPr>
              <a:t>srimati</a:t>
            </a:r>
            <a:r>
              <a:rPr lang="en-GB" b="1" dirty="0">
                <a:latin typeface="Constantia" panose="02030602050306030303" pitchFamily="18" charset="0"/>
                <a:ea typeface="Calibri" panose="020F0502020204030204" pitchFamily="34" charset="0"/>
                <a:cs typeface="Times New Roman" panose="02020603050405020304" pitchFamily="18" charset="0"/>
              </a:rPr>
              <a:t> </a:t>
            </a:r>
            <a:r>
              <a:rPr lang="en-GB" b="1" dirty="0" err="1">
                <a:latin typeface="Constantia" panose="02030602050306030303" pitchFamily="18" charset="0"/>
                <a:ea typeface="Calibri" panose="020F0502020204030204" pitchFamily="34" charset="0"/>
                <a:cs typeface="Times New Roman" panose="02020603050405020304" pitchFamily="18" charset="0"/>
              </a:rPr>
              <a:t>sakamma</a:t>
            </a:r>
            <a:r>
              <a:rPr lang="en-GB" b="1" dirty="0">
                <a:latin typeface="Constantia" panose="02030602050306030303" pitchFamily="18" charset="0"/>
                <a:ea typeface="Calibri" panose="020F0502020204030204" pitchFamily="34" charset="0"/>
                <a:cs typeface="Times New Roman" panose="02020603050405020304" pitchFamily="18" charset="0"/>
              </a:rPr>
              <a:t> and other devotees were privileged for many year to make arrangements for this festival of the mother.</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Baba has said that </a:t>
            </a:r>
            <a:r>
              <a:rPr lang="en-GB" b="1" dirty="0" err="1">
                <a:latin typeface="Constantia" panose="02030602050306030303" pitchFamily="18" charset="0"/>
                <a:ea typeface="Calibri" panose="020F0502020204030204" pitchFamily="34" charset="0"/>
                <a:cs typeface="Times New Roman" panose="02020603050405020304" pitchFamily="18" charset="0"/>
              </a:rPr>
              <a:t>sanathana</a:t>
            </a:r>
            <a:r>
              <a:rPr lang="en-GB" b="1" dirty="0">
                <a:latin typeface="Constantia" panose="02030602050306030303" pitchFamily="18" charset="0"/>
                <a:ea typeface="Calibri" panose="020F0502020204030204" pitchFamily="34" charset="0"/>
                <a:cs typeface="Times New Roman" panose="02020603050405020304" pitchFamily="18" charset="0"/>
              </a:rPr>
              <a:t> dharma is the divine mother of humanity with his message of </a:t>
            </a:r>
            <a:r>
              <a:rPr lang="en-GB" b="1" dirty="0" err="1">
                <a:latin typeface="Constantia" panose="02030602050306030303" pitchFamily="18" charset="0"/>
                <a:ea typeface="Calibri" panose="020F0502020204030204" pitchFamily="34" charset="0"/>
                <a:cs typeface="Times New Roman" panose="02020603050405020304" pitchFamily="18" charset="0"/>
              </a:rPr>
              <a:t>Sathya</a:t>
            </a:r>
            <a:r>
              <a:rPr lang="en-GB" b="1" dirty="0">
                <a:latin typeface="Constantia" panose="02030602050306030303" pitchFamily="18" charset="0"/>
                <a:ea typeface="Calibri" panose="020F0502020204030204" pitchFamily="34" charset="0"/>
                <a:cs typeface="Times New Roman" panose="02020603050405020304" pitchFamily="18" charset="0"/>
              </a:rPr>
              <a:t>, </a:t>
            </a:r>
            <a:r>
              <a:rPr lang="en-GB" b="1" dirty="0" err="1">
                <a:latin typeface="Constantia" panose="02030602050306030303" pitchFamily="18" charset="0"/>
                <a:ea typeface="Calibri" panose="020F0502020204030204" pitchFamily="34" charset="0"/>
                <a:cs typeface="Times New Roman" panose="02020603050405020304" pitchFamily="18" charset="0"/>
              </a:rPr>
              <a:t>Dharma,Shanti,Prema</a:t>
            </a:r>
            <a:r>
              <a:rPr lang="en-GB" b="1" dirty="0">
                <a:latin typeface="Constantia" panose="02030602050306030303" pitchFamily="18" charset="0"/>
                <a:ea typeface="Calibri" panose="020F0502020204030204" pitchFamily="34" charset="0"/>
                <a:cs typeface="Times New Roman" panose="02020603050405020304" pitchFamily="18" charset="0"/>
              </a:rPr>
              <a:t>.</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He offers the child a ball of sand it reluctantly extend its tiny hand to receive </a:t>
            </a:r>
            <a:r>
              <a:rPr lang="en-GB" b="1" dirty="0" err="1">
                <a:latin typeface="Constantia" panose="02030602050306030303" pitchFamily="18" charset="0"/>
                <a:ea typeface="Calibri" panose="020F0502020204030204" pitchFamily="34" charset="0"/>
                <a:cs typeface="Times New Roman" panose="02020603050405020304" pitchFamily="18" charset="0"/>
              </a:rPr>
              <a:t>laddu</a:t>
            </a:r>
            <a:r>
              <a:rPr lang="en-GB" b="1" dirty="0">
                <a:latin typeface="Constantia" panose="02030602050306030303" pitchFamily="18" charset="0"/>
                <a:ea typeface="Calibri" panose="020F0502020204030204" pitchFamily="34" charset="0"/>
                <a:cs typeface="Times New Roman" panose="02020603050405020304" pitchFamily="18" charset="0"/>
              </a:rPr>
              <a:t> as he calls it the sand actually </a:t>
            </a:r>
            <a:r>
              <a:rPr lang="en-GB" b="1" dirty="0" err="1">
                <a:latin typeface="Constantia" panose="02030602050306030303" pitchFamily="18" charset="0"/>
                <a:ea typeface="Calibri" panose="020F0502020204030204" pitchFamily="34" charset="0"/>
                <a:cs typeface="Times New Roman" panose="02020603050405020304" pitchFamily="18" charset="0"/>
              </a:rPr>
              <a:t>becames</a:t>
            </a:r>
            <a:r>
              <a:rPr lang="en-GB" b="1" dirty="0">
                <a:latin typeface="Constantia" panose="02030602050306030303" pitchFamily="18" charset="0"/>
                <a:ea typeface="Calibri" panose="020F0502020204030204" pitchFamily="34" charset="0"/>
                <a:cs typeface="Times New Roman" panose="02020603050405020304" pitchFamily="18" charset="0"/>
              </a:rPr>
              <a:t> sweet fragrant </a:t>
            </a:r>
            <a:r>
              <a:rPr lang="en-GB" b="1" dirty="0" err="1">
                <a:latin typeface="Constantia" panose="02030602050306030303" pitchFamily="18" charset="0"/>
                <a:ea typeface="Calibri" panose="020F0502020204030204" pitchFamily="34" charset="0"/>
                <a:cs typeface="Times New Roman" panose="02020603050405020304" pitchFamily="18" charset="0"/>
              </a:rPr>
              <a:t>laddu</a:t>
            </a:r>
            <a:r>
              <a:rPr lang="en-GB" b="1" dirty="0">
                <a:latin typeface="Constantia" panose="02030602050306030303" pitchFamily="18" charset="0"/>
                <a:ea typeface="Calibri" panose="020F0502020204030204" pitchFamily="34" charset="0"/>
                <a:cs typeface="Times New Roman" panose="02020603050405020304" pitchFamily="18" charset="0"/>
              </a:rPr>
              <a:t> the moment it reaches the palm of the child.</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When baba agrees to name the children of his devotees, the name he gives them are redolent of his grace and his mercy</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There is a </a:t>
            </a:r>
            <a:r>
              <a:rPr lang="en-GB" b="1" dirty="0" err="1">
                <a:latin typeface="Constantia" panose="02030602050306030303" pitchFamily="18" charset="0"/>
                <a:ea typeface="Calibri" panose="020F0502020204030204" pitchFamily="34" charset="0"/>
                <a:cs typeface="Times New Roman" panose="02020603050405020304" pitchFamily="18" charset="0"/>
              </a:rPr>
              <a:t>tamil</a:t>
            </a:r>
            <a:r>
              <a:rPr lang="en-GB" b="1" dirty="0">
                <a:latin typeface="Constantia" panose="02030602050306030303" pitchFamily="18" charset="0"/>
                <a:ea typeface="Calibri" panose="020F0502020204030204" pitchFamily="34" charset="0"/>
                <a:cs typeface="Times New Roman" panose="02020603050405020304" pitchFamily="18" charset="0"/>
              </a:rPr>
              <a:t> song on baba, which refers to him as the </a:t>
            </a:r>
            <a:r>
              <a:rPr lang="en-GB" b="1" dirty="0" err="1">
                <a:latin typeface="Constantia" panose="02030602050306030303" pitchFamily="18" charset="0"/>
                <a:ea typeface="Calibri" panose="020F0502020204030204" pitchFamily="34" charset="0"/>
                <a:cs typeface="Times New Roman" panose="02020603050405020304" pitchFamily="18" charset="0"/>
              </a:rPr>
              <a:t>Sayimata</a:t>
            </a:r>
            <a:r>
              <a:rPr lang="en-GB" b="1" dirty="0">
                <a:latin typeface="Constantia" panose="02030602050306030303" pitchFamily="18" charset="0"/>
                <a:ea typeface="Calibri" panose="020F0502020204030204" pitchFamily="34" charset="0"/>
                <a:cs typeface="Times New Roman" panose="02020603050405020304" pitchFamily="18" charset="0"/>
              </a:rPr>
              <a:t>, the mother who suckles her children on the milk </a:t>
            </a:r>
            <a:r>
              <a:rPr lang="en-GB" b="1">
                <a:latin typeface="Constantia" panose="02030602050306030303" pitchFamily="18" charset="0"/>
                <a:ea typeface="Calibri" panose="020F0502020204030204" pitchFamily="34" charset="0"/>
                <a:cs typeface="Times New Roman" panose="02020603050405020304" pitchFamily="18" charset="0"/>
              </a:rPr>
              <a:t>of </a:t>
            </a:r>
            <a:r>
              <a:rPr lang="en-GB" b="1" smtClean="0">
                <a:latin typeface="Constantia" panose="02030602050306030303" pitchFamily="18" charset="0"/>
                <a:ea typeface="Calibri" panose="020F0502020204030204" pitchFamily="34" charset="0"/>
                <a:cs typeface="Times New Roman" panose="02020603050405020304" pitchFamily="18" charset="0"/>
              </a:rPr>
              <a:t>Guyana. </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Baba shines forth as the patron of music and </a:t>
            </a:r>
            <a:r>
              <a:rPr lang="en-GB" b="1" dirty="0" smtClean="0">
                <a:latin typeface="Constantia" panose="02030602050306030303" pitchFamily="18" charset="0"/>
                <a:ea typeface="Calibri" panose="020F0502020204030204" pitchFamily="34" charset="0"/>
                <a:cs typeface="Times New Roman" panose="02020603050405020304" pitchFamily="18" charset="0"/>
              </a:rPr>
              <a:t>letters, and </a:t>
            </a:r>
            <a:r>
              <a:rPr lang="en-GB" b="1" dirty="0">
                <a:latin typeface="Constantia" panose="02030602050306030303" pitchFamily="18" charset="0"/>
                <a:ea typeface="Calibri" panose="020F0502020204030204" pitchFamily="34" charset="0"/>
                <a:cs typeface="Times New Roman" panose="02020603050405020304" pitchFamily="18" charset="0"/>
              </a:rPr>
              <a:t>as the giver of food and </a:t>
            </a:r>
            <a:r>
              <a:rPr lang="en-GB" b="1" dirty="0" smtClean="0">
                <a:latin typeface="Constantia" panose="02030602050306030303" pitchFamily="18" charset="0"/>
                <a:ea typeface="Calibri" panose="020F0502020204030204" pitchFamily="34" charset="0"/>
                <a:cs typeface="Times New Roman" panose="02020603050405020304" pitchFamily="18" charset="0"/>
              </a:rPr>
              <a:t>sustenance, during </a:t>
            </a:r>
            <a:r>
              <a:rPr lang="en-GB" b="1" dirty="0" err="1">
                <a:latin typeface="Constantia" panose="02030602050306030303" pitchFamily="18" charset="0"/>
                <a:ea typeface="Calibri" panose="020F0502020204030204" pitchFamily="34" charset="0"/>
                <a:cs typeface="Times New Roman" panose="02020603050405020304" pitchFamily="18" charset="0"/>
              </a:rPr>
              <a:t>dasara</a:t>
            </a:r>
            <a:r>
              <a:rPr lang="en-GB" b="1" dirty="0">
                <a:latin typeface="Constantia" panose="02030602050306030303" pitchFamily="18" charset="0"/>
                <a:ea typeface="Calibri" panose="020F0502020204030204" pitchFamily="34" charset="0"/>
                <a:cs typeface="Times New Roman" panose="02020603050405020304" pitchFamily="18" charset="0"/>
              </a:rPr>
              <a:t>, and so, it is a memorable festival, from the very beginning of this manifestation</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b="1" dirty="0">
                <a:latin typeface="Constantia" panose="02030602050306030303" pitchFamily="18" charset="0"/>
                <a:ea typeface="Calibri" panose="020F0502020204030204" pitchFamily="34" charset="0"/>
                <a:cs typeface="Times New Roman" panose="02020603050405020304" pitchFamily="18" charset="0"/>
              </a:rPr>
              <a:t>Baba plucking from the garlands around him odd flowers and, with a palm full of petals, scattering them for a crowd, for each petal had become a small medallion with baba’s portrait on one side and </a:t>
            </a:r>
            <a:r>
              <a:rPr lang="en-GB" b="1" dirty="0" err="1">
                <a:latin typeface="Constantia" panose="02030602050306030303" pitchFamily="18" charset="0"/>
                <a:ea typeface="Calibri" panose="020F0502020204030204" pitchFamily="34" charset="0"/>
                <a:cs typeface="Times New Roman" panose="02020603050405020304" pitchFamily="18" charset="0"/>
              </a:rPr>
              <a:t>shirdi</a:t>
            </a:r>
            <a:r>
              <a:rPr lang="en-GB" b="1" dirty="0">
                <a:latin typeface="Constantia" panose="02030602050306030303" pitchFamily="18" charset="0"/>
                <a:ea typeface="Calibri" panose="020F0502020204030204" pitchFamily="34" charset="0"/>
                <a:cs typeface="Times New Roman" panose="02020603050405020304" pitchFamily="18" charset="0"/>
              </a:rPr>
              <a:t> </a:t>
            </a:r>
            <a:r>
              <a:rPr lang="en-GB" b="1" dirty="0" err="1">
                <a:latin typeface="Constantia" panose="02030602050306030303" pitchFamily="18" charset="0"/>
                <a:ea typeface="Calibri" panose="020F0502020204030204" pitchFamily="34" charset="0"/>
                <a:cs typeface="Times New Roman" panose="02020603050405020304" pitchFamily="18" charset="0"/>
              </a:rPr>
              <a:t>sai</a:t>
            </a:r>
            <a:r>
              <a:rPr lang="en-GB" b="1" dirty="0">
                <a:latin typeface="Constantia" panose="02030602050306030303" pitchFamily="18" charset="0"/>
                <a:ea typeface="Calibri" panose="020F0502020204030204" pitchFamily="34" charset="0"/>
                <a:cs typeface="Times New Roman" panose="02020603050405020304" pitchFamily="18" charset="0"/>
              </a:rPr>
              <a:t> baba’s portrait on the other</a:t>
            </a:r>
            <a:endParaRPr lang="en-IN" b="1" dirty="0">
              <a:latin typeface="Constantia" panose="02030602050306030303" pitchFamily="18" charset="0"/>
              <a:ea typeface="Calibri" panose="020F0502020204030204" pitchFamily="34" charset="0"/>
              <a:cs typeface="Times New Roman" panose="02020603050405020304" pitchFamily="18" charset="0"/>
            </a:endParaRPr>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2583" y="1137775"/>
            <a:ext cx="4380411" cy="3813048"/>
          </a:xfrm>
          <a:prstGeom prst="rect">
            <a:avLst/>
          </a:prstGeom>
          <a:ln>
            <a:noFill/>
          </a:ln>
          <a:effectLst>
            <a:softEdge rad="112500"/>
          </a:effectLst>
        </p:spPr>
      </p:pic>
    </p:spTree>
    <p:extLst>
      <p:ext uri="{BB962C8B-B14F-4D97-AF65-F5344CB8AC3E}">
        <p14:creationId xmlns:p14="http://schemas.microsoft.com/office/powerpoint/2010/main" val="34458376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
            </a:r>
            <a:br>
              <a:rPr lang="en-GB" dirty="0" smtClean="0"/>
            </a:br>
            <a:endParaRPr lang="en-IN" dirty="0"/>
          </a:p>
        </p:txBody>
      </p:sp>
      <p:sp>
        <p:nvSpPr>
          <p:cNvPr id="3" name="Content Placeholder 2"/>
          <p:cNvSpPr>
            <a:spLocks noGrp="1"/>
          </p:cNvSpPr>
          <p:nvPr>
            <p:ph idx="1"/>
          </p:nvPr>
        </p:nvSpPr>
        <p:spPr>
          <a:xfrm>
            <a:off x="104504" y="365125"/>
            <a:ext cx="7093130" cy="5811838"/>
          </a:xfrm>
        </p:spPr>
        <p:txBody>
          <a:bodyPr>
            <a:normAutofit/>
          </a:bodyPr>
          <a:lstStyle/>
          <a:p>
            <a:pPr>
              <a:lnSpc>
                <a:spcPct val="107000"/>
              </a:lnSpc>
              <a:spcAft>
                <a:spcPts val="800"/>
              </a:spcAft>
            </a:pPr>
            <a:r>
              <a:rPr lang="en-GB" sz="2000" b="1" dirty="0">
                <a:latin typeface="Baskerville Old Face" panose="02020602080505020303" pitchFamily="18" charset="0"/>
                <a:ea typeface="Calibri" panose="020F0502020204030204" pitchFamily="34" charset="0"/>
                <a:cs typeface="Times New Roman" panose="02020603050405020304" pitchFamily="18" charset="0"/>
              </a:rPr>
              <a:t>Many worshippers of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shirdi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sai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baba, on hearing that he had incarnated in human form in the village of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puttaparthi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 many who went to pilgrimage to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shirdi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as usual, were directed  there to go to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puttaparthi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istead</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Other got know the baba of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shirdi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through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sathya</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sai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baba himself.</a:t>
            </a:r>
            <a:endParaRPr lang="en-IN" sz="2000" b="1" dirty="0">
              <a:latin typeface="Baskerville Old Face" panose="0202060208050502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sz="2000" b="1" dirty="0">
                <a:latin typeface="Baskerville Old Face" panose="02020602080505020303" pitchFamily="18" charset="0"/>
                <a:ea typeface="Calibri" panose="020F0502020204030204" pitchFamily="34" charset="0"/>
                <a:cs typeface="Times New Roman" panose="02020603050405020304" pitchFamily="18" charset="0"/>
              </a:rPr>
              <a:t>His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vibhuti</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acts as a charm to drive away evil spirits and the effects of black magic from hundreds of unfortunates. </a:t>
            </a:r>
            <a:endParaRPr lang="en-IN" sz="2000" b="1" dirty="0">
              <a:latin typeface="Baskerville Old Face" panose="02020602080505020303" pitchFamily="18" charset="0"/>
              <a:ea typeface="Calibri" panose="020F0502020204030204" pitchFamily="34" charset="0"/>
              <a:cs typeface="Times New Roman" panose="02020603050405020304" pitchFamily="18" charset="0"/>
            </a:endParaRPr>
          </a:p>
          <a:p>
            <a:pPr>
              <a:lnSpc>
                <a:spcPct val="107000"/>
              </a:lnSpc>
              <a:spcAft>
                <a:spcPts val="800"/>
              </a:spcAft>
            </a:pPr>
            <a:r>
              <a:rPr lang="en-GB" sz="2000" b="1" dirty="0">
                <a:latin typeface="Baskerville Old Face" panose="02020602080505020303" pitchFamily="18" charset="0"/>
                <a:ea typeface="Calibri" panose="020F0502020204030204" pitchFamily="34" charset="0"/>
                <a:cs typeface="Times New Roman" panose="02020603050405020304" pitchFamily="18" charset="0"/>
              </a:rPr>
              <a:t>A long shed had to be put up within a few years in front of the mandir. A separate block, with one living room and bath room was put up for baba, behind the mandir.  It was in this room that baba operated on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Dr.</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a:t>
            </a:r>
            <a:r>
              <a:rPr lang="en-GB" sz="2000" b="1" dirty="0" err="1">
                <a:latin typeface="Baskerville Old Face" panose="02020602080505020303" pitchFamily="18" charset="0"/>
                <a:ea typeface="Calibri" panose="020F0502020204030204" pitchFamily="34" charset="0"/>
                <a:cs typeface="Times New Roman" panose="02020603050405020304" pitchFamily="18" charset="0"/>
              </a:rPr>
              <a:t>Padmanabhan’s</a:t>
            </a:r>
            <a:r>
              <a:rPr lang="en-GB" sz="2000" b="1" dirty="0">
                <a:latin typeface="Baskerville Old Face" panose="02020602080505020303" pitchFamily="18" charset="0"/>
                <a:ea typeface="Calibri" panose="020F0502020204030204" pitchFamily="34" charset="0"/>
                <a:cs typeface="Times New Roman" panose="02020603050405020304" pitchFamily="18" charset="0"/>
              </a:rPr>
              <a:t> brother for hernia, it was in the shed that behind the screen in front of the shrine that baba operated on Appiah of puttaparti for appendicitis</a:t>
            </a:r>
            <a:r>
              <a:rPr lang="en-GB" sz="2400" b="1" dirty="0">
                <a:latin typeface="Baskerville Old Face" panose="02020602080505020303" pitchFamily="18" charset="0"/>
                <a:ea typeface="Calibri" panose="020F0502020204030204" pitchFamily="34" charset="0"/>
                <a:cs typeface="Times New Roman" panose="02020603050405020304" pitchFamily="18" charset="0"/>
              </a:rPr>
              <a:t>.</a:t>
            </a:r>
            <a:endParaRPr lang="en-IN" sz="2400" b="1" dirty="0">
              <a:latin typeface="Baskerville Old Face" panose="02020602080505020303" pitchFamily="18" charset="0"/>
              <a:ea typeface="Calibri" panose="020F0502020204030204" pitchFamily="34" charset="0"/>
              <a:cs typeface="Times New Roman" panose="02020603050405020304" pitchFamily="18" charset="0"/>
            </a:endParaRPr>
          </a:p>
          <a:p>
            <a:pPr marL="0" indent="0">
              <a:lnSpc>
                <a:spcPct val="107000"/>
              </a:lnSpc>
              <a:spcAft>
                <a:spcPts val="800"/>
              </a:spcAft>
              <a:buNone/>
            </a:pPr>
            <a:endParaRPr lang="en-IN"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0" y="736849"/>
            <a:ext cx="4572000" cy="5068389"/>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012498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1" y="0"/>
            <a:ext cx="12191999" cy="7129463"/>
          </a:xfrm>
          <a:blipFill>
            <a:blip r:embed="rId2"/>
            <a:stretch>
              <a:fillRect/>
            </a:stretch>
          </a:blipFill>
        </p:spPr>
        <p:txBody>
          <a:bodyPr/>
          <a:lstStyle/>
          <a:p>
            <a:pPr marL="0" indent="0">
              <a:buNone/>
            </a:pPr>
            <a:r>
              <a:rPr lang="en-GB" dirty="0" smtClean="0"/>
              <a:t>                                                                                                      </a:t>
            </a:r>
          </a:p>
          <a:p>
            <a:pPr marL="0" indent="0" algn="ctr">
              <a:buNone/>
            </a:pPr>
            <a:r>
              <a:rPr lang="en-GB" dirty="0">
                <a:effectLst>
                  <a:glow rad="19050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rPr>
              <a:t> </a:t>
            </a:r>
            <a:r>
              <a:rPr lang="en-GB" dirty="0" smtClean="0">
                <a:effectLst>
                  <a:glow rad="19050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rPr>
              <a:t>                                                                                            </a:t>
            </a:r>
            <a:r>
              <a:rPr lang="en-GB" sz="3200" dirty="0" smtClean="0">
                <a:effectLst>
                  <a:glow rad="4699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rPr>
              <a:t>THANK  </a:t>
            </a:r>
            <a:r>
              <a:rPr lang="en-GB" sz="3200" dirty="0" smtClean="0">
                <a:effectLst>
                  <a:glow rad="4699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rPr>
              <a:t>YOU </a:t>
            </a:r>
            <a:endParaRPr lang="en-GB" sz="3200" dirty="0" smtClean="0">
              <a:effectLst>
                <a:glow rad="4699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endParaRPr>
          </a:p>
          <a:p>
            <a:pPr marL="0" indent="0" algn="ctr">
              <a:buNone/>
            </a:pPr>
            <a:r>
              <a:rPr lang="en-GB" sz="3200" dirty="0" smtClean="0">
                <a:effectLst>
                  <a:glow rad="469900">
                    <a:schemeClr val="accent3">
                      <a:lumMod val="50000"/>
                      <a:alpha val="40000"/>
                    </a:schemeClr>
                  </a:glow>
                  <a:outerShdw blurRad="50800" dist="38100" dir="2700000" algn="tl" rotWithShape="0">
                    <a:srgbClr val="000000">
                      <a:alpha val="48000"/>
                    </a:srgbClr>
                  </a:outerShdw>
                </a:effectLst>
                <a:latin typeface="Eras Bold ITC" panose="020B0907030504020204" pitchFamily="34" charset="0"/>
              </a:rPr>
              <a:t>                                                                               SAI RAM…..     </a:t>
            </a:r>
            <a:r>
              <a:rPr lang="en-GB" sz="3200" dirty="0" smtClean="0">
                <a:effectLst>
                  <a:glow rad="469900">
                    <a:schemeClr val="accent3">
                      <a:lumMod val="50000"/>
                      <a:alpha val="40000"/>
                    </a:schemeClr>
                  </a:glow>
                  <a:outerShdw blurRad="50800" dist="38100" dir="2700000" algn="tl" rotWithShape="0">
                    <a:srgbClr val="000000">
                      <a:alpha val="48000"/>
                    </a:srgbClr>
                  </a:outerShdw>
                </a:effectLst>
              </a:rPr>
              <a:t>                                                                                                                       </a:t>
            </a:r>
            <a:endParaRPr lang="en-IN" sz="3200" dirty="0">
              <a:effectLst>
                <a:glow rad="469900">
                  <a:schemeClr val="accent3">
                    <a:lumMod val="50000"/>
                    <a:alpha val="40000"/>
                  </a:schemeClr>
                </a:glow>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364402264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267</TotalTime>
  <Words>2569</Words>
  <Application>Microsoft Office PowerPoint</Application>
  <PresentationFormat>Widescreen</PresentationFormat>
  <Paragraphs>138</Paragraphs>
  <Slides>23</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23</vt:i4>
      </vt:variant>
    </vt:vector>
  </HeadingPairs>
  <TitlesOfParts>
    <vt:vector size="36" baseType="lpstr">
      <vt:lpstr>Algerian</vt:lpstr>
      <vt:lpstr>Arial</vt:lpstr>
      <vt:lpstr>Baskerville Old Face</vt:lpstr>
      <vt:lpstr>Bell MT</vt:lpstr>
      <vt:lpstr>Berlin Sans FB Demi</vt:lpstr>
      <vt:lpstr>Bookman Old Style</vt:lpstr>
      <vt:lpstr>Calibri</vt:lpstr>
      <vt:lpstr>Cambria</vt:lpstr>
      <vt:lpstr>Constantia</vt:lpstr>
      <vt:lpstr>Eras Bold ITC</vt:lpstr>
      <vt:lpstr>Rockwell</vt:lpstr>
      <vt:lpstr>Times New Roman</vt:lpstr>
      <vt:lpstr>Damask</vt:lpstr>
      <vt:lpstr>.</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bba1</dc:creator>
  <cp:lastModifiedBy>bba1</cp:lastModifiedBy>
  <cp:revision>40</cp:revision>
  <dcterms:created xsi:type="dcterms:W3CDTF">2023-08-28T04:31:20Z</dcterms:created>
  <dcterms:modified xsi:type="dcterms:W3CDTF">2023-09-20T08:06:03Z</dcterms:modified>
</cp:coreProperties>
</file>