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6"/>
  </p:notesMasterIdLst>
  <p:sldIdLst>
    <p:sldId id="256" r:id="rId2"/>
    <p:sldId id="257" r:id="rId3"/>
    <p:sldId id="258" r:id="rId4"/>
    <p:sldId id="259" r:id="rId5"/>
    <p:sldId id="260" r:id="rId6"/>
    <p:sldId id="261" r:id="rId7"/>
    <p:sldId id="270" r:id="rId8"/>
    <p:sldId id="271" r:id="rId9"/>
    <p:sldId id="263" r:id="rId10"/>
    <p:sldId id="264" r:id="rId11"/>
    <p:sldId id="265" r:id="rId12"/>
    <p:sldId id="266" r:id="rId13"/>
    <p:sldId id="26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ba3" initials="b" lastIdx="1" clrIdx="0">
    <p:extLst>
      <p:ext uri="{19B8F6BF-5375-455C-9EA6-DF929625EA0E}">
        <p15:presenceInfo xmlns:p15="http://schemas.microsoft.com/office/powerpoint/2012/main" userId="bba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63" autoAdjust="0"/>
    <p:restoredTop sz="94660"/>
  </p:normalViewPr>
  <p:slideViewPr>
    <p:cSldViewPr snapToGrid="0">
      <p:cViewPr varScale="1">
        <p:scale>
          <a:sx n="69" d="100"/>
          <a:sy n="69" d="100"/>
        </p:scale>
        <p:origin x="78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FBAF6D-0FA4-46C4-818A-64701CA3FA2E}" type="datetimeFigureOut">
              <a:rPr lang="en-IN" smtClean="0"/>
              <a:t>23-09-2023</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9D899-250E-42B0-ACDF-96295487BDEB}" type="slidenum">
              <a:rPr lang="en-IN" smtClean="0"/>
              <a:t>‹#›</a:t>
            </a:fld>
            <a:endParaRPr lang="en-IN" dirty="0"/>
          </a:p>
        </p:txBody>
      </p:sp>
    </p:spTree>
    <p:extLst>
      <p:ext uri="{BB962C8B-B14F-4D97-AF65-F5344CB8AC3E}">
        <p14:creationId xmlns:p14="http://schemas.microsoft.com/office/powerpoint/2010/main" val="2402526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smtClean="0">
                <a:latin typeface="+mj-lt"/>
              </a:rPr>
              <a:t>Can communicate to devotees in various</a:t>
            </a:r>
            <a:r>
              <a:rPr lang="en-GB" b="0" baseline="0" dirty="0" smtClean="0">
                <a:latin typeface="+mj-lt"/>
              </a:rPr>
              <a:t> languages. </a:t>
            </a:r>
            <a:r>
              <a:rPr lang="en-GB" sz="1200" b="0" dirty="0" smtClean="0">
                <a:solidFill>
                  <a:schemeClr val="tx1">
                    <a:lumMod val="85000"/>
                    <a:lumOff val="15000"/>
                  </a:schemeClr>
                </a:solidFill>
                <a:effectLst>
                  <a:outerShdw blurRad="38100" dist="38100" dir="2700000" algn="tl">
                    <a:srgbClr val="000000">
                      <a:alpha val="43137"/>
                    </a:srgbClr>
                  </a:outerShdw>
                </a:effectLst>
                <a:latin typeface="+mj-lt"/>
              </a:rPr>
              <a:t>In fact, as we all know, it’s his style, of engaging devotees with simple and direct proverbs, popular illustrations. No matter what, at the end of every discourse, his words gets engraved in the hearts of the listeners. </a:t>
            </a:r>
          </a:p>
          <a:p>
            <a:r>
              <a:rPr lang="en-GB" sz="1200" b="0" dirty="0" smtClean="0">
                <a:solidFill>
                  <a:schemeClr val="tx1">
                    <a:lumMod val="85000"/>
                    <a:lumOff val="15000"/>
                  </a:schemeClr>
                </a:solidFill>
                <a:effectLst>
                  <a:outerShdw blurRad="38100" dist="38100" dir="2700000" algn="tl">
                    <a:srgbClr val="000000">
                      <a:alpha val="43137"/>
                    </a:srgbClr>
                  </a:outerShdw>
                </a:effectLst>
                <a:latin typeface="+mj-lt"/>
              </a:rPr>
              <a:t>Baba used to declare that when he was a boy.</a:t>
            </a:r>
          </a:p>
          <a:p>
            <a:endParaRPr lang="en-IN" b="0" dirty="0">
              <a:latin typeface="+mj-lt"/>
            </a:endParaRPr>
          </a:p>
        </p:txBody>
      </p:sp>
      <p:sp>
        <p:nvSpPr>
          <p:cNvPr id="4" name="Slide Number Placeholder 3"/>
          <p:cNvSpPr>
            <a:spLocks noGrp="1"/>
          </p:cNvSpPr>
          <p:nvPr>
            <p:ph type="sldNum" sz="quarter" idx="10"/>
          </p:nvPr>
        </p:nvSpPr>
        <p:spPr/>
        <p:txBody>
          <a:bodyPr/>
          <a:lstStyle/>
          <a:p>
            <a:fld id="{A589D899-250E-42B0-ACDF-96295487BDEB}" type="slidenum">
              <a:rPr lang="en-IN" smtClean="0"/>
              <a:t>3</a:t>
            </a:fld>
            <a:endParaRPr lang="en-IN" dirty="0"/>
          </a:p>
        </p:txBody>
      </p:sp>
    </p:spTree>
    <p:extLst>
      <p:ext uri="{BB962C8B-B14F-4D97-AF65-F5344CB8AC3E}">
        <p14:creationId xmlns:p14="http://schemas.microsoft.com/office/powerpoint/2010/main" val="3936008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89D899-250E-42B0-ACDF-96295487BDEB}" type="slidenum">
              <a:rPr lang="en-IN" smtClean="0"/>
              <a:t>4</a:t>
            </a:fld>
            <a:endParaRPr lang="en-IN" dirty="0"/>
          </a:p>
        </p:txBody>
      </p:sp>
    </p:spTree>
    <p:extLst>
      <p:ext uri="{BB962C8B-B14F-4D97-AF65-F5344CB8AC3E}">
        <p14:creationId xmlns:p14="http://schemas.microsoft.com/office/powerpoint/2010/main" val="1116289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589D899-250E-42B0-ACDF-96295487BDEB}" type="slidenum">
              <a:rPr lang="en-IN" smtClean="0"/>
              <a:t>6</a:t>
            </a:fld>
            <a:endParaRPr lang="en-IN" dirty="0"/>
          </a:p>
        </p:txBody>
      </p:sp>
    </p:spTree>
    <p:extLst>
      <p:ext uri="{BB962C8B-B14F-4D97-AF65-F5344CB8AC3E}">
        <p14:creationId xmlns:p14="http://schemas.microsoft.com/office/powerpoint/2010/main" val="2772909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3203798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3566131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3572783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40743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2922748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3644497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955383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1343796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81D1EFE-E0E0-4D26-8544-22B89D94FACD}" type="slidenum">
              <a:rPr lang="en-IN" smtClean="0"/>
              <a:t>‹#›</a:t>
            </a:fld>
            <a:endParaRPr lang="en-IN" dirty="0"/>
          </a:p>
        </p:txBody>
      </p:sp>
      <p:sp>
        <p:nvSpPr>
          <p:cNvPr id="5" name="Date Placeholder 4"/>
          <p:cNvSpPr>
            <a:spLocks noGrp="1"/>
          </p:cNvSpPr>
          <p:nvPr>
            <p:ph type="dt" sz="half" idx="10"/>
          </p:nvPr>
        </p:nvSpPr>
        <p:spPr/>
        <p:txBody>
          <a:bodyPr/>
          <a:lstStyle/>
          <a:p>
            <a:fld id="{C1B065F3-0353-44D2-A037-00DEA8AE6D51}" type="datetimeFigureOut">
              <a:rPr lang="en-IN" smtClean="0"/>
              <a:t>23-09-2023</a:t>
            </a:fld>
            <a:endParaRPr lang="en-IN" dirty="0"/>
          </a:p>
        </p:txBody>
      </p:sp>
    </p:spTree>
    <p:extLst>
      <p:ext uri="{BB962C8B-B14F-4D97-AF65-F5344CB8AC3E}">
        <p14:creationId xmlns:p14="http://schemas.microsoft.com/office/powerpoint/2010/main" val="3692238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139161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79025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953710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1788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3514923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8962564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B065F3-0353-44D2-A037-00DEA8AE6D51}" type="datetimeFigureOut">
              <a:rPr lang="en-IN" smtClean="0"/>
              <a:t>23-09-2023</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81D1EFE-E0E0-4D26-8544-22B89D94FACD}" type="slidenum">
              <a:rPr lang="en-IN" smtClean="0"/>
              <a:t>‹#›</a:t>
            </a:fld>
            <a:endParaRPr lang="en-IN" dirty="0"/>
          </a:p>
        </p:txBody>
      </p:sp>
    </p:spTree>
    <p:extLst>
      <p:ext uri="{BB962C8B-B14F-4D97-AF65-F5344CB8AC3E}">
        <p14:creationId xmlns:p14="http://schemas.microsoft.com/office/powerpoint/2010/main" val="270381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B065F3-0353-44D2-A037-00DEA8AE6D51}" type="datetimeFigureOut">
              <a:rPr lang="en-IN" smtClean="0"/>
              <a:t>23-09-2023</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1D1EFE-E0E0-4D26-8544-22B89D94FACD}" type="slidenum">
              <a:rPr lang="en-IN" smtClean="0"/>
              <a:t>‹#›</a:t>
            </a:fld>
            <a:endParaRPr lang="en-IN" dirty="0"/>
          </a:p>
        </p:txBody>
      </p:sp>
    </p:spTree>
    <p:extLst>
      <p:ext uri="{BB962C8B-B14F-4D97-AF65-F5344CB8AC3E}">
        <p14:creationId xmlns:p14="http://schemas.microsoft.com/office/powerpoint/2010/main" val="175802172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01" y="458165"/>
            <a:ext cx="8128878" cy="1646302"/>
          </a:xfrm>
        </p:spPr>
        <p:txBody>
          <a:bodyPr anchor="ctr"/>
          <a:lstStyle/>
          <a:p>
            <a:pPr algn="ctr"/>
            <a:r>
              <a:rPr lang="en-GB" sz="4000" b="1" i="1" dirty="0" smtClean="0">
                <a:ln>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rPr>
              <a:t>	 </a:t>
            </a:r>
            <a:r>
              <a:rPr lang="en-GB" sz="4000" b="1" i="1" dirty="0" smtClean="0">
                <a:ln w="19050">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rPr>
              <a:t>Sathyam Sivam Sundaram</a:t>
            </a:r>
            <a:r>
              <a:rPr lang="en-GB" sz="4000" b="1" i="1" dirty="0" smtClean="0">
                <a:ln>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rPr>
              <a:t/>
            </a:r>
            <a:br>
              <a:rPr lang="en-GB" sz="4000" b="1" i="1" dirty="0" smtClean="0">
                <a:ln>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rPr>
            </a:br>
            <a:r>
              <a:rPr lang="en-GB" sz="4000" b="1" dirty="0" smtClean="0">
                <a:ln>
                  <a:solidFill>
                    <a:schemeClr val="tx1"/>
                  </a:solidFill>
                </a:ln>
                <a:solidFill>
                  <a:schemeClr val="tx2">
                    <a:lumMod val="90000"/>
                    <a:lumOff val="10000"/>
                  </a:schemeClr>
                </a:solidFill>
                <a:effectLst>
                  <a:glow rad="228600">
                    <a:schemeClr val="accent3">
                      <a:satMod val="175000"/>
                      <a:alpha val="40000"/>
                    </a:schemeClr>
                  </a:glow>
                  <a:outerShdw blurRad="50800" dist="38100" dir="16200000" rotWithShape="0">
                    <a:prstClr val="black">
                      <a:alpha val="40000"/>
                    </a:prstClr>
                  </a:outerShdw>
                </a:effectLst>
                <a:latin typeface="Calibri" panose="020F0502020204030204" pitchFamily="34" charset="0"/>
                <a:cs typeface="Calibri" panose="020F0502020204030204" pitchFamily="34" charset="0"/>
              </a:rPr>
              <a:t>The Rain Cloud</a:t>
            </a:r>
            <a:r>
              <a:rPr lang="en-GB" sz="4000" b="1" i="1" dirty="0" smtClean="0">
                <a:ln>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rPr>
              <a:t>	</a:t>
            </a:r>
            <a:endParaRPr lang="en-IN" sz="4000" b="1" i="1" dirty="0">
              <a:ln>
                <a:solidFill>
                  <a:sysClr val="windowText" lastClr="000000"/>
                </a:solidFill>
              </a:ln>
              <a:solidFill>
                <a:srgbClr val="FFFF00"/>
              </a:solidFill>
              <a:effectLst>
                <a:outerShdw blurRad="50800" dist="38100" dir="16200000" rotWithShape="0">
                  <a:prstClr val="black">
                    <a:alpha val="40000"/>
                  </a:prstClr>
                </a:outerShdw>
              </a:effectLst>
              <a:latin typeface="Lucida Sans" panose="020B0602030504020204" pitchFamily="34" charset="0"/>
            </a:endParaRPr>
          </a:p>
        </p:txBody>
      </p:sp>
      <p:sp>
        <p:nvSpPr>
          <p:cNvPr id="3" name="Subtitle 2"/>
          <p:cNvSpPr>
            <a:spLocks noGrp="1"/>
          </p:cNvSpPr>
          <p:nvPr>
            <p:ph type="subTitle" idx="1"/>
          </p:nvPr>
        </p:nvSpPr>
        <p:spPr>
          <a:xfrm>
            <a:off x="488164" y="3175622"/>
            <a:ext cx="3874830" cy="1958081"/>
          </a:xfrm>
        </p:spPr>
        <p:txBody>
          <a:bodyPr anchor="t">
            <a:normAutofit/>
          </a:bodyPr>
          <a:lstStyle/>
          <a:p>
            <a:pPr algn="l"/>
            <a:r>
              <a:rPr lang="en-GB" sz="2600" dirty="0" smtClean="0">
                <a:solidFill>
                  <a:schemeClr val="tx1">
                    <a:lumMod val="85000"/>
                    <a:lumOff val="15000"/>
                  </a:schemeClr>
                </a:solidFill>
                <a:latin typeface="Arial Rounded MT Bold" panose="020F0704030504030204" pitchFamily="34" charset="0"/>
              </a:rPr>
              <a:t>Presented by: </a:t>
            </a:r>
            <a:endParaRPr lang="en-IN" sz="2600" dirty="0">
              <a:solidFill>
                <a:schemeClr val="tx1">
                  <a:lumMod val="85000"/>
                  <a:lumOff val="15000"/>
                </a:schemeClr>
              </a:solidFill>
              <a:latin typeface="Arial Rounded MT Bold" panose="020F0704030504030204" pitchFamily="34" charset="0"/>
            </a:endParaRPr>
          </a:p>
        </p:txBody>
      </p:sp>
      <p:pic>
        <p:nvPicPr>
          <p:cNvPr id="4" name="Picture 3"/>
          <p:cNvPicPr>
            <a:picLocks noChangeAspect="1"/>
          </p:cNvPicPr>
          <p:nvPr/>
        </p:nvPicPr>
        <p:blipFill>
          <a:blip r:embed="rId2">
            <a:duotone>
              <a:prstClr val="black"/>
              <a:schemeClr val="tx2">
                <a:tint val="45000"/>
                <a:satMod val="400000"/>
              </a:schemeClr>
            </a:duotone>
          </a:blip>
          <a:stretch>
            <a:fillRect/>
          </a:stretch>
        </p:blipFill>
        <p:spPr>
          <a:xfrm>
            <a:off x="6303817" y="2104467"/>
            <a:ext cx="4999809" cy="3557867"/>
          </a:xfrm>
          <a:prstGeom prst="rect">
            <a:avLst/>
          </a:prstGeom>
          <a:effectLst>
            <a:glow rad="139700">
              <a:schemeClr val="accent3">
                <a:satMod val="175000"/>
                <a:alpha val="40000"/>
              </a:schemeClr>
            </a:glow>
            <a:softEdge rad="63500"/>
          </a:effectLst>
          <a:scene3d>
            <a:camera prst="perspectiveLeft"/>
            <a:lightRig rig="threePt" dir="t"/>
          </a:scene3d>
        </p:spPr>
      </p:pic>
    </p:spTree>
    <p:extLst>
      <p:ext uri="{BB962C8B-B14F-4D97-AF65-F5344CB8AC3E}">
        <p14:creationId xmlns:p14="http://schemas.microsoft.com/office/powerpoint/2010/main" val="32201654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882" y="152400"/>
            <a:ext cx="8596668" cy="1320800"/>
          </a:xfrm>
        </p:spPr>
        <p:txBody>
          <a:bodyPr anchor="ctr"/>
          <a:lstStyle/>
          <a:p>
            <a:r>
              <a:rPr lang="en-GB" b="1" i="1" dirty="0" smtClean="0">
                <a:solidFill>
                  <a:srgbClr val="FF6600"/>
                </a:solidFill>
                <a:effectLst>
                  <a:outerShdw blurRad="38100" dist="38100" dir="2700000" algn="tl">
                    <a:srgbClr val="000000">
                      <a:alpha val="43137"/>
                    </a:srgbClr>
                  </a:outerShdw>
                </a:effectLst>
              </a:rPr>
              <a:t>GLIMPSE:</a:t>
            </a:r>
            <a:endParaRPr lang="en-IN" b="1" i="1" dirty="0">
              <a:solidFill>
                <a:srgbClr val="FF66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98510" y="1473200"/>
            <a:ext cx="9420255" cy="4587966"/>
          </a:xfrm>
        </p:spPr>
        <p:txBody>
          <a:bodyPr>
            <a:normAutofit/>
          </a:bodyPr>
          <a:lstStyle/>
          <a:p>
            <a:pPr marL="0" indent="0">
              <a:lnSpc>
                <a:spcPct val="150000"/>
              </a:lnSpc>
              <a:buNone/>
            </a:pPr>
            <a:r>
              <a:rPr lang="en-GB" sz="2300" b="1" dirty="0" smtClean="0">
                <a:solidFill>
                  <a:schemeClr val="tx1"/>
                </a:solidFill>
                <a:effectLst>
                  <a:outerShdw blurRad="38100" dist="38100" dir="2700000" algn="tl">
                    <a:srgbClr val="000000">
                      <a:alpha val="43137"/>
                    </a:srgbClr>
                  </a:outerShdw>
                </a:effectLst>
                <a:latin typeface="Comic Sans MS" panose="030F0702030302020204" pitchFamily="66" charset="0"/>
              </a:rPr>
              <a:t>The effect of his discourse is always as if Baba has all the while spoken to you alone, for within a minute or two, He grips your attention so much that you forget you are one among the thousands and you yield yourself to his diagnosis and his treatment… He is not an orator, even a teacher. He is the </a:t>
            </a:r>
            <a:r>
              <a:rPr lang="en-GB" sz="2300" b="1" i="1" dirty="0" smtClean="0">
                <a:solidFill>
                  <a:schemeClr val="tx1"/>
                </a:solidFill>
                <a:effectLst>
                  <a:outerShdw blurRad="38100" dist="38100" dir="2700000" algn="tl">
                    <a:srgbClr val="000000">
                      <a:alpha val="43137"/>
                    </a:srgbClr>
                  </a:outerShdw>
                </a:effectLst>
                <a:latin typeface="Comic Sans MS" panose="030F0702030302020204" pitchFamily="66" charset="0"/>
              </a:rPr>
              <a:t>Rain Cloud, </a:t>
            </a:r>
            <a:r>
              <a:rPr lang="en-GB" sz="2300" b="1" dirty="0" smtClean="0">
                <a:solidFill>
                  <a:schemeClr val="tx1"/>
                </a:solidFill>
                <a:effectLst>
                  <a:outerShdw blurRad="38100" dist="38100" dir="2700000" algn="tl">
                    <a:srgbClr val="000000">
                      <a:alpha val="43137"/>
                    </a:srgbClr>
                  </a:outerShdw>
                </a:effectLst>
                <a:latin typeface="Comic Sans MS" panose="030F0702030302020204" pitchFamily="66" charset="0"/>
              </a:rPr>
              <a:t>who has come to nourish the parched lives of everyone.</a:t>
            </a:r>
            <a:endParaRPr lang="en-IN" sz="2300" b="1" dirty="0">
              <a:solidFill>
                <a:schemeClr val="tx1"/>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925961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631" y="126273"/>
            <a:ext cx="8523043" cy="583590"/>
          </a:xfrm>
        </p:spPr>
        <p:txBody>
          <a:bodyPr anchor="ctr">
            <a:noAutofit/>
          </a:bodyPr>
          <a:lstStyle/>
          <a:p>
            <a:pPr algn="ctr"/>
            <a:r>
              <a:rPr lang="en-GB" sz="4000" b="1" dirty="0" smtClean="0">
                <a:solidFill>
                  <a:srgbClr val="FF6600"/>
                </a:solidFill>
                <a:effectLst>
                  <a:outerShdw blurRad="38100" dist="38100" dir="2700000" algn="tl">
                    <a:srgbClr val="000000">
                      <a:alpha val="43137"/>
                    </a:srgbClr>
                  </a:outerShdw>
                </a:effectLst>
                <a:latin typeface="Eras Bold ITC" panose="020B0907030504020204" pitchFamily="34" charset="0"/>
              </a:rPr>
              <a:t>THE RAIN CLOUD</a:t>
            </a:r>
            <a:endParaRPr lang="en-IN" sz="4000" b="1" dirty="0">
              <a:solidFill>
                <a:srgbClr val="FF6600"/>
              </a:solidFill>
              <a:effectLst>
                <a:outerShdw blurRad="38100" dist="38100" dir="2700000" algn="tl">
                  <a:srgbClr val="000000">
                    <a:alpha val="43137"/>
                  </a:srgbClr>
                </a:outerShdw>
              </a:effectLst>
              <a:latin typeface="Eras Bold ITC" panose="020B0907030504020204" pitchFamily="34" charset="0"/>
            </a:endParaRPr>
          </a:p>
        </p:txBody>
      </p:sp>
      <p:sp>
        <p:nvSpPr>
          <p:cNvPr id="3" name="Content Placeholder 2"/>
          <p:cNvSpPr>
            <a:spLocks noGrp="1"/>
          </p:cNvSpPr>
          <p:nvPr>
            <p:ph idx="1"/>
          </p:nvPr>
        </p:nvSpPr>
        <p:spPr>
          <a:xfrm>
            <a:off x="115631" y="818147"/>
            <a:ext cx="5423932" cy="5931569"/>
          </a:xfrm>
        </p:spPr>
        <p:txBody>
          <a:bodyPr>
            <a:noAutofit/>
          </a:bodyPr>
          <a:lstStyle/>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Those who have had the good fortune of listening Baba’s discourses or atleast one of his discourse at any public gathering, will cherish the thrill and the inspiration. </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He generally speaks in Telugu. </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He doesn’t like to call his discourses as </a:t>
            </a:r>
            <a:r>
              <a:rPr lang="en-GB" sz="1900" b="1" i="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‘speeches’</a:t>
            </a: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because they were never prepared in advance. Instead, he prefers to state them as </a:t>
            </a:r>
            <a:r>
              <a:rPr lang="en-GB" sz="1900" b="1" i="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‘Sambhashan’,</a:t>
            </a: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which means conversation. </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Kasturi garu states, ”The face that enchants, the vice that endears, the smile that illumines, the gesture that clarifies, all become you personal possession</a:t>
            </a:r>
            <a:r>
              <a:rPr lang="en-GB"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endPar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His </a:t>
            </a:r>
            <a:r>
              <a:rPr lang="en-GB"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discourses, usually started off by a question, posed by a </a:t>
            </a:r>
            <a:r>
              <a:rPr lang="en-GB" sz="1900" b="1" i="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Bhakta</a:t>
            </a:r>
            <a:r>
              <a:rPr lang="en-GB"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on some general problem. And, Baba casts light not only on the topic, but also on the other related topics. </a:t>
            </a:r>
            <a:endParaRPr lang="en-IN"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endParaRPr lang="en-IN"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3"/>
          <a:stretch>
            <a:fillRect/>
          </a:stretch>
        </p:blipFill>
        <p:spPr>
          <a:xfrm>
            <a:off x="6605517" y="709863"/>
            <a:ext cx="4421874" cy="5841198"/>
          </a:xfrm>
          <a:prstGeom prst="rect">
            <a:avLst/>
          </a:prstGeom>
          <a:ln>
            <a:noFill/>
          </a:ln>
          <a:effectLst>
            <a:softEdge rad="112500"/>
          </a:effectLst>
        </p:spPr>
      </p:pic>
    </p:spTree>
    <p:extLst>
      <p:ext uri="{BB962C8B-B14F-4D97-AF65-F5344CB8AC3E}">
        <p14:creationId xmlns:p14="http://schemas.microsoft.com/office/powerpoint/2010/main" val="20397618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692" y="152401"/>
            <a:ext cx="5853027" cy="6705600"/>
          </a:xfrm>
        </p:spPr>
        <p:txBody>
          <a:bodyPr>
            <a:normAutofit/>
          </a:bodyPr>
          <a:lstStyle/>
          <a:p>
            <a:pPr marL="0" indent="0">
              <a:buNone/>
            </a:pPr>
            <a:r>
              <a:rPr lang="en-GB" sz="1900" b="1" dirty="0" smtClean="0">
                <a:solidFill>
                  <a:schemeClr val="tx1"/>
                </a:solidFill>
                <a:latin typeface="Cambria" panose="02040503050406030204" pitchFamily="18" charset="0"/>
                <a:ea typeface="Cambria" panose="02040503050406030204" pitchFamily="18" charset="0"/>
              </a:rPr>
              <a:t>Bhagawan dissuaded his playmates from smoking, from watching movies. He encouraged them to sing songs in praise of god; wear </a:t>
            </a:r>
            <a:r>
              <a:rPr lang="en-GB" sz="1900" b="1" i="1" dirty="0" smtClean="0">
                <a:solidFill>
                  <a:schemeClr val="tx1"/>
                </a:solidFill>
                <a:latin typeface="Cambria" panose="02040503050406030204" pitchFamily="18" charset="0"/>
                <a:ea typeface="Cambria" panose="02040503050406030204" pitchFamily="18" charset="0"/>
              </a:rPr>
              <a:t>vibhuthi</a:t>
            </a:r>
            <a:r>
              <a:rPr lang="en-GB" sz="1900" b="1" dirty="0" smtClean="0">
                <a:solidFill>
                  <a:schemeClr val="tx1"/>
                </a:solidFill>
                <a:latin typeface="Cambria" panose="02040503050406030204" pitchFamily="18" charset="0"/>
                <a:ea typeface="Cambria" panose="02040503050406030204" pitchFamily="18" charset="0"/>
              </a:rPr>
              <a:t> and practice personal cleanliness. </a:t>
            </a:r>
          </a:p>
          <a:p>
            <a:pPr marL="0" indent="0">
              <a:buNone/>
            </a:pPr>
            <a:r>
              <a:rPr lang="en-GB" sz="1900" b="1" dirty="0" smtClean="0">
                <a:solidFill>
                  <a:schemeClr val="tx1"/>
                </a:solidFill>
                <a:latin typeface="Cambria" panose="02040503050406030204" pitchFamily="18" charset="0"/>
                <a:ea typeface="Cambria" panose="02040503050406030204" pitchFamily="18" charset="0"/>
              </a:rPr>
              <a:t>Baba had the talent such as composition of songs, social plays. One such play was called </a:t>
            </a:r>
            <a:r>
              <a:rPr lang="en-GB" sz="1900" b="1" i="1" dirty="0" smtClean="0">
                <a:solidFill>
                  <a:schemeClr val="tx1"/>
                </a:solidFill>
                <a:latin typeface="Cambria" panose="02040503050406030204" pitchFamily="18" charset="0"/>
                <a:ea typeface="Cambria" panose="02040503050406030204" pitchFamily="18" charset="0"/>
              </a:rPr>
              <a:t>“Kaalamarpu”</a:t>
            </a:r>
            <a:r>
              <a:rPr lang="en-GB" sz="1900" b="1" dirty="0" smtClean="0">
                <a:solidFill>
                  <a:schemeClr val="tx1"/>
                </a:solidFill>
                <a:latin typeface="Cambria" panose="02040503050406030204" pitchFamily="18" charset="0"/>
                <a:ea typeface="Cambria" panose="02040503050406030204" pitchFamily="18" charset="0"/>
              </a:rPr>
              <a:t> meaning ‘The Changed Times’. </a:t>
            </a:r>
          </a:p>
          <a:p>
            <a:pPr marL="0" indent="0">
              <a:buNone/>
            </a:pPr>
            <a:r>
              <a:rPr lang="en-GB" sz="1900" b="1" dirty="0" smtClean="0">
                <a:solidFill>
                  <a:schemeClr val="tx1"/>
                </a:solidFill>
                <a:latin typeface="Cambria" panose="02040503050406030204" pitchFamily="18" charset="0"/>
                <a:ea typeface="Cambria" panose="02040503050406030204" pitchFamily="18" charset="0"/>
              </a:rPr>
              <a:t>He had even written out dialogues for the roles of various other plays and made use of this opportunity to compose songs and speeches for himself. </a:t>
            </a:r>
          </a:p>
          <a:p>
            <a:pPr marL="0" indent="0">
              <a:buNone/>
            </a:pPr>
            <a:r>
              <a:rPr lang="en-GB" sz="1900" b="1" dirty="0" smtClean="0">
                <a:solidFill>
                  <a:schemeClr val="tx1"/>
                </a:solidFill>
                <a:latin typeface="Cambria" panose="02040503050406030204" pitchFamily="18" charset="0"/>
                <a:ea typeface="Cambria" panose="02040503050406030204" pitchFamily="18" charset="0"/>
              </a:rPr>
              <a:t>Baba himself had once said,</a:t>
            </a:r>
            <a:r>
              <a:rPr lang="en-GB" b="1" dirty="0" smtClean="0">
                <a:solidFill>
                  <a:schemeClr val="tx1"/>
                </a:solidFill>
                <a:latin typeface="Cambria" panose="02040503050406030204" pitchFamily="18" charset="0"/>
                <a:ea typeface="Cambria" panose="02040503050406030204" pitchFamily="18" charset="0"/>
              </a:rPr>
              <a:t> </a:t>
            </a:r>
            <a:r>
              <a:rPr lang="en-GB" sz="2175" b="1" i="1" dirty="0" smtClean="0">
                <a:solidFill>
                  <a:schemeClr val="tx1"/>
                </a:solidFill>
                <a:latin typeface="Monotype Corsiva" panose="03010101010201010101" pitchFamily="66" charset="0"/>
              </a:rPr>
              <a:t>“I never utter a word of no significance, or do a deed of no beneficial consequence.” </a:t>
            </a:r>
          </a:p>
          <a:p>
            <a:pPr marL="0" indent="0">
              <a:buNone/>
            </a:pPr>
            <a:r>
              <a:rPr lang="en-GB" sz="1900" b="1" dirty="0" smtClean="0">
                <a:solidFill>
                  <a:schemeClr val="tx1"/>
                </a:solidFill>
                <a:latin typeface="Cambria" panose="02040503050406030204" pitchFamily="18" charset="0"/>
                <a:ea typeface="Cambria" panose="02040503050406030204" pitchFamily="18" charset="0"/>
              </a:rPr>
              <a:t>Even the most casual remark that Baba makes will be filled with </a:t>
            </a:r>
            <a:r>
              <a:rPr lang="en-GB" sz="1900" b="1" i="1" dirty="0" smtClean="0">
                <a:solidFill>
                  <a:schemeClr val="tx1"/>
                </a:solidFill>
                <a:latin typeface="Cambria" panose="02040503050406030204" pitchFamily="18" charset="0"/>
                <a:ea typeface="Cambria" panose="02040503050406030204" pitchFamily="18" charset="0"/>
              </a:rPr>
              <a:t>Upadesh.</a:t>
            </a:r>
            <a:r>
              <a:rPr lang="en-GB" sz="1900" b="1" dirty="0" smtClean="0">
                <a:solidFill>
                  <a:schemeClr val="tx1"/>
                </a:solidFill>
                <a:latin typeface="Cambria" panose="02040503050406030204" pitchFamily="18" charset="0"/>
                <a:ea typeface="Cambria" panose="02040503050406030204" pitchFamily="18" charset="0"/>
              </a:rPr>
              <a:t> </a:t>
            </a:r>
          </a:p>
          <a:p>
            <a:pPr>
              <a:buClr>
                <a:schemeClr val="tx1"/>
              </a:buClr>
              <a:buSzPct val="70000"/>
              <a:buFont typeface="Comic Sans MS" panose="030F0702030302020204" pitchFamily="66" charset="0"/>
              <a:buChar char="◊"/>
            </a:pPr>
            <a:r>
              <a:rPr lang="en-GB" sz="1900" b="1" dirty="0" smtClean="0">
                <a:solidFill>
                  <a:schemeClr val="tx1"/>
                </a:solidFill>
                <a:latin typeface="Cambria" panose="02040503050406030204" pitchFamily="18" charset="0"/>
                <a:ea typeface="Cambria" panose="02040503050406030204" pitchFamily="18" charset="0"/>
              </a:rPr>
              <a:t>Once addressing a lady, who was struggling to keep her child quiet, He said, ”See! Sitting across your hip, it cries </a:t>
            </a:r>
            <a:r>
              <a:rPr lang="en-GB" sz="1900" b="1" i="1" dirty="0" smtClean="0">
                <a:solidFill>
                  <a:schemeClr val="tx1"/>
                </a:solidFill>
                <a:latin typeface="Cambria" panose="02040503050406030204" pitchFamily="18" charset="0"/>
                <a:ea typeface="Cambria" panose="02040503050406030204" pitchFamily="18" charset="0"/>
              </a:rPr>
              <a:t>Amma,amma, </a:t>
            </a:r>
            <a:r>
              <a:rPr lang="en-GB" sz="1900" b="1" dirty="0" smtClean="0">
                <a:solidFill>
                  <a:schemeClr val="tx1"/>
                </a:solidFill>
                <a:latin typeface="Cambria" panose="02040503050406030204" pitchFamily="18" charset="0"/>
                <a:ea typeface="Cambria" panose="02040503050406030204" pitchFamily="18" charset="0"/>
              </a:rPr>
              <a:t>not realising that amma herself is holding him/her.”</a:t>
            </a:r>
            <a:endParaRPr lang="en-IN" sz="1900" b="1" dirty="0">
              <a:solidFill>
                <a:schemeClr val="tx1"/>
              </a:solidFill>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47250" y="777922"/>
            <a:ext cx="5735450" cy="4954138"/>
          </a:xfrm>
          <a:prstGeom prst="rect">
            <a:avLst/>
          </a:prstGeom>
          <a:effectLst>
            <a:glow rad="127000">
              <a:schemeClr val="bg1">
                <a:lumMod val="65000"/>
              </a:schemeClr>
            </a:glow>
            <a:softEdge rad="63500"/>
          </a:effectLst>
        </p:spPr>
      </p:pic>
    </p:spTree>
    <p:extLst>
      <p:ext uri="{BB962C8B-B14F-4D97-AF65-F5344CB8AC3E}">
        <p14:creationId xmlns:p14="http://schemas.microsoft.com/office/powerpoint/2010/main" val="9245093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716" y="138545"/>
            <a:ext cx="5820448" cy="6580909"/>
          </a:xfrm>
        </p:spPr>
        <p:txBody>
          <a:bodyPr>
            <a:noAutofit/>
          </a:bodyPr>
          <a:lstStyle/>
          <a:p>
            <a:pPr marL="0" indent="0">
              <a:buNone/>
            </a:pPr>
            <a:r>
              <a:rPr lang="en-GB" sz="1925" b="1" dirty="0" smtClean="0">
                <a:solidFill>
                  <a:schemeClr val="tx1"/>
                </a:solidFill>
                <a:latin typeface="Cambria" panose="02040503050406030204" pitchFamily="18" charset="0"/>
                <a:ea typeface="Cambria" panose="02040503050406030204" pitchFamily="18" charset="0"/>
              </a:rPr>
              <a:t>Baba’s omniscience has illuminated us on many mysteries of the Shastras and scared scriptures such as bhakti of the gopis, abduction of sita, character od Ravana nature of Durvasa, the meaning of avatar, and many more.</a:t>
            </a:r>
          </a:p>
          <a:p>
            <a:pPr marL="0" indent="0">
              <a:buNone/>
            </a:pPr>
            <a:r>
              <a:rPr lang="en-GB" sz="1925" b="1" dirty="0" smtClean="0">
                <a:solidFill>
                  <a:schemeClr val="tx1"/>
                </a:solidFill>
                <a:latin typeface="Cambria" panose="02040503050406030204" pitchFamily="18" charset="0"/>
                <a:ea typeface="Cambria" panose="02040503050406030204" pitchFamily="18" charset="0"/>
              </a:rPr>
              <a:t>In the discourses that Baba gives at Prashanthi Nilayam during Dasara</a:t>
            </a:r>
            <a:r>
              <a:rPr lang="en-GB" sz="1925" b="1" dirty="0">
                <a:solidFill>
                  <a:schemeClr val="tx1"/>
                </a:solidFill>
                <a:latin typeface="Cambria" panose="02040503050406030204" pitchFamily="18" charset="0"/>
                <a:ea typeface="Cambria" panose="02040503050406030204" pitchFamily="18" charset="0"/>
              </a:rPr>
              <a:t>,</a:t>
            </a:r>
            <a:r>
              <a:rPr lang="en-GB" sz="1925" b="1" dirty="0" smtClean="0">
                <a:solidFill>
                  <a:schemeClr val="tx1"/>
                </a:solidFill>
                <a:latin typeface="Cambria" panose="02040503050406030204" pitchFamily="18" charset="0"/>
                <a:ea typeface="Cambria" panose="02040503050406030204" pitchFamily="18" charset="0"/>
              </a:rPr>
              <a:t> Shivaratri or on his birthday, he often treats on high philosophical subjects by means of stories, proverbs and parables and metaphors. Also on other festivals like Vijayadashami, Gurupournami, he gives discourses on the significance on how one should celebrate a festival at the most profitable methods.</a:t>
            </a:r>
          </a:p>
          <a:p>
            <a:pPr marL="0" indent="0">
              <a:buNone/>
            </a:pPr>
            <a:r>
              <a:rPr lang="en-GB" sz="1925" b="1" dirty="0" smtClean="0">
                <a:solidFill>
                  <a:schemeClr val="tx1"/>
                </a:solidFill>
                <a:latin typeface="Cambria" panose="02040503050406030204" pitchFamily="18" charset="0"/>
                <a:ea typeface="Cambria" panose="02040503050406030204" pitchFamily="18" charset="0"/>
              </a:rPr>
              <a:t> He once said, </a:t>
            </a:r>
            <a:r>
              <a:rPr lang="en-GB" sz="2250" b="1" dirty="0" smtClean="0">
                <a:solidFill>
                  <a:schemeClr val="tx1"/>
                </a:solidFill>
                <a:latin typeface="Monotype Corsiva" panose="03010101010201010101" pitchFamily="66" charset="0"/>
                <a:ea typeface="Cambria" panose="02040503050406030204" pitchFamily="18" charset="0"/>
              </a:rPr>
              <a:t>” You are no longer young; you must go from one lower class to the next higher one.”</a:t>
            </a:r>
          </a:p>
          <a:p>
            <a:pPr marL="0" indent="0">
              <a:buNone/>
            </a:pPr>
            <a:r>
              <a:rPr lang="en-GB" sz="1925" b="1" dirty="0" smtClean="0">
                <a:solidFill>
                  <a:schemeClr val="tx1"/>
                </a:solidFill>
                <a:latin typeface="Cambria" panose="02040503050406030204" pitchFamily="18" charset="0"/>
                <a:ea typeface="Cambria" panose="02040503050406030204" pitchFamily="18" charset="0"/>
              </a:rPr>
              <a:t>He ends up every talk emphasising the practical steps of Sadhana bringing the discourse down to very brass tacks of daily routine and conduct. </a:t>
            </a:r>
          </a:p>
          <a:p>
            <a:pPr marL="0" indent="0">
              <a:buNone/>
            </a:pPr>
            <a:endParaRPr lang="en-IN" sz="1925" b="1" dirty="0">
              <a:solidFill>
                <a:schemeClr val="tx1"/>
              </a:solidFill>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rotWithShape="1">
          <a:blip r:embed="rId2"/>
          <a:srcRect l="1600" t="2778"/>
          <a:stretch/>
        </p:blipFill>
        <p:spPr>
          <a:xfrm>
            <a:off x="6192981" y="1773381"/>
            <a:ext cx="5529841" cy="3660623"/>
          </a:xfrm>
          <a:prstGeom prst="rect">
            <a:avLst/>
          </a:prstGeom>
          <a:ln>
            <a:noFill/>
          </a:ln>
          <a:effectLst>
            <a:softEdge rad="63500"/>
          </a:effectLst>
        </p:spPr>
      </p:pic>
    </p:spTree>
    <p:extLst>
      <p:ext uri="{BB962C8B-B14F-4D97-AF65-F5344CB8AC3E}">
        <p14:creationId xmlns:p14="http://schemas.microsoft.com/office/powerpoint/2010/main" val="14922748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3989" y="166255"/>
            <a:ext cx="5834302" cy="6567053"/>
          </a:xfrm>
        </p:spPr>
        <p:txBody>
          <a:bodyPr>
            <a:normAutofit fontScale="92500" lnSpcReduction="10000"/>
          </a:bodyPr>
          <a:lstStyle/>
          <a:p>
            <a:pPr marL="0" indent="0">
              <a:buNone/>
            </a:pPr>
            <a:r>
              <a:rPr lang="en-GB" sz="2100" b="1" dirty="0">
                <a:solidFill>
                  <a:schemeClr val="tx1"/>
                </a:solidFill>
                <a:latin typeface="Cambria" panose="02040503050406030204" pitchFamily="18" charset="0"/>
                <a:ea typeface="Cambria" panose="02040503050406030204" pitchFamily="18" charset="0"/>
              </a:rPr>
              <a:t>Bhagawan</a:t>
            </a:r>
            <a:r>
              <a:rPr lang="en-GB" sz="2100" b="1" dirty="0" smtClean="0">
                <a:solidFill>
                  <a:schemeClr val="tx1"/>
                </a:solidFill>
                <a:latin typeface="Cambria" panose="02040503050406030204" pitchFamily="18" charset="0"/>
                <a:ea typeface="Cambria" panose="02040503050406030204" pitchFamily="18" charset="0"/>
              </a:rPr>
              <a:t> </a:t>
            </a:r>
            <a:r>
              <a:rPr lang="en-GB" sz="2100" b="1" dirty="0">
                <a:solidFill>
                  <a:schemeClr val="tx1"/>
                </a:solidFill>
                <a:latin typeface="Cambria" panose="02040503050406030204" pitchFamily="18" charset="0"/>
                <a:ea typeface="Cambria" panose="02040503050406030204" pitchFamily="18" charset="0"/>
              </a:rPr>
              <a:t>calls his discourses </a:t>
            </a:r>
            <a:r>
              <a:rPr lang="en-GB" sz="2100" b="1" dirty="0" smtClean="0">
                <a:solidFill>
                  <a:schemeClr val="tx1"/>
                </a:solidFill>
                <a:latin typeface="Cambria" panose="02040503050406030204" pitchFamily="18" charset="0"/>
                <a:ea typeface="Cambria" panose="02040503050406030204" pitchFamily="18" charset="0"/>
              </a:rPr>
              <a:t>mandubhojanam, (medicinal food) </a:t>
            </a:r>
            <a:r>
              <a:rPr lang="en-GB" sz="2100" b="1" dirty="0">
                <a:solidFill>
                  <a:schemeClr val="tx1"/>
                </a:solidFill>
                <a:latin typeface="Cambria" panose="02040503050406030204" pitchFamily="18" charset="0"/>
                <a:ea typeface="Cambria" panose="02040503050406030204" pitchFamily="18" charset="0"/>
              </a:rPr>
              <a:t>as opposed to the </a:t>
            </a:r>
            <a:r>
              <a:rPr lang="en-GB" sz="2100" b="1" dirty="0" smtClean="0">
                <a:solidFill>
                  <a:schemeClr val="tx1"/>
                </a:solidFill>
                <a:latin typeface="Cambria" panose="02040503050406030204" pitchFamily="18" charset="0"/>
                <a:ea typeface="Cambria" panose="02040503050406030204" pitchFamily="18" charset="0"/>
              </a:rPr>
              <a:t>vindubojanam</a:t>
            </a:r>
            <a:r>
              <a:rPr lang="en-GB" sz="2100" b="1" dirty="0">
                <a:solidFill>
                  <a:schemeClr val="tx1"/>
                </a:solidFill>
                <a:latin typeface="Cambria" panose="02040503050406030204" pitchFamily="18" charset="0"/>
                <a:ea typeface="Cambria" panose="02040503050406030204" pitchFamily="18" charset="0"/>
              </a:rPr>
              <a:t> </a:t>
            </a:r>
            <a:r>
              <a:rPr lang="en-GB" sz="2100" b="1" dirty="0" smtClean="0">
                <a:solidFill>
                  <a:schemeClr val="tx1"/>
                </a:solidFill>
                <a:latin typeface="Cambria" panose="02040503050406030204" pitchFamily="18" charset="0"/>
                <a:ea typeface="Cambria" panose="02040503050406030204" pitchFamily="18" charset="0"/>
              </a:rPr>
              <a:t>(festival food). Thus, he appeals to the listeners not to miss even a fragment of the meal or carelessly throwaway even a morsel of a word.</a:t>
            </a:r>
          </a:p>
          <a:p>
            <a:pPr marL="0" indent="0">
              <a:buNone/>
            </a:pPr>
            <a:endParaRPr lang="en-GB" b="1" dirty="0">
              <a:solidFill>
                <a:schemeClr val="tx1"/>
              </a:solidFill>
              <a:latin typeface="Bahnschrift" panose="020B0502040204020203" pitchFamily="34" charset="0"/>
            </a:endParaRPr>
          </a:p>
          <a:p>
            <a:pPr marL="0" indent="0">
              <a:buNone/>
            </a:pPr>
            <a:r>
              <a:rPr lang="en-GB" sz="1900" b="1" dirty="0" smtClean="0">
                <a:solidFill>
                  <a:schemeClr val="tx1"/>
                </a:solidFill>
                <a:latin typeface="Cambria" panose="02040503050406030204" pitchFamily="18" charset="0"/>
                <a:ea typeface="Cambria" panose="02040503050406030204" pitchFamily="18" charset="0"/>
              </a:rPr>
              <a:t>Speaking </a:t>
            </a:r>
            <a:r>
              <a:rPr lang="en-GB" sz="1900" b="1" dirty="0">
                <a:solidFill>
                  <a:schemeClr val="tx1"/>
                </a:solidFill>
                <a:latin typeface="Cambria" panose="02040503050406030204" pitchFamily="18" charset="0"/>
                <a:ea typeface="Cambria" panose="02040503050406030204" pitchFamily="18" charset="0"/>
              </a:rPr>
              <a:t>to high school students at Chittoor, he gave detailed instruction regarding preparation for the </a:t>
            </a:r>
            <a:r>
              <a:rPr lang="en-GB" sz="1900" b="1" dirty="0" smtClean="0">
                <a:solidFill>
                  <a:schemeClr val="tx1"/>
                </a:solidFill>
                <a:latin typeface="Cambria" panose="02040503050406030204" pitchFamily="18" charset="0"/>
                <a:ea typeface="Cambria" panose="02040503050406030204" pitchFamily="18" charset="0"/>
              </a:rPr>
              <a:t>examinations. He said, ”Mark all the questions which you feel you can successfully answer; finish answering them and then, tackle the rest.”</a:t>
            </a:r>
          </a:p>
          <a:p>
            <a:pPr marL="0" indent="0">
              <a:buNone/>
            </a:pPr>
            <a:r>
              <a:rPr lang="en-GB" sz="1900" b="1" dirty="0" smtClean="0">
                <a:solidFill>
                  <a:schemeClr val="tx1"/>
                </a:solidFill>
                <a:latin typeface="Cambria" panose="02040503050406030204" pitchFamily="18" charset="0"/>
                <a:ea typeface="Cambria" panose="02040503050406030204" pitchFamily="18" charset="0"/>
              </a:rPr>
              <a:t>Once, Bhagawan had spoken during a prize-giving ceremony. He points out that the spirit in which victory or defeat is taken is much more important than the actual result of the events.</a:t>
            </a:r>
          </a:p>
          <a:p>
            <a:pPr marL="0" indent="0">
              <a:buNone/>
            </a:pPr>
            <a:r>
              <a:rPr lang="en-GB" sz="1900" b="1" dirty="0" smtClean="0">
                <a:solidFill>
                  <a:schemeClr val="tx1"/>
                </a:solidFill>
                <a:latin typeface="Cambria" panose="02040503050406030204" pitchFamily="18" charset="0"/>
                <a:ea typeface="Cambria" panose="02040503050406030204" pitchFamily="18" charset="0"/>
              </a:rPr>
              <a:t>At, Madakasira, he punned upon the word bahumati (prize &amp; many mindedness).</a:t>
            </a:r>
          </a:p>
          <a:p>
            <a:pPr marL="0" indent="0">
              <a:buNone/>
            </a:pPr>
            <a:r>
              <a:rPr lang="en-GB" sz="1900" b="1" dirty="0" smtClean="0">
                <a:solidFill>
                  <a:schemeClr val="tx1"/>
                </a:solidFill>
                <a:latin typeface="Cambria" panose="02040503050406030204" pitchFamily="18" charset="0"/>
                <a:ea typeface="Cambria" panose="02040503050406030204" pitchFamily="18" charset="0"/>
              </a:rPr>
              <a:t>While inaugurating the Girls High School at Venkatagiri town, he dilated on the good habits that students should develop, i.e. on maintaining books, on speaking the truth</a:t>
            </a:r>
            <a:r>
              <a:rPr lang="en-GB" sz="1900" b="1" dirty="0">
                <a:solidFill>
                  <a:schemeClr val="tx1"/>
                </a:solidFill>
                <a:latin typeface="Cambria" panose="02040503050406030204" pitchFamily="18" charset="0"/>
                <a:ea typeface="Cambria" panose="02040503050406030204" pitchFamily="18" charset="0"/>
              </a:rPr>
              <a:t> </a:t>
            </a:r>
            <a:r>
              <a:rPr lang="en-GB" sz="1900" b="1" dirty="0" smtClean="0">
                <a:solidFill>
                  <a:schemeClr val="tx1"/>
                </a:solidFill>
                <a:latin typeface="Cambria" panose="02040503050406030204" pitchFamily="18" charset="0"/>
                <a:ea typeface="Cambria" panose="02040503050406030204" pitchFamily="18" charset="0"/>
              </a:rPr>
              <a:t>and, following at healthy routine.</a:t>
            </a:r>
            <a:endParaRPr lang="en-IN" sz="1900" b="1" dirty="0">
              <a:solidFill>
                <a:schemeClr val="tx1"/>
              </a:solidFill>
              <a:latin typeface="Cambria" panose="02040503050406030204" pitchFamily="18" charset="0"/>
              <a:ea typeface="Cambria" panose="02040503050406030204" pitchFamily="18" charset="0"/>
            </a:endParaRPr>
          </a:p>
        </p:txBody>
      </p:sp>
      <p:sp>
        <p:nvSpPr>
          <p:cNvPr id="4" name="Title 1"/>
          <p:cNvSpPr>
            <a:spLocks noGrp="1"/>
          </p:cNvSpPr>
          <p:nvPr>
            <p:ph type="title"/>
          </p:nvPr>
        </p:nvSpPr>
        <p:spPr>
          <a:xfrm>
            <a:off x="233989" y="1402704"/>
            <a:ext cx="4254885" cy="574824"/>
          </a:xfrm>
        </p:spPr>
        <p:txBody>
          <a:bodyPr>
            <a:noAutofit/>
          </a:bodyPr>
          <a:lstStyle/>
          <a:p>
            <a:r>
              <a:rPr lang="en-GB" sz="3200" b="1" u="sng" dirty="0" smtClean="0">
                <a:latin typeface="Times New Roman" panose="02020603050405020304" pitchFamily="18" charset="0"/>
                <a:cs typeface="Times New Roman" panose="02020603050405020304" pitchFamily="18" charset="0"/>
              </a:rPr>
              <a:t>Discourse To Students:</a:t>
            </a:r>
            <a:endParaRPr lang="en-IN" sz="3200" b="1" u="sng"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rot="20955537">
            <a:off x="6750134" y="376945"/>
            <a:ext cx="3699609" cy="2626343"/>
          </a:xfrm>
          <a:prstGeom prst="snip2DiagRect">
            <a:avLst/>
          </a:prstGeom>
          <a:solidFill>
            <a:srgbClr val="FFFFFF">
              <a:shade val="85000"/>
            </a:srgbClr>
          </a:solidFill>
          <a:ln w="88900" cap="sq">
            <a:noFill/>
            <a:miter lim="800000"/>
          </a:ln>
          <a:effectLst>
            <a:outerShdw blurRad="76200" dir="13500000" sy="23000" kx="1200000" algn="br" rotWithShape="0">
              <a:prstClr val="black">
                <a:alpha val="20000"/>
              </a:prstClr>
            </a:outerShdw>
          </a:effectLst>
          <a:scene3d>
            <a:camera prst="orthographicFront">
              <a:rot lat="0" lon="0" rev="0"/>
            </a:camera>
            <a:lightRig rig="glow" dir="t">
              <a:rot lat="0" lon="0" rev="4800000"/>
            </a:lightRig>
          </a:scene3d>
          <a:sp3d prstMaterial="matte">
            <a:bevelT w="127000" h="63500"/>
          </a:sp3d>
        </p:spPr>
      </p:pic>
      <p:pic>
        <p:nvPicPr>
          <p:cNvPr id="8" name="Picture 7"/>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6537806" y="3325030"/>
            <a:ext cx="4712084" cy="3345098"/>
          </a:xfrm>
          <a:prstGeom prst="rect">
            <a:avLst/>
          </a:prstGeom>
          <a:ln>
            <a:noFill/>
          </a:ln>
          <a:effectLst>
            <a:outerShdw blurRad="50800" dist="38100" dir="13500000" algn="br" rotWithShape="0">
              <a:prstClr val="black">
                <a:alpha val="40000"/>
              </a:prstClr>
            </a:outerShdw>
            <a:softEdge rad="112500"/>
          </a:effectLst>
        </p:spPr>
      </p:pic>
    </p:spTree>
    <p:extLst>
      <p:ext uri="{BB962C8B-B14F-4D97-AF65-F5344CB8AC3E}">
        <p14:creationId xmlns:p14="http://schemas.microsoft.com/office/powerpoint/2010/main" val="6210200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861" y="346364"/>
            <a:ext cx="6679430" cy="6511636"/>
          </a:xfrm>
        </p:spPr>
        <p:txBody>
          <a:bodyPr>
            <a:normAutofit/>
          </a:bodyPr>
          <a:lstStyle/>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How nice it would be when you sing the glory of the lord, who is immanent in all this beauty, all this plenty, and all this grandeur! Do not contaminate the atmosphere by words of anger against one and another.</a:t>
            </a:r>
            <a:r>
              <a:rPr lang="en-IN"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Purify it repeating the name of the lord.</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We have toknow</a:t>
            </a:r>
            <a:r>
              <a:rPr lang="en-GB"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the need of gratitude in the value of traditional, religious rites like banjans and temple worship.</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Swami talks about the rules of health i.e to be good, be joyful,, be bold, be honest, be temperate, be patient. </a:t>
            </a:r>
            <a:r>
              <a:rPr lang="en-GB" sz="1900" b="1" i="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Suguna</a:t>
            </a: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is the most valuable source of health.</a:t>
            </a:r>
            <a:endParaRPr lang="en-GB" sz="19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Swami spoke at one of the </a:t>
            </a:r>
            <a:r>
              <a:rPr lang="en-GB" sz="1900" b="1" i="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Akhanda</a:t>
            </a: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bajans function that in some places bajans became a ritual, a routine, and a rigmarole. What is spoken by the tongue is not practised by the hands. There is no bhakthi, no Shraddha no faith.</a:t>
            </a:r>
          </a:p>
          <a:p>
            <a:pPr marL="0" indent="0">
              <a:buNone/>
            </a:pPr>
            <a:r>
              <a:rPr lang="en-GB" sz="19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Swami also spoke on the manas, as having the double nature of wind, the wind that gathers the rain clouds and scatters the clouds beyond the horizon.</a:t>
            </a:r>
          </a:p>
          <a:p>
            <a:pPr marL="0" indent="0">
              <a:buNone/>
            </a:pPr>
            <a:endParaRPr lang="en-GB" sz="2200" b="1" dirty="0" smtClean="0">
              <a:solidFill>
                <a:schemeClr val="tx1"/>
              </a:solidFill>
              <a:effectLst>
                <a:outerShdw blurRad="38100" dist="38100" dir="2700000" algn="tl">
                  <a:srgbClr val="000000">
                    <a:alpha val="43137"/>
                  </a:srgbClr>
                </a:outerShdw>
              </a:effectLst>
              <a:latin typeface="Comic Sans MS" panose="030F0702030302020204" pitchFamily="66" charset="0"/>
            </a:endParaRPr>
          </a:p>
          <a:p>
            <a:pPr marL="0" indent="0">
              <a:buNone/>
            </a:pPr>
            <a:endParaRPr lang="en-GB" sz="2200" b="1" dirty="0" smtClean="0">
              <a:solidFill>
                <a:schemeClr val="tx1"/>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212152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8571" y="830553"/>
            <a:ext cx="6402338" cy="6027447"/>
          </a:xfrm>
        </p:spPr>
        <p:txBody>
          <a:bodyPr>
            <a:normAutofit/>
          </a:bodyPr>
          <a:lstStyle/>
          <a:p>
            <a:pPr marL="0" indent="0">
              <a:buNone/>
            </a:pPr>
            <a:r>
              <a:rPr lang="en-GB" sz="22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Swami says that, “No one in this world is atheist, because everyone have love within oneself and that love is nothing but, love of god.</a:t>
            </a:r>
            <a:r>
              <a:rPr lang="en-IN" sz="22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He also says about the religious factions and partition-ship in the country. </a:t>
            </a:r>
            <a:r>
              <a:rPr lang="en-GB" sz="22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He said that the lord is above and beyond all limits of caste and colour, of wealth and poverty.</a:t>
            </a:r>
          </a:p>
          <a:p>
            <a:pPr marL="0" indent="0">
              <a:buNone/>
            </a:pPr>
            <a:r>
              <a:rPr lang="en-GB" sz="22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It is foolish to believe that the lord asks for a gift, or is angry when it is not offered.</a:t>
            </a:r>
          </a:p>
          <a:p>
            <a:pPr marL="0" indent="0">
              <a:buNone/>
            </a:pPr>
            <a:r>
              <a:rPr lang="en-GB" sz="2200" b="1" dirty="0" smtClean="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Four gunas ( Satya Dharma Shanthi Prema) is necessary to become a  member of society of divine life. </a:t>
            </a:r>
          </a:p>
          <a:p>
            <a:pPr marL="0" indent="0">
              <a:buNone/>
            </a:pPr>
            <a:endParaRPr lang="en-GB" sz="2200" b="1" dirty="0">
              <a:solidFill>
                <a:schemeClr val="tx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18131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41806" y="-193964"/>
            <a:ext cx="8596668" cy="170873"/>
          </a:xfrm>
        </p:spPr>
        <p:txBody>
          <a:bodyPr>
            <a:normAutofit fontScale="90000"/>
          </a:bodyPr>
          <a:lstStyle/>
          <a:p>
            <a:endParaRPr lang="en-IN" dirty="0"/>
          </a:p>
        </p:txBody>
      </p:sp>
      <p:sp>
        <p:nvSpPr>
          <p:cNvPr id="3" name="Content Placeholder 2"/>
          <p:cNvSpPr>
            <a:spLocks noGrp="1"/>
          </p:cNvSpPr>
          <p:nvPr>
            <p:ph idx="1"/>
          </p:nvPr>
        </p:nvSpPr>
        <p:spPr>
          <a:xfrm>
            <a:off x="124691" y="68553"/>
            <a:ext cx="9975273" cy="6512355"/>
          </a:xfrm>
        </p:spPr>
        <p:txBody>
          <a:bodyPr>
            <a:noAutofit/>
          </a:bodyPr>
          <a:lstStyle/>
          <a:p>
            <a:r>
              <a:rPr lang="en-GB" sz="2100" b="1" dirty="0">
                <a:solidFill>
                  <a:schemeClr val="tx1"/>
                </a:solidFill>
                <a:effectLst>
                  <a:outerShdw blurRad="38100" dist="38100" dir="2700000" algn="tl">
                    <a:srgbClr val="000000">
                      <a:alpha val="43137"/>
                    </a:srgbClr>
                  </a:outerShdw>
                </a:effectLst>
                <a:latin typeface="Comic Sans MS" panose="030F0702030302020204" pitchFamily="66" charset="0"/>
              </a:rPr>
              <a:t>Cynicism and the urge to satirise are two big diseases of the age and these lead to irreverence and the spread of disbelief</a:t>
            </a:r>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a:t>
            </a:r>
          </a:p>
          <a:p>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At the All-India Sai Samaj, He declared that when you search up the meaning of one word in a dictionary, but you then turn over the pages in order to spot it, other words attract your attention. So too, you would come to me with a problem you are facing but while doing so you find solutions of the problems in deeper dilemma, and use me to secure greater peace.</a:t>
            </a:r>
          </a:p>
          <a:p>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Once in his discourse based out of the Gita he made a pun of Gita, which read from the other end becomes The Telugu word Tagi, meaning ‘drink’</a:t>
            </a:r>
            <a:r>
              <a:rPr lang="en-GB" sz="2100" b="1" dirty="0">
                <a:solidFill>
                  <a:schemeClr val="tx1"/>
                </a:solidFill>
                <a:effectLst>
                  <a:outerShdw blurRad="38100" dist="38100" dir="2700000" algn="tl">
                    <a:srgbClr val="000000">
                      <a:alpha val="43137"/>
                    </a:srgbClr>
                  </a:outerShdw>
                </a:effectLst>
                <a:latin typeface="Comic Sans MS" panose="030F0702030302020204" pitchFamily="66" charset="0"/>
              </a:rPr>
              <a:t> </a:t>
            </a:r>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and said that unless the nectar of the Gita is drunk and assimilated, one cannot get any result.</a:t>
            </a:r>
          </a:p>
          <a:p>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Man must grasp God with the right hand and the world with the left.</a:t>
            </a:r>
          </a:p>
          <a:p>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“Prema will bring about Shanti; it is based on Truth, it is the Dharma of all.”</a:t>
            </a:r>
          </a:p>
          <a:p>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The role of Mahashakti, Yogashakti</a:t>
            </a:r>
            <a:r>
              <a:rPr lang="en-GB" sz="2100" b="1" dirty="0">
                <a:solidFill>
                  <a:schemeClr val="tx1"/>
                </a:solidFill>
                <a:effectLst>
                  <a:outerShdw blurRad="38100" dist="38100" dir="2700000" algn="tl">
                    <a:srgbClr val="000000">
                      <a:alpha val="43137"/>
                    </a:srgbClr>
                  </a:outerShdw>
                </a:effectLst>
                <a:latin typeface="Comic Sans MS" panose="030F0702030302020204" pitchFamily="66" charset="0"/>
              </a:rPr>
              <a:t> </a:t>
            </a:r>
            <a:r>
              <a:rPr lang="en-GB" sz="2100" b="1" dirty="0" smtClean="0">
                <a:solidFill>
                  <a:schemeClr val="tx1"/>
                </a:solidFill>
                <a:effectLst>
                  <a:outerShdw blurRad="38100" dist="38100" dir="2700000" algn="tl">
                    <a:srgbClr val="000000">
                      <a:alpha val="43137"/>
                    </a:srgbClr>
                  </a:outerShdw>
                </a:effectLst>
                <a:latin typeface="Comic Sans MS" panose="030F0702030302020204" pitchFamily="66" charset="0"/>
              </a:rPr>
              <a:t>and Mayashakti in the careers of avatars.</a:t>
            </a:r>
          </a:p>
          <a:p>
            <a:pPr marL="0" indent="0">
              <a:buNone/>
            </a:pPr>
            <a:endParaRPr lang="en-IN" sz="2100" b="1" dirty="0">
              <a:solidFill>
                <a:schemeClr val="tx1"/>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154369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836" y="96982"/>
            <a:ext cx="10238509" cy="6761018"/>
          </a:xfrm>
        </p:spPr>
        <p:txBody>
          <a:bodyPr>
            <a:noAutofit/>
          </a:bodyPr>
          <a:lstStyle/>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Amritaputras , every one of you; you have the lord presiding in your heart.</a:t>
            </a:r>
          </a:p>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His discourses, Baba illustrates His Upadesh by stories of Narada, Ambarisha, Shabari, Prahlada, Bhishma, Bharata, Guha, Anjaneya, Chaitanya, Meera, Purandaradas, Kabir, Pattinathar, Manikkavasagar, Suradas, Tulsidas, Bhadrachala-Ramadas, Ramakrishna, Vivekananda and others.</a:t>
            </a:r>
          </a:p>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He speaks in a reminiscent mood of the days spent in past ages in Ayodhya and Brindavan.</a:t>
            </a:r>
          </a:p>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Baba speaks in a reminiscent mood of the days spent in past ages in Ayodhya and Brindavan. The </a:t>
            </a:r>
            <a:r>
              <a:rPr lang="en-GB" sz="2150" b="1" i="1" dirty="0" smtClean="0">
                <a:solidFill>
                  <a:schemeClr val="tx1"/>
                </a:solidFill>
                <a:effectLst>
                  <a:outerShdw blurRad="38100" dist="38100" dir="2700000" algn="tl">
                    <a:srgbClr val="000000">
                      <a:alpha val="43137"/>
                    </a:srgbClr>
                  </a:outerShdw>
                </a:effectLst>
                <a:latin typeface="Comic Sans MS" panose="030F0702030302020204" pitchFamily="66" charset="0"/>
              </a:rPr>
              <a:t>Ramayana </a:t>
            </a:r>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or </a:t>
            </a:r>
            <a:r>
              <a:rPr lang="en-GB" sz="2150" b="1" i="1" dirty="0" smtClean="0">
                <a:solidFill>
                  <a:schemeClr val="tx1"/>
                </a:solidFill>
                <a:effectLst>
                  <a:outerShdw blurRad="38100" dist="38100" dir="2700000" algn="tl">
                    <a:srgbClr val="000000">
                      <a:alpha val="43137"/>
                    </a:srgbClr>
                  </a:outerShdw>
                </a:effectLst>
                <a:latin typeface="Comic Sans MS" panose="030F0702030302020204" pitchFamily="66" charset="0"/>
              </a:rPr>
              <a:t>Mahabharata</a:t>
            </a:r>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 or </a:t>
            </a:r>
            <a:r>
              <a:rPr lang="en-GB" sz="2150" b="1" i="1" dirty="0" smtClean="0">
                <a:solidFill>
                  <a:schemeClr val="tx1"/>
                </a:solidFill>
                <a:effectLst>
                  <a:outerShdw blurRad="38100" dist="38100" dir="2700000" algn="tl">
                    <a:srgbClr val="000000">
                      <a:alpha val="43137"/>
                    </a:srgbClr>
                  </a:outerShdw>
                </a:effectLst>
                <a:latin typeface="Comic Sans MS" panose="030F0702030302020204" pitchFamily="66" charset="0"/>
              </a:rPr>
              <a:t>Bhagavatha</a:t>
            </a:r>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 but which have all the hallmarks of authencity.</a:t>
            </a:r>
          </a:p>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Baba has been and will be the Eternal Witness.</a:t>
            </a:r>
          </a:p>
          <a:p>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Baba in between his discourses says few amazing lines which brings in the thrill to his discourses. Some of them as per the book are:    </a:t>
            </a:r>
          </a:p>
          <a:p>
            <a:pPr marL="0" indent="0">
              <a:buNone/>
            </a:pPr>
            <a:r>
              <a:rPr lang="en-GB" sz="2150" b="1" dirty="0">
                <a:solidFill>
                  <a:schemeClr val="tx1"/>
                </a:solidFill>
                <a:effectLst>
                  <a:outerShdw blurRad="38100" dist="38100" dir="2700000" algn="tl">
                    <a:srgbClr val="000000">
                      <a:alpha val="43137"/>
                    </a:srgbClr>
                  </a:outerShdw>
                </a:effectLst>
                <a:latin typeface="Comic Sans MS" panose="030F0702030302020204" pitchFamily="66" charset="0"/>
              </a:rPr>
              <a:t>	</a:t>
            </a:r>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	a) Baba </a:t>
            </a:r>
            <a:r>
              <a:rPr lang="en-GB" sz="2150" b="1" dirty="0">
                <a:solidFill>
                  <a:schemeClr val="tx1"/>
                </a:solidFill>
                <a:effectLst>
                  <a:outerShdw blurRad="38100" dist="38100" dir="2700000" algn="tl">
                    <a:srgbClr val="000000">
                      <a:alpha val="43137"/>
                    </a:srgbClr>
                  </a:outerShdw>
                </a:effectLst>
                <a:latin typeface="Comic Sans MS" panose="030F0702030302020204" pitchFamily="66" charset="0"/>
              </a:rPr>
              <a:t>says, “I am no Yogi or Siddha or Sadhaka; I have come to guide and bless all sadhakas. I am neither man or woman, old or young, I am all these</a:t>
            </a:r>
            <a:r>
              <a:rPr lang="en-GB" sz="2150" b="1" dirty="0" smtClean="0">
                <a:solidFill>
                  <a:schemeClr val="tx1"/>
                </a:solidFill>
                <a:effectLst>
                  <a:outerShdw blurRad="38100" dist="38100" dir="2700000" algn="tl">
                    <a:srgbClr val="000000">
                      <a:alpha val="43137"/>
                    </a:srgbClr>
                  </a:outerShdw>
                </a:effectLst>
                <a:latin typeface="Comic Sans MS" panose="030F0702030302020204" pitchFamily="66" charset="0"/>
              </a:rPr>
              <a:t>.”</a:t>
            </a:r>
            <a:endParaRPr lang="en-IN" sz="2150" b="1" dirty="0">
              <a:solidFill>
                <a:schemeClr val="tx1"/>
              </a:solidFill>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127622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0860" y="180109"/>
            <a:ext cx="10932776" cy="6525491"/>
          </a:xfrm>
        </p:spPr>
        <p:txBody>
          <a:bodyPr>
            <a:normAutofit/>
          </a:bodyPr>
          <a:lstStyle/>
          <a:p>
            <a:pPr marL="0" indent="0">
              <a:buNone/>
            </a:pPr>
            <a:r>
              <a:rPr lang="en-GB" sz="2200" b="1" dirty="0" smtClean="0">
                <a:solidFill>
                  <a:schemeClr val="tx1"/>
                </a:solidFill>
                <a:latin typeface="Comic Sans MS" panose="030F0702030302020204" pitchFamily="66" charset="0"/>
              </a:rPr>
              <a:t>		b) He also says, “I did not come uninvited to this world; </a:t>
            </a:r>
            <a:r>
              <a:rPr lang="en-GB" sz="2200" b="1" i="1" dirty="0" smtClean="0">
                <a:solidFill>
                  <a:schemeClr val="tx1"/>
                </a:solidFill>
                <a:latin typeface="Comic Sans MS" panose="030F0702030302020204" pitchFamily="66" charset="0"/>
              </a:rPr>
              <a:t>sadhus, saints, sages</a:t>
            </a:r>
            <a:r>
              <a:rPr lang="en-GB" sz="2200" b="1" dirty="0" smtClean="0">
                <a:solidFill>
                  <a:schemeClr val="tx1"/>
                </a:solidFill>
                <a:latin typeface="Comic Sans MS" panose="030F0702030302020204" pitchFamily="66" charset="0"/>
              </a:rPr>
              <a:t> good men of all creeds and climes called out and entreated; so I have come.”</a:t>
            </a:r>
          </a:p>
          <a:p>
            <a:pPr marL="0" indent="0">
              <a:buNone/>
            </a:pP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	c) “I have neither </a:t>
            </a:r>
            <a:r>
              <a:rPr lang="en-GB" sz="2200" b="1" i="1" dirty="0" smtClean="0">
                <a:solidFill>
                  <a:schemeClr val="tx1"/>
                </a:solidFill>
                <a:latin typeface="Comic Sans MS" panose="030F0702030302020204" pitchFamily="66" charset="0"/>
              </a:rPr>
              <a:t>guna</a:t>
            </a:r>
            <a:r>
              <a:rPr lang="en-GB" sz="2200" b="1" dirty="0" smtClean="0">
                <a:solidFill>
                  <a:schemeClr val="tx1"/>
                </a:solidFill>
                <a:latin typeface="Comic Sans MS" panose="030F0702030302020204" pitchFamily="66" charset="0"/>
              </a:rPr>
              <a:t> nor </a:t>
            </a:r>
            <a:r>
              <a:rPr lang="en-GB" sz="2200" b="1" i="1" dirty="0" smtClean="0">
                <a:solidFill>
                  <a:schemeClr val="tx1"/>
                </a:solidFill>
                <a:latin typeface="Comic Sans MS" panose="030F0702030302020204" pitchFamily="66" charset="0"/>
              </a:rPr>
              <a:t>karma</a:t>
            </a:r>
            <a:r>
              <a:rPr lang="en-GB" sz="2200" b="1" dirty="0" smtClean="0">
                <a:solidFill>
                  <a:schemeClr val="tx1"/>
                </a:solidFill>
                <a:latin typeface="Comic Sans MS" panose="030F0702030302020204" pitchFamily="66" charset="0"/>
              </a:rPr>
              <a:t>. How can the illusion affect me? 	If I had come down with Shankha, Chakra, Gada, and Padma, you would have run away or put Me into an exhibition; if I were just like anyone of you, you would not have cared at all. That is why I have taken this human form and I show you now and then, these </a:t>
            </a:r>
            <a:r>
              <a:rPr lang="en-GB" sz="2200" b="1" i="1" dirty="0" smtClean="0">
                <a:solidFill>
                  <a:schemeClr val="tx1"/>
                </a:solidFill>
                <a:latin typeface="Comic Sans MS" panose="030F0702030302020204" pitchFamily="66" charset="0"/>
              </a:rPr>
              <a:t>mahimas</a:t>
            </a:r>
            <a:r>
              <a:rPr lang="en-GB" sz="2200" b="1" dirty="0" smtClean="0">
                <a:solidFill>
                  <a:schemeClr val="tx1"/>
                </a:solidFill>
                <a:latin typeface="Comic Sans MS" panose="030F0702030302020204" pitchFamily="66" charset="0"/>
              </a:rPr>
              <a:t>.” </a:t>
            </a:r>
          </a:p>
          <a:p>
            <a:pPr marL="0" indent="0">
              <a:buNone/>
            </a:pP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	d) “My task is the spiritual regeneration of humanity through Truth and Love. I have come to how you both </a:t>
            </a:r>
            <a:r>
              <a:rPr lang="en-GB" sz="2200" b="1" i="1" dirty="0" smtClean="0">
                <a:solidFill>
                  <a:schemeClr val="tx1"/>
                </a:solidFill>
                <a:latin typeface="Comic Sans MS" panose="030F0702030302020204" pitchFamily="66" charset="0"/>
              </a:rPr>
              <a:t>Dharmamarga</a:t>
            </a: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and </a:t>
            </a:r>
            <a:r>
              <a:rPr lang="en-GB" sz="2200" b="1" i="1" dirty="0" smtClean="0">
                <a:solidFill>
                  <a:schemeClr val="tx1"/>
                </a:solidFill>
                <a:latin typeface="Comic Sans MS" panose="030F0702030302020204" pitchFamily="66" charset="0"/>
              </a:rPr>
              <a:t>Brahmamarga</a:t>
            </a:r>
            <a:r>
              <a:rPr lang="en-GB" sz="2200" b="1" dirty="0" smtClean="0">
                <a:solidFill>
                  <a:schemeClr val="tx1"/>
                </a:solidFill>
                <a:latin typeface="Comic Sans MS" panose="030F0702030302020204" pitchFamily="66" charset="0"/>
              </a:rPr>
              <a:t>.”</a:t>
            </a:r>
          </a:p>
          <a:p>
            <a:pPr marL="0" indent="0">
              <a:buNone/>
            </a:pP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	e) “If you approach one step nearer to me, I shall advance three steps towards you.”</a:t>
            </a:r>
          </a:p>
          <a:p>
            <a:pPr marL="0" indent="0">
              <a:buNone/>
            </a:pP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	f) I am happiest, when a person carrying a heavy load of misery comes to me, for he is most in need of what I have.”</a:t>
            </a:r>
          </a:p>
          <a:p>
            <a:pPr marL="0" indent="0">
              <a:buNone/>
            </a:pPr>
            <a:r>
              <a:rPr lang="en-GB" sz="2200" b="1" dirty="0">
                <a:solidFill>
                  <a:schemeClr val="tx1"/>
                </a:solidFill>
                <a:latin typeface="Comic Sans MS" panose="030F0702030302020204" pitchFamily="66" charset="0"/>
              </a:rPr>
              <a:t>	</a:t>
            </a:r>
            <a:r>
              <a:rPr lang="en-GB" sz="2200" b="1" dirty="0" smtClean="0">
                <a:solidFill>
                  <a:schemeClr val="tx1"/>
                </a:solidFill>
                <a:latin typeface="Comic Sans MS" panose="030F0702030302020204" pitchFamily="66" charset="0"/>
              </a:rPr>
              <a:t>	</a:t>
            </a:r>
          </a:p>
          <a:p>
            <a:endParaRPr lang="en-IN" sz="2200" b="1" dirty="0">
              <a:solidFill>
                <a:schemeClr val="tx1"/>
              </a:solidFill>
              <a:latin typeface="Comic Sans MS" panose="030F0702030302020204" pitchFamily="66" charset="0"/>
            </a:endParaRPr>
          </a:p>
        </p:txBody>
      </p:sp>
    </p:spTree>
    <p:extLst>
      <p:ext uri="{BB962C8B-B14F-4D97-AF65-F5344CB8AC3E}">
        <p14:creationId xmlns:p14="http://schemas.microsoft.com/office/powerpoint/2010/main" val="3167108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7462673" cy="6650902"/>
          </a:xfrm>
        </p:spPr>
        <p:txBody>
          <a:bodyPr>
            <a:normAutofit/>
          </a:bodyPr>
          <a:lstStyle/>
          <a:p>
            <a:pPr marL="0" indent="0">
              <a:buNone/>
            </a:pPr>
            <a:r>
              <a:rPr lang="en-GB" sz="1900" b="1" dirty="0" smtClean="0">
                <a:solidFill>
                  <a:schemeClr val="tx1"/>
                </a:solidFill>
                <a:latin typeface="Cambria" panose="02040503050406030204" pitchFamily="18" charset="0"/>
                <a:ea typeface="Cambria" panose="02040503050406030204" pitchFamily="18" charset="0"/>
              </a:rPr>
              <a:t>He </a:t>
            </a:r>
            <a:r>
              <a:rPr lang="en-GB" sz="1900" b="1" dirty="0">
                <a:solidFill>
                  <a:schemeClr val="tx1"/>
                </a:solidFill>
                <a:latin typeface="Cambria" panose="02040503050406030204" pitchFamily="18" charset="0"/>
                <a:ea typeface="Cambria" panose="02040503050406030204" pitchFamily="18" charset="0"/>
              </a:rPr>
              <a:t>addresses the gathering as </a:t>
            </a:r>
            <a:r>
              <a:rPr lang="en-GB" sz="1900" b="1" dirty="0" err="1">
                <a:solidFill>
                  <a:schemeClr val="tx1"/>
                </a:solidFill>
                <a:latin typeface="Cambria" panose="02040503050406030204" pitchFamily="18" charset="0"/>
                <a:ea typeface="Cambria" panose="02040503050406030204" pitchFamily="18" charset="0"/>
              </a:rPr>
              <a:t>Atmaswarupalaara</a:t>
            </a:r>
            <a:r>
              <a:rPr lang="en-GB" sz="1900" b="1" dirty="0">
                <a:solidFill>
                  <a:schemeClr val="tx1"/>
                </a:solidFill>
                <a:latin typeface="Cambria" panose="02040503050406030204" pitchFamily="18" charset="0"/>
                <a:ea typeface="Cambria" panose="02040503050406030204" pitchFamily="18" charset="0"/>
              </a:rPr>
              <a:t>! or Embodied </a:t>
            </a:r>
            <a:r>
              <a:rPr lang="en-GB" sz="1900" b="1" dirty="0" err="1">
                <a:solidFill>
                  <a:schemeClr val="tx1"/>
                </a:solidFill>
                <a:latin typeface="Cambria" panose="02040503050406030204" pitchFamily="18" charset="0"/>
                <a:ea typeface="Cambria" panose="02040503050406030204" pitchFamily="18" charset="0"/>
              </a:rPr>
              <a:t>Atmas</a:t>
            </a:r>
            <a:r>
              <a:rPr lang="en-GB" sz="1900" b="1" dirty="0" smtClean="0">
                <a:solidFill>
                  <a:schemeClr val="tx1"/>
                </a:solidFill>
                <a:latin typeface="Cambria" panose="02040503050406030204" pitchFamily="18" charset="0"/>
                <a:ea typeface="Cambria" panose="02040503050406030204" pitchFamily="18" charset="0"/>
              </a:rPr>
              <a:t>!</a:t>
            </a:r>
            <a:endParaRPr lang="en-GB" sz="1900" b="1" dirty="0">
              <a:solidFill>
                <a:schemeClr val="tx1"/>
              </a:solidFill>
              <a:latin typeface="Cambria" panose="02040503050406030204" pitchFamily="18" charset="0"/>
              <a:ea typeface="Cambria" panose="02040503050406030204" pitchFamily="18" charset="0"/>
            </a:endParaRPr>
          </a:p>
          <a:p>
            <a:pPr marL="0" indent="0">
              <a:buNone/>
            </a:pPr>
            <a:r>
              <a:rPr lang="en-GB" sz="1900" b="1" dirty="0" smtClean="0">
                <a:solidFill>
                  <a:schemeClr val="tx1"/>
                </a:solidFill>
                <a:latin typeface="Cambria" panose="02040503050406030204" pitchFamily="18" charset="0"/>
                <a:ea typeface="Cambria" panose="02040503050406030204" pitchFamily="18" charset="0"/>
              </a:rPr>
              <a:t>Baba </a:t>
            </a:r>
            <a:r>
              <a:rPr lang="en-GB" sz="1900" b="1" dirty="0">
                <a:solidFill>
                  <a:schemeClr val="tx1"/>
                </a:solidFill>
                <a:latin typeface="Cambria" panose="02040503050406030204" pitchFamily="18" charset="0"/>
                <a:ea typeface="Cambria" panose="02040503050406030204" pitchFamily="18" charset="0"/>
              </a:rPr>
              <a:t>has said in his discourse. "It is My Will that has brought every single one of you </a:t>
            </a:r>
            <a:r>
              <a:rPr lang="en-GB" sz="1900" b="1" dirty="0" smtClean="0">
                <a:solidFill>
                  <a:schemeClr val="tx1"/>
                </a:solidFill>
                <a:latin typeface="Cambria" panose="02040503050406030204" pitchFamily="18" charset="0"/>
                <a:ea typeface="Cambria" panose="02040503050406030204" pitchFamily="18" charset="0"/>
              </a:rPr>
              <a:t>to this place, That </a:t>
            </a:r>
            <a:r>
              <a:rPr lang="en-GB" sz="1900" b="1" dirty="0">
                <a:solidFill>
                  <a:schemeClr val="tx1"/>
                </a:solidFill>
                <a:latin typeface="Cambria" panose="02040503050406030204" pitchFamily="18" charset="0"/>
                <a:ea typeface="Cambria" panose="02040503050406030204" pitchFamily="18" charset="0"/>
              </a:rPr>
              <a:t>is the measure of his grace and might</a:t>
            </a:r>
            <a:r>
              <a:rPr lang="en-GB" sz="1900" b="1" dirty="0" smtClean="0">
                <a:solidFill>
                  <a:schemeClr val="tx1"/>
                </a:solidFill>
                <a:latin typeface="Cambria" panose="02040503050406030204" pitchFamily="18" charset="0"/>
                <a:ea typeface="Cambria" panose="02040503050406030204" pitchFamily="18" charset="0"/>
              </a:rPr>
              <a:t>. </a:t>
            </a:r>
          </a:p>
          <a:p>
            <a:pPr marL="0" indent="0">
              <a:buNone/>
            </a:pPr>
            <a:r>
              <a:rPr lang="en-GB" sz="1900" b="1" dirty="0">
                <a:solidFill>
                  <a:schemeClr val="tx1"/>
                </a:solidFill>
                <a:latin typeface="Cambria" panose="02040503050406030204" pitchFamily="18" charset="0"/>
                <a:ea typeface="Cambria" panose="02040503050406030204" pitchFamily="18" charset="0"/>
              </a:rPr>
              <a:t>The message that Baba brings to the distracted souls gathered before Him</a:t>
            </a:r>
            <a:r>
              <a:rPr lang="en-GB" sz="1900" b="1" dirty="0" smtClean="0">
                <a:solidFill>
                  <a:schemeClr val="tx1"/>
                </a:solidFill>
                <a:latin typeface="Cambria" panose="02040503050406030204" pitchFamily="18" charset="0"/>
                <a:ea typeface="Cambria" panose="02040503050406030204" pitchFamily="18" charset="0"/>
              </a:rPr>
              <a:t>. "</a:t>
            </a:r>
            <a:r>
              <a:rPr lang="en-GB" sz="1900" b="1" dirty="0">
                <a:solidFill>
                  <a:schemeClr val="tx1"/>
                </a:solidFill>
                <a:latin typeface="Cambria" panose="02040503050406030204" pitchFamily="18" charset="0"/>
                <a:ea typeface="Cambria" panose="02040503050406030204" pitchFamily="18" charset="0"/>
              </a:rPr>
              <a:t>I do not discard anyone; I cannot, it is not My nature to do so, have no fear; I am Yours, You are </a:t>
            </a:r>
            <a:r>
              <a:rPr lang="en-GB" sz="1900" b="1" dirty="0" smtClean="0">
                <a:solidFill>
                  <a:schemeClr val="tx1"/>
                </a:solidFill>
                <a:latin typeface="Cambria" panose="02040503050406030204" pitchFamily="18" charset="0"/>
                <a:ea typeface="Cambria" panose="02040503050406030204" pitchFamily="18" charset="0"/>
              </a:rPr>
              <a:t>Mine”.</a:t>
            </a:r>
          </a:p>
          <a:p>
            <a:pPr marL="0" indent="0">
              <a:buNone/>
            </a:pPr>
            <a:r>
              <a:rPr lang="en-GB" sz="1900" b="1" dirty="0">
                <a:solidFill>
                  <a:schemeClr val="tx1"/>
                </a:solidFill>
                <a:latin typeface="Cambria" panose="02040503050406030204" pitchFamily="18" charset="0"/>
                <a:ea typeface="Cambria" panose="02040503050406030204" pitchFamily="18" charset="0"/>
              </a:rPr>
              <a:t>His primary purpose is to awaken man from the sleep of ignorance and point out to him his Divine Self. "You are the invincible Atman, unaffected by the ups and downs </a:t>
            </a:r>
            <a:r>
              <a:rPr lang="en-GB" sz="1900" b="1" dirty="0" smtClean="0">
                <a:solidFill>
                  <a:schemeClr val="tx1"/>
                </a:solidFill>
                <a:latin typeface="Cambria" panose="02040503050406030204" pitchFamily="18" charset="0"/>
                <a:ea typeface="Cambria" panose="02040503050406030204" pitchFamily="18" charset="0"/>
              </a:rPr>
              <a:t>of the life.</a:t>
            </a:r>
            <a:endParaRPr lang="en-GB" sz="1900" b="1" dirty="0">
              <a:solidFill>
                <a:schemeClr val="tx1"/>
              </a:solidFill>
              <a:latin typeface="Cambria" panose="02040503050406030204" pitchFamily="18" charset="0"/>
              <a:ea typeface="Cambria" panose="02040503050406030204" pitchFamily="18" charset="0"/>
            </a:endParaRPr>
          </a:p>
          <a:p>
            <a:pPr marL="0" indent="0">
              <a:buNone/>
            </a:pPr>
            <a:r>
              <a:rPr lang="en-GB" sz="1900" b="1" dirty="0" smtClean="0">
                <a:solidFill>
                  <a:schemeClr val="tx1"/>
                </a:solidFill>
                <a:latin typeface="Cambria" panose="02040503050406030204" pitchFamily="18" charset="0"/>
                <a:ea typeface="Cambria" panose="02040503050406030204" pitchFamily="18" charset="0"/>
              </a:rPr>
              <a:t>My </a:t>
            </a:r>
            <a:r>
              <a:rPr lang="en-GB" sz="1900" b="1" dirty="0">
                <a:solidFill>
                  <a:schemeClr val="tx1"/>
                </a:solidFill>
                <a:latin typeface="Cambria" panose="02040503050406030204" pitchFamily="18" charset="0"/>
                <a:ea typeface="Cambria" panose="02040503050406030204" pitchFamily="18" charset="0"/>
              </a:rPr>
              <a:t>mission is to grant you courage and joy, to drive away weakness and fear, He </a:t>
            </a:r>
            <a:r>
              <a:rPr lang="en-GB" sz="1900" b="1" dirty="0" smtClean="0">
                <a:solidFill>
                  <a:schemeClr val="tx1"/>
                </a:solidFill>
                <a:latin typeface="Cambria" panose="02040503050406030204" pitchFamily="18" charset="0"/>
                <a:ea typeface="Cambria" panose="02040503050406030204" pitchFamily="18" charset="0"/>
              </a:rPr>
              <a:t>lights the </a:t>
            </a:r>
            <a:r>
              <a:rPr lang="en-GB" sz="1900" b="1" dirty="0">
                <a:solidFill>
                  <a:schemeClr val="tx1"/>
                </a:solidFill>
                <a:latin typeface="Cambria" panose="02040503050406030204" pitchFamily="18" charset="0"/>
                <a:ea typeface="Cambria" panose="02040503050406030204" pitchFamily="18" charset="0"/>
              </a:rPr>
              <a:t>flame of hope and health in every heart</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a:solidFill>
                  <a:schemeClr val="tx1"/>
                </a:solidFill>
                <a:latin typeface="Cambria" panose="02040503050406030204" pitchFamily="18" charset="0"/>
                <a:ea typeface="Cambria" panose="02040503050406030204" pitchFamily="18" charset="0"/>
              </a:rPr>
              <a:t>The </a:t>
            </a:r>
            <a:r>
              <a:rPr lang="en-GB" sz="1900" b="1" dirty="0" smtClean="0">
                <a:solidFill>
                  <a:schemeClr val="tx1"/>
                </a:solidFill>
                <a:latin typeface="Cambria" panose="02040503050406030204" pitchFamily="18" charset="0"/>
                <a:ea typeface="Cambria" panose="02040503050406030204" pitchFamily="18" charset="0"/>
              </a:rPr>
              <a:t>sweetness, overpowering  </a:t>
            </a:r>
            <a:r>
              <a:rPr lang="en-GB" sz="1900" b="1" dirty="0">
                <a:solidFill>
                  <a:schemeClr val="tx1"/>
                </a:solidFill>
                <a:latin typeface="Cambria" panose="02040503050406030204" pitchFamily="18" charset="0"/>
                <a:ea typeface="Cambria" panose="02040503050406030204" pitchFamily="18" charset="0"/>
              </a:rPr>
              <a:t>mercy</a:t>
            </a:r>
            <a:r>
              <a:rPr lang="en-GB" sz="1900" b="1" dirty="0" smtClean="0">
                <a:solidFill>
                  <a:schemeClr val="tx1"/>
                </a:solidFill>
                <a:latin typeface="Cambria" panose="02040503050406030204" pitchFamily="18" charset="0"/>
                <a:ea typeface="Cambria" panose="02040503050406030204" pitchFamily="18" charset="0"/>
              </a:rPr>
              <a:t>, and </a:t>
            </a:r>
            <a:r>
              <a:rPr lang="en-GB" sz="1900" b="1" dirty="0">
                <a:solidFill>
                  <a:schemeClr val="tx1"/>
                </a:solidFill>
                <a:latin typeface="Cambria" panose="02040503050406030204" pitchFamily="18" charset="0"/>
                <a:ea typeface="Cambria" panose="02040503050406030204" pitchFamily="18" charset="0"/>
              </a:rPr>
              <a:t>his words of wisdom</a:t>
            </a:r>
            <a:r>
              <a:rPr lang="en-GB" sz="1900" b="1" dirty="0" smtClean="0">
                <a:solidFill>
                  <a:schemeClr val="tx1"/>
                </a:solidFill>
                <a:latin typeface="Cambria" panose="02040503050406030204" pitchFamily="18" charset="0"/>
                <a:ea typeface="Cambria" panose="02040503050406030204" pitchFamily="18" charset="0"/>
              </a:rPr>
              <a:t>, he </a:t>
            </a:r>
            <a:r>
              <a:rPr lang="en-GB" sz="1900" b="1" dirty="0">
                <a:solidFill>
                  <a:schemeClr val="tx1"/>
                </a:solidFill>
                <a:latin typeface="Cambria" panose="02040503050406030204" pitchFamily="18" charset="0"/>
                <a:ea typeface="Cambria" panose="02040503050406030204" pitchFamily="18" charset="0"/>
              </a:rPr>
              <a:t>has corrected the millions of people towards the path of </a:t>
            </a:r>
            <a:r>
              <a:rPr lang="en-GB" sz="1900" b="1" dirty="0" err="1">
                <a:solidFill>
                  <a:schemeClr val="tx1"/>
                </a:solidFill>
                <a:latin typeface="Cambria" panose="02040503050406030204" pitchFamily="18" charset="0"/>
                <a:ea typeface="Cambria" panose="02040503050406030204" pitchFamily="18" charset="0"/>
              </a:rPr>
              <a:t>Lokasangraha</a:t>
            </a:r>
            <a:r>
              <a:rPr lang="en-GB" sz="1900" b="1" dirty="0">
                <a:solidFill>
                  <a:schemeClr val="tx1"/>
                </a:solidFill>
                <a:latin typeface="Cambria" panose="02040503050406030204" pitchFamily="18" charset="0"/>
                <a:ea typeface="Cambria" panose="02040503050406030204" pitchFamily="18" charset="0"/>
              </a:rPr>
              <a:t> and </a:t>
            </a:r>
            <a:r>
              <a:rPr lang="en-GB" sz="1900" b="1" dirty="0" err="1">
                <a:solidFill>
                  <a:schemeClr val="tx1"/>
                </a:solidFill>
                <a:latin typeface="Cambria" panose="02040503050406030204" pitchFamily="18" charset="0"/>
                <a:ea typeface="Cambria" panose="02040503050406030204" pitchFamily="18" charset="0"/>
              </a:rPr>
              <a:t>Atmoddhara</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endParaRPr lang="en-GB" sz="1900" b="1" dirty="0" smtClean="0">
              <a:solidFill>
                <a:schemeClr val="tx1"/>
              </a:solidFill>
              <a:latin typeface="Cambria" panose="02040503050406030204" pitchFamily="18" charset="0"/>
              <a:ea typeface="Cambria" panose="02040503050406030204" pitchFamily="18" charset="0"/>
            </a:endParaRPr>
          </a:p>
          <a:p>
            <a:pPr marL="0" indent="0">
              <a:buNone/>
            </a:pPr>
            <a:endParaRPr lang="en-IN" sz="1900" b="1"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76786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219661" cy="6457631"/>
          </a:xfrm>
        </p:spPr>
        <p:txBody>
          <a:bodyPr>
            <a:noAutofit/>
          </a:bodyPr>
          <a:lstStyle/>
          <a:p>
            <a:pPr marL="0" indent="0">
              <a:buNone/>
            </a:pPr>
            <a:r>
              <a:rPr lang="en-GB" sz="1900" b="1" dirty="0" smtClean="0">
                <a:solidFill>
                  <a:schemeClr val="tx1"/>
                </a:solidFill>
                <a:latin typeface="Cambria" panose="02040503050406030204" pitchFamily="18" charset="0"/>
                <a:ea typeface="Cambria" panose="02040503050406030204" pitchFamily="18" charset="0"/>
              </a:rPr>
              <a:t>Baba once  mentioned  after the his discourse at Nellore, </a:t>
            </a:r>
            <a:r>
              <a:rPr lang="en-GB" sz="1900" b="1" dirty="0">
                <a:solidFill>
                  <a:schemeClr val="tx1"/>
                </a:solidFill>
                <a:latin typeface="Cambria" panose="02040503050406030204" pitchFamily="18" charset="0"/>
                <a:ea typeface="Cambria" panose="02040503050406030204" pitchFamily="18" charset="0"/>
              </a:rPr>
              <a:t>A person rushed into His room and fell at His feet, and crying like a child. Baba know the reason and Baba related the Story of </a:t>
            </a:r>
            <a:r>
              <a:rPr lang="en-GB" sz="1900" b="1" dirty="0" err="1">
                <a:solidFill>
                  <a:schemeClr val="tx1"/>
                </a:solidFill>
                <a:latin typeface="Cambria" panose="02040503050406030204" pitchFamily="18" charset="0"/>
                <a:ea typeface="Cambria" panose="02040503050406030204" pitchFamily="18" charset="0"/>
              </a:rPr>
              <a:t>Ramu</a:t>
            </a:r>
            <a:r>
              <a:rPr lang="en-GB" sz="1900" b="1" dirty="0">
                <a:solidFill>
                  <a:schemeClr val="tx1"/>
                </a:solidFill>
                <a:latin typeface="Cambria" panose="02040503050406030204" pitchFamily="18" charset="0"/>
                <a:ea typeface="Cambria" panose="02040503050406030204" pitchFamily="18" charset="0"/>
              </a:rPr>
              <a:t>, who begged for food, from door to door and his mother was very ill so he called out in front of a house</a:t>
            </a:r>
            <a:r>
              <a:rPr lang="en-GB" sz="1900" b="1" dirty="0" smtClean="0">
                <a:solidFill>
                  <a:schemeClr val="tx1"/>
                </a:solidFill>
                <a:latin typeface="Cambria" panose="02040503050406030204" pitchFamily="18" charset="0"/>
                <a:ea typeface="Cambria" panose="02040503050406030204" pitchFamily="18" charset="0"/>
              </a:rPr>
              <a:t>, enraging </a:t>
            </a:r>
            <a:r>
              <a:rPr lang="en-GB" sz="1900" b="1" dirty="0">
                <a:solidFill>
                  <a:schemeClr val="tx1"/>
                </a:solidFill>
                <a:latin typeface="Cambria" panose="02040503050406030204" pitchFamily="18" charset="0"/>
                <a:ea typeface="Cambria" panose="02040503050406030204" pitchFamily="18" charset="0"/>
              </a:rPr>
              <a:t>the master, who rushed towards him and hit him on the head, the boy fall with the pot, which contained his earnings and the blow killed him and he died with the </a:t>
            </a:r>
            <a:r>
              <a:rPr lang="en-GB" sz="1900" b="1" dirty="0" err="1">
                <a:solidFill>
                  <a:schemeClr val="tx1"/>
                </a:solidFill>
                <a:latin typeface="Cambria" panose="02040503050406030204" pitchFamily="18" charset="0"/>
                <a:ea typeface="Cambria" panose="02040503050406030204" pitchFamily="18" charset="0"/>
              </a:rPr>
              <a:t>words,"Mother</a:t>
            </a:r>
            <a:r>
              <a:rPr lang="en-GB" sz="1900" b="1" dirty="0">
                <a:solidFill>
                  <a:schemeClr val="tx1"/>
                </a:solidFill>
                <a:latin typeface="Cambria" panose="02040503050406030204" pitchFamily="18" charset="0"/>
                <a:ea typeface="Cambria" panose="02040503050406030204" pitchFamily="18" charset="0"/>
              </a:rPr>
              <a:t>, who will give you food now?" on his lips</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a:solidFill>
                  <a:schemeClr val="tx1"/>
                </a:solidFill>
                <a:latin typeface="Cambria" panose="02040503050406030204" pitchFamily="18" charset="0"/>
                <a:ea typeface="Cambria" panose="02040503050406030204" pitchFamily="18" charset="0"/>
              </a:rPr>
              <a:t>That story and the advice baba gave, that everyone must be grateful </a:t>
            </a:r>
            <a:r>
              <a:rPr lang="en-GB" sz="1900" b="1" dirty="0" smtClean="0">
                <a:solidFill>
                  <a:schemeClr val="tx1"/>
                </a:solidFill>
                <a:latin typeface="Cambria" panose="02040503050406030204" pitchFamily="18" charset="0"/>
                <a:ea typeface="Cambria" panose="02040503050406030204" pitchFamily="18" charset="0"/>
              </a:rPr>
              <a:t>to parents, whom </a:t>
            </a:r>
            <a:r>
              <a:rPr lang="en-GB" sz="1900" b="1" dirty="0">
                <a:solidFill>
                  <a:schemeClr val="tx1"/>
                </a:solidFill>
                <a:latin typeface="Cambria" panose="02040503050406030204" pitchFamily="18" charset="0"/>
                <a:ea typeface="Cambria" panose="02040503050406030204" pitchFamily="18" charset="0"/>
              </a:rPr>
              <a:t>he owes his very existence</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a:solidFill>
                  <a:schemeClr val="tx1"/>
                </a:solidFill>
                <a:latin typeface="Cambria" panose="02040503050406030204" pitchFamily="18" charset="0"/>
                <a:ea typeface="Cambria" panose="02040503050406030204" pitchFamily="18" charset="0"/>
              </a:rPr>
              <a:t>Now, he had come to crave Baba's pardon and rehabilitate himself under His </a:t>
            </a:r>
            <a:r>
              <a:rPr lang="en-GB" sz="1900" b="1" dirty="0" smtClean="0">
                <a:solidFill>
                  <a:schemeClr val="tx1"/>
                </a:solidFill>
                <a:latin typeface="Cambria" panose="02040503050406030204" pitchFamily="18" charset="0"/>
                <a:ea typeface="Cambria" panose="02040503050406030204" pitchFamily="18" charset="0"/>
              </a:rPr>
              <a:t>guide and </a:t>
            </a:r>
            <a:r>
              <a:rPr lang="en-GB" sz="1900" b="1" dirty="0">
                <a:solidFill>
                  <a:schemeClr val="tx1"/>
                </a:solidFill>
                <a:latin typeface="Cambria" panose="02040503050406030204" pitchFamily="18" charset="0"/>
                <a:ea typeface="Cambria" panose="02040503050406030204" pitchFamily="18" charset="0"/>
              </a:rPr>
              <a:t>with His Blessing. He patted him </a:t>
            </a:r>
            <a:r>
              <a:rPr lang="en-GB" sz="1900" b="1" dirty="0" smtClean="0">
                <a:solidFill>
                  <a:schemeClr val="tx1"/>
                </a:solidFill>
                <a:latin typeface="Cambria" panose="02040503050406030204" pitchFamily="18" charset="0"/>
                <a:ea typeface="Cambria" panose="02040503050406030204" pitchFamily="18" charset="0"/>
              </a:rPr>
              <a:t>on </a:t>
            </a:r>
            <a:r>
              <a:rPr lang="en-GB" sz="1900" b="1" dirty="0">
                <a:solidFill>
                  <a:schemeClr val="tx1"/>
                </a:solidFill>
                <a:latin typeface="Cambria" panose="02040503050406030204" pitchFamily="18" charset="0"/>
                <a:ea typeface="Cambria" panose="02040503050406030204" pitchFamily="18" charset="0"/>
              </a:rPr>
              <a:t>the back. Baba said,"</a:t>
            </a:r>
            <a:r>
              <a:rPr lang="en-GB" sz="1900" b="1" dirty="0" err="1">
                <a:solidFill>
                  <a:schemeClr val="tx1"/>
                </a:solidFill>
                <a:latin typeface="Cambria" panose="02040503050406030204" pitchFamily="18" charset="0"/>
                <a:ea typeface="Cambria" panose="02040503050406030204" pitchFamily="18" charset="0"/>
              </a:rPr>
              <a:t>Paschatapam</a:t>
            </a:r>
            <a:r>
              <a:rPr lang="en-GB" sz="1900" b="1" dirty="0">
                <a:solidFill>
                  <a:schemeClr val="tx1"/>
                </a:solidFill>
                <a:latin typeface="Cambria" panose="02040503050406030204" pitchFamily="18" charset="0"/>
                <a:ea typeface="Cambria" panose="02040503050406030204" pitchFamily="18" charset="0"/>
              </a:rPr>
              <a:t> is itself the </a:t>
            </a:r>
            <a:r>
              <a:rPr lang="en-GB" sz="1900" b="1" dirty="0" err="1">
                <a:solidFill>
                  <a:schemeClr val="tx1"/>
                </a:solidFill>
                <a:latin typeface="Cambria" panose="02040503050406030204" pitchFamily="18" charset="0"/>
                <a:ea typeface="Cambria" panose="02040503050406030204" pitchFamily="18" charset="0"/>
              </a:rPr>
              <a:t>Prayaschittam</a:t>
            </a:r>
            <a:r>
              <a:rPr lang="en-GB" sz="1900" b="1" dirty="0">
                <a:solidFill>
                  <a:schemeClr val="tx1"/>
                </a:solidFill>
                <a:latin typeface="Cambria" panose="02040503050406030204" pitchFamily="18" charset="0"/>
                <a:ea typeface="Cambria" panose="02040503050406030204" pitchFamily="18" charset="0"/>
              </a:rPr>
              <a:t>. Come</a:t>
            </a:r>
            <a:r>
              <a:rPr lang="en-GB" sz="1900" b="1" dirty="0" smtClean="0">
                <a:solidFill>
                  <a:schemeClr val="tx1"/>
                </a:solidFill>
                <a:latin typeface="Cambria" panose="02040503050406030204" pitchFamily="18" charset="0"/>
                <a:ea typeface="Cambria" panose="02040503050406030204" pitchFamily="18" charset="0"/>
              </a:rPr>
              <a:t>, </a:t>
            </a:r>
            <a:r>
              <a:rPr lang="en-GB" sz="1900" b="1" dirty="0">
                <a:solidFill>
                  <a:schemeClr val="tx1"/>
                </a:solidFill>
                <a:latin typeface="Cambria" panose="02040503050406030204" pitchFamily="18" charset="0"/>
                <a:ea typeface="Cambria" panose="02040503050406030204" pitchFamily="18" charset="0"/>
              </a:rPr>
              <a:t>Stop crying. I shall be at your village, bring your mother there and you shall get </a:t>
            </a:r>
            <a:r>
              <a:rPr lang="en-GB" sz="1900" b="1" dirty="0" err="1">
                <a:solidFill>
                  <a:schemeClr val="tx1"/>
                </a:solidFill>
                <a:latin typeface="Cambria" panose="02040503050406030204" pitchFamily="18" charset="0"/>
                <a:ea typeface="Cambria" panose="02040503050406030204" pitchFamily="18" charset="0"/>
              </a:rPr>
              <a:t>darshan</a:t>
            </a:r>
            <a:r>
              <a:rPr lang="en-GB" sz="1900" b="1" dirty="0">
                <a:solidFill>
                  <a:schemeClr val="tx1"/>
                </a:solidFill>
                <a:latin typeface="Cambria" panose="02040503050406030204" pitchFamily="18" charset="0"/>
                <a:ea typeface="Cambria" panose="02040503050406030204" pitchFamily="18" charset="0"/>
              </a:rPr>
              <a:t> together. Go and get her there, before I arrive</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a:solidFill>
                  <a:schemeClr val="tx1"/>
                </a:solidFill>
                <a:latin typeface="Cambria" panose="02040503050406030204" pitchFamily="18" charset="0"/>
                <a:ea typeface="Cambria" panose="02040503050406030204" pitchFamily="18" charset="0"/>
              </a:rPr>
              <a:t>Baba campaign of </a:t>
            </a:r>
            <a:r>
              <a:rPr lang="en-GB" sz="1900" b="1" dirty="0" err="1">
                <a:solidFill>
                  <a:schemeClr val="tx1"/>
                </a:solidFill>
                <a:latin typeface="Cambria" panose="02040503050406030204" pitchFamily="18" charset="0"/>
                <a:ea typeface="Cambria" panose="02040503050406030204" pitchFamily="18" charset="0"/>
              </a:rPr>
              <a:t>upadesh</a:t>
            </a:r>
            <a:r>
              <a:rPr lang="en-GB" sz="1900" b="1" dirty="0">
                <a:solidFill>
                  <a:schemeClr val="tx1"/>
                </a:solidFill>
                <a:latin typeface="Cambria" panose="02040503050406030204" pitchFamily="18" charset="0"/>
                <a:ea typeface="Cambria" panose="02040503050406030204" pitchFamily="18" charset="0"/>
              </a:rPr>
              <a:t> has only just began and anyone, who has heard his message can </a:t>
            </a:r>
            <a:r>
              <a:rPr lang="en-GB" sz="1900" b="1" dirty="0" smtClean="0">
                <a:solidFill>
                  <a:schemeClr val="tx1"/>
                </a:solidFill>
                <a:latin typeface="Cambria" panose="02040503050406030204" pitchFamily="18" charset="0"/>
                <a:ea typeface="Cambria" panose="02040503050406030204" pitchFamily="18" charset="0"/>
              </a:rPr>
              <a:t>see the </a:t>
            </a:r>
            <a:r>
              <a:rPr lang="en-GB" sz="1900" b="1" dirty="0">
                <a:solidFill>
                  <a:schemeClr val="tx1"/>
                </a:solidFill>
                <a:latin typeface="Cambria" panose="02040503050406030204" pitchFamily="18" charset="0"/>
                <a:ea typeface="Cambria" panose="02040503050406030204" pitchFamily="18" charset="0"/>
              </a:rPr>
              <a:t>importance of the </a:t>
            </a:r>
            <a:r>
              <a:rPr lang="en-GB" sz="1900" b="1" dirty="0" smtClean="0">
                <a:solidFill>
                  <a:schemeClr val="tx1"/>
                </a:solidFill>
                <a:latin typeface="Cambria" panose="02040503050406030204" pitchFamily="18" charset="0"/>
                <a:ea typeface="Cambria" panose="02040503050406030204" pitchFamily="18" charset="0"/>
              </a:rPr>
              <a:t>declaration. </a:t>
            </a:r>
            <a:r>
              <a:rPr lang="en-GB" sz="1900" b="1" dirty="0">
                <a:solidFill>
                  <a:schemeClr val="tx1"/>
                </a:solidFill>
                <a:latin typeface="Cambria" panose="02040503050406030204" pitchFamily="18" charset="0"/>
                <a:ea typeface="Cambria" panose="02040503050406030204" pitchFamily="18" charset="0"/>
              </a:rPr>
              <a:t>He made on the opening page of the </a:t>
            </a:r>
            <a:r>
              <a:rPr lang="en-GB" sz="1900" b="1" dirty="0" err="1">
                <a:solidFill>
                  <a:schemeClr val="tx1"/>
                </a:solidFill>
                <a:latin typeface="Cambria" panose="02040503050406030204" pitchFamily="18" charset="0"/>
                <a:ea typeface="Cambria" panose="02040503050406030204" pitchFamily="18" charset="0"/>
              </a:rPr>
              <a:t>Sanathana</a:t>
            </a:r>
            <a:r>
              <a:rPr lang="en-GB" sz="1900" b="1" dirty="0">
                <a:solidFill>
                  <a:schemeClr val="tx1"/>
                </a:solidFill>
                <a:latin typeface="Cambria" panose="02040503050406030204" pitchFamily="18" charset="0"/>
                <a:ea typeface="Cambria" panose="02040503050406030204" pitchFamily="18" charset="0"/>
              </a:rPr>
              <a:t> </a:t>
            </a:r>
            <a:r>
              <a:rPr lang="en-GB" sz="1900" b="1" dirty="0" err="1">
                <a:solidFill>
                  <a:schemeClr val="tx1"/>
                </a:solidFill>
                <a:latin typeface="Cambria" panose="02040503050406030204" pitchFamily="18" charset="0"/>
                <a:ea typeface="Cambria" panose="02040503050406030204" pitchFamily="18" charset="0"/>
              </a:rPr>
              <a:t>Sarati</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a:solidFill>
                  <a:schemeClr val="tx1"/>
                </a:solidFill>
                <a:latin typeface="Cambria" panose="02040503050406030204" pitchFamily="18" charset="0"/>
                <a:ea typeface="Cambria" panose="02040503050406030204" pitchFamily="18" charset="0"/>
              </a:rPr>
              <a:t>The monthly magazine </a:t>
            </a:r>
            <a:r>
              <a:rPr lang="en-GB" sz="1900" b="1" dirty="0" err="1">
                <a:solidFill>
                  <a:schemeClr val="tx1"/>
                </a:solidFill>
                <a:latin typeface="Cambria" panose="02040503050406030204" pitchFamily="18" charset="0"/>
                <a:ea typeface="Cambria" panose="02040503050406030204" pitchFamily="18" charset="0"/>
              </a:rPr>
              <a:t>Sanathana</a:t>
            </a:r>
            <a:r>
              <a:rPr lang="en-GB" sz="1900" b="1" dirty="0">
                <a:solidFill>
                  <a:schemeClr val="tx1"/>
                </a:solidFill>
                <a:latin typeface="Cambria" panose="02040503050406030204" pitchFamily="18" charset="0"/>
                <a:ea typeface="Cambria" panose="02040503050406030204" pitchFamily="18" charset="0"/>
              </a:rPr>
              <a:t> </a:t>
            </a:r>
            <a:r>
              <a:rPr lang="en-GB" sz="1900" b="1" dirty="0" err="1">
                <a:solidFill>
                  <a:schemeClr val="tx1"/>
                </a:solidFill>
                <a:latin typeface="Cambria" panose="02040503050406030204" pitchFamily="18" charset="0"/>
                <a:ea typeface="Cambria" panose="02040503050406030204" pitchFamily="18" charset="0"/>
              </a:rPr>
              <a:t>Sarati</a:t>
            </a:r>
            <a:r>
              <a:rPr lang="en-GB" sz="1900" b="1" dirty="0">
                <a:solidFill>
                  <a:schemeClr val="tx1"/>
                </a:solidFill>
                <a:latin typeface="Cambria" panose="02040503050406030204" pitchFamily="18" charset="0"/>
                <a:ea typeface="Cambria" panose="02040503050406030204" pitchFamily="18" charset="0"/>
              </a:rPr>
              <a:t> which baba inaugurated on </a:t>
            </a:r>
            <a:r>
              <a:rPr lang="en-GB" sz="1900" b="1" dirty="0" smtClean="0">
                <a:solidFill>
                  <a:schemeClr val="tx1"/>
                </a:solidFill>
                <a:latin typeface="Cambria" panose="02040503050406030204" pitchFamily="18" charset="0"/>
                <a:ea typeface="Cambria" panose="02040503050406030204" pitchFamily="18" charset="0"/>
              </a:rPr>
              <a:t>Shivaratri ,1958. The </a:t>
            </a:r>
            <a:r>
              <a:rPr lang="en-GB" sz="1900" b="1" dirty="0" err="1">
                <a:solidFill>
                  <a:schemeClr val="tx1"/>
                </a:solidFill>
                <a:latin typeface="Cambria" panose="02040503050406030204" pitchFamily="18" charset="0"/>
                <a:ea typeface="Cambria" panose="02040503050406030204" pitchFamily="18" charset="0"/>
              </a:rPr>
              <a:t>Sanathana</a:t>
            </a:r>
            <a:r>
              <a:rPr lang="en-GB" sz="1900" b="1" dirty="0">
                <a:solidFill>
                  <a:schemeClr val="tx1"/>
                </a:solidFill>
                <a:latin typeface="Cambria" panose="02040503050406030204" pitchFamily="18" charset="0"/>
                <a:ea typeface="Cambria" panose="02040503050406030204" pitchFamily="18" charset="0"/>
              </a:rPr>
              <a:t> </a:t>
            </a:r>
            <a:r>
              <a:rPr lang="en-GB" sz="1900" b="1" dirty="0" err="1">
                <a:solidFill>
                  <a:schemeClr val="tx1"/>
                </a:solidFill>
                <a:latin typeface="Cambria" panose="02040503050406030204" pitchFamily="18" charset="0"/>
                <a:ea typeface="Cambria" panose="02040503050406030204" pitchFamily="18" charset="0"/>
              </a:rPr>
              <a:t>Sarati</a:t>
            </a:r>
            <a:r>
              <a:rPr lang="en-GB" sz="1900" b="1" dirty="0">
                <a:solidFill>
                  <a:schemeClr val="tx1"/>
                </a:solidFill>
                <a:latin typeface="Cambria" panose="02040503050406030204" pitchFamily="18" charset="0"/>
                <a:ea typeface="Cambria" panose="02040503050406030204" pitchFamily="18" charset="0"/>
              </a:rPr>
              <a:t> </a:t>
            </a:r>
            <a:r>
              <a:rPr lang="en-GB" sz="1900" b="1" dirty="0" smtClean="0">
                <a:solidFill>
                  <a:schemeClr val="tx1"/>
                </a:solidFill>
                <a:latin typeface="Cambria" panose="02040503050406030204" pitchFamily="18" charset="0"/>
                <a:ea typeface="Cambria" panose="02040503050406030204" pitchFamily="18" charset="0"/>
              </a:rPr>
              <a:t>, starts </a:t>
            </a:r>
            <a:r>
              <a:rPr lang="en-GB" sz="1900" b="1" dirty="0">
                <a:solidFill>
                  <a:schemeClr val="tx1"/>
                </a:solidFill>
                <a:latin typeface="Cambria" panose="02040503050406030204" pitchFamily="18" charset="0"/>
                <a:ea typeface="Cambria" panose="02040503050406030204" pitchFamily="18" charset="0"/>
              </a:rPr>
              <a:t>out on the campaign against Injustice and </a:t>
            </a:r>
            <a:r>
              <a:rPr lang="en-GB" sz="1900" b="1" dirty="0" smtClean="0">
                <a:solidFill>
                  <a:schemeClr val="tx1"/>
                </a:solidFill>
                <a:latin typeface="Cambria" panose="02040503050406030204" pitchFamily="18" charset="0"/>
                <a:ea typeface="Cambria" panose="02040503050406030204" pitchFamily="18" charset="0"/>
              </a:rPr>
              <a:t>Evil.</a:t>
            </a:r>
            <a:endParaRPr lang="en-IN" sz="1900" b="1"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31236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7274" y="240349"/>
            <a:ext cx="8489526" cy="6389051"/>
          </a:xfrm>
        </p:spPr>
        <p:txBody>
          <a:bodyPr>
            <a:normAutofit/>
          </a:bodyPr>
          <a:lstStyle/>
          <a:p>
            <a:pPr marL="0" indent="0">
              <a:buNone/>
            </a:pPr>
            <a:r>
              <a:rPr lang="en-GB" sz="1900" b="1" dirty="0" smtClean="0">
                <a:solidFill>
                  <a:schemeClr val="tx1"/>
                </a:solidFill>
                <a:latin typeface="Cambria" panose="02040503050406030204" pitchFamily="18" charset="0"/>
                <a:ea typeface="Cambria" panose="02040503050406030204" pitchFamily="18" charset="0"/>
              </a:rPr>
              <a:t>The Vedas, the Upanishads, and the </a:t>
            </a:r>
            <a:r>
              <a:rPr lang="en-GB" sz="1900" b="1" dirty="0" err="1" smtClean="0">
                <a:solidFill>
                  <a:schemeClr val="tx1"/>
                </a:solidFill>
                <a:latin typeface="Cambria" panose="02040503050406030204" pitchFamily="18" charset="0"/>
                <a:ea typeface="Cambria" panose="02040503050406030204" pitchFamily="18" charset="0"/>
              </a:rPr>
              <a:t>Shastras</a:t>
            </a:r>
            <a:r>
              <a:rPr lang="en-GB" sz="1900" b="1" dirty="0" smtClean="0">
                <a:solidFill>
                  <a:schemeClr val="tx1"/>
                </a:solidFill>
                <a:latin typeface="Cambria" panose="02040503050406030204" pitchFamily="18" charset="0"/>
                <a:ea typeface="Cambria" panose="02040503050406030204" pitchFamily="18" charset="0"/>
              </a:rPr>
              <a:t> are the parts of the army. When the triumphant drums are beaten in the joy of success, Humanity would have achieved happiness and Peace, </a:t>
            </a:r>
            <a:r>
              <a:rPr lang="en-GB" sz="1900" b="1" dirty="0" err="1" smtClean="0">
                <a:solidFill>
                  <a:schemeClr val="tx1"/>
                </a:solidFill>
                <a:latin typeface="Cambria" panose="02040503050406030204" pitchFamily="18" charset="0"/>
                <a:ea typeface="Cambria" panose="02040503050406030204" pitchFamily="18" charset="0"/>
              </a:rPr>
              <a:t>Sukhaand</a:t>
            </a:r>
            <a:r>
              <a:rPr lang="en-GB" sz="1900" b="1" dirty="0" smtClean="0">
                <a:solidFill>
                  <a:schemeClr val="tx1"/>
                </a:solidFill>
                <a:latin typeface="Cambria" panose="02040503050406030204" pitchFamily="18" charset="0"/>
                <a:ea typeface="Cambria" panose="02040503050406030204" pitchFamily="18" charset="0"/>
              </a:rPr>
              <a:t>, Shanti, </a:t>
            </a:r>
            <a:r>
              <a:rPr lang="en-GB" sz="1900" b="1" dirty="0" err="1" smtClean="0">
                <a:solidFill>
                  <a:schemeClr val="tx1"/>
                </a:solidFill>
                <a:latin typeface="Cambria" panose="02040503050406030204" pitchFamily="18" charset="0"/>
                <a:ea typeface="Cambria" panose="02040503050406030204" pitchFamily="18" charset="0"/>
              </a:rPr>
              <a:t>Kshema</a:t>
            </a:r>
            <a:r>
              <a:rPr lang="en-GB" sz="1900" b="1" dirty="0" smtClean="0">
                <a:solidFill>
                  <a:schemeClr val="tx1"/>
                </a:solidFill>
                <a:latin typeface="Cambria" panose="02040503050406030204" pitchFamily="18" charset="0"/>
                <a:ea typeface="Cambria" panose="02040503050406030204" pitchFamily="18" charset="0"/>
              </a:rPr>
              <a:t> and Ananda."</a:t>
            </a:r>
          </a:p>
          <a:p>
            <a:pPr marL="0" indent="0">
              <a:buNone/>
            </a:pPr>
            <a:r>
              <a:rPr lang="en-GB" sz="1900" b="1" dirty="0" smtClean="0">
                <a:solidFill>
                  <a:schemeClr val="tx1"/>
                </a:solidFill>
                <a:latin typeface="Cambria" panose="02040503050406030204" pitchFamily="18" charset="0"/>
                <a:ea typeface="Cambria" panose="02040503050406030204" pitchFamily="18" charset="0"/>
              </a:rPr>
              <a:t>The clarion call for the great task is Baba's four-fold programme of </a:t>
            </a:r>
            <a:r>
              <a:rPr lang="en-GB" sz="1900" b="1" dirty="0" err="1" smtClean="0">
                <a:solidFill>
                  <a:schemeClr val="tx1"/>
                </a:solidFill>
                <a:latin typeface="Cambria" panose="02040503050406030204" pitchFamily="18" charset="0"/>
                <a:ea typeface="Cambria" panose="02040503050406030204" pitchFamily="18" charset="0"/>
              </a:rPr>
              <a:t>Sathya</a:t>
            </a:r>
            <a:r>
              <a:rPr lang="en-GB" sz="1900" b="1" dirty="0" smtClean="0">
                <a:solidFill>
                  <a:schemeClr val="tx1"/>
                </a:solidFill>
                <a:latin typeface="Cambria" panose="02040503050406030204" pitchFamily="18" charset="0"/>
                <a:ea typeface="Cambria" panose="02040503050406030204" pitchFamily="18" charset="0"/>
              </a:rPr>
              <a:t>, Dharma, Shanti, and </a:t>
            </a:r>
            <a:r>
              <a:rPr lang="en-GB" sz="1900" b="1" dirty="0" err="1" smtClean="0">
                <a:solidFill>
                  <a:schemeClr val="tx1"/>
                </a:solidFill>
                <a:latin typeface="Cambria" panose="02040503050406030204" pitchFamily="18" charset="0"/>
                <a:ea typeface="Cambria" panose="02040503050406030204" pitchFamily="18" charset="0"/>
              </a:rPr>
              <a:t>Prema</a:t>
            </a:r>
            <a:r>
              <a:rPr lang="en-GB" sz="1900" b="1" dirty="0" smtClean="0">
                <a:solidFill>
                  <a:schemeClr val="tx1"/>
                </a:solidFill>
                <a:latin typeface="Cambria" panose="02040503050406030204" pitchFamily="18" charset="0"/>
                <a:ea typeface="Cambria" panose="02040503050406030204" pitchFamily="18" charset="0"/>
              </a:rPr>
              <a:t>.</a:t>
            </a:r>
          </a:p>
          <a:p>
            <a:pPr marL="0" indent="0">
              <a:buNone/>
            </a:pPr>
            <a:r>
              <a:rPr lang="en-GB" sz="1900" b="1" dirty="0" smtClean="0">
                <a:solidFill>
                  <a:schemeClr val="tx1"/>
                </a:solidFill>
                <a:latin typeface="Cambria" panose="02040503050406030204" pitchFamily="18" charset="0"/>
                <a:ea typeface="Cambria" panose="02040503050406030204" pitchFamily="18" charset="0"/>
              </a:rPr>
              <a:t>For humanity it is not mentioned blessings of god is only </a:t>
            </a:r>
            <a:r>
              <a:rPr lang="en-GB" sz="1900" b="1" dirty="0" err="1" smtClean="0">
                <a:solidFill>
                  <a:schemeClr val="tx1"/>
                </a:solidFill>
                <a:latin typeface="Cambria" panose="02040503050406030204" pitchFamily="18" charset="0"/>
                <a:ea typeface="Cambria" panose="02040503050406030204" pitchFamily="18" charset="0"/>
              </a:rPr>
              <a:t>avaiable</a:t>
            </a:r>
            <a:r>
              <a:rPr lang="en-GB" sz="1900" b="1" dirty="0" smtClean="0">
                <a:solidFill>
                  <a:schemeClr val="tx1"/>
                </a:solidFill>
                <a:latin typeface="Cambria" panose="02040503050406030204" pitchFamily="18" charset="0"/>
                <a:ea typeface="Cambria" panose="02040503050406030204" pitchFamily="18" charset="0"/>
              </a:rPr>
              <a:t> for certain classes or grades of </a:t>
            </a:r>
            <a:r>
              <a:rPr lang="en-GB" sz="1900" b="1" dirty="0" err="1" smtClean="0">
                <a:solidFill>
                  <a:schemeClr val="tx1"/>
                </a:solidFill>
                <a:latin typeface="Cambria" panose="02040503050406030204" pitchFamily="18" charset="0"/>
                <a:ea typeface="Cambria" panose="02040503050406030204" pitchFamily="18" charset="0"/>
              </a:rPr>
              <a:t>perople</a:t>
            </a:r>
            <a:r>
              <a:rPr lang="en-GB" sz="1900" b="1" dirty="0" smtClean="0">
                <a:solidFill>
                  <a:schemeClr val="tx1"/>
                </a:solidFill>
                <a:latin typeface="Cambria" panose="02040503050406030204" pitchFamily="18" charset="0"/>
                <a:ea typeface="Cambria" panose="02040503050406030204" pitchFamily="18" charset="0"/>
              </a:rPr>
              <a:t>. one can be realised by </a:t>
            </a:r>
            <a:r>
              <a:rPr lang="en-GB" sz="1900" b="1" dirty="0" err="1" smtClean="0">
                <a:solidFill>
                  <a:schemeClr val="tx1"/>
                </a:solidFill>
                <a:latin typeface="Cambria" panose="02040503050406030204" pitchFamily="18" charset="0"/>
                <a:ea typeface="Cambria" panose="02040503050406030204" pitchFamily="18" charset="0"/>
              </a:rPr>
              <a:t>sadhana</a:t>
            </a:r>
            <a:r>
              <a:rPr lang="en-GB" sz="1900" b="1" dirty="0" smtClean="0">
                <a:solidFill>
                  <a:schemeClr val="tx1"/>
                </a:solidFill>
                <a:latin typeface="Cambria" panose="02040503050406030204" pitchFamily="18" charset="0"/>
                <a:ea typeface="Cambria" panose="02040503050406030204" pitchFamily="18" charset="0"/>
              </a:rPr>
              <a:t>, the practice of </a:t>
            </a:r>
            <a:r>
              <a:rPr lang="en-GB" sz="1900" b="1" dirty="0" err="1" smtClean="0">
                <a:solidFill>
                  <a:schemeClr val="tx1"/>
                </a:solidFill>
                <a:latin typeface="Cambria" panose="02040503050406030204" pitchFamily="18" charset="0"/>
                <a:ea typeface="Cambria" panose="02040503050406030204" pitchFamily="18" charset="0"/>
              </a:rPr>
              <a:t>Sathya</a:t>
            </a:r>
            <a:r>
              <a:rPr lang="en-GB" sz="1900" b="1" dirty="0" smtClean="0">
                <a:solidFill>
                  <a:schemeClr val="tx1"/>
                </a:solidFill>
                <a:latin typeface="Cambria" panose="02040503050406030204" pitchFamily="18" charset="0"/>
                <a:ea typeface="Cambria" panose="02040503050406030204" pitchFamily="18" charset="0"/>
              </a:rPr>
              <a:t> and </a:t>
            </a:r>
            <a:r>
              <a:rPr lang="en-GB" sz="1900" b="1" dirty="0" err="1" smtClean="0">
                <a:solidFill>
                  <a:schemeClr val="tx1"/>
                </a:solidFill>
                <a:latin typeface="Cambria" panose="02040503050406030204" pitchFamily="18" charset="0"/>
                <a:ea typeface="Cambria" panose="02040503050406030204" pitchFamily="18" charset="0"/>
              </a:rPr>
              <a:t>Prema</a:t>
            </a:r>
            <a:r>
              <a:rPr lang="en-GB" sz="1900" b="1" dirty="0" smtClean="0">
                <a:solidFill>
                  <a:schemeClr val="tx1"/>
                </a:solidFill>
                <a:latin typeface="Cambria" panose="02040503050406030204" pitchFamily="18" charset="0"/>
                <a:ea typeface="Cambria" panose="02040503050406030204" pitchFamily="18" charset="0"/>
              </a:rPr>
              <a:t>. </a:t>
            </a:r>
            <a:r>
              <a:rPr lang="en-GB" sz="1900" b="1" dirty="0" err="1" smtClean="0">
                <a:solidFill>
                  <a:schemeClr val="tx1"/>
                </a:solidFill>
                <a:latin typeface="Cambria" panose="02040503050406030204" pitchFamily="18" charset="0"/>
                <a:ea typeface="Cambria" panose="02040503050406030204" pitchFamily="18" charset="0"/>
              </a:rPr>
              <a:t>Sathya</a:t>
            </a:r>
            <a:r>
              <a:rPr lang="en-GB" sz="1900" b="1" dirty="0" smtClean="0">
                <a:solidFill>
                  <a:schemeClr val="tx1"/>
                </a:solidFill>
                <a:latin typeface="Cambria" panose="02040503050406030204" pitchFamily="18" charset="0"/>
                <a:ea typeface="Cambria" panose="02040503050406030204" pitchFamily="18" charset="0"/>
              </a:rPr>
              <a:t> is the highest Dharma and </a:t>
            </a:r>
            <a:r>
              <a:rPr lang="en-GB" sz="1900" b="1" dirty="0" err="1" smtClean="0">
                <a:solidFill>
                  <a:schemeClr val="tx1"/>
                </a:solidFill>
                <a:latin typeface="Cambria" panose="02040503050406030204" pitchFamily="18" charset="0"/>
                <a:ea typeface="Cambria" panose="02040503050406030204" pitchFamily="18" charset="0"/>
              </a:rPr>
              <a:t>Prema</a:t>
            </a:r>
            <a:r>
              <a:rPr lang="en-GB" sz="1900" b="1" dirty="0" smtClean="0">
                <a:solidFill>
                  <a:schemeClr val="tx1"/>
                </a:solidFill>
                <a:latin typeface="Cambria" panose="02040503050406030204" pitchFamily="18" charset="0"/>
                <a:ea typeface="Cambria" panose="02040503050406030204" pitchFamily="18" charset="0"/>
              </a:rPr>
              <a:t> is the one way to Shanti. </a:t>
            </a:r>
          </a:p>
          <a:p>
            <a:pPr marL="0" indent="0">
              <a:buNone/>
            </a:pPr>
            <a:r>
              <a:rPr lang="en-GB" sz="1900" b="1" dirty="0" smtClean="0">
                <a:solidFill>
                  <a:schemeClr val="tx1"/>
                </a:solidFill>
                <a:latin typeface="Cambria" panose="02040503050406030204" pitchFamily="18" charset="0"/>
                <a:ea typeface="Cambria" panose="02040503050406030204" pitchFamily="18" charset="0"/>
              </a:rPr>
              <a:t>Baba has also taken up the task of educating all the guides, who are  greed for name and fame.</a:t>
            </a:r>
          </a:p>
          <a:p>
            <a:pPr marL="0" indent="0">
              <a:buNone/>
            </a:pPr>
            <a:r>
              <a:rPr lang="en-GB" sz="1900" b="1" dirty="0" smtClean="0">
                <a:solidFill>
                  <a:schemeClr val="tx1"/>
                </a:solidFill>
                <a:latin typeface="Cambria" panose="02040503050406030204" pitchFamily="18" charset="0"/>
                <a:ea typeface="Cambria" panose="02040503050406030204" pitchFamily="18" charset="0"/>
              </a:rPr>
              <a:t>"Test everyone on the touchstone of </a:t>
            </a:r>
            <a:r>
              <a:rPr lang="en-GB" sz="1900" b="1" dirty="0" err="1" smtClean="0">
                <a:solidFill>
                  <a:schemeClr val="tx1"/>
                </a:solidFill>
                <a:latin typeface="Cambria" panose="02040503050406030204" pitchFamily="18" charset="0"/>
                <a:ea typeface="Cambria" panose="02040503050406030204" pitchFamily="18" charset="0"/>
              </a:rPr>
              <a:t>sincerity",see</a:t>
            </a:r>
            <a:r>
              <a:rPr lang="en-GB" sz="1900" b="1" dirty="0" smtClean="0">
                <a:solidFill>
                  <a:schemeClr val="tx1"/>
                </a:solidFill>
                <a:latin typeface="Cambria" panose="02040503050406030204" pitchFamily="18" charset="0"/>
                <a:ea typeface="Cambria" panose="02040503050406030204" pitchFamily="18" charset="0"/>
              </a:rPr>
              <a:t> how far each has renounced, not merely in words, but in actual deed; then, accept their advice and bring it into your reality. </a:t>
            </a:r>
          </a:p>
          <a:p>
            <a:pPr marL="0" indent="0">
              <a:buNone/>
            </a:pPr>
            <a:r>
              <a:rPr lang="en-GB" sz="1900" b="1" dirty="0" smtClean="0">
                <a:solidFill>
                  <a:schemeClr val="tx1"/>
                </a:solidFill>
                <a:latin typeface="Cambria" panose="02040503050406030204" pitchFamily="18" charset="0"/>
                <a:ea typeface="Cambria" panose="02040503050406030204" pitchFamily="18" charset="0"/>
              </a:rPr>
              <a:t>The Era of </a:t>
            </a:r>
            <a:r>
              <a:rPr lang="en-GB" sz="1900" b="1" dirty="0" err="1" smtClean="0">
                <a:solidFill>
                  <a:schemeClr val="tx1"/>
                </a:solidFill>
                <a:latin typeface="Cambria" panose="02040503050406030204" pitchFamily="18" charset="0"/>
                <a:ea typeface="Cambria" panose="02040503050406030204" pitchFamily="18" charset="0"/>
              </a:rPr>
              <a:t>Sathya</a:t>
            </a:r>
            <a:r>
              <a:rPr lang="en-GB" sz="1900" b="1" dirty="0" smtClean="0">
                <a:solidFill>
                  <a:schemeClr val="tx1"/>
                </a:solidFill>
                <a:latin typeface="Cambria" panose="02040503050406030204" pitchFamily="18" charset="0"/>
                <a:ea typeface="Cambria" panose="02040503050406030204" pitchFamily="18" charset="0"/>
              </a:rPr>
              <a:t> Sai Baba, which has dawned, is indeed bound to be the Golden Age of Humanity.</a:t>
            </a:r>
          </a:p>
          <a:p>
            <a:pPr marL="0" indent="0">
              <a:buNone/>
            </a:pPr>
            <a:endParaRPr lang="en-IN" sz="1900" b="1" dirty="0">
              <a:solidFill>
                <a:schemeClr val="tx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48395379"/>
      </p:ext>
    </p:extLst>
  </p:cSld>
  <p:clrMapOvr>
    <a:masterClrMapping/>
  </p:clrMapOvr>
</p:sld>
</file>

<file path=ppt/theme/theme1.xml><?xml version="1.0" encoding="utf-8"?>
<a:theme xmlns:a="http://schemas.openxmlformats.org/drawingml/2006/main" name="Face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452</TotalTime>
  <Words>2091</Words>
  <Application>Microsoft Office PowerPoint</Application>
  <PresentationFormat>Widescreen</PresentationFormat>
  <Paragraphs>76</Paragraphs>
  <Slides>14</Slides>
  <Notes>3</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Arial</vt:lpstr>
      <vt:lpstr>Arial Rounded MT Bold</vt:lpstr>
      <vt:lpstr>Bahnschrift</vt:lpstr>
      <vt:lpstr>Calibri</vt:lpstr>
      <vt:lpstr>Calibri Light</vt:lpstr>
      <vt:lpstr>Cambria</vt:lpstr>
      <vt:lpstr>Comic Sans MS</vt:lpstr>
      <vt:lpstr>Eras Bold ITC</vt:lpstr>
      <vt:lpstr>Lucida Sans</vt:lpstr>
      <vt:lpstr>Monotype Corsiva</vt:lpstr>
      <vt:lpstr>Times New Roman</vt:lpstr>
      <vt:lpstr>Trebuchet MS</vt:lpstr>
      <vt:lpstr>Wingdings 3</vt:lpstr>
      <vt:lpstr>Facet</vt:lpstr>
      <vt:lpstr>  Sathyam Sivam Sundaram The Rain Cloud </vt:lpstr>
      <vt:lpstr>GLIMPSE:</vt:lpstr>
      <vt:lpstr>THE RAIN CLOUD</vt:lpstr>
      <vt:lpstr>PowerPoint Presentation</vt:lpstr>
      <vt:lpstr>PowerPoint Presentation</vt:lpstr>
      <vt:lpstr>Discourse To Students: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Sathyam Sivam Sundaram</dc:title>
  <dc:creator>bsc1</dc:creator>
  <cp:lastModifiedBy>student</cp:lastModifiedBy>
  <cp:revision>66</cp:revision>
  <dcterms:created xsi:type="dcterms:W3CDTF">2023-08-28T03:58:06Z</dcterms:created>
  <dcterms:modified xsi:type="dcterms:W3CDTF">2023-09-23T09:25:17Z</dcterms:modified>
</cp:coreProperties>
</file>