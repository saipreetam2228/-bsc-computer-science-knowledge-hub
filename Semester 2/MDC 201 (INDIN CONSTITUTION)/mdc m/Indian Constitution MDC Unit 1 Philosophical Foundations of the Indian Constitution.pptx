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80" r:id="rId3"/>
    <p:sldId id="257" r:id="rId4"/>
    <p:sldId id="258" r:id="rId5"/>
    <p:sldId id="278" r:id="rId6"/>
    <p:sldId id="282" r:id="rId7"/>
    <p:sldId id="283" r:id="rId8"/>
    <p:sldId id="281" r:id="rId9"/>
    <p:sldId id="284" r:id="rId10"/>
    <p:sldId id="285" r:id="rId11"/>
    <p:sldId id="259" r:id="rId12"/>
    <p:sldId id="260" r:id="rId13"/>
    <p:sldId id="272" r:id="rId14"/>
    <p:sldId id="274" r:id="rId15"/>
    <p:sldId id="275" r:id="rId16"/>
    <p:sldId id="276" r:id="rId17"/>
    <p:sldId id="277" r:id="rId18"/>
    <p:sldId id="286" r:id="rId19"/>
    <p:sldId id="287" r:id="rId20"/>
    <p:sldId id="289" r:id="rId21"/>
    <p:sldId id="290" r:id="rId22"/>
    <p:sldId id="291" r:id="rId23"/>
    <p:sldId id="271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98EA0-5DD1-405B-9302-657DF2E57937}" type="datetimeFigureOut">
              <a:rPr lang="en-IN" smtClean="0"/>
              <a:t>16-12-2023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37956-3262-45CD-AE06-EE93BD4F56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59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Laxmikanth , Indian Polity Pg.1.3.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0276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Major Constitutions, Constitutional Systems , </a:t>
            </a:r>
            <a:r>
              <a:rPr lang="en-IN" dirty="0" err="1"/>
              <a:t>K.R.Bombwall</a:t>
            </a:r>
            <a:r>
              <a:rPr lang="en-IN" dirty="0"/>
              <a:t>, pg. no. E.10 and E.11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002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Laxmikanth , Indian Polity, pg.2.2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9430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References: Sourced from </a:t>
            </a:r>
            <a:r>
              <a:rPr lang="en-IN" dirty="0" err="1"/>
              <a:t>Laxmikant</a:t>
            </a:r>
            <a:r>
              <a:rPr lang="en-IN" dirty="0"/>
              <a:t> , Indian Polity, pg.no2.2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237956-3262-45CD-AE06-EE93BD4F561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3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429000"/>
            <a:ext cx="7851648" cy="1828800"/>
          </a:xfrm>
        </p:spPr>
        <p:txBody>
          <a:bodyPr>
            <a:normAutofit/>
          </a:bodyPr>
          <a:lstStyle/>
          <a:p>
            <a:r>
              <a:rPr lang="en-US" dirty="0"/>
              <a:t>Indian Constitution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5105400"/>
            <a:ext cx="4349496" cy="609600"/>
          </a:xfrm>
        </p:spPr>
        <p:txBody>
          <a:bodyPr/>
          <a:lstStyle/>
          <a:p>
            <a:r>
              <a:rPr lang="en-US" dirty="0"/>
              <a:t>Multi Disciplinary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C82-5304-F8DE-A786-14F876E6C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C8A5C-1050-BFD4-B080-A3C81C7EA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India, also known as Bharat, is a Union of States.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Sovereign Socialist Secular Democratic Republic with a parliamentary system of government.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Republic is governed in terms of the Constitution of India which was adopted by the Constituent Assembly on 26th November, 1949 and came into force on 26th January, 1950.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714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After several years of struggle for Independence , India finally achieved its Independence on  August 15</a:t>
            </a:r>
            <a:r>
              <a:rPr lang="en-US" baseline="30000" dirty="0"/>
              <a:t>th</a:t>
            </a:r>
            <a:r>
              <a:rPr lang="en-US" dirty="0"/>
              <a:t> 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With Independence came the need of a constitution,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As suggested by </a:t>
            </a:r>
            <a:r>
              <a:rPr lang="en-US" dirty="0" err="1"/>
              <a:t>M.N.Roy</a:t>
            </a:r>
            <a:r>
              <a:rPr lang="en-US" dirty="0"/>
              <a:t> (a pioneer of communist movement in India) in 1934, a Constituent assembly was formed in 1946.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Indian Constitution came into effect on</a:t>
            </a:r>
          </a:p>
          <a:p>
            <a:pPr marL="0" indent="0">
              <a:buNone/>
            </a:pPr>
            <a:r>
              <a:rPr lang="en-US" dirty="0"/>
              <a:t> January 26</a:t>
            </a:r>
            <a:r>
              <a:rPr lang="en-US" baseline="30000" dirty="0"/>
              <a:t>th</a:t>
            </a:r>
            <a:r>
              <a:rPr lang="en-US" dirty="0"/>
              <a:t>, 1950.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Making of the Indian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begins with the demand for a constituent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adoption of the objectives resolution.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setting up of the committees to help in preparing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drafting of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enactment of the Indian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enforcement of the Indian constitution. 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09CA0-157A-76EA-51CE-9BD59C806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57200"/>
            <a:ext cx="8305800" cy="1389888"/>
          </a:xfrm>
        </p:spPr>
        <p:txBody>
          <a:bodyPr>
            <a:normAutofit/>
          </a:bodyPr>
          <a:lstStyle/>
          <a:p>
            <a:r>
              <a:rPr lang="en-IN" dirty="0"/>
              <a:t>Constituent Assembly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CC69-3DED-5B0E-498F-E394588BF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Constitution of free India was the result of the labours of the Constituent Assembly of India.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was established under the provisions of the Cabinet Mission Plan.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is a representative body.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Its main purpose was formulating a fundamental law for the country.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Mahatma Gandhi expressed his view, he wanted a constituent assembly “that will reflect fairly and truly the best mind of India”- in other words, a body based on unadulterated adult franchise.” 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Some of the members of the constituent assembly are Nehru, Sardar </a:t>
            </a:r>
            <a:r>
              <a:rPr lang="en-IN" dirty="0" err="1"/>
              <a:t>Vallabhai</a:t>
            </a:r>
            <a:r>
              <a:rPr lang="en-IN" dirty="0"/>
              <a:t> Patel, </a:t>
            </a:r>
            <a:r>
              <a:rPr lang="en-IN" dirty="0" err="1"/>
              <a:t>Dr.Rajendra</a:t>
            </a:r>
            <a:r>
              <a:rPr lang="en-IN" dirty="0"/>
              <a:t> Prasad, </a:t>
            </a:r>
            <a:r>
              <a:rPr lang="en-IN" dirty="0" err="1"/>
              <a:t>C.Rajagopalachari</a:t>
            </a:r>
            <a:r>
              <a:rPr lang="en-IN" dirty="0"/>
              <a:t>, Maulana Abul Kalam Azad.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India womanhood was worthily represented among others, by </a:t>
            </a:r>
            <a:r>
              <a:rPr lang="en-IN" dirty="0" err="1"/>
              <a:t>Smt.Sarojini</a:t>
            </a:r>
            <a:r>
              <a:rPr lang="en-IN" dirty="0"/>
              <a:t> Naidu, </a:t>
            </a:r>
            <a:r>
              <a:rPr lang="en-IN" dirty="0" err="1"/>
              <a:t>Mrs.Hansa</a:t>
            </a:r>
            <a:r>
              <a:rPr lang="en-IN" dirty="0"/>
              <a:t> Mehta and Durga Bhai </a:t>
            </a:r>
            <a:r>
              <a:rPr lang="en-IN" dirty="0" err="1"/>
              <a:t>Deshmuk</a:t>
            </a:r>
            <a:r>
              <a:rPr lang="en-IN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</a:t>
            </a:r>
            <a:r>
              <a:rPr lang="en-IN" dirty="0" err="1"/>
              <a:t>Asembly</a:t>
            </a:r>
            <a:r>
              <a:rPr lang="en-IN" dirty="0"/>
              <a:t> of India was truly an assembly of giants.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646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1699-28DA-D3D0-7BFF-4FE993D43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237488"/>
          </a:xfrm>
        </p:spPr>
        <p:txBody>
          <a:bodyPr>
            <a:normAutofit fontScale="90000"/>
          </a:bodyPr>
          <a:lstStyle/>
          <a:p>
            <a:r>
              <a:rPr lang="en-IN" dirty="0"/>
              <a:t>Working of the Constituent Assembly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7846C-4C71-94D1-44DF-8F96F8E10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Constituent Assembly held its first meeting on December 9, 1946.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Muslim League boycotted the meeting.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meeting was attended by 211 members.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Dr.Sachidanand</a:t>
            </a:r>
            <a:r>
              <a:rPr lang="en-IN" dirty="0"/>
              <a:t> Sinha, the oldest member, was elected  as the temporary, President of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Later </a:t>
            </a:r>
            <a:r>
              <a:rPr lang="en-IN" dirty="0" err="1"/>
              <a:t>Dr.Rajendra</a:t>
            </a:r>
            <a:r>
              <a:rPr lang="en-IN" dirty="0"/>
              <a:t> Prasad was elected as the President of the Assembly.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Similarly both </a:t>
            </a:r>
            <a:r>
              <a:rPr lang="en-IN" dirty="0" err="1"/>
              <a:t>H.C.Mukherjee</a:t>
            </a:r>
            <a:r>
              <a:rPr lang="en-IN" dirty="0"/>
              <a:t> and </a:t>
            </a:r>
            <a:r>
              <a:rPr lang="en-IN" dirty="0" err="1"/>
              <a:t>V.T.Krishnamchari</a:t>
            </a:r>
            <a:r>
              <a:rPr lang="en-IN" dirty="0"/>
              <a:t> were elected as the Vice-Presidents of the Assembly. </a:t>
            </a:r>
          </a:p>
        </p:txBody>
      </p:sp>
    </p:spTree>
    <p:extLst>
      <p:ext uri="{BB962C8B-B14F-4D97-AF65-F5344CB8AC3E}">
        <p14:creationId xmlns:p14="http://schemas.microsoft.com/office/powerpoint/2010/main" val="3092332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4F99-AB7A-3792-A4BD-D8BA1D076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Resolution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B5010-A9BD-0F9B-610A-44CD29B2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On December 13</a:t>
            </a:r>
            <a:r>
              <a:rPr lang="en-IN" baseline="30000" dirty="0"/>
              <a:t>th</a:t>
            </a:r>
            <a:r>
              <a:rPr lang="en-IN" dirty="0"/>
              <a:t>, 1946, Jawaharlal Nehru moved the historic “Objectives Resolution” in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laid down the fundamentals and philosophy of the constitutional structure.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“Objectives Resolution” was unanimously adopted by the assembly on January 22</a:t>
            </a:r>
            <a:r>
              <a:rPr lang="en-IN" baseline="30000" dirty="0"/>
              <a:t>nd</a:t>
            </a:r>
            <a:r>
              <a:rPr lang="en-IN" dirty="0"/>
              <a:t> 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influenced the shaping of the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Its modified version forms the Preamble of the present constitution. </a:t>
            </a:r>
          </a:p>
        </p:txBody>
      </p:sp>
    </p:spTree>
    <p:extLst>
      <p:ext uri="{BB962C8B-B14F-4D97-AF65-F5344CB8AC3E}">
        <p14:creationId xmlns:p14="http://schemas.microsoft.com/office/powerpoint/2010/main" val="3044261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FA49-B3C0-8966-1410-64BC3C494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33400"/>
            <a:ext cx="83058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Drafting Committee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3450-2F34-DF06-62BB-C3451C6BA4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52600"/>
            <a:ext cx="8534400" cy="4572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Among all the committees of the Constituent Assembly, the most important was the drafting committee.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Drafting committee was set up on August 29</a:t>
            </a:r>
            <a:r>
              <a:rPr lang="en-IN" baseline="30000" dirty="0"/>
              <a:t>th</a:t>
            </a:r>
            <a:r>
              <a:rPr lang="en-IN" dirty="0"/>
              <a:t>, 1947.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was this committee that was entrusted with the task of preparing a draft of the new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consisted of seven members, </a:t>
            </a:r>
            <a:r>
              <a:rPr lang="en-IN" dirty="0" err="1"/>
              <a:t>Dr.B.R.Ambedkar</a:t>
            </a:r>
            <a:r>
              <a:rPr lang="en-IN" dirty="0"/>
              <a:t>(Chairman of the drafting Committee)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N.Gopalaswamy</a:t>
            </a:r>
            <a:r>
              <a:rPr lang="en-IN" dirty="0"/>
              <a:t> Iyengar, Alladi Krishnaswamy </a:t>
            </a:r>
            <a:r>
              <a:rPr lang="en-IN" dirty="0" err="1"/>
              <a:t>Ayyar</a:t>
            </a:r>
            <a:r>
              <a:rPr lang="en-IN" dirty="0"/>
              <a:t>, </a:t>
            </a:r>
            <a:r>
              <a:rPr lang="en-IN" dirty="0" err="1"/>
              <a:t>Dr.K.M.Munshi</a:t>
            </a:r>
            <a:r>
              <a:rPr lang="en-IN" dirty="0"/>
              <a:t>, Syed Mohammad </a:t>
            </a:r>
            <a:r>
              <a:rPr lang="en-IN" dirty="0" err="1"/>
              <a:t>Saadullah</a:t>
            </a:r>
            <a:r>
              <a:rPr lang="en-IN" dirty="0"/>
              <a:t>, </a:t>
            </a:r>
            <a:r>
              <a:rPr lang="en-IN" dirty="0" err="1"/>
              <a:t>N.Madhav</a:t>
            </a:r>
            <a:r>
              <a:rPr lang="en-IN" dirty="0"/>
              <a:t> Rau, </a:t>
            </a:r>
            <a:r>
              <a:rPr lang="en-IN" dirty="0" err="1"/>
              <a:t>T.T.Krishnamchari</a:t>
            </a:r>
            <a:r>
              <a:rPr lang="en-IN" dirty="0"/>
              <a:t>. 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endParaRPr lang="en-IN" baseline="30000" dirty="0"/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744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1C807-7854-71C0-347F-0C68E196B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Enactment of the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30439-627F-C38F-F842-6A474C2D2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Constitution was adopted on November 26</a:t>
            </a:r>
            <a:r>
              <a:rPr lang="en-IN" baseline="30000" dirty="0"/>
              <a:t>th</a:t>
            </a:r>
            <a:r>
              <a:rPr lang="en-IN" dirty="0"/>
              <a:t>   1949.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contained a Preamble, 395 Articles and 8 schedules.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 err="1"/>
              <a:t>Dr.B.R.Ambedkar</a:t>
            </a:r>
            <a:r>
              <a:rPr lang="en-IN" dirty="0"/>
              <a:t>, the then Law minister, piloted the Draft Constitution in the Assembly.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He is recognised as the “Father of the Indian Constitution”. </a:t>
            </a:r>
          </a:p>
        </p:txBody>
      </p:sp>
    </p:spTree>
    <p:extLst>
      <p:ext uri="{BB962C8B-B14F-4D97-AF65-F5344CB8AC3E}">
        <p14:creationId xmlns:p14="http://schemas.microsoft.com/office/powerpoint/2010/main" val="212851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DAFA6-CBE5-6331-05E7-C294DC3A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Enforcement of the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0C4B-69E4-3054-2A99-EDB21E397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came into force, into effect on 26 January, 1950.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This day is celebrated as the Republic Day.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January 26 was specifically chosen as the date of commencement of the Constitution because of its historical importance.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was on this day in 1930 that </a:t>
            </a:r>
            <a:r>
              <a:rPr lang="en-IN" dirty="0" err="1"/>
              <a:t>Purna</a:t>
            </a:r>
            <a:r>
              <a:rPr lang="en-IN" dirty="0"/>
              <a:t> Swaraj day was celebrated.</a:t>
            </a:r>
          </a:p>
        </p:txBody>
      </p:sp>
    </p:spTree>
    <p:extLst>
      <p:ext uri="{BB962C8B-B14F-4D97-AF65-F5344CB8AC3E}">
        <p14:creationId xmlns:p14="http://schemas.microsoft.com/office/powerpoint/2010/main" val="2929546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US" dirty="0"/>
              <a:t>Philosophical foundations of the Indian Constitution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It refers to a set of values to guide and direct the functioning of the Indian Constitution.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Philosophical foundations of the Indian Constitution are contained in the Preamble, Fundamental Rights and the Directive Principles of State Policy.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values include Justice, liberty , equality, fraternity, socialism, secularism, republicanism.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Preamble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CF608-2CF7-7757-0C31-1F6875F73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Preamble embodies the basic philosophy and fundamental values- political, moral, secular-on which the Constitution is based. They are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Sovereign means India enjoys internal sovereignty and external sovereignty.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Socialist means democratic socialism to end poverty, ignorance, disease and inequality of opportunity.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Secular means the positive concept of secularism.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Democratic refers to supreme power of the people.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Republic means the head of the Indian state is elected not hereditary 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Justice (social, economic and political); liberty, equality means absence of privileges; fraternity means brotherhood.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4319-1A0C-FF3E-4357-1176BB1E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898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3C12D-2955-A454-0DC9-8E7CD4ECD6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Lengthiest written constitution </a:t>
            </a:r>
            <a:r>
              <a:rPr lang="en-IN" dirty="0"/>
              <a:t>: it is voluminous and at present contains 448 articles , 25 parts and 8 schedules.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Drawn from various sources</a:t>
            </a:r>
            <a:r>
              <a:rPr lang="en-IN" dirty="0"/>
              <a:t> for example the fundamental rights are taken from the American constitution.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Blend of rigidity and flexibility</a:t>
            </a:r>
            <a:r>
              <a:rPr lang="en-IN" dirty="0"/>
              <a:t>: the amending process of the Indian constitution is both rigid and flexible. Some provisions of the constitution can be amended by simple majority.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989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35E3-F19D-3850-B198-0BB647264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B04BD-3F38-DE6C-B1B3-A3E18BB08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Federal System with Unitary Bias</a:t>
            </a:r>
            <a:r>
              <a:rPr lang="en-IN" dirty="0"/>
              <a:t>: the Indian constitution provides for federal features such as dual government, bicameralism, division of powers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It provides for a strong centre. Single citizenship, integrated judiciary, All India services are some of the Unitary features.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Parliamentary form of government</a:t>
            </a:r>
            <a:r>
              <a:rPr lang="en-IN" dirty="0"/>
              <a:t>: it refers to the “Westminster model of government” also known as cabinet form of government.</a:t>
            </a:r>
          </a:p>
          <a:p>
            <a:pPr marL="0" indent="0">
              <a:buNone/>
            </a:pPr>
            <a:r>
              <a:rPr lang="en-IN" dirty="0"/>
              <a:t>According to </a:t>
            </a:r>
            <a:r>
              <a:rPr lang="en-IN" dirty="0" err="1"/>
              <a:t>Dr.B.R.Ambedkar</a:t>
            </a:r>
            <a:r>
              <a:rPr lang="en-IN" dirty="0"/>
              <a:t> in a parliamentary form of government there is daily and periodic </a:t>
            </a:r>
            <a:r>
              <a:rPr lang="en-IN" dirty="0" err="1"/>
              <a:t>assesment</a:t>
            </a:r>
            <a:r>
              <a:rPr lang="en-IN" dirty="0"/>
              <a:t> of the responsibility of the government .</a:t>
            </a:r>
          </a:p>
        </p:txBody>
      </p:sp>
    </p:spTree>
    <p:extLst>
      <p:ext uri="{BB962C8B-B14F-4D97-AF65-F5344CB8AC3E}">
        <p14:creationId xmlns:p14="http://schemas.microsoft.com/office/powerpoint/2010/main" val="269209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2617-E40E-EDEA-BED8-D4456ABD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06C20-94A6-0801-CED7-9C9B9EA92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Integrated and Independent Judiciary</a:t>
            </a:r>
            <a:r>
              <a:rPr lang="en-IN" dirty="0"/>
              <a:t>: the Indian constitution establishes a judicial system that is integrated as well as independent.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supreme court is the highest court of appeal, guarantor of fundamental rights of the citizens and the guardian of the Indian constitution. It enjoys the power </a:t>
            </a:r>
            <a:r>
              <a:rPr lang="en-IN"/>
              <a:t>of Judicial Review.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Fundamental Rights: </a:t>
            </a:r>
            <a:r>
              <a:rPr lang="en-IN" dirty="0"/>
              <a:t>Part III of the Indian Constitution provides for six fundamental rights(Article 14-32).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037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D90B-DB51-CD3A-5424-580FBF38E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15A9-3504-8058-77FB-20F60103B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The six fundamental rights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equality (Articles 14-18)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Freedom( Articles 19-22)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against exploitation (Articles 23-24)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Freedom of Religion (Articles 25-28)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Cultural and Educational Rights (Articles 29-30)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Right to Constitutional Remedies( Article 32) </a:t>
            </a:r>
          </a:p>
        </p:txBody>
      </p:sp>
    </p:spTree>
    <p:extLst>
      <p:ext uri="{BB962C8B-B14F-4D97-AF65-F5344CB8AC3E}">
        <p14:creationId xmlns:p14="http://schemas.microsoft.com/office/powerpoint/2010/main" val="79068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A36C2-C3EA-4C71-80A1-1C9F568AA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BBFF-4172-5AC1-F1BE-74423F13A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Directive Principles of State Policy: </a:t>
            </a:r>
            <a:r>
              <a:rPr lang="en-IN" dirty="0"/>
              <a:t>they are enumerated in Part IV of the Indian constitution.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main aim is to establish a welfare state in India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They are meant for promoting the ideal of social and economic democracy. </a:t>
            </a:r>
          </a:p>
          <a:p>
            <a:pPr marL="0" indent="0">
              <a:buNone/>
            </a:pPr>
            <a:r>
              <a:rPr lang="en-IN" dirty="0"/>
              <a:t>Some of the directive principles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secure the right to adequate means of livelihood;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organise village panchayats, to promote cottage industries;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protect and improve the environment and to safeguard forests and life;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promote equal justice and to provide free legal aid to the poor;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2280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47560-5FEA-24EA-4BD4-012F544BE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Salient features of the Indian Constitution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AA685-AFA3-DDA2-C1CB-AE1E892AF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Fundamental Duties: </a:t>
            </a:r>
            <a:r>
              <a:rPr lang="en-IN" dirty="0"/>
              <a:t>the fundamental duties were added to the Indian constitution by the 42</a:t>
            </a:r>
            <a:r>
              <a:rPr lang="en-IN" baseline="30000" dirty="0"/>
              <a:t>nd</a:t>
            </a:r>
            <a:r>
              <a:rPr lang="en-IN" dirty="0"/>
              <a:t>constitutional Amendment.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Part IV , (Article 51 A )mentions the fundamental duties. Some of them include: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respect the Constitution, national flag and the national anthem;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protect the sovereignty , unity and integrity of the country;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promote the spirit of common brotherhood amongst all the people;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preserve the rich heritage of one composite culture and so on. </a:t>
            </a:r>
          </a:p>
        </p:txBody>
      </p:sp>
    </p:spTree>
    <p:extLst>
      <p:ext uri="{BB962C8B-B14F-4D97-AF65-F5344CB8AC3E}">
        <p14:creationId xmlns:p14="http://schemas.microsoft.com/office/powerpoint/2010/main" val="2726442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A Secular state: </a:t>
            </a:r>
            <a:r>
              <a:rPr lang="en-IN" dirty="0"/>
              <a:t>it does not uphold any particular religion as the official religion of the Indian state.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Universal Adult Franchise: </a:t>
            </a:r>
            <a:r>
              <a:rPr lang="en-IN" dirty="0"/>
              <a:t>the Indian constitution adopts Universal Adult franchise as a basis of elections to the Lok Sabha and the state legislative assemblies.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Every Indian citizen who is 18 years and above enjoys the right to vote.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upholds and provides </a:t>
            </a:r>
            <a:r>
              <a:rPr lang="en-IN" dirty="0" err="1"/>
              <a:t>for</a:t>
            </a:r>
            <a:r>
              <a:rPr lang="en-IN" b="1" u="sng" dirty="0" err="1"/>
              <a:t>Single</a:t>
            </a:r>
            <a:r>
              <a:rPr lang="en-IN" b="1" u="sng" dirty="0"/>
              <a:t> Citizenship:</a:t>
            </a:r>
            <a:r>
              <a:rPr lang="en-IN" dirty="0"/>
              <a:t> only single citizenship that is Indian citizenship.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75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752600"/>
            <a:ext cx="8382000" cy="4572000"/>
          </a:xfrm>
        </p:spPr>
        <p:txBody>
          <a:bodyPr>
            <a:normAutofit lnSpcReduction="10000"/>
          </a:bodyPr>
          <a:lstStyle/>
          <a:p>
            <a:r>
              <a:rPr lang="en-IN" b="1" u="sng" dirty="0"/>
              <a:t>Independent Bodies or constitutional bodies: </a:t>
            </a:r>
            <a:r>
              <a:rPr lang="en-IN" dirty="0"/>
              <a:t>it provides for independent bodies which are the bulwarks of the democratic system in India.</a:t>
            </a:r>
          </a:p>
          <a:p>
            <a:r>
              <a:rPr lang="en-IN" dirty="0"/>
              <a:t>For example the Election Commission of India, CAG, UPSC, SPSC etc</a:t>
            </a:r>
          </a:p>
          <a:p>
            <a:r>
              <a:rPr lang="en-IN" b="1" u="sng" dirty="0"/>
              <a:t>Emergency provisions</a:t>
            </a:r>
            <a:r>
              <a:rPr lang="en-IN" dirty="0"/>
              <a:t>: the constitution contains emergency powers given to the Indian President in emergency and extra ordinary situations; for example</a:t>
            </a:r>
          </a:p>
          <a:p>
            <a:r>
              <a:rPr lang="en-IN" dirty="0"/>
              <a:t>National Emergency (Article 352)</a:t>
            </a:r>
          </a:p>
          <a:p>
            <a:r>
              <a:rPr lang="en-IN" dirty="0"/>
              <a:t>Constitutional Emergency ( Article 365)</a:t>
            </a:r>
          </a:p>
          <a:p>
            <a:r>
              <a:rPr lang="en-IN" dirty="0"/>
              <a:t>Financial Emergency (Article 360)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41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b="1" u="sng" dirty="0"/>
              <a:t>Three tier government: </a:t>
            </a:r>
            <a:r>
              <a:rPr lang="en-IN" dirty="0"/>
              <a:t>this refers to the </a:t>
            </a:r>
            <a:r>
              <a:rPr lang="en-IN" dirty="0" err="1"/>
              <a:t>exitence</a:t>
            </a:r>
            <a:r>
              <a:rPr lang="en-IN" dirty="0"/>
              <a:t> of dual government and a government at the grass root level known as local government.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73 amendment (rural local government) and 74(urban local government) Amendment Acts introduced the local government. </a:t>
            </a:r>
          </a:p>
        </p:txBody>
      </p:sp>
    </p:spTree>
    <p:extLst>
      <p:ext uri="{BB962C8B-B14F-4D97-AF65-F5344CB8AC3E}">
        <p14:creationId xmlns:p14="http://schemas.microsoft.com/office/powerpoint/2010/main" val="88160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6BA-4EB8-9DA0-A6A6-7F5B82E94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8382000" cy="1313688"/>
          </a:xfrm>
        </p:spPr>
        <p:txBody>
          <a:bodyPr>
            <a:normAutofit fontScale="90000"/>
          </a:bodyPr>
          <a:lstStyle/>
          <a:p>
            <a:r>
              <a:rPr lang="en-IN" dirty="0"/>
              <a:t>Salient features of the Indian Constitution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06C37-E6BD-B23C-4D35-1FA3B9CC8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Thus far we have discussed the salient features of the Indian Constitution;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And Its philosophical foundations.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The Indian constitution is unique and novel as it holds together diverse cultures with the aim of Unity and national integration.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7988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dirty="0"/>
              <a:t>                    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                                     Thank you </a:t>
            </a:r>
          </a:p>
          <a:p>
            <a:pPr algn="just">
              <a:buNone/>
            </a:pPr>
            <a:r>
              <a:rPr lang="en-US" dirty="0"/>
              <a:t>                                     Jai </a:t>
            </a:r>
            <a:r>
              <a:rPr lang="en-US" dirty="0" err="1"/>
              <a:t>Sai</a:t>
            </a:r>
            <a:r>
              <a:rPr lang="en-US" dirty="0"/>
              <a:t> Ram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711</TotalTime>
  <Words>1736</Words>
  <Application>Microsoft Office PowerPoint</Application>
  <PresentationFormat>On-screen Show (4:3)</PresentationFormat>
  <Paragraphs>141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Calibri</vt:lpstr>
      <vt:lpstr>Constantia</vt:lpstr>
      <vt:lpstr>Times New Roman</vt:lpstr>
      <vt:lpstr>Wingdings</vt:lpstr>
      <vt:lpstr>Wingdings 2</vt:lpstr>
      <vt:lpstr>Flow</vt:lpstr>
      <vt:lpstr>Indian Constitution </vt:lpstr>
      <vt:lpstr>Introduction </vt:lpstr>
      <vt:lpstr>Historical Background</vt:lpstr>
      <vt:lpstr>Making of the Indian Constitution</vt:lpstr>
      <vt:lpstr>Constituent Assembly </vt:lpstr>
      <vt:lpstr>Working of the Constituent Assembly </vt:lpstr>
      <vt:lpstr>Objectives Resolution </vt:lpstr>
      <vt:lpstr>Drafting Committee of the Indian Constitution</vt:lpstr>
      <vt:lpstr>Enactment of the Constitution</vt:lpstr>
      <vt:lpstr>Enforcement of the Constitution</vt:lpstr>
      <vt:lpstr>Philosophical foundations of the Indian Constitution</vt:lpstr>
      <vt:lpstr>Preamble </vt:lpstr>
      <vt:lpstr>Salient Features of the Indian Constitution</vt:lpstr>
      <vt:lpstr>Salient features of the Indian Constitution</vt:lpstr>
      <vt:lpstr>Salient features of the Indian Constitution</vt:lpstr>
      <vt:lpstr>Salient features of the Indian Constitution </vt:lpstr>
      <vt:lpstr>Salient features of the Indian Constitution</vt:lpstr>
      <vt:lpstr>Salient features of the Indian Constitution</vt:lpstr>
      <vt:lpstr>Salient features of the Indian Constitution </vt:lpstr>
      <vt:lpstr>Salient features of the Indian Constitution </vt:lpstr>
      <vt:lpstr>Salient features of the Indian Constitution </vt:lpstr>
      <vt:lpstr>Salient features of the Indian Constitution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Sri Sathya Sai Institute of Higher Learning  Department of Political Science</dc:title>
  <dc:creator>ASUS</dc:creator>
  <cp:lastModifiedBy>Sujana A</cp:lastModifiedBy>
  <cp:revision>52</cp:revision>
  <dcterms:created xsi:type="dcterms:W3CDTF">2006-08-16T00:00:00Z</dcterms:created>
  <dcterms:modified xsi:type="dcterms:W3CDTF">2023-12-16T04:44:12Z</dcterms:modified>
</cp:coreProperties>
</file>