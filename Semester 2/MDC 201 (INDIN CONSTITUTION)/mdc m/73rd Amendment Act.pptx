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69" r:id="rId6"/>
    <p:sldId id="259" r:id="rId7"/>
    <p:sldId id="268" r:id="rId8"/>
    <p:sldId id="260" r:id="rId9"/>
    <p:sldId id="267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73</a:t>
            </a:r>
            <a:r>
              <a:rPr lang="en-US" baseline="30000" dirty="0" smtClean="0"/>
              <a:t>rd</a:t>
            </a:r>
            <a:r>
              <a:rPr lang="en-US" dirty="0" smtClean="0"/>
              <a:t> Constitutional Amendment Act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government in free India realized the importance of economic and social planning for achieving better standards of living for the citizens of the country.</a:t>
            </a:r>
          </a:p>
          <a:p>
            <a:r>
              <a:rPr lang="en-US" dirty="0" smtClean="0"/>
              <a:t>To create an awakening among the people regarding the new tasks and challenges of economic planning 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government sponsored programme of Community Development was started in 1952.</a:t>
            </a:r>
          </a:p>
          <a:p>
            <a:r>
              <a:rPr lang="en-US" dirty="0" smtClean="0"/>
              <a:t>They created anew administrative units for rural development (</a:t>
            </a:r>
            <a:r>
              <a:rPr lang="en-US" dirty="0" err="1" smtClean="0"/>
              <a:t>eg</a:t>
            </a:r>
            <a:r>
              <a:rPr lang="en-US" dirty="0" smtClean="0"/>
              <a:t>: Community Development Blocks)</a:t>
            </a:r>
          </a:p>
          <a:p>
            <a:r>
              <a:rPr lang="en-US" dirty="0" smtClean="0"/>
              <a:t>A National Extension Service for rural development was created.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Balwant </a:t>
            </a:r>
            <a:r>
              <a:rPr lang="en-US" dirty="0" err="1" smtClean="0"/>
              <a:t>Rai</a:t>
            </a:r>
            <a:r>
              <a:rPr lang="en-US" dirty="0" smtClean="0"/>
              <a:t> Mehta Committee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957 the Government of India wanted to review the working of the Community Development Programme.</a:t>
            </a:r>
          </a:p>
          <a:p>
            <a:r>
              <a:rPr lang="en-US" dirty="0" smtClean="0"/>
              <a:t>This team was headed by Balwant </a:t>
            </a:r>
            <a:r>
              <a:rPr lang="en-US" dirty="0" err="1" smtClean="0"/>
              <a:t>Rai</a:t>
            </a:r>
            <a:r>
              <a:rPr lang="en-US" dirty="0" smtClean="0"/>
              <a:t> Mehta.</a:t>
            </a:r>
          </a:p>
          <a:p>
            <a:r>
              <a:rPr lang="en-US" dirty="0" smtClean="0"/>
              <a:t>This team submitted its report in late 1957 and suggested the establishment of Panchayati Raj or the scheme of democratic decentralization as referred to by the team.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Balwant </a:t>
            </a:r>
            <a:r>
              <a:rPr lang="en-US" dirty="0" err="1" smtClean="0"/>
              <a:t>Rai</a:t>
            </a:r>
            <a:r>
              <a:rPr lang="en-US" dirty="0" smtClean="0"/>
              <a:t> Mehta Committee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recommendation was accepted by the National Development Council in 1958 and the various states in India started the implementation of the scheme of Panchayat Raj. </a:t>
            </a:r>
          </a:p>
          <a:p>
            <a:r>
              <a:rPr lang="en-US" dirty="0" smtClean="0"/>
              <a:t>Rajasthan was the first state to implement it.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Rationale and Motto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concept behind the Panchayati Raj is that people in the villages should undertake the responsibility of governing themselves.</a:t>
            </a:r>
          </a:p>
          <a:p>
            <a:r>
              <a:rPr lang="en-US" dirty="0" smtClean="0"/>
              <a:t>This is a great ideal to be achieved. It confers on the rural people the power of decision making regarding development activities.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Rationale and Moto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People through their chosen representatives determine the local policies.</a:t>
            </a:r>
          </a:p>
          <a:p>
            <a:r>
              <a:rPr lang="en-US" dirty="0" smtClean="0"/>
              <a:t>This is democracy at the grass-roots. </a:t>
            </a:r>
          </a:p>
          <a:p>
            <a:r>
              <a:rPr lang="en-US" dirty="0" smtClean="0"/>
              <a:t>The people at the village level are associated with the governance of the country.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Decentralisation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Decentralised</a:t>
            </a:r>
            <a:r>
              <a:rPr lang="en-US" dirty="0" smtClean="0"/>
              <a:t> democracy or PRI in India confers on the rural people the authority to manage their own affairs.</a:t>
            </a:r>
          </a:p>
          <a:p>
            <a:r>
              <a:rPr lang="en-US" dirty="0" err="1" smtClean="0"/>
              <a:t>Paul.H.Appleby</a:t>
            </a:r>
            <a:r>
              <a:rPr lang="en-US" dirty="0" smtClean="0"/>
              <a:t> called it “Democratic </a:t>
            </a:r>
            <a:r>
              <a:rPr lang="en-US" dirty="0" err="1" smtClean="0"/>
              <a:t>Decentralisation</a:t>
            </a:r>
            <a:r>
              <a:rPr lang="en-US" dirty="0" smtClean="0"/>
              <a:t>”.</a:t>
            </a:r>
          </a:p>
          <a:p>
            <a:r>
              <a:rPr lang="en-US" dirty="0" smtClean="0"/>
              <a:t>The Balwant </a:t>
            </a:r>
            <a:r>
              <a:rPr lang="en-US" dirty="0" err="1" smtClean="0"/>
              <a:t>Rai</a:t>
            </a:r>
            <a:r>
              <a:rPr lang="en-US" dirty="0" smtClean="0"/>
              <a:t> Mehta Committee report observed “Admittedly one of the least successful aspects of the Community Development and National Extension Service work is its attempt to evoke popular initiative.”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Decentralisation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remedy to create popular enthusiasm is to decentralize authority . The team suggested a 3 tier government.</a:t>
            </a:r>
          </a:p>
          <a:p>
            <a:r>
              <a:rPr lang="en-US" dirty="0" err="1" smtClean="0"/>
              <a:t>Zilla</a:t>
            </a:r>
            <a:r>
              <a:rPr lang="en-US" dirty="0" smtClean="0"/>
              <a:t> </a:t>
            </a:r>
            <a:r>
              <a:rPr lang="en-US" dirty="0" err="1" smtClean="0"/>
              <a:t>Parishad</a:t>
            </a:r>
            <a:r>
              <a:rPr lang="en-US" dirty="0" smtClean="0"/>
              <a:t> (Supervision and Coordination)</a:t>
            </a:r>
          </a:p>
          <a:p>
            <a:r>
              <a:rPr lang="en-US" dirty="0" smtClean="0"/>
              <a:t>Panchayat </a:t>
            </a:r>
            <a:r>
              <a:rPr lang="en-US" dirty="0" err="1" smtClean="0"/>
              <a:t>Samiti</a:t>
            </a:r>
            <a:r>
              <a:rPr lang="en-US" dirty="0" smtClean="0"/>
              <a:t> (Development Functions)</a:t>
            </a:r>
          </a:p>
          <a:p>
            <a:r>
              <a:rPr lang="en-US" dirty="0" smtClean="0"/>
              <a:t>Panchayat (executive unit of Gram Sabha)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Government in India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Gram </a:t>
            </a:r>
            <a:r>
              <a:rPr lang="en-US" dirty="0" err="1" smtClean="0"/>
              <a:t>Swaraj</a:t>
            </a:r>
            <a:r>
              <a:rPr lang="en-US" dirty="0" smtClean="0"/>
              <a:t> is the most important </a:t>
            </a:r>
            <a:r>
              <a:rPr lang="en-US" dirty="0" err="1" smtClean="0"/>
              <a:t>philosphy</a:t>
            </a:r>
            <a:r>
              <a:rPr lang="en-US" dirty="0" smtClean="0"/>
              <a:t> that resulted in India adopting the local government.  </a:t>
            </a:r>
          </a:p>
          <a:p>
            <a:r>
              <a:rPr lang="en-US" dirty="0" smtClean="0"/>
              <a:t>The process involved recommendations of several committees. </a:t>
            </a:r>
          </a:p>
          <a:p>
            <a:r>
              <a:rPr lang="en-US" dirty="0" smtClean="0"/>
              <a:t>Its adoption, constitutionalisation and enforcement .</a:t>
            </a:r>
          </a:p>
          <a:p>
            <a:r>
              <a:rPr lang="en-US" dirty="0" smtClean="0"/>
              <a:t>It holds the state legislature responsible for implementation.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Panchayati Raj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Several committees preside over the refinement and improvement of Panchayat Raj Institutions.</a:t>
            </a:r>
          </a:p>
          <a:p>
            <a:r>
              <a:rPr lang="en-US" dirty="0" smtClean="0"/>
              <a:t>Balwant </a:t>
            </a:r>
            <a:r>
              <a:rPr lang="en-US" dirty="0" err="1" smtClean="0"/>
              <a:t>Rai</a:t>
            </a:r>
            <a:r>
              <a:rPr lang="en-US" dirty="0" smtClean="0"/>
              <a:t> Mehta Committee</a:t>
            </a:r>
          </a:p>
          <a:p>
            <a:r>
              <a:rPr lang="en-US" dirty="0" smtClean="0"/>
              <a:t>Ashok Mehta Committee</a:t>
            </a:r>
          </a:p>
          <a:p>
            <a:r>
              <a:rPr lang="en-US" dirty="0" err="1" smtClean="0"/>
              <a:t>G.V.K.Rao</a:t>
            </a:r>
            <a:r>
              <a:rPr lang="en-US" dirty="0" smtClean="0"/>
              <a:t> Committee</a:t>
            </a:r>
          </a:p>
          <a:p>
            <a:r>
              <a:rPr lang="en-US" dirty="0" err="1" smtClean="0"/>
              <a:t>L.M.Singhvi</a:t>
            </a:r>
            <a:r>
              <a:rPr lang="en-US" dirty="0" smtClean="0"/>
              <a:t> Committee</a:t>
            </a:r>
          </a:p>
          <a:p>
            <a:r>
              <a:rPr lang="en-US" dirty="0" smtClean="0"/>
              <a:t>Gadgil Committee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Constitutionalisation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Gadgil Committee said a constitutional status should be bestowed on the PRI’s Panchayat Raj Institutions. </a:t>
            </a:r>
          </a:p>
          <a:p>
            <a:r>
              <a:rPr lang="en-US" dirty="0" smtClean="0"/>
              <a:t>Gadgil Committee recommendations became the basis for the </a:t>
            </a:r>
            <a:r>
              <a:rPr lang="en-US" dirty="0" smtClean="0"/>
              <a:t>the</a:t>
            </a:r>
            <a:r>
              <a:rPr lang="en-US" dirty="0" smtClean="0"/>
              <a:t> 73</a:t>
            </a:r>
            <a:r>
              <a:rPr lang="en-US" baseline="30000" dirty="0" smtClean="0"/>
              <a:t>rd</a:t>
            </a:r>
            <a:r>
              <a:rPr lang="en-US" dirty="0" smtClean="0"/>
              <a:t> Constitutional Amendment Bill.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Narasimha</a:t>
            </a:r>
            <a:r>
              <a:rPr lang="en-US" dirty="0" smtClean="0"/>
              <a:t> </a:t>
            </a:r>
            <a:r>
              <a:rPr lang="en-US" dirty="0" err="1" smtClean="0"/>
              <a:t>Rao</a:t>
            </a:r>
            <a:r>
              <a:rPr lang="en-US" dirty="0" smtClean="0"/>
              <a:t> Government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73</a:t>
            </a:r>
            <a:r>
              <a:rPr lang="en-US" baseline="30000" dirty="0" smtClean="0"/>
              <a:t>rd</a:t>
            </a:r>
            <a:r>
              <a:rPr lang="en-US" dirty="0" smtClean="0"/>
              <a:t> Constitutional Amendment Act , was passed in 1992 and came into force on 24</a:t>
            </a:r>
            <a:r>
              <a:rPr lang="en-US" baseline="30000" dirty="0" smtClean="0"/>
              <a:t>th</a:t>
            </a:r>
            <a:r>
              <a:rPr lang="en-US" dirty="0" smtClean="0"/>
              <a:t> April 1993. 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Significance of the 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A new Part IX was added to the Constitution of India.</a:t>
            </a:r>
          </a:p>
          <a:p>
            <a:pPr marL="514350" indent="-514350">
              <a:buAutoNum type="arabicPeriod"/>
            </a:pPr>
            <a:r>
              <a:rPr lang="en-US" dirty="0" smtClean="0"/>
              <a:t>Articles 243 to Article 243 O</a:t>
            </a:r>
          </a:p>
          <a:p>
            <a:pPr marL="514350" indent="-514350">
              <a:buAutoNum type="arabicPeriod"/>
            </a:pPr>
            <a:r>
              <a:rPr lang="en-US" dirty="0" smtClean="0"/>
              <a:t>Eleventh Schedule was added to the Constitution , 243-G </a:t>
            </a:r>
          </a:p>
          <a:p>
            <a:pPr marL="514350" indent="-514350">
              <a:buAutoNum type="arabicPeriod"/>
            </a:pPr>
            <a:r>
              <a:rPr lang="en-US" dirty="0" smtClean="0"/>
              <a:t>It gives shape to Article 40(DPSP)</a:t>
            </a:r>
          </a:p>
          <a:p>
            <a:pPr marL="514350" indent="-514350">
              <a:buAutoNum type="arabicPeriod"/>
            </a:pPr>
            <a:r>
              <a:rPr lang="en-US" dirty="0" smtClean="0"/>
              <a:t>It gives constitutional status to PRI’s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Salient features of the 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Gram Sabha </a:t>
            </a:r>
          </a:p>
          <a:p>
            <a:pPr marL="514350" indent="-514350">
              <a:buAutoNum type="arabicPeriod"/>
            </a:pPr>
            <a:r>
              <a:rPr lang="en-US" dirty="0" smtClean="0"/>
              <a:t>Three –tier system</a:t>
            </a:r>
          </a:p>
          <a:p>
            <a:pPr marL="514350" indent="-514350">
              <a:buAutoNum type="arabicPeriod"/>
            </a:pPr>
            <a:r>
              <a:rPr lang="en-US" dirty="0" smtClean="0"/>
              <a:t>Election of Members and Chairpersons</a:t>
            </a:r>
          </a:p>
          <a:p>
            <a:pPr marL="514350" indent="-514350">
              <a:buAutoNum type="arabicPeriod"/>
            </a:pPr>
            <a:r>
              <a:rPr lang="en-US" dirty="0" smtClean="0"/>
              <a:t>Reservation of Seats(for scheduled castes, scheduled tribes, women)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565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73rd Constitutional Amendment Act </vt:lpstr>
      <vt:lpstr>Introduction</vt:lpstr>
      <vt:lpstr>Background</vt:lpstr>
      <vt:lpstr>Balwant Rai Mehta Committee</vt:lpstr>
      <vt:lpstr>Balwant Rai Mehta Committee</vt:lpstr>
      <vt:lpstr>Rationale and Motto</vt:lpstr>
      <vt:lpstr>Rationale and Moto</vt:lpstr>
      <vt:lpstr>Decentralisation</vt:lpstr>
      <vt:lpstr>Decentralisation</vt:lpstr>
      <vt:lpstr>Local Government in India</vt:lpstr>
      <vt:lpstr>Evolution of Panchayati Raj</vt:lpstr>
      <vt:lpstr>Constitutionalisation</vt:lpstr>
      <vt:lpstr>Narasimha Rao Government </vt:lpstr>
      <vt:lpstr>Significance of the Act</vt:lpstr>
      <vt:lpstr>Salient features of the Act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73rd Constitutional Amendment Act </dc:title>
  <dc:creator>User</dc:creator>
  <cp:lastModifiedBy>User</cp:lastModifiedBy>
  <cp:revision>14</cp:revision>
  <dcterms:created xsi:type="dcterms:W3CDTF">2006-08-16T00:00:00Z</dcterms:created>
  <dcterms:modified xsi:type="dcterms:W3CDTF">2024-02-13T18:29:13Z</dcterms:modified>
</cp:coreProperties>
</file>