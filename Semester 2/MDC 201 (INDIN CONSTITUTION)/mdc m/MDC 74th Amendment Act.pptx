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5D3217-77CF-E0A9-2E5E-F99F29B4B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B360298-4FE9-BB8D-151A-CE8803EB5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E20B897-B8F7-6D97-A0DF-20BCB282D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7E2C-6061-44A1-AE89-78217CDB4E71}" type="datetimeFigureOut">
              <a:rPr lang="en-IN" smtClean="0"/>
              <a:pPr/>
              <a:t>13-02-2024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B2D0D82-140C-8FA5-B9AF-FE9CFD17E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9392714-513C-89DE-0F8E-CFBA3B176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4502E-8E2C-4993-BD56-AAE6F81064F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295948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B0255D-4507-5F34-71F8-3C0CC839B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98F6B9B-A915-B9EE-4E89-0039EFDC2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AFA7899-0656-1709-6473-675332191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7E2C-6061-44A1-AE89-78217CDB4E71}" type="datetimeFigureOut">
              <a:rPr lang="en-IN" smtClean="0"/>
              <a:pPr/>
              <a:t>13-02-2024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A37D03A-79B1-CA32-8363-B72D3F027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0C6EF6E-0382-B7B8-AAD6-D72547780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4502E-8E2C-4993-BD56-AAE6F81064F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56209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3242F8-A0E0-7755-DCD6-4E3132DA1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2697E94-1FF8-07C1-C038-58BA6C4D1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BBF0E30-BECC-AA75-DFE3-E8075F8B7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7E2C-6061-44A1-AE89-78217CDB4E71}" type="datetimeFigureOut">
              <a:rPr lang="en-IN" smtClean="0"/>
              <a:pPr/>
              <a:t>13-02-2024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BE224B5-D2EE-E722-A4E4-9DD6C3BDE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8FDB835-AC7F-94EB-42CE-F9042EED6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4502E-8E2C-4993-BD56-AAE6F81064F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25571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E45AB7-8C7D-4A25-5A5F-01BE07023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21042A2-19CA-4559-B708-38A25F8F1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0096238-76FB-D123-B29C-E36A6D415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2090081-C999-0919-55CC-66D6C5944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7E2C-6061-44A1-AE89-78217CDB4E71}" type="datetimeFigureOut">
              <a:rPr lang="en-IN" smtClean="0"/>
              <a:pPr/>
              <a:t>13-02-2024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AB2A6F8-C23D-1E26-7CC6-CC17AFAF9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B609F1D-CA21-79A9-DB2E-C24322E07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4502E-8E2C-4993-BD56-AAE6F81064F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1159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F43C6B-C3F1-343A-3201-A9860F539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30A0F3D-9D46-4D09-4278-6454B8DCF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787E098-9413-901B-4CEE-A4A6F4CF7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0AABEF2-008D-5B0C-191D-ACFBFF0CD7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62C50FFD-888A-AD29-D065-ECD67B4DCC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F2208F8-85AB-30A8-88BD-FAE503F0B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7E2C-6061-44A1-AE89-78217CDB4E71}" type="datetimeFigureOut">
              <a:rPr lang="en-IN" smtClean="0"/>
              <a:pPr/>
              <a:t>13-02-2024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04F6A82-F84B-5171-1008-2BA78A3AE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10EF581-A581-01EE-18CC-C0449CA5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4502E-8E2C-4993-BD56-AAE6F81064F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81113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1A672D-1DE4-9CE2-DA16-24D19558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079800C-677E-FA1E-C916-47210B571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7E2C-6061-44A1-AE89-78217CDB4E71}" type="datetimeFigureOut">
              <a:rPr lang="en-IN" smtClean="0"/>
              <a:pPr/>
              <a:t>13-02-2024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3749E09-6FD4-8C44-1993-9FEB83958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4C30C7D-8B2E-7890-39A6-92552F3C8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4502E-8E2C-4993-BD56-AAE6F81064F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05872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CF7309D-32BE-5F86-31B8-1D9EE7B21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7E2C-6061-44A1-AE89-78217CDB4E71}" type="datetimeFigureOut">
              <a:rPr lang="en-IN" smtClean="0"/>
              <a:pPr/>
              <a:t>13-02-2024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A546B0F-8B26-DB75-4273-0EAA11590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AAE08D1-DD70-9BFF-8978-105BDA3E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4502E-8E2C-4993-BD56-AAE6F81064F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04246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DD56BF-C3A1-74A1-7F7C-CD854876D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1FAA0D-6A49-6CDB-C869-74A26239F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BF1C844-FD37-EB60-8A01-BDA8FFD27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C557903-50F1-F9B2-9C1F-69C33C24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7E2C-6061-44A1-AE89-78217CDB4E71}" type="datetimeFigureOut">
              <a:rPr lang="en-IN" smtClean="0"/>
              <a:pPr/>
              <a:t>13-02-2024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54B57B8-758B-56B0-EA75-DA5D08AF7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E83A6C9-4593-BD26-DD93-80DEB48F4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4502E-8E2C-4993-BD56-AAE6F81064F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72526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763BDD-9BB0-2FC2-74FC-1D15FCC5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9B541E91-0DD2-AF35-323E-C000B92D8C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5167DC7-CEDC-5312-63D1-5F1C126B5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CC4AD42-111F-8CC0-C58A-0CE349ED7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7E2C-6061-44A1-AE89-78217CDB4E71}" type="datetimeFigureOut">
              <a:rPr lang="en-IN" smtClean="0"/>
              <a:pPr/>
              <a:t>13-02-2024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DBD9A4A-C6D5-F9AE-8420-3935C9B02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81768E6-50F3-F848-FBDB-095B7EDA3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4502E-8E2C-4993-BD56-AAE6F81064F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29090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838D15-D9CF-47B0-6145-A2CE2750B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71DBF21-D11F-94EF-D4E2-916117435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33529F5-D370-5AF8-F4F8-005B7DB2E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7E2C-6061-44A1-AE89-78217CDB4E71}" type="datetimeFigureOut">
              <a:rPr lang="en-IN" smtClean="0"/>
              <a:pPr/>
              <a:t>13-02-2024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B984BBE-4565-4107-5F01-9B259F728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9FCC3DF-0189-730A-FAF3-F5A023ABE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4502E-8E2C-4993-BD56-AAE6F81064F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62746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3A46556-3357-50E7-E71D-B8A2BBA03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2DCD6B5-19AF-953E-D164-0087387C0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D53E2C6-49EB-5AC3-1BC6-8AFBDF192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7E2C-6061-44A1-AE89-78217CDB4E71}" type="datetimeFigureOut">
              <a:rPr lang="en-IN" smtClean="0"/>
              <a:pPr/>
              <a:t>13-02-2024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4D666EC-6374-E0BE-6288-0ABA0475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0E4FFD-127C-D539-5DD4-931B91561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4502E-8E2C-4993-BD56-AAE6F81064F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34498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9A6A196-E344-F1A0-9347-8CA6C8C0A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97E89EC-349D-3031-28DD-A582A9633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5256FE6-C937-412E-32CB-045ED68FD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F7E2C-6061-44A1-AE89-78217CDB4E71}" type="datetimeFigureOut">
              <a:rPr lang="en-IN" smtClean="0"/>
              <a:pPr/>
              <a:t>13-02-2024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71D46A0-DC52-48A9-91C6-ADB1BCD926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AB68A9D-F76C-6D11-3EFF-519850CBD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4502E-8E2C-4993-BD56-AAE6F81064F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8930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87C27B-44A1-5DF7-2D79-82D959703F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108EFFD-4CC7-0E9C-A1A0-E37F2C5271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96745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89BF96-CA86-245F-C659-61AFEC27E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74</a:t>
            </a:r>
            <a:r>
              <a:rPr lang="en-IN" baseline="30000" dirty="0"/>
              <a:t>th</a:t>
            </a:r>
            <a:r>
              <a:rPr lang="en-IN" dirty="0"/>
              <a:t> Constitutional Amendment 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864CA7F-48D2-94F6-7775-18DDF1919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Meaning of the term “Urban Local Government” in India?</a:t>
            </a:r>
          </a:p>
          <a:p>
            <a:pPr marL="0" indent="0">
              <a:buNone/>
            </a:pPr>
            <a:r>
              <a:rPr lang="en-IN" dirty="0"/>
              <a:t>It signifies :</a:t>
            </a:r>
          </a:p>
          <a:p>
            <a:pPr marL="514350" indent="-514350">
              <a:buAutoNum type="alphaLcParenR"/>
            </a:pPr>
            <a:r>
              <a:rPr lang="en-IN" dirty="0"/>
              <a:t>The governance of an urban area </a:t>
            </a:r>
          </a:p>
          <a:p>
            <a:pPr marL="514350" indent="-514350">
              <a:buAutoNum type="alphaLcParenR"/>
            </a:pPr>
            <a:r>
              <a:rPr lang="en-IN" dirty="0"/>
              <a:t>Governance by the people </a:t>
            </a:r>
          </a:p>
          <a:p>
            <a:pPr marL="514350" indent="-514350">
              <a:buAutoNum type="alphaLcParenR"/>
            </a:pPr>
            <a:r>
              <a:rPr lang="en-IN" dirty="0"/>
              <a:t>Through their elected representatives </a:t>
            </a:r>
          </a:p>
        </p:txBody>
      </p:sp>
    </p:spTree>
    <p:extLst>
      <p:ext uri="{BB962C8B-B14F-4D97-AF65-F5344CB8AC3E}">
        <p14:creationId xmlns:p14="http://schemas.microsoft.com/office/powerpoint/2010/main" xmlns="" val="1216366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B003CD4-0F17-A7E9-8708-F2A84DF39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747F2E-AF8E-61DC-B9D1-2541A529F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Jurisdiction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8E62CB6-C7F1-EEBC-754E-ECA1ADFF7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The Jurisdiction of an Urban Local government is limited to a specific urban area which is demarcated for this purpose by the state government. </a:t>
            </a:r>
          </a:p>
        </p:txBody>
      </p:sp>
    </p:spTree>
    <p:extLst>
      <p:ext uri="{BB962C8B-B14F-4D97-AF65-F5344CB8AC3E}">
        <p14:creationId xmlns:p14="http://schemas.microsoft.com/office/powerpoint/2010/main" xmlns="" val="2549912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898D834-E61F-64A2-EF62-9E5EE74BC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C627C4-7BB8-306B-C68D-B049BF923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Eight types of ULB’s in India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D32885-9724-FCC5-C744-5A68C98FF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IN" dirty="0"/>
              <a:t>Municipal Corporation</a:t>
            </a:r>
          </a:p>
          <a:p>
            <a:pPr marL="514350" indent="-514350">
              <a:buAutoNum type="arabicPeriod"/>
            </a:pPr>
            <a:r>
              <a:rPr lang="en-IN" dirty="0"/>
              <a:t>Municipality </a:t>
            </a:r>
          </a:p>
          <a:p>
            <a:pPr marL="514350" indent="-514350">
              <a:buAutoNum type="arabicPeriod"/>
            </a:pPr>
            <a:r>
              <a:rPr lang="en-IN" dirty="0"/>
              <a:t>Notified Area Committee</a:t>
            </a:r>
          </a:p>
          <a:p>
            <a:pPr marL="514350" indent="-514350">
              <a:buAutoNum type="arabicPeriod"/>
            </a:pPr>
            <a:r>
              <a:rPr lang="en-IN" dirty="0"/>
              <a:t>Town Area Committee</a:t>
            </a:r>
          </a:p>
          <a:p>
            <a:pPr marL="514350" indent="-514350">
              <a:buAutoNum type="arabicPeriod"/>
            </a:pPr>
            <a:r>
              <a:rPr lang="en-IN" dirty="0"/>
              <a:t>Cantonment Board</a:t>
            </a:r>
          </a:p>
          <a:p>
            <a:pPr marL="514350" indent="-514350">
              <a:buAutoNum type="arabicPeriod"/>
            </a:pPr>
            <a:r>
              <a:rPr lang="en-IN" dirty="0"/>
              <a:t>Township</a:t>
            </a:r>
          </a:p>
          <a:p>
            <a:pPr marL="514350" indent="-514350">
              <a:buAutoNum type="arabicPeriod"/>
            </a:pPr>
            <a:r>
              <a:rPr lang="en-IN" dirty="0"/>
              <a:t>Port trust </a:t>
            </a:r>
          </a:p>
          <a:p>
            <a:pPr marL="514350" indent="-514350">
              <a:buAutoNum type="arabicPeriod"/>
            </a:pPr>
            <a:r>
              <a:rPr lang="en-IN" dirty="0"/>
              <a:t>Special purpose agency </a:t>
            </a:r>
          </a:p>
        </p:txBody>
      </p:sp>
    </p:spTree>
    <p:extLst>
      <p:ext uri="{BB962C8B-B14F-4D97-AF65-F5344CB8AC3E}">
        <p14:creationId xmlns:p14="http://schemas.microsoft.com/office/powerpoint/2010/main" xmlns="" val="395423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649D2CE-5BB2-8580-7E88-CFE9C7F82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602863-4180-5BB0-687B-66A132107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Evolution of Urban Local Bodies in India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43BA25-6A3E-6A6C-9E77-8A85493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Q. When and where was the first Municipal corporation set up ?</a:t>
            </a:r>
          </a:p>
          <a:p>
            <a:pPr marL="0" indent="0">
              <a:buNone/>
            </a:pPr>
            <a:r>
              <a:rPr lang="en-IN" dirty="0"/>
              <a:t>In Madras in 1687-88.</a:t>
            </a:r>
          </a:p>
          <a:p>
            <a:pPr marL="0" indent="0">
              <a:buNone/>
            </a:pPr>
            <a:r>
              <a:rPr lang="en-IN" dirty="0"/>
              <a:t>In 1726, the municipal corporations were set up in Bombay and Calcutta.</a:t>
            </a:r>
          </a:p>
          <a:p>
            <a:pPr marL="0" indent="0">
              <a:buNone/>
            </a:pPr>
            <a:r>
              <a:rPr lang="en-IN" dirty="0"/>
              <a:t>Q. Who is known as the Father of the Local-self government in India?</a:t>
            </a:r>
          </a:p>
          <a:p>
            <a:pPr marL="0" indent="0">
              <a:buNone/>
            </a:pPr>
            <a:r>
              <a:rPr lang="en-IN" dirty="0"/>
              <a:t>Lord Rippon</a:t>
            </a:r>
          </a:p>
        </p:txBody>
      </p:sp>
    </p:spTree>
    <p:extLst>
      <p:ext uri="{BB962C8B-B14F-4D97-AF65-F5344CB8AC3E}">
        <p14:creationId xmlns:p14="http://schemas.microsoft.com/office/powerpoint/2010/main" xmlns="" val="390481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1F97D34-D9E1-2010-D94D-696E2052A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055C7B-C9AB-BF95-E6E4-8E75B68A4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Constitutionalisation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33D8505-56B4-C222-9BF6-6ABEA03E1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Q. In which year did the 74</a:t>
            </a:r>
            <a:r>
              <a:rPr lang="en-IN" baseline="30000" dirty="0"/>
              <a:t>th</a:t>
            </a:r>
            <a:r>
              <a:rPr lang="en-IN" dirty="0"/>
              <a:t> Amendment Act come into force/effect?</a:t>
            </a:r>
          </a:p>
          <a:p>
            <a:pPr marL="0" indent="0">
              <a:buNone/>
            </a:pPr>
            <a:r>
              <a:rPr lang="en-IN" dirty="0"/>
              <a:t>Answer 1992</a:t>
            </a:r>
          </a:p>
        </p:txBody>
      </p:sp>
    </p:spTree>
    <p:extLst>
      <p:ext uri="{BB962C8B-B14F-4D97-AF65-F5344CB8AC3E}">
        <p14:creationId xmlns:p14="http://schemas.microsoft.com/office/powerpoint/2010/main" xmlns="" val="5632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A2D2ED-4EFB-FFB1-4FAB-FDA24508A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74</a:t>
            </a:r>
            <a:r>
              <a:rPr lang="en-IN" baseline="30000" dirty="0"/>
              <a:t>th</a:t>
            </a:r>
            <a:r>
              <a:rPr lang="en-IN" dirty="0"/>
              <a:t> Amendment Act, 1992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0D57F9A-00E5-DE40-5DDD-3A5091DDE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 new Part IX-A was added to the Constitution of India.</a:t>
            </a:r>
          </a:p>
          <a:p>
            <a:pPr marL="0" indent="0">
              <a:buNone/>
            </a:pPr>
            <a:r>
              <a:rPr lang="en-IN" dirty="0"/>
              <a:t>This part is known as “The Municipalities” .</a:t>
            </a:r>
          </a:p>
          <a:p>
            <a:pPr marL="0" indent="0">
              <a:buNone/>
            </a:pPr>
            <a:r>
              <a:rPr lang="en-IN" dirty="0"/>
              <a:t>It consists of provisions from Article 243-P to 243-ZG.</a:t>
            </a:r>
          </a:p>
          <a:p>
            <a:pPr marL="0" indent="0">
              <a:buNone/>
            </a:pPr>
            <a:r>
              <a:rPr lang="en-IN" dirty="0"/>
              <a:t>It added a new Twelfth Schedule to the Constitution.</a:t>
            </a:r>
          </a:p>
          <a:p>
            <a:pPr marL="0" indent="0">
              <a:buNone/>
            </a:pPr>
            <a:r>
              <a:rPr lang="en-IN" dirty="0"/>
              <a:t>It gave constitutional status to the municipalities. </a:t>
            </a:r>
          </a:p>
        </p:txBody>
      </p:sp>
    </p:spTree>
    <p:extLst>
      <p:ext uri="{BB962C8B-B14F-4D97-AF65-F5344CB8AC3E}">
        <p14:creationId xmlns:p14="http://schemas.microsoft.com/office/powerpoint/2010/main" xmlns="" val="23185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8862CD-45D0-4964-0FF7-D5551CA6F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Main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6B9AB8-8CF0-34CD-8066-1CF341D52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IN" dirty="0"/>
              <a:t>Revitalize and strengthen Urban governments. </a:t>
            </a:r>
          </a:p>
          <a:p>
            <a:pPr marL="514350" indent="-514350">
              <a:buAutoNum type="arabicPeriod"/>
            </a:pPr>
            <a:r>
              <a:rPr lang="en-IN" dirty="0"/>
              <a:t>Effective, efficient functioning of local government</a:t>
            </a:r>
          </a:p>
        </p:txBody>
      </p:sp>
    </p:spTree>
    <p:extLst>
      <p:ext uri="{BB962C8B-B14F-4D97-AF65-F5344CB8AC3E}">
        <p14:creationId xmlns:p14="http://schemas.microsoft.com/office/powerpoint/2010/main" xmlns="" val="248381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B171AD-40C5-6AE1-DDCE-66D62701B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Salient features of the 74</a:t>
            </a:r>
            <a:r>
              <a:rPr lang="en-IN" baseline="30000" dirty="0"/>
              <a:t>th</a:t>
            </a:r>
            <a:r>
              <a:rPr lang="en-IN" dirty="0"/>
              <a:t> Amendment 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E79AEF9-D1FC-AD77-0257-EE9714FFF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IN" dirty="0"/>
              <a:t>Three types of Municipalities</a:t>
            </a:r>
          </a:p>
          <a:p>
            <a:pPr marL="514350" indent="-514350">
              <a:buAutoNum type="arabicPeriod"/>
            </a:pPr>
            <a:r>
              <a:rPr lang="en-IN" dirty="0"/>
              <a:t>Composition</a:t>
            </a:r>
          </a:p>
          <a:p>
            <a:pPr marL="514350" indent="-514350">
              <a:buAutoNum type="arabicPeriod"/>
            </a:pPr>
            <a:r>
              <a:rPr lang="en-IN" dirty="0"/>
              <a:t>Wards Committees</a:t>
            </a:r>
          </a:p>
          <a:p>
            <a:pPr marL="514350" indent="-514350">
              <a:buAutoNum type="arabicPeriod"/>
            </a:pPr>
            <a:r>
              <a:rPr lang="en-IN" dirty="0"/>
              <a:t>Reservation of Seats</a:t>
            </a:r>
          </a:p>
          <a:p>
            <a:pPr marL="514350" indent="-514350">
              <a:buAutoNum type="arabicPeriod"/>
            </a:pPr>
            <a:r>
              <a:rPr lang="en-IN" dirty="0"/>
              <a:t>Duration of municipalities</a:t>
            </a:r>
          </a:p>
          <a:p>
            <a:pPr marL="514350" indent="-51435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77072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220B23-35CF-FEC2-888B-48ACB0540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 Election Commission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BA563E2-E8FA-6CBD-81FB-3E0A5096E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The electoral rolls and elections of municipalities is vested in the state election commission. </a:t>
            </a:r>
          </a:p>
        </p:txBody>
      </p:sp>
    </p:spTree>
    <p:extLst>
      <p:ext uri="{BB962C8B-B14F-4D97-AF65-F5344CB8AC3E}">
        <p14:creationId xmlns:p14="http://schemas.microsoft.com/office/powerpoint/2010/main" xmlns="" val="120220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374434-42D1-7A17-3986-ABB199565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Salient features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000E463-795B-D93F-91CB-F0F9ADFCE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960" y="178452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3 types of municipalities in every state:</a:t>
            </a:r>
          </a:p>
          <a:p>
            <a:pPr marL="514350" indent="-514350">
              <a:buAutoNum type="arabicPeriod"/>
            </a:pPr>
            <a:r>
              <a:rPr lang="en-IN" dirty="0"/>
              <a:t>A Nagar Panchayat (transitional area, from rural area to urban area)</a:t>
            </a:r>
          </a:p>
          <a:p>
            <a:pPr marL="514350" indent="-514350">
              <a:buAutoNum type="arabicPeriod"/>
            </a:pPr>
            <a:r>
              <a:rPr lang="en-IN" dirty="0"/>
              <a:t>A municipal council (for smaller urban area)</a:t>
            </a:r>
          </a:p>
          <a:p>
            <a:pPr marL="514350" indent="-514350">
              <a:buAutoNum type="arabicPeriod"/>
            </a:pPr>
            <a:r>
              <a:rPr lang="en-IN" dirty="0"/>
              <a:t>A municipal corporation (for larger urban area)</a:t>
            </a:r>
          </a:p>
        </p:txBody>
      </p:sp>
    </p:spTree>
    <p:extLst>
      <p:ext uri="{BB962C8B-B14F-4D97-AF65-F5344CB8AC3E}">
        <p14:creationId xmlns:p14="http://schemas.microsoft.com/office/powerpoint/2010/main" xmlns="" val="285409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D5BEB9-3ACD-FD0C-E4CE-3E8B26C27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Composition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5502C9-364F-236E-E113-FDFC5D107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IN" dirty="0"/>
              <a:t>All the members of the municipality are directly elected by the people of the municipal area.</a:t>
            </a:r>
          </a:p>
          <a:p>
            <a:pPr marL="514350" indent="-514350">
              <a:buAutoNum type="arabicPeriod"/>
            </a:pPr>
            <a:r>
              <a:rPr lang="en-IN" dirty="0"/>
              <a:t>Each municipal area is divided into territorial constituencies known as wards.</a:t>
            </a:r>
          </a:p>
          <a:p>
            <a:pPr marL="514350" indent="-514350">
              <a:buAutoNum type="arabicPeriod"/>
            </a:pPr>
            <a:r>
              <a:rPr lang="en-IN" dirty="0"/>
              <a:t>The state legislature may provide the manner of election of chairperson of a municipality. </a:t>
            </a:r>
          </a:p>
        </p:txBody>
      </p:sp>
    </p:spTree>
    <p:extLst>
      <p:ext uri="{BB962C8B-B14F-4D97-AF65-F5344CB8AC3E}">
        <p14:creationId xmlns:p14="http://schemas.microsoft.com/office/powerpoint/2010/main" xmlns="" val="268831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ED0AD8-BF81-A3DB-572B-9B8DC82D6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Representation of the following persons in a municipality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5DE42F6-8B83-E57B-E5BB-426ADE3E3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IN" dirty="0"/>
              <a:t>Persons having special knowledge or experience in municipal administration without the right to vote in the meetings of municipality.</a:t>
            </a:r>
          </a:p>
          <a:p>
            <a:pPr marL="514350" indent="-514350">
              <a:buAutoNum type="arabicPeriod"/>
            </a:pPr>
            <a:r>
              <a:rPr lang="en-IN" dirty="0"/>
              <a:t>The members of the Lok Sabha and the state legislative assembly representing constituencies that comprise wholly or partly the municipal area.</a:t>
            </a:r>
          </a:p>
          <a:p>
            <a:pPr marL="514350" indent="-514350">
              <a:buAutoNum type="arabicPeriod"/>
            </a:pPr>
            <a:r>
              <a:rPr lang="en-IN" dirty="0"/>
              <a:t>The members of the Rajya Sabha and the State legislative council registered as electors within the municipal area.</a:t>
            </a:r>
          </a:p>
          <a:p>
            <a:pPr marL="514350" indent="-514350">
              <a:buAutoNum type="arabicPeriod"/>
            </a:pPr>
            <a:r>
              <a:rPr lang="en-IN" dirty="0"/>
              <a:t>The Chairpersons of committees other than ward committees.</a:t>
            </a:r>
          </a:p>
          <a:p>
            <a:pPr marL="514350" indent="-51435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96554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9E1066-9C05-94C9-B7BC-C86562107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Composition and representation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E14D905-445B-D36D-55A1-5F2C3262C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IN" dirty="0"/>
              <a:t>Ward committees </a:t>
            </a:r>
          </a:p>
          <a:p>
            <a:pPr marL="514350" indent="-514350">
              <a:buAutoNum type="arabicPeriod"/>
            </a:pPr>
            <a:r>
              <a:rPr lang="en-IN" dirty="0"/>
              <a:t>Reservation of Seats </a:t>
            </a:r>
          </a:p>
          <a:p>
            <a:pPr marL="514350" indent="-514350">
              <a:buAutoNum type="arabicPeriod"/>
            </a:pPr>
            <a:r>
              <a:rPr lang="en-IN" dirty="0"/>
              <a:t>Duration of municipalities -5 years</a:t>
            </a:r>
          </a:p>
        </p:txBody>
      </p:sp>
    </p:spTree>
    <p:extLst>
      <p:ext uri="{BB962C8B-B14F-4D97-AF65-F5344CB8AC3E}">
        <p14:creationId xmlns:p14="http://schemas.microsoft.com/office/powerpoint/2010/main" xmlns="" val="1161893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5B6E41-8A3B-BF7E-3F2B-3E8AB9E2A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Finance Commission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33278C4-E9ED-DF3E-CB66-974E73E6F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The finance commission which is constituted every five years reviews the financial position of the municipalities and makes recommendations to the Governor.</a:t>
            </a:r>
          </a:p>
        </p:txBody>
      </p:sp>
    </p:spTree>
    <p:extLst>
      <p:ext uri="{BB962C8B-B14F-4D97-AF65-F5344CB8AC3E}">
        <p14:creationId xmlns:p14="http://schemas.microsoft.com/office/powerpoint/2010/main" xmlns="" val="594055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E1B3AE-0ECA-0929-5933-7E424CD9F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Urban Governments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47829F-3207-69E2-E86E-C98EA02A0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IN" dirty="0"/>
              <a:t>Municipal Corporation:</a:t>
            </a:r>
          </a:p>
          <a:p>
            <a:pPr marL="0" indent="0">
              <a:buNone/>
            </a:pPr>
            <a:r>
              <a:rPr lang="en-IN" dirty="0"/>
              <a:t>Delhi</a:t>
            </a:r>
          </a:p>
          <a:p>
            <a:pPr marL="0" indent="0">
              <a:buNone/>
            </a:pPr>
            <a:r>
              <a:rPr lang="en-IN" dirty="0"/>
              <a:t>Mumbai</a:t>
            </a:r>
          </a:p>
          <a:p>
            <a:pPr marL="0" indent="0">
              <a:buNone/>
            </a:pPr>
            <a:r>
              <a:rPr lang="en-IN" dirty="0"/>
              <a:t>Kolkata</a:t>
            </a:r>
          </a:p>
          <a:p>
            <a:pPr marL="0" indent="0">
              <a:buNone/>
            </a:pPr>
            <a:r>
              <a:rPr lang="en-IN" dirty="0"/>
              <a:t>Hyderabad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Headed by </a:t>
            </a:r>
          </a:p>
          <a:p>
            <a:pPr marL="0" indent="0">
              <a:buNone/>
            </a:pPr>
            <a:r>
              <a:rPr lang="en-IN" dirty="0"/>
              <a:t>Mayor</a:t>
            </a:r>
          </a:p>
          <a:p>
            <a:pPr marL="0" indent="0">
              <a:buNone/>
            </a:pPr>
            <a:r>
              <a:rPr lang="en-IN" dirty="0"/>
              <a:t>Deputy Mayor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614142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6F2C22-E9CF-14B6-CB70-46C8A133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Municipality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1A478F-42D1-71BD-86A6-718D82425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Small towns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Headed by President/Chairman  </a:t>
            </a:r>
          </a:p>
        </p:txBody>
      </p:sp>
    </p:spTree>
    <p:extLst>
      <p:ext uri="{BB962C8B-B14F-4D97-AF65-F5344CB8AC3E}">
        <p14:creationId xmlns:p14="http://schemas.microsoft.com/office/powerpoint/2010/main" xmlns="" val="1565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8E606E-FEBF-E57A-2477-F532A5306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Notified Area Committee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940B070-44A6-BB13-B62C-E04748F6C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Rapid urbanisation</a:t>
            </a:r>
          </a:p>
          <a:p>
            <a:pPr marL="0" indent="0">
              <a:buNone/>
            </a:pPr>
            <a:r>
              <a:rPr lang="en-IN" dirty="0"/>
              <a:t>Towns which are not yet </a:t>
            </a:r>
            <a:r>
              <a:rPr lang="en-IN" dirty="0" smtClean="0"/>
              <a:t>municipality.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757638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503</Words>
  <Application>Microsoft Office PowerPoint</Application>
  <PresentationFormat>Custom</PresentationFormat>
  <Paragraphs>81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Indian Constitution</vt:lpstr>
      <vt:lpstr>74th Constitutional Amendment Act </vt:lpstr>
      <vt:lpstr>Jurisdiction</vt:lpstr>
      <vt:lpstr>Eight types of ULB’s in India</vt:lpstr>
      <vt:lpstr>Evolution of Urban Local Bodies in India</vt:lpstr>
      <vt:lpstr>Constitutionalisation</vt:lpstr>
      <vt:lpstr>74th Amendment Act, 1992</vt:lpstr>
      <vt:lpstr>Main objectives</vt:lpstr>
      <vt:lpstr>Salient features of the 74th Amendment Act </vt:lpstr>
      <vt:lpstr>State Election Commission</vt:lpstr>
      <vt:lpstr>Salient features </vt:lpstr>
      <vt:lpstr>Composition  </vt:lpstr>
      <vt:lpstr>Representation of the following persons in a municipality</vt:lpstr>
      <vt:lpstr>Composition and representation </vt:lpstr>
      <vt:lpstr>Finance Commission</vt:lpstr>
      <vt:lpstr>Types of Urban Governments</vt:lpstr>
      <vt:lpstr>Municipality</vt:lpstr>
      <vt:lpstr>Notified Area Committee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Constitution</dc:title>
  <dc:creator>Sujana A</dc:creator>
  <cp:lastModifiedBy>User</cp:lastModifiedBy>
  <cp:revision>4</cp:revision>
  <dcterms:created xsi:type="dcterms:W3CDTF">2024-02-09T06:44:52Z</dcterms:created>
  <dcterms:modified xsi:type="dcterms:W3CDTF">2024-02-13T17:11:17Z</dcterms:modified>
</cp:coreProperties>
</file>