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1"/>
  </p:notesMasterIdLst>
  <p:sldIdLst>
    <p:sldId id="256" r:id="rId2"/>
    <p:sldId id="278" r:id="rId3"/>
    <p:sldId id="257" r:id="rId4"/>
    <p:sldId id="279" r:id="rId5"/>
    <p:sldId id="273" r:id="rId6"/>
    <p:sldId id="280" r:id="rId7"/>
    <p:sldId id="258" r:id="rId8"/>
    <p:sldId id="281" r:id="rId9"/>
    <p:sldId id="282" r:id="rId10"/>
    <p:sldId id="283" r:id="rId11"/>
    <p:sldId id="296" r:id="rId12"/>
    <p:sldId id="259" r:id="rId13"/>
    <p:sldId id="260" r:id="rId14"/>
    <p:sldId id="289" r:id="rId15"/>
    <p:sldId id="272" r:id="rId16"/>
    <p:sldId id="288" r:id="rId17"/>
    <p:sldId id="274" r:id="rId18"/>
    <p:sldId id="290" r:id="rId19"/>
    <p:sldId id="275" r:id="rId20"/>
    <p:sldId id="287" r:id="rId21"/>
    <p:sldId id="284" r:id="rId22"/>
    <p:sldId id="286" r:id="rId23"/>
    <p:sldId id="292" r:id="rId24"/>
    <p:sldId id="285" r:id="rId25"/>
    <p:sldId id="291" r:id="rId26"/>
    <p:sldId id="276" r:id="rId27"/>
    <p:sldId id="293" r:id="rId28"/>
    <p:sldId id="294" r:id="rId29"/>
    <p:sldId id="271" r:id="rId3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4" d="100"/>
          <a:sy n="74" d="100"/>
        </p:scale>
        <p:origin x="1060" y="6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732079-3793-4E11-B7FE-4935B6E6323F}" type="datetimeFigureOut">
              <a:rPr lang="en-IN" smtClean="0"/>
              <a:t>30-06-2023</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A989A5-4CCD-4CE0-B9C2-E869BC7634DF}" type="slidenum">
              <a:rPr lang="en-IN" smtClean="0"/>
              <a:t>‹#›</a:t>
            </a:fld>
            <a:endParaRPr lang="en-IN"/>
          </a:p>
        </p:txBody>
      </p:sp>
    </p:spTree>
    <p:extLst>
      <p:ext uri="{BB962C8B-B14F-4D97-AF65-F5344CB8AC3E}">
        <p14:creationId xmlns:p14="http://schemas.microsoft.com/office/powerpoint/2010/main" val="34864203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5A989A5-4CCD-4CE0-B9C2-E869BC7634DF}" type="slidenum">
              <a:rPr lang="en-IN" smtClean="0"/>
              <a:t>10</a:t>
            </a:fld>
            <a:endParaRPr lang="en-IN"/>
          </a:p>
        </p:txBody>
      </p:sp>
    </p:spTree>
    <p:extLst>
      <p:ext uri="{BB962C8B-B14F-4D97-AF65-F5344CB8AC3E}">
        <p14:creationId xmlns:p14="http://schemas.microsoft.com/office/powerpoint/2010/main" val="112366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1D8BD707-D9CF-40AE-B4C6-C98DA3205C09}" type="datetimeFigureOut">
              <a:rPr lang="en-US" smtClean="0"/>
              <a:pPr/>
              <a:t>6/30/2023</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6/30/2023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6/30/2023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6/30/2023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6/30/2023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6/30/2023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B6F15528-21DE-4FAA-801E-634DDDAF4B2B}"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6/30/2023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1D8BD707-D9CF-40AE-B4C6-C98DA3205C09}" type="datetimeFigureOut">
              <a:rPr lang="en-US" smtClean="0"/>
              <a:pPr/>
              <a:t>6/30/2023</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B6F15528-21DE-4FAA-801E-634DDDAF4B2B}"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upremecourtofindia.nic.in/acml/ac01102012.pdf"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3429000"/>
            <a:ext cx="7851648" cy="1828800"/>
          </a:xfrm>
        </p:spPr>
        <p:txBody>
          <a:bodyPr>
            <a:normAutofit/>
          </a:bodyPr>
          <a:lstStyle/>
          <a:p>
            <a:r>
              <a:rPr lang="en-US" dirty="0"/>
              <a:t>Indian Constitution </a:t>
            </a:r>
          </a:p>
        </p:txBody>
      </p:sp>
      <p:sp>
        <p:nvSpPr>
          <p:cNvPr id="3" name="Subtitle 2"/>
          <p:cNvSpPr>
            <a:spLocks noGrp="1"/>
          </p:cNvSpPr>
          <p:nvPr>
            <p:ph type="subTitle" idx="1"/>
          </p:nvPr>
        </p:nvSpPr>
        <p:spPr>
          <a:xfrm>
            <a:off x="3962400" y="5105400"/>
            <a:ext cx="4349496" cy="609600"/>
          </a:xfrm>
        </p:spPr>
        <p:txBody>
          <a:bodyPr/>
          <a:lstStyle/>
          <a:p>
            <a:r>
              <a:rPr lang="en-US" dirty="0"/>
              <a:t>Multi Disciplinary Course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3429000"/>
            <a:ext cx="7851648" cy="1828800"/>
          </a:xfrm>
        </p:spPr>
        <p:txBody>
          <a:bodyPr>
            <a:normAutofit fontScale="90000"/>
          </a:bodyPr>
          <a:lstStyle/>
          <a:p>
            <a:r>
              <a:rPr lang="en-US" dirty="0"/>
              <a:t>Unit 2 Unitary and Federal features of the Indian Constitution </a:t>
            </a:r>
          </a:p>
        </p:txBody>
      </p:sp>
      <p:sp>
        <p:nvSpPr>
          <p:cNvPr id="3" name="Subtitle 2"/>
          <p:cNvSpPr>
            <a:spLocks noGrp="1"/>
          </p:cNvSpPr>
          <p:nvPr>
            <p:ph type="subTitle" idx="1"/>
          </p:nvPr>
        </p:nvSpPr>
        <p:spPr>
          <a:xfrm>
            <a:off x="3962400" y="5105400"/>
            <a:ext cx="4349496" cy="609600"/>
          </a:xfrm>
        </p:spPr>
        <p:txBody>
          <a:bodyPr/>
          <a:lstStyle/>
          <a:p>
            <a:endParaRPr lang="en-US" dirty="0"/>
          </a:p>
        </p:txBody>
      </p:sp>
    </p:spTree>
    <p:extLst>
      <p:ext uri="{BB962C8B-B14F-4D97-AF65-F5344CB8AC3E}">
        <p14:creationId xmlns:p14="http://schemas.microsoft.com/office/powerpoint/2010/main" val="3539248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
            <a:ext cx="8382000" cy="1542288"/>
          </a:xfrm>
        </p:spPr>
        <p:txBody>
          <a:bodyPr>
            <a:normAutofit/>
          </a:bodyPr>
          <a:lstStyle/>
          <a:p>
            <a:r>
              <a:rPr lang="en-US" dirty="0"/>
              <a:t>Introduction</a:t>
            </a:r>
          </a:p>
        </p:txBody>
      </p:sp>
      <p:sp>
        <p:nvSpPr>
          <p:cNvPr id="3" name="Content Placeholder 2"/>
          <p:cNvSpPr>
            <a:spLocks noGrp="1"/>
          </p:cNvSpPr>
          <p:nvPr>
            <p:ph idx="1"/>
          </p:nvPr>
        </p:nvSpPr>
        <p:spPr/>
        <p:txBody>
          <a:bodyPr>
            <a:normAutofit lnSpcReduction="10000"/>
          </a:bodyPr>
          <a:lstStyle/>
          <a:p>
            <a:pPr>
              <a:buNone/>
            </a:pPr>
            <a:endParaRPr lang="en-US" dirty="0"/>
          </a:p>
          <a:p>
            <a:pPr>
              <a:buFont typeface="Wingdings" panose="05000000000000000000" pitchFamily="2" charset="2"/>
              <a:buChar char="§"/>
            </a:pPr>
            <a:r>
              <a:rPr lang="en-US" sz="2400" b="0" i="0" dirty="0">
                <a:solidFill>
                  <a:srgbClr val="000000"/>
                </a:solidFill>
                <a:effectLst/>
                <a:latin typeface="Times New Roman" panose="02020603050405020304" pitchFamily="18" charset="0"/>
                <a:cs typeface="Times New Roman" panose="02020603050405020304" pitchFamily="18" charset="0"/>
              </a:rPr>
              <a:t>The Constitution provides for a Parliamentary form of government which is federal in structure with certain unitary features.</a:t>
            </a:r>
          </a:p>
          <a:p>
            <a:pPr>
              <a:buFont typeface="Wingdings" panose="05000000000000000000" pitchFamily="2" charset="2"/>
              <a:buChar char="§"/>
            </a:pPr>
            <a:r>
              <a:rPr lang="en-US" sz="2400" b="0" i="0" dirty="0">
                <a:solidFill>
                  <a:srgbClr val="000000"/>
                </a:solidFill>
                <a:effectLst/>
                <a:latin typeface="Times New Roman" panose="02020603050405020304" pitchFamily="18" charset="0"/>
                <a:cs typeface="Times New Roman" panose="02020603050405020304" pitchFamily="18" charset="0"/>
              </a:rPr>
              <a:t> The constitutional head of the Executive of the Union is the President. </a:t>
            </a:r>
          </a:p>
          <a:p>
            <a:pPr>
              <a:buFont typeface="Wingdings" panose="05000000000000000000" pitchFamily="2" charset="2"/>
              <a:buChar char="§"/>
            </a:pPr>
            <a:r>
              <a:rPr lang="en-US" sz="2400" b="0" i="0" dirty="0">
                <a:solidFill>
                  <a:srgbClr val="000000"/>
                </a:solidFill>
                <a:effectLst/>
                <a:latin typeface="Times New Roman" panose="02020603050405020304" pitchFamily="18" charset="0"/>
                <a:cs typeface="Times New Roman" panose="02020603050405020304" pitchFamily="18" charset="0"/>
              </a:rPr>
              <a:t>As per Article 79 of the Constitution of India, the council of the Parliament of the Union consists of the President and two Houses known as the Council of States (Rajya Sabha) and the House of the People (Lok Sabha).</a:t>
            </a:r>
            <a:br>
              <a:rPr lang="en-US" dirty="0"/>
            </a:b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49385-76DE-7CE3-E33D-E8D423F78678}"/>
              </a:ext>
            </a:extLst>
          </p:cNvPr>
          <p:cNvSpPr>
            <a:spLocks noGrp="1"/>
          </p:cNvSpPr>
          <p:nvPr>
            <p:ph type="title"/>
          </p:nvPr>
        </p:nvSpPr>
        <p:spPr/>
        <p:txBody>
          <a:bodyPr>
            <a:normAutofit fontScale="90000"/>
          </a:bodyPr>
          <a:lstStyle/>
          <a:p>
            <a:r>
              <a:rPr lang="en-IN" dirty="0"/>
              <a:t>Unitary and federal form of government</a:t>
            </a:r>
          </a:p>
        </p:txBody>
      </p:sp>
      <p:sp>
        <p:nvSpPr>
          <p:cNvPr id="3" name="Content Placeholder 2">
            <a:extLst>
              <a:ext uri="{FF2B5EF4-FFF2-40B4-BE49-F238E27FC236}">
                <a16:creationId xmlns:a16="http://schemas.microsoft.com/office/drawing/2014/main" id="{5CA8ABD5-3B61-041C-ADB2-703A2D370FD1}"/>
              </a:ext>
            </a:extLst>
          </p:cNvPr>
          <p:cNvSpPr>
            <a:spLocks noGrp="1"/>
          </p:cNvSpPr>
          <p:nvPr>
            <p:ph idx="1"/>
          </p:nvPr>
        </p:nvSpPr>
        <p:spPr/>
        <p:txBody>
          <a:bodyPr/>
          <a:lstStyle/>
          <a:p>
            <a:pPr>
              <a:buFont typeface="Wingdings" panose="05000000000000000000" pitchFamily="2" charset="2"/>
              <a:buChar char="§"/>
            </a:pPr>
            <a:r>
              <a:rPr lang="en-IN" b="1" u="sng" dirty="0"/>
              <a:t>A unitary government </a:t>
            </a:r>
            <a:r>
              <a:rPr lang="en-IN" dirty="0"/>
              <a:t>is one in which all the powers are vested in the national government and the regional governments if at all they exist derive their authority from the national government.</a:t>
            </a:r>
          </a:p>
          <a:p>
            <a:pPr>
              <a:buFont typeface="Wingdings" panose="05000000000000000000" pitchFamily="2" charset="2"/>
              <a:buChar char="§"/>
            </a:pPr>
            <a:r>
              <a:rPr lang="en-IN" b="1" u="sng" dirty="0"/>
              <a:t>A federal government </a:t>
            </a:r>
            <a:r>
              <a:rPr lang="en-IN" dirty="0"/>
              <a:t>is one in which powers are divided between the national government and the regional governments by the constitution itself and both operate in their respective jurisdictions independently. </a:t>
            </a:r>
          </a:p>
        </p:txBody>
      </p:sp>
    </p:spTree>
    <p:extLst>
      <p:ext uri="{BB962C8B-B14F-4D97-AF65-F5344CB8AC3E}">
        <p14:creationId xmlns:p14="http://schemas.microsoft.com/office/powerpoint/2010/main" val="306617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57E92-AF18-4879-1243-716AAEC9B53F}"/>
              </a:ext>
            </a:extLst>
          </p:cNvPr>
          <p:cNvSpPr>
            <a:spLocks noGrp="1"/>
          </p:cNvSpPr>
          <p:nvPr>
            <p:ph type="title"/>
          </p:nvPr>
        </p:nvSpPr>
        <p:spPr>
          <a:xfrm>
            <a:off x="457200" y="381000"/>
            <a:ext cx="8229600" cy="1466088"/>
          </a:xfrm>
        </p:spPr>
        <p:txBody>
          <a:bodyPr>
            <a:normAutofit fontScale="90000"/>
          </a:bodyPr>
          <a:lstStyle/>
          <a:p>
            <a:r>
              <a:rPr lang="en-IN" dirty="0"/>
              <a:t>Federal features in the Indian Constitution and Government  </a:t>
            </a:r>
          </a:p>
        </p:txBody>
      </p:sp>
      <p:sp>
        <p:nvSpPr>
          <p:cNvPr id="3" name="Content Placeholder 2">
            <a:extLst>
              <a:ext uri="{FF2B5EF4-FFF2-40B4-BE49-F238E27FC236}">
                <a16:creationId xmlns:a16="http://schemas.microsoft.com/office/drawing/2014/main" id="{BB455947-8C4B-FE49-CCD6-EE22D0C79182}"/>
              </a:ext>
            </a:extLst>
          </p:cNvPr>
          <p:cNvSpPr>
            <a:spLocks noGrp="1"/>
          </p:cNvSpPr>
          <p:nvPr>
            <p:ph idx="1"/>
          </p:nvPr>
        </p:nvSpPr>
        <p:spPr/>
        <p:txBody>
          <a:bodyPr/>
          <a:lstStyle/>
          <a:p>
            <a:pPr>
              <a:buFont typeface="Wingdings" panose="05000000000000000000" pitchFamily="2" charset="2"/>
              <a:buChar char="§"/>
            </a:pPr>
            <a:r>
              <a:rPr lang="en-IN" b="1" u="sng" dirty="0"/>
              <a:t>Dual Polity: </a:t>
            </a:r>
            <a:r>
              <a:rPr lang="en-IN" dirty="0"/>
              <a:t>The constitution establishes a dual polity consisting of the Union at the centre and the states at the periphery.</a:t>
            </a:r>
          </a:p>
          <a:p>
            <a:pPr>
              <a:buFont typeface="Wingdings" panose="05000000000000000000" pitchFamily="2" charset="2"/>
              <a:buChar char="§"/>
            </a:pPr>
            <a:r>
              <a:rPr lang="en-IN" b="1" u="sng" dirty="0"/>
              <a:t>Written constitution: </a:t>
            </a:r>
            <a:r>
              <a:rPr lang="en-IN" dirty="0"/>
              <a:t>the Indian constitution is a written constitution and a lengthy constitution which specifies the powers of the centre and the states.</a:t>
            </a:r>
          </a:p>
          <a:p>
            <a:pPr>
              <a:buFont typeface="Wingdings" panose="05000000000000000000" pitchFamily="2" charset="2"/>
              <a:buChar char="§"/>
            </a:pPr>
            <a:r>
              <a:rPr lang="en-IN" b="1" u="sng" dirty="0"/>
              <a:t>Division of powers: </a:t>
            </a:r>
            <a:r>
              <a:rPr lang="en-IN" dirty="0"/>
              <a:t>the Indian constitution divided the powers between the centre and the states in terms of the Union List, State List and Concurrent List. </a:t>
            </a:r>
          </a:p>
          <a:p>
            <a:pPr>
              <a:buFont typeface="Wingdings" panose="05000000000000000000" pitchFamily="2" charset="2"/>
              <a:buChar char="§"/>
            </a:pPr>
            <a:r>
              <a:rPr lang="en-IN" dirty="0"/>
              <a:t>The residuary powers are given to the centre. </a:t>
            </a:r>
          </a:p>
        </p:txBody>
      </p:sp>
    </p:spTree>
    <p:extLst>
      <p:ext uri="{BB962C8B-B14F-4D97-AF65-F5344CB8AC3E}">
        <p14:creationId xmlns:p14="http://schemas.microsoft.com/office/powerpoint/2010/main" val="1581548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85356-D885-3E1C-8B66-5CDCCC2DBC37}"/>
              </a:ext>
            </a:extLst>
          </p:cNvPr>
          <p:cNvSpPr>
            <a:spLocks noGrp="1"/>
          </p:cNvSpPr>
          <p:nvPr>
            <p:ph type="title"/>
          </p:nvPr>
        </p:nvSpPr>
        <p:spPr>
          <a:xfrm>
            <a:off x="457200" y="533400"/>
            <a:ext cx="8229600" cy="1313688"/>
          </a:xfrm>
        </p:spPr>
        <p:txBody>
          <a:bodyPr>
            <a:normAutofit fontScale="90000"/>
          </a:bodyPr>
          <a:lstStyle/>
          <a:p>
            <a:r>
              <a:rPr lang="en-IN" dirty="0"/>
              <a:t>Federal features in the Indian Constitution and Government </a:t>
            </a:r>
          </a:p>
        </p:txBody>
      </p:sp>
      <p:sp>
        <p:nvSpPr>
          <p:cNvPr id="3" name="Content Placeholder 2">
            <a:extLst>
              <a:ext uri="{FF2B5EF4-FFF2-40B4-BE49-F238E27FC236}">
                <a16:creationId xmlns:a16="http://schemas.microsoft.com/office/drawing/2014/main" id="{45E4D73D-7B8D-1A78-7747-6436CBCFEF2F}"/>
              </a:ext>
            </a:extLst>
          </p:cNvPr>
          <p:cNvSpPr>
            <a:spLocks noGrp="1"/>
          </p:cNvSpPr>
          <p:nvPr>
            <p:ph idx="1"/>
          </p:nvPr>
        </p:nvSpPr>
        <p:spPr/>
        <p:txBody>
          <a:bodyPr>
            <a:normAutofit fontScale="85000" lnSpcReduction="20000"/>
          </a:bodyPr>
          <a:lstStyle/>
          <a:p>
            <a:pPr>
              <a:buFont typeface="Wingdings" panose="05000000000000000000" pitchFamily="2" charset="2"/>
              <a:buChar char="§"/>
            </a:pPr>
            <a:r>
              <a:rPr lang="en-IN" b="1" u="sng" dirty="0"/>
              <a:t>Supremacy of the Constitution: </a:t>
            </a:r>
            <a:r>
              <a:rPr lang="en-IN" dirty="0"/>
              <a:t>the constitution is the supreme and highest law of the land. </a:t>
            </a:r>
          </a:p>
          <a:p>
            <a:pPr>
              <a:buFont typeface="Wingdings" panose="05000000000000000000" pitchFamily="2" charset="2"/>
              <a:buChar char="§"/>
            </a:pPr>
            <a:r>
              <a:rPr lang="en-IN" dirty="0"/>
              <a:t>The laws enacted by the centre and the states must be in accordance to the constitution.</a:t>
            </a:r>
          </a:p>
          <a:p>
            <a:pPr>
              <a:buFont typeface="Wingdings" panose="05000000000000000000" pitchFamily="2" charset="2"/>
              <a:buChar char="§"/>
            </a:pPr>
            <a:r>
              <a:rPr lang="en-IN" b="1" u="sng" dirty="0"/>
              <a:t>Rigid Constitution </a:t>
            </a:r>
            <a:r>
              <a:rPr lang="en-IN" dirty="0"/>
              <a:t>: The Indian constitution is rigid , certain aspects of the centre-state relations can be amended only with the joint action of both centre and the states.</a:t>
            </a:r>
          </a:p>
          <a:p>
            <a:pPr>
              <a:buFont typeface="Wingdings" panose="05000000000000000000" pitchFamily="2" charset="2"/>
              <a:buChar char="§"/>
            </a:pPr>
            <a:r>
              <a:rPr lang="en-IN" b="1" u="sng" dirty="0"/>
              <a:t>Independent Judiciary: </a:t>
            </a:r>
            <a:r>
              <a:rPr lang="en-IN" dirty="0"/>
              <a:t>The Indian constitution provides for an independent judiciary mainly with the objective of protecting the supremacy of the constitution and exercising the power of judicial review for the same purpose. </a:t>
            </a:r>
          </a:p>
          <a:p>
            <a:pPr>
              <a:buFont typeface="Wingdings" panose="05000000000000000000" pitchFamily="2" charset="2"/>
              <a:buChar char="§"/>
            </a:pPr>
            <a:r>
              <a:rPr lang="en-IN" b="1" u="sng" dirty="0"/>
              <a:t>Bicameralism: </a:t>
            </a:r>
            <a:r>
              <a:rPr lang="en-IN" dirty="0"/>
              <a:t>The Indian Constitution provides for a bicameral legislature consisting of Upper House, Rajya Sabha and Lower house, Lok Sabha). </a:t>
            </a:r>
          </a:p>
        </p:txBody>
      </p:sp>
    </p:spTree>
    <p:extLst>
      <p:ext uri="{BB962C8B-B14F-4D97-AF65-F5344CB8AC3E}">
        <p14:creationId xmlns:p14="http://schemas.microsoft.com/office/powerpoint/2010/main" val="2445044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533400"/>
            <a:ext cx="8305800" cy="1313688"/>
          </a:xfrm>
        </p:spPr>
        <p:txBody>
          <a:bodyPr>
            <a:normAutofit/>
          </a:bodyPr>
          <a:lstStyle/>
          <a:p>
            <a:r>
              <a:rPr lang="en-US" dirty="0"/>
              <a:t>Unitary features</a:t>
            </a:r>
          </a:p>
        </p:txBody>
      </p:sp>
      <p:sp>
        <p:nvSpPr>
          <p:cNvPr id="3" name="Content Placeholder 2"/>
          <p:cNvSpPr>
            <a:spLocks noGrp="1"/>
          </p:cNvSpPr>
          <p:nvPr>
            <p:ph idx="1"/>
          </p:nvPr>
        </p:nvSpPr>
        <p:spPr>
          <a:xfrm>
            <a:off x="457200" y="1847088"/>
            <a:ext cx="8229600" cy="4477512"/>
          </a:xfrm>
        </p:spPr>
        <p:txBody>
          <a:bodyPr>
            <a:normAutofit fontScale="85000" lnSpcReduction="20000"/>
          </a:bodyPr>
          <a:lstStyle/>
          <a:p>
            <a:pPr>
              <a:buFont typeface="Wingdings" panose="05000000000000000000" pitchFamily="2" charset="2"/>
              <a:buChar char="§"/>
            </a:pPr>
            <a:r>
              <a:rPr lang="en-US" b="1" u="sng" dirty="0"/>
              <a:t>Strong Centre </a:t>
            </a:r>
            <a:r>
              <a:rPr lang="en-US" dirty="0"/>
              <a:t>: the division of powers between the centre and the states is in favour of the centre.</a:t>
            </a:r>
          </a:p>
          <a:p>
            <a:pPr>
              <a:buFont typeface="Wingdings" panose="05000000000000000000" pitchFamily="2" charset="2"/>
              <a:buChar char="§"/>
            </a:pPr>
            <a:r>
              <a:rPr lang="en-US" dirty="0"/>
              <a:t>All the important subjects are mentioned in the Union list, Centre has more authority over the concurrent list and residuary powers are given to the centre.</a:t>
            </a:r>
          </a:p>
          <a:p>
            <a:pPr>
              <a:buFont typeface="Wingdings" panose="05000000000000000000" pitchFamily="2" charset="2"/>
              <a:buChar char="§"/>
            </a:pPr>
            <a:r>
              <a:rPr lang="en-US" b="1" u="sng" dirty="0"/>
              <a:t>States not indestructible: </a:t>
            </a:r>
            <a:r>
              <a:rPr lang="en-US" dirty="0"/>
              <a:t>The states in India , their names, area, boundaries can be changed by the Parliament. </a:t>
            </a:r>
          </a:p>
          <a:p>
            <a:pPr>
              <a:buFont typeface="Wingdings" panose="05000000000000000000" pitchFamily="2" charset="2"/>
              <a:buChar char="§"/>
            </a:pPr>
            <a:r>
              <a:rPr lang="en-US" b="1" u="sng" dirty="0"/>
              <a:t>Single Constitution: </a:t>
            </a:r>
            <a:r>
              <a:rPr lang="en-US" dirty="0"/>
              <a:t>The constitution of India is applicable to the Indian Union and the states. </a:t>
            </a:r>
          </a:p>
          <a:p>
            <a:pPr>
              <a:buFont typeface="Wingdings" panose="05000000000000000000" pitchFamily="2" charset="2"/>
              <a:buChar char="§"/>
            </a:pPr>
            <a:r>
              <a:rPr lang="en-US" b="1" u="sng" dirty="0"/>
              <a:t>Flexibility of the Constitution: </a:t>
            </a:r>
            <a:r>
              <a:rPr lang="en-US" dirty="0"/>
              <a:t>Compared to the other constitutions such as the American constitution , Indian constitution is considered to be flexible.  </a:t>
            </a:r>
          </a:p>
          <a:p>
            <a:pPr>
              <a:buFont typeface="Wingdings" panose="05000000000000000000" pitchFamily="2" charset="2"/>
              <a:buChar char="§"/>
            </a:pPr>
            <a:r>
              <a:rPr lang="en-US" dirty="0"/>
              <a:t>The constitution can be amended by simple majority and special majority.</a:t>
            </a:r>
          </a:p>
          <a:p>
            <a:pPr marL="0" indent="0">
              <a:buNone/>
            </a:pPr>
            <a:endParaRPr lang="en-US" dirty="0"/>
          </a:p>
          <a:p>
            <a:pPr>
              <a:buFont typeface="Wingdings" panose="05000000000000000000" pitchFamily="2" charset="2"/>
              <a:buChar char="§"/>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029BF-6EB5-D80F-C5C0-4B4C974BBCD7}"/>
              </a:ext>
            </a:extLst>
          </p:cNvPr>
          <p:cNvSpPr>
            <a:spLocks noGrp="1"/>
          </p:cNvSpPr>
          <p:nvPr>
            <p:ph type="title"/>
          </p:nvPr>
        </p:nvSpPr>
        <p:spPr/>
        <p:txBody>
          <a:bodyPr>
            <a:normAutofit fontScale="90000"/>
          </a:bodyPr>
          <a:lstStyle/>
          <a:p>
            <a:r>
              <a:rPr lang="en-IN" dirty="0"/>
              <a:t>Unitary features of the Indian Constitution and government. </a:t>
            </a:r>
          </a:p>
        </p:txBody>
      </p:sp>
      <p:sp>
        <p:nvSpPr>
          <p:cNvPr id="3" name="Content Placeholder 2">
            <a:extLst>
              <a:ext uri="{FF2B5EF4-FFF2-40B4-BE49-F238E27FC236}">
                <a16:creationId xmlns:a16="http://schemas.microsoft.com/office/drawing/2014/main" id="{E230F143-1358-3531-B1D4-FBEBBF35EE43}"/>
              </a:ext>
            </a:extLst>
          </p:cNvPr>
          <p:cNvSpPr>
            <a:spLocks noGrp="1"/>
          </p:cNvSpPr>
          <p:nvPr>
            <p:ph idx="1"/>
          </p:nvPr>
        </p:nvSpPr>
        <p:spPr/>
        <p:txBody>
          <a:bodyPr/>
          <a:lstStyle/>
          <a:p>
            <a:pPr>
              <a:buFont typeface="Wingdings" panose="05000000000000000000" pitchFamily="2" charset="2"/>
              <a:buChar char="§"/>
            </a:pPr>
            <a:r>
              <a:rPr lang="en-IN" b="1" u="sng" dirty="0"/>
              <a:t>Emergency Provisions: </a:t>
            </a:r>
            <a:r>
              <a:rPr lang="en-IN" dirty="0"/>
              <a:t>During an emergency, the Central government becomes all powerful and the states go into the total control of the centre. </a:t>
            </a:r>
          </a:p>
          <a:p>
            <a:pPr>
              <a:buFont typeface="Wingdings" panose="05000000000000000000" pitchFamily="2" charset="2"/>
              <a:buChar char="§"/>
            </a:pPr>
            <a:r>
              <a:rPr lang="en-IN" b="1" u="sng" dirty="0"/>
              <a:t>Single citizenship: </a:t>
            </a:r>
            <a:r>
              <a:rPr lang="en-IN" dirty="0"/>
              <a:t>The Indian constitution provides for one single Indian citizenship. </a:t>
            </a:r>
          </a:p>
          <a:p>
            <a:pPr>
              <a:buFont typeface="Wingdings" panose="05000000000000000000" pitchFamily="2" charset="2"/>
              <a:buChar char="§"/>
            </a:pPr>
            <a:r>
              <a:rPr lang="en-IN" b="1" u="sng" dirty="0"/>
              <a:t>Integrated Judiciary: </a:t>
            </a:r>
            <a:r>
              <a:rPr lang="en-IN" dirty="0"/>
              <a:t>the Indian constitution has established an integrated judicial system with the supreme court at the top and the state high courts below. </a:t>
            </a:r>
          </a:p>
        </p:txBody>
      </p:sp>
    </p:spTree>
    <p:extLst>
      <p:ext uri="{BB962C8B-B14F-4D97-AF65-F5344CB8AC3E}">
        <p14:creationId xmlns:p14="http://schemas.microsoft.com/office/powerpoint/2010/main" val="2417543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71E13-F779-336E-2A71-53DF8FF0E096}"/>
              </a:ext>
            </a:extLst>
          </p:cNvPr>
          <p:cNvSpPr>
            <a:spLocks noGrp="1"/>
          </p:cNvSpPr>
          <p:nvPr>
            <p:ph type="title"/>
          </p:nvPr>
        </p:nvSpPr>
        <p:spPr>
          <a:xfrm>
            <a:off x="457200" y="533400"/>
            <a:ext cx="8229600" cy="1313688"/>
          </a:xfrm>
        </p:spPr>
        <p:txBody>
          <a:bodyPr>
            <a:normAutofit fontScale="90000"/>
          </a:bodyPr>
          <a:lstStyle/>
          <a:p>
            <a:r>
              <a:rPr lang="en-IN" dirty="0"/>
              <a:t>Unitary features of the Indian Constitution and government. </a:t>
            </a:r>
          </a:p>
        </p:txBody>
      </p:sp>
      <p:sp>
        <p:nvSpPr>
          <p:cNvPr id="3" name="Content Placeholder 2">
            <a:extLst>
              <a:ext uri="{FF2B5EF4-FFF2-40B4-BE49-F238E27FC236}">
                <a16:creationId xmlns:a16="http://schemas.microsoft.com/office/drawing/2014/main" id="{6E2EE224-29D2-4E78-9256-B1358042B201}"/>
              </a:ext>
            </a:extLst>
          </p:cNvPr>
          <p:cNvSpPr>
            <a:spLocks noGrp="1"/>
          </p:cNvSpPr>
          <p:nvPr>
            <p:ph idx="1"/>
          </p:nvPr>
        </p:nvSpPr>
        <p:spPr/>
        <p:txBody>
          <a:bodyPr/>
          <a:lstStyle/>
          <a:p>
            <a:pPr>
              <a:buFont typeface="Wingdings" panose="05000000000000000000" pitchFamily="2" charset="2"/>
              <a:buChar char="§"/>
            </a:pPr>
            <a:r>
              <a:rPr lang="en-IN" b="1" u="sng" dirty="0"/>
              <a:t>All- India Services : </a:t>
            </a:r>
            <a:r>
              <a:rPr lang="en-IN" dirty="0"/>
              <a:t>the presence of a uniform set of administrative services IAS, IFS, IPS is considered to be a unitary feature.</a:t>
            </a:r>
          </a:p>
          <a:p>
            <a:pPr>
              <a:buFont typeface="Wingdings" panose="05000000000000000000" pitchFamily="2" charset="2"/>
              <a:buChar char="§"/>
            </a:pPr>
            <a:r>
              <a:rPr lang="en-IN" dirty="0"/>
              <a:t>The other Unitary features are:</a:t>
            </a:r>
          </a:p>
          <a:p>
            <a:pPr>
              <a:buFont typeface="Wingdings" panose="05000000000000000000" pitchFamily="2" charset="2"/>
              <a:buChar char="§"/>
            </a:pPr>
            <a:r>
              <a:rPr lang="en-IN" dirty="0"/>
              <a:t>Integrated Audit machinery-Office of the CAG</a:t>
            </a:r>
          </a:p>
          <a:p>
            <a:pPr>
              <a:buFont typeface="Wingdings" panose="05000000000000000000" pitchFamily="2" charset="2"/>
              <a:buChar char="§"/>
            </a:pPr>
            <a:r>
              <a:rPr lang="en-IN" dirty="0"/>
              <a:t>Appointment of Governor</a:t>
            </a:r>
          </a:p>
          <a:p>
            <a:pPr>
              <a:buFont typeface="Wingdings" panose="05000000000000000000" pitchFamily="2" charset="2"/>
              <a:buChar char="§"/>
            </a:pPr>
            <a:r>
              <a:rPr lang="en-IN" dirty="0"/>
              <a:t>Integrated election machinery  and veto over state bills. </a:t>
            </a:r>
          </a:p>
          <a:p>
            <a:endParaRPr lang="en-IN" dirty="0"/>
          </a:p>
        </p:txBody>
      </p:sp>
    </p:spTree>
    <p:extLst>
      <p:ext uri="{BB962C8B-B14F-4D97-AF65-F5344CB8AC3E}">
        <p14:creationId xmlns:p14="http://schemas.microsoft.com/office/powerpoint/2010/main" val="17607293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2C017-9058-9F7E-004F-AA8DC98A0771}"/>
              </a:ext>
            </a:extLst>
          </p:cNvPr>
          <p:cNvSpPr>
            <a:spLocks noGrp="1"/>
          </p:cNvSpPr>
          <p:nvPr>
            <p:ph type="title"/>
          </p:nvPr>
        </p:nvSpPr>
        <p:spPr/>
        <p:txBody>
          <a:bodyPr>
            <a:normAutofit fontScale="90000"/>
          </a:bodyPr>
          <a:lstStyle/>
          <a:p>
            <a:r>
              <a:rPr lang="en-IN" dirty="0"/>
              <a:t>Quasi-Federal Nature of the Indian constitution</a:t>
            </a:r>
          </a:p>
        </p:txBody>
      </p:sp>
      <p:sp>
        <p:nvSpPr>
          <p:cNvPr id="3" name="Content Placeholder 2">
            <a:extLst>
              <a:ext uri="{FF2B5EF4-FFF2-40B4-BE49-F238E27FC236}">
                <a16:creationId xmlns:a16="http://schemas.microsoft.com/office/drawing/2014/main" id="{E32F5CDD-E6BF-2B5F-E120-14D9F9558626}"/>
              </a:ext>
            </a:extLst>
          </p:cNvPr>
          <p:cNvSpPr>
            <a:spLocks noGrp="1"/>
          </p:cNvSpPr>
          <p:nvPr>
            <p:ph idx="1"/>
          </p:nvPr>
        </p:nvSpPr>
        <p:spPr/>
        <p:txBody>
          <a:bodyPr>
            <a:normAutofit fontScale="92500" lnSpcReduction="10000"/>
          </a:bodyPr>
          <a:lstStyle/>
          <a:p>
            <a:pPr>
              <a:buFont typeface="Wingdings" panose="05000000000000000000" pitchFamily="2" charset="2"/>
              <a:buChar char="§"/>
            </a:pPr>
            <a:r>
              <a:rPr lang="en-US" b="0" i="0" dirty="0">
                <a:solidFill>
                  <a:srgbClr val="3E3E3E"/>
                </a:solidFill>
                <a:effectLst/>
                <a:latin typeface="Times New Roman" panose="02020603050405020304" pitchFamily="18" charset="0"/>
                <a:cs typeface="Times New Roman" panose="02020603050405020304" pitchFamily="18" charset="0"/>
              </a:rPr>
              <a:t>It has been the matter of debate among the scholars that whether the Constitution of India is completely federal or unitary in nature. </a:t>
            </a:r>
          </a:p>
          <a:p>
            <a:pPr>
              <a:buFont typeface="Wingdings" panose="05000000000000000000" pitchFamily="2" charset="2"/>
              <a:buChar char="§"/>
            </a:pPr>
            <a:r>
              <a:rPr lang="en-US" b="0" i="0" dirty="0">
                <a:solidFill>
                  <a:srgbClr val="3E3E3E"/>
                </a:solidFill>
                <a:effectLst/>
                <a:latin typeface="Times New Roman" panose="02020603050405020304" pitchFamily="18" charset="0"/>
                <a:cs typeface="Times New Roman" panose="02020603050405020304" pitchFamily="18" charset="0"/>
              </a:rPr>
              <a:t>But actually Indian constitution contains both features of a federal constitution and unitary constitution.</a:t>
            </a:r>
          </a:p>
          <a:p>
            <a:pPr>
              <a:buFont typeface="Wingdings" panose="05000000000000000000" pitchFamily="2" charset="2"/>
              <a:buChar char="§"/>
            </a:pPr>
            <a:r>
              <a:rPr lang="en-US" b="0" i="0" dirty="0">
                <a:solidFill>
                  <a:srgbClr val="202124"/>
                </a:solidFill>
                <a:effectLst/>
                <a:latin typeface="Times New Roman" panose="02020603050405020304" pitchFamily="18" charset="0"/>
                <a:cs typeface="Times New Roman" panose="02020603050405020304" pitchFamily="18" charset="0"/>
              </a:rPr>
              <a:t>Quasi Federal means </a:t>
            </a:r>
            <a:r>
              <a:rPr lang="en-US" b="0" i="0" dirty="0">
                <a:solidFill>
                  <a:srgbClr val="040C28"/>
                </a:solidFill>
                <a:effectLst/>
                <a:latin typeface="Times New Roman" panose="02020603050405020304" pitchFamily="18" charset="0"/>
                <a:cs typeface="Times New Roman" panose="02020603050405020304" pitchFamily="18" charset="0"/>
              </a:rPr>
              <a:t>a federal form of government where more power is given to the central government than the state government</a:t>
            </a:r>
            <a:r>
              <a:rPr lang="en-US" b="0" i="0" dirty="0">
                <a:solidFill>
                  <a:srgbClr val="202124"/>
                </a:solidFill>
                <a:effectLst/>
                <a:latin typeface="Times New Roman" panose="02020603050405020304" pitchFamily="18" charset="0"/>
                <a:cs typeface="Times New Roman" panose="02020603050405020304" pitchFamily="18" charset="0"/>
              </a:rPr>
              <a:t>. </a:t>
            </a:r>
          </a:p>
          <a:p>
            <a:pPr>
              <a:buFont typeface="Wingdings" panose="05000000000000000000" pitchFamily="2" charset="2"/>
              <a:buChar char="§"/>
            </a:pPr>
            <a:r>
              <a:rPr lang="en-US" b="0" i="0" dirty="0">
                <a:solidFill>
                  <a:srgbClr val="202124"/>
                </a:solidFill>
                <a:effectLst/>
                <a:latin typeface="Times New Roman" panose="02020603050405020304" pitchFamily="18" charset="0"/>
                <a:cs typeface="Times New Roman" panose="02020603050405020304" pitchFamily="18" charset="0"/>
              </a:rPr>
              <a:t>India is considered a quasi-federal or semi-federal form of government. The Supreme Court of India has also described the Indian </a:t>
            </a:r>
            <a:r>
              <a:rPr lang="en-US" b="0" i="0" dirty="0" err="1">
                <a:solidFill>
                  <a:srgbClr val="202124"/>
                </a:solidFill>
                <a:effectLst/>
                <a:latin typeface="Times New Roman" panose="02020603050405020304" pitchFamily="18" charset="0"/>
                <a:cs typeface="Times New Roman" panose="02020603050405020304" pitchFamily="18" charset="0"/>
              </a:rPr>
              <a:t>Consitution</a:t>
            </a:r>
            <a:r>
              <a:rPr lang="en-US" b="0" i="0" dirty="0">
                <a:solidFill>
                  <a:srgbClr val="202124"/>
                </a:solidFill>
                <a:effectLst/>
                <a:latin typeface="Times New Roman" panose="02020603050405020304" pitchFamily="18" charset="0"/>
                <a:cs typeface="Times New Roman" panose="02020603050405020304" pitchFamily="18" charset="0"/>
              </a:rPr>
              <a:t> as Quasi Federal.</a:t>
            </a:r>
          </a:p>
          <a:p>
            <a:pPr>
              <a:buFont typeface="Wingdings" panose="05000000000000000000" pitchFamily="2" charset="2"/>
              <a:buChar char="§"/>
            </a:pPr>
            <a:r>
              <a:rPr lang="en-US" dirty="0" err="1">
                <a:solidFill>
                  <a:srgbClr val="202124"/>
                </a:solidFill>
                <a:latin typeface="Times New Roman" panose="02020603050405020304" pitchFamily="18" charset="0"/>
                <a:cs typeface="Times New Roman" panose="02020603050405020304" pitchFamily="18" charset="0"/>
              </a:rPr>
              <a:t>Dr.K.C.Wheare</a:t>
            </a:r>
            <a:r>
              <a:rPr lang="en-US" dirty="0">
                <a:solidFill>
                  <a:srgbClr val="202124"/>
                </a:solidFill>
                <a:latin typeface="Times New Roman" panose="02020603050405020304" pitchFamily="18" charset="0"/>
                <a:cs typeface="Times New Roman" panose="02020603050405020304" pitchFamily="18" charset="0"/>
              </a:rPr>
              <a:t> called the Indian constitution as quasi federal. </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2081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3429000"/>
            <a:ext cx="7851648" cy="1828800"/>
          </a:xfrm>
        </p:spPr>
        <p:txBody>
          <a:bodyPr>
            <a:normAutofit fontScale="90000"/>
          </a:bodyPr>
          <a:lstStyle/>
          <a:p>
            <a:r>
              <a:rPr lang="en-US" dirty="0"/>
              <a:t>Distribution of powers between the Union executive, Union legislature and Judiciary.</a:t>
            </a:r>
          </a:p>
        </p:txBody>
      </p:sp>
      <p:sp>
        <p:nvSpPr>
          <p:cNvPr id="3" name="Subtitle 2"/>
          <p:cNvSpPr>
            <a:spLocks noGrp="1"/>
          </p:cNvSpPr>
          <p:nvPr>
            <p:ph type="subTitle" idx="1"/>
          </p:nvPr>
        </p:nvSpPr>
        <p:spPr>
          <a:xfrm>
            <a:off x="3962400" y="5105400"/>
            <a:ext cx="4349496" cy="609600"/>
          </a:xfrm>
        </p:spPr>
        <p:txBody>
          <a:bodyPr/>
          <a:lstStyle/>
          <a:p>
            <a:endParaRPr lang="en-US" dirty="0"/>
          </a:p>
        </p:txBody>
      </p:sp>
    </p:spTree>
    <p:extLst>
      <p:ext uri="{BB962C8B-B14F-4D97-AF65-F5344CB8AC3E}">
        <p14:creationId xmlns:p14="http://schemas.microsoft.com/office/powerpoint/2010/main" val="28976098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533400"/>
            <a:ext cx="8382000" cy="1313688"/>
          </a:xfrm>
        </p:spPr>
        <p:txBody>
          <a:bodyPr>
            <a:normAutofit fontScale="90000"/>
          </a:bodyPr>
          <a:lstStyle/>
          <a:p>
            <a:r>
              <a:rPr lang="en-US" dirty="0"/>
              <a:t>Parliamentary form of government</a:t>
            </a:r>
          </a:p>
        </p:txBody>
      </p:sp>
      <p:sp>
        <p:nvSpPr>
          <p:cNvPr id="3" name="Content Placeholder 2"/>
          <p:cNvSpPr>
            <a:spLocks noGrp="1"/>
          </p:cNvSpPr>
          <p:nvPr>
            <p:ph idx="1"/>
          </p:nvPr>
        </p:nvSpPr>
        <p:spPr/>
        <p:txBody>
          <a:bodyPr>
            <a:normAutofit/>
          </a:bodyPr>
          <a:lstStyle/>
          <a:p>
            <a:pPr marL="0" indent="0" algn="l" fontAlgn="ctr">
              <a:buNone/>
            </a:pPr>
            <a:endParaRPr lang="en-US" b="0" i="0" dirty="0">
              <a:solidFill>
                <a:srgbClr val="000000"/>
              </a:solidFill>
              <a:effectLst/>
              <a:latin typeface="arial" panose="020B0604020202020204" pitchFamily="34" charset="0"/>
            </a:endParaRPr>
          </a:p>
          <a:p>
            <a:pPr algn="just" fontAlgn="base">
              <a:buFont typeface="Wingdings" panose="05000000000000000000" pitchFamily="2" charset="2"/>
              <a:buChar char="§"/>
            </a:pPr>
            <a:r>
              <a:rPr lang="en-US" sz="2400" b="0" i="0" dirty="0">
                <a:solidFill>
                  <a:srgbClr val="000000"/>
                </a:solidFill>
                <a:effectLst/>
                <a:latin typeface="Times New Roman" panose="02020603050405020304" pitchFamily="18" charset="0"/>
                <a:cs typeface="Times New Roman" panose="02020603050405020304" pitchFamily="18" charset="0"/>
              </a:rPr>
              <a:t>Parliament is the supreme legislative body of India. The Indian Parliament comprises of the President and the two Houses - Rajya Sabha (Council of States) and Lok Sabha (House of the People). </a:t>
            </a:r>
          </a:p>
          <a:p>
            <a:pPr algn="just" fontAlgn="base">
              <a:buFont typeface="Wingdings" panose="05000000000000000000" pitchFamily="2" charset="2"/>
              <a:buChar char="§"/>
            </a:pPr>
            <a:r>
              <a:rPr lang="en-US" sz="2400" b="0" i="0" dirty="0">
                <a:solidFill>
                  <a:srgbClr val="000000"/>
                </a:solidFill>
                <a:effectLst/>
                <a:latin typeface="Times New Roman" panose="02020603050405020304" pitchFamily="18" charset="0"/>
                <a:cs typeface="Times New Roman" panose="02020603050405020304" pitchFamily="18" charset="0"/>
              </a:rPr>
              <a:t>The President has the power to summon and prorogue either House of Parliament or to dissolve Lok Sabha. The Constitution of India came into force on January 26, 1950.</a:t>
            </a:r>
          </a:p>
          <a:p>
            <a:pPr algn="just" fontAlgn="base">
              <a:buFont typeface="Wingdings" panose="05000000000000000000" pitchFamily="2" charset="2"/>
              <a:buChar char="§"/>
            </a:pPr>
            <a:r>
              <a:rPr lang="en-US" sz="2400" b="0" i="0" dirty="0">
                <a:solidFill>
                  <a:srgbClr val="000000"/>
                </a:solidFill>
                <a:effectLst/>
                <a:latin typeface="Times New Roman" panose="02020603050405020304" pitchFamily="18" charset="0"/>
                <a:cs typeface="Times New Roman" panose="02020603050405020304" pitchFamily="18" charset="0"/>
              </a:rPr>
              <a:t> The first general elections under the new Constitution were held during the year 1951-52 and the first elected Parliament came into existence in April, 1952.</a:t>
            </a:r>
          </a:p>
          <a:p>
            <a:pPr>
              <a:buFont typeface="Wingdings" panose="05000000000000000000" pitchFamily="2" charset="2"/>
              <a:buChar char="§"/>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2823" y="760850"/>
            <a:ext cx="8229600" cy="1143000"/>
          </a:xfrm>
        </p:spPr>
        <p:txBody>
          <a:bodyPr/>
          <a:lstStyle/>
          <a:p>
            <a:r>
              <a:rPr lang="en-US" dirty="0"/>
              <a:t>Union Executive- President </a:t>
            </a:r>
          </a:p>
        </p:txBody>
      </p:sp>
      <p:sp>
        <p:nvSpPr>
          <p:cNvPr id="4" name="Content Placeholder 3">
            <a:extLst>
              <a:ext uri="{FF2B5EF4-FFF2-40B4-BE49-F238E27FC236}">
                <a16:creationId xmlns:a16="http://schemas.microsoft.com/office/drawing/2014/main" id="{553CF608-2CF7-7757-0C31-1F6875F73740}"/>
              </a:ext>
            </a:extLst>
          </p:cNvPr>
          <p:cNvSpPr>
            <a:spLocks noGrp="1"/>
          </p:cNvSpPr>
          <p:nvPr>
            <p:ph idx="1"/>
          </p:nvPr>
        </p:nvSpPr>
        <p:spPr/>
        <p:txBody>
          <a:bodyPr>
            <a:normAutofit/>
          </a:bodyPr>
          <a:lstStyle/>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The Union executive consists of the President, the Vice President, the Prime Minister and Council of Ministers. </a:t>
            </a:r>
          </a:p>
          <a:p>
            <a:pPr>
              <a:buFont typeface="Wingdings" panose="05000000000000000000" pitchFamily="2" charset="2"/>
              <a:buChar char="§"/>
            </a:pPr>
            <a:r>
              <a:rPr lang="en-US" b="0" i="0" dirty="0">
                <a:solidFill>
                  <a:srgbClr val="000000"/>
                </a:solidFill>
                <a:effectLst/>
                <a:latin typeface="Times New Roman" panose="02020603050405020304" pitchFamily="18" charset="0"/>
                <a:cs typeface="Times New Roman" panose="02020603050405020304" pitchFamily="18" charset="0"/>
              </a:rPr>
              <a:t>The President is elected by members of an electoral college consisting of elected members of both Houses of Parliament and Legislative Assemblies of the states in accordance with the system of proportional representation, by means of single transferable vote.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8FEF6-9B27-C935-A856-293796FA4B52}"/>
              </a:ext>
            </a:extLst>
          </p:cNvPr>
          <p:cNvSpPr>
            <a:spLocks noGrp="1"/>
          </p:cNvSpPr>
          <p:nvPr>
            <p:ph type="title"/>
          </p:nvPr>
        </p:nvSpPr>
        <p:spPr/>
        <p:txBody>
          <a:bodyPr/>
          <a:lstStyle/>
          <a:p>
            <a:r>
              <a:rPr lang="en-IN" dirty="0"/>
              <a:t>Union Executive -President</a:t>
            </a:r>
          </a:p>
        </p:txBody>
      </p:sp>
      <p:sp>
        <p:nvSpPr>
          <p:cNvPr id="3" name="Content Placeholder 2">
            <a:extLst>
              <a:ext uri="{FF2B5EF4-FFF2-40B4-BE49-F238E27FC236}">
                <a16:creationId xmlns:a16="http://schemas.microsoft.com/office/drawing/2014/main" id="{267ED70E-0F2A-7589-8BC9-8B5192E30642}"/>
              </a:ext>
            </a:extLst>
          </p:cNvPr>
          <p:cNvSpPr>
            <a:spLocks noGrp="1"/>
          </p:cNvSpPr>
          <p:nvPr>
            <p:ph idx="1"/>
          </p:nvPr>
        </p:nvSpPr>
        <p:spPr/>
        <p:txBody>
          <a:bodyPr>
            <a:normAutofit fontScale="92500"/>
          </a:bodyPr>
          <a:lstStyle/>
          <a:p>
            <a:pPr>
              <a:buFont typeface="Wingdings" panose="05000000000000000000" pitchFamily="2" charset="2"/>
              <a:buChar char="§"/>
            </a:pPr>
            <a:r>
              <a:rPr lang="en-US" b="0" i="0" dirty="0">
                <a:solidFill>
                  <a:srgbClr val="000000"/>
                </a:solidFill>
                <a:effectLst/>
                <a:latin typeface="Times New Roman" panose="02020603050405020304" pitchFamily="18" charset="0"/>
                <a:cs typeface="Times New Roman" panose="02020603050405020304" pitchFamily="18" charset="0"/>
              </a:rPr>
              <a:t>To secure uniformity among state inter se, as well as parity between the states as a whole, and the Union, suitable weightage is given to each vote. </a:t>
            </a:r>
          </a:p>
          <a:p>
            <a:pPr>
              <a:buFont typeface="Wingdings" panose="05000000000000000000" pitchFamily="2" charset="2"/>
              <a:buChar char="§"/>
            </a:pPr>
            <a:r>
              <a:rPr lang="en-US" b="0" i="0" dirty="0">
                <a:solidFill>
                  <a:srgbClr val="000000"/>
                </a:solidFill>
                <a:effectLst/>
                <a:latin typeface="Times New Roman" panose="02020603050405020304" pitchFamily="18" charset="0"/>
                <a:cs typeface="Times New Roman" panose="02020603050405020304" pitchFamily="18" charset="0"/>
              </a:rPr>
              <a:t>The President must be a citizen of India, not less than 35 years of age, and qualified for election as member of the Lok Sabha. </a:t>
            </a:r>
          </a:p>
          <a:p>
            <a:pPr>
              <a:buFont typeface="Wingdings" panose="05000000000000000000" pitchFamily="2" charset="2"/>
              <a:buChar char="§"/>
            </a:pPr>
            <a:r>
              <a:rPr lang="en-US" b="0" i="0" dirty="0">
                <a:solidFill>
                  <a:srgbClr val="000000"/>
                </a:solidFill>
                <a:effectLst/>
                <a:latin typeface="Times New Roman" panose="02020603050405020304" pitchFamily="18" charset="0"/>
                <a:cs typeface="Times New Roman" panose="02020603050405020304" pitchFamily="18" charset="0"/>
              </a:rPr>
              <a:t>His term of office is five years, and he is eligible for re-election. </a:t>
            </a:r>
          </a:p>
          <a:p>
            <a:pPr>
              <a:buFont typeface="Wingdings" panose="05000000000000000000" pitchFamily="2" charset="2"/>
              <a:buChar char="§"/>
            </a:pPr>
            <a:r>
              <a:rPr lang="en-US" b="0" i="0" dirty="0">
                <a:solidFill>
                  <a:srgbClr val="000000"/>
                </a:solidFill>
                <a:effectLst/>
                <a:latin typeface="Times New Roman" panose="02020603050405020304" pitchFamily="18" charset="0"/>
                <a:cs typeface="Times New Roman" panose="02020603050405020304" pitchFamily="18" charset="0"/>
              </a:rPr>
              <a:t>His removal from office is to be in accordance with procedure prescribed in Article 61 of the Constitution. He may, by writing under his hand addressed to the Vice-President, resign his office.</a:t>
            </a:r>
            <a:endParaRPr lang="en-IN"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61744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C4319-1A0C-FF3E-4357-1176BB1EEA93}"/>
              </a:ext>
            </a:extLst>
          </p:cNvPr>
          <p:cNvSpPr>
            <a:spLocks noGrp="1"/>
          </p:cNvSpPr>
          <p:nvPr>
            <p:ph type="title"/>
          </p:nvPr>
        </p:nvSpPr>
        <p:spPr>
          <a:xfrm>
            <a:off x="457200" y="457200"/>
            <a:ext cx="8229600" cy="1389888"/>
          </a:xfrm>
        </p:spPr>
        <p:txBody>
          <a:bodyPr>
            <a:normAutofit/>
          </a:bodyPr>
          <a:lstStyle/>
          <a:p>
            <a:r>
              <a:rPr lang="en-IN" dirty="0"/>
              <a:t>Union Executive</a:t>
            </a:r>
          </a:p>
        </p:txBody>
      </p:sp>
      <p:sp>
        <p:nvSpPr>
          <p:cNvPr id="3" name="Content Placeholder 2">
            <a:extLst>
              <a:ext uri="{FF2B5EF4-FFF2-40B4-BE49-F238E27FC236}">
                <a16:creationId xmlns:a16="http://schemas.microsoft.com/office/drawing/2014/main" id="{28F3C12D-2955-A454-0DC9-8E7CD4ECD675}"/>
              </a:ext>
            </a:extLst>
          </p:cNvPr>
          <p:cNvSpPr>
            <a:spLocks noGrp="1"/>
          </p:cNvSpPr>
          <p:nvPr>
            <p:ph idx="1"/>
          </p:nvPr>
        </p:nvSpPr>
        <p:spPr/>
        <p:txBody>
          <a:bodyPr>
            <a:normAutofit fontScale="70000" lnSpcReduction="20000"/>
          </a:bodyPr>
          <a:lstStyle/>
          <a:p>
            <a:pPr>
              <a:buFont typeface="Wingdings" panose="05000000000000000000" pitchFamily="2" charset="2"/>
              <a:buChar char="§"/>
            </a:pPr>
            <a:r>
              <a:rPr lang="en-IN" sz="3800" dirty="0">
                <a:latin typeface="Times New Roman" panose="02020603050405020304" pitchFamily="18" charset="0"/>
                <a:cs typeface="Times New Roman" panose="02020603050405020304" pitchFamily="18" charset="0"/>
              </a:rPr>
              <a:t>Vice President:</a:t>
            </a:r>
          </a:p>
          <a:p>
            <a:pPr algn="l" fontAlgn="base"/>
            <a:r>
              <a:rPr lang="en-US" sz="3800" b="0" i="0" dirty="0">
                <a:solidFill>
                  <a:srgbClr val="000000"/>
                </a:solidFill>
                <a:effectLst/>
                <a:latin typeface="Times New Roman" panose="02020603050405020304" pitchFamily="18" charset="0"/>
                <a:cs typeface="Times New Roman" panose="02020603050405020304" pitchFamily="18" charset="0"/>
              </a:rPr>
              <a:t>The Vice-President is elected by members of an electoral college consisting of members of both Houses of Parliament in accordance with the system of proportional representation by means of single transferable vote. </a:t>
            </a:r>
          </a:p>
          <a:p>
            <a:pPr algn="l" fontAlgn="base"/>
            <a:r>
              <a:rPr lang="en-US" sz="3800" b="0" i="0" dirty="0">
                <a:solidFill>
                  <a:srgbClr val="000000"/>
                </a:solidFill>
                <a:effectLst/>
                <a:latin typeface="Times New Roman" panose="02020603050405020304" pitchFamily="18" charset="0"/>
                <a:cs typeface="Times New Roman" panose="02020603050405020304" pitchFamily="18" charset="0"/>
              </a:rPr>
              <a:t>He must be a citizen of India, not less than 35 years of age, and eligible for election as a member of the Rajya Sabha. His term of office is five years, and he is eligible for re-election. His removal from office is to be in accordance with procedure prescribed in Article 67 b.</a:t>
            </a:r>
          </a:p>
          <a:p>
            <a:pPr>
              <a:buFont typeface="Wingdings" panose="05000000000000000000" pitchFamily="2" charset="2"/>
              <a:buChar char="§"/>
            </a:pPr>
            <a:endParaRPr lang="en-IN" dirty="0"/>
          </a:p>
        </p:txBody>
      </p:sp>
    </p:spTree>
    <p:extLst>
      <p:ext uri="{BB962C8B-B14F-4D97-AF65-F5344CB8AC3E}">
        <p14:creationId xmlns:p14="http://schemas.microsoft.com/office/powerpoint/2010/main" val="2440989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6DC20-74A3-79E9-EF47-4BBA3A27E91D}"/>
              </a:ext>
            </a:extLst>
          </p:cNvPr>
          <p:cNvSpPr>
            <a:spLocks noGrp="1"/>
          </p:cNvSpPr>
          <p:nvPr>
            <p:ph type="title"/>
          </p:nvPr>
        </p:nvSpPr>
        <p:spPr/>
        <p:txBody>
          <a:bodyPr/>
          <a:lstStyle/>
          <a:p>
            <a:r>
              <a:rPr lang="en-IN" dirty="0"/>
              <a:t>Vice President </a:t>
            </a:r>
          </a:p>
        </p:txBody>
      </p:sp>
      <p:sp>
        <p:nvSpPr>
          <p:cNvPr id="3" name="Content Placeholder 2">
            <a:extLst>
              <a:ext uri="{FF2B5EF4-FFF2-40B4-BE49-F238E27FC236}">
                <a16:creationId xmlns:a16="http://schemas.microsoft.com/office/drawing/2014/main" id="{6E52E816-363D-E6EE-E3CF-C1A58FF470A8}"/>
              </a:ext>
            </a:extLst>
          </p:cNvPr>
          <p:cNvSpPr>
            <a:spLocks noGrp="1"/>
          </p:cNvSpPr>
          <p:nvPr>
            <p:ph idx="1"/>
          </p:nvPr>
        </p:nvSpPr>
        <p:spPr/>
        <p:txBody>
          <a:bodyPr/>
          <a:lstStyle/>
          <a:p>
            <a:r>
              <a:rPr lang="en-US" sz="2800" b="0" i="0" dirty="0">
                <a:solidFill>
                  <a:srgbClr val="000000"/>
                </a:solidFill>
                <a:effectLst/>
                <a:latin typeface="Times New Roman" panose="02020603050405020304" pitchFamily="18" charset="0"/>
                <a:cs typeface="Times New Roman" panose="02020603050405020304" pitchFamily="18" charset="0"/>
              </a:rPr>
              <a:t>The Vice-President is ex-officio Chairman of the Rajya Sabha and acts as President when the latter is unable to discharge his functions due to absence, illness or any other cause,</a:t>
            </a:r>
          </a:p>
          <a:p>
            <a:r>
              <a:rPr lang="en-US" sz="2800" b="0" i="0" dirty="0">
                <a:solidFill>
                  <a:srgbClr val="000000"/>
                </a:solidFill>
                <a:effectLst/>
                <a:latin typeface="Times New Roman" panose="02020603050405020304" pitchFamily="18" charset="0"/>
                <a:cs typeface="Times New Roman" panose="02020603050405020304" pitchFamily="18" charset="0"/>
              </a:rPr>
              <a:t> or till the election of a new President (to be held within six months when a vacancy is caused by death, resignation or removal or otherwise of President).</a:t>
            </a:r>
          </a:p>
          <a:p>
            <a:r>
              <a:rPr lang="en-US" sz="2800" b="0" i="0" dirty="0">
                <a:solidFill>
                  <a:srgbClr val="000000"/>
                </a:solidFill>
                <a:effectLst/>
                <a:latin typeface="Times New Roman" panose="02020603050405020304" pitchFamily="18" charset="0"/>
                <a:cs typeface="Times New Roman" panose="02020603050405020304" pitchFamily="18" charset="0"/>
              </a:rPr>
              <a:t>While so acting, he ceases to perform the function of the Chairman of the Rajya Sabha.</a:t>
            </a:r>
          </a:p>
          <a:p>
            <a:endParaRPr lang="en-IN" dirty="0"/>
          </a:p>
        </p:txBody>
      </p:sp>
    </p:spTree>
    <p:extLst>
      <p:ext uri="{BB962C8B-B14F-4D97-AF65-F5344CB8AC3E}">
        <p14:creationId xmlns:p14="http://schemas.microsoft.com/office/powerpoint/2010/main" val="10424873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835E3-F19D-3850-B198-0BB647264726}"/>
              </a:ext>
            </a:extLst>
          </p:cNvPr>
          <p:cNvSpPr>
            <a:spLocks noGrp="1"/>
          </p:cNvSpPr>
          <p:nvPr>
            <p:ph type="title"/>
          </p:nvPr>
        </p:nvSpPr>
        <p:spPr>
          <a:xfrm>
            <a:off x="457200" y="457200"/>
            <a:ext cx="8229600" cy="1389888"/>
          </a:xfrm>
        </p:spPr>
        <p:txBody>
          <a:bodyPr>
            <a:normAutofit fontScale="90000"/>
          </a:bodyPr>
          <a:lstStyle/>
          <a:p>
            <a:r>
              <a:rPr lang="en-IN" dirty="0"/>
              <a:t>Prime Minister and the Council of Ministers</a:t>
            </a:r>
          </a:p>
        </p:txBody>
      </p:sp>
      <p:sp>
        <p:nvSpPr>
          <p:cNvPr id="3" name="Content Placeholder 2">
            <a:extLst>
              <a:ext uri="{FF2B5EF4-FFF2-40B4-BE49-F238E27FC236}">
                <a16:creationId xmlns:a16="http://schemas.microsoft.com/office/drawing/2014/main" id="{8B0B04BD-3F38-DE6C-B1B3-A3E18BB08F07}"/>
              </a:ext>
            </a:extLst>
          </p:cNvPr>
          <p:cNvSpPr>
            <a:spLocks noGrp="1"/>
          </p:cNvSpPr>
          <p:nvPr>
            <p:ph idx="1"/>
          </p:nvPr>
        </p:nvSpPr>
        <p:spPr/>
        <p:txBody>
          <a:bodyPr>
            <a:normAutofit/>
          </a:bodyPr>
          <a:lstStyle/>
          <a:p>
            <a:pPr algn="l" fontAlgn="base"/>
            <a:r>
              <a:rPr lang="en-US" b="0" i="0" dirty="0">
                <a:solidFill>
                  <a:srgbClr val="000000"/>
                </a:solidFill>
                <a:effectLst/>
                <a:latin typeface="Times New Roman" panose="02020603050405020304" pitchFamily="18" charset="0"/>
                <a:cs typeface="Times New Roman" panose="02020603050405020304" pitchFamily="18" charset="0"/>
              </a:rPr>
              <a:t>There is a Council of Ministers headed by the Prime Minister to aid and advise the President in exercise of his functions. </a:t>
            </a:r>
          </a:p>
          <a:p>
            <a:pPr algn="l" fontAlgn="base"/>
            <a:r>
              <a:rPr lang="en-US" b="0" i="0" dirty="0">
                <a:solidFill>
                  <a:srgbClr val="000000"/>
                </a:solidFill>
                <a:effectLst/>
                <a:latin typeface="Times New Roman" panose="02020603050405020304" pitchFamily="18" charset="0"/>
                <a:cs typeface="Times New Roman" panose="02020603050405020304" pitchFamily="18" charset="0"/>
              </a:rPr>
              <a:t>The Prime Minister is appointed by the President, who also appoints other ministers on the advice of Prime Minister. </a:t>
            </a:r>
          </a:p>
          <a:p>
            <a:endParaRPr lang="en-IN" dirty="0"/>
          </a:p>
        </p:txBody>
      </p:sp>
    </p:spTree>
    <p:extLst>
      <p:ext uri="{BB962C8B-B14F-4D97-AF65-F5344CB8AC3E}">
        <p14:creationId xmlns:p14="http://schemas.microsoft.com/office/powerpoint/2010/main" val="2692095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F8EBC-B379-9DE7-D134-5D76BFB1CB48}"/>
              </a:ext>
            </a:extLst>
          </p:cNvPr>
          <p:cNvSpPr>
            <a:spLocks noGrp="1"/>
          </p:cNvSpPr>
          <p:nvPr>
            <p:ph type="title"/>
          </p:nvPr>
        </p:nvSpPr>
        <p:spPr>
          <a:xfrm>
            <a:off x="381000" y="609600"/>
            <a:ext cx="8305800" cy="1237488"/>
          </a:xfrm>
        </p:spPr>
        <p:txBody>
          <a:bodyPr>
            <a:normAutofit fontScale="90000"/>
          </a:bodyPr>
          <a:lstStyle/>
          <a:p>
            <a:r>
              <a:rPr lang="en-IN" dirty="0"/>
              <a:t>Prime Minister and the Council of Ministers</a:t>
            </a:r>
          </a:p>
        </p:txBody>
      </p:sp>
      <p:sp>
        <p:nvSpPr>
          <p:cNvPr id="3" name="Content Placeholder 2">
            <a:extLst>
              <a:ext uri="{FF2B5EF4-FFF2-40B4-BE49-F238E27FC236}">
                <a16:creationId xmlns:a16="http://schemas.microsoft.com/office/drawing/2014/main" id="{389F9866-5114-B024-E2BE-2678A05F77A8}"/>
              </a:ext>
            </a:extLst>
          </p:cNvPr>
          <p:cNvSpPr>
            <a:spLocks noGrp="1"/>
          </p:cNvSpPr>
          <p:nvPr>
            <p:ph idx="1"/>
          </p:nvPr>
        </p:nvSpPr>
        <p:spPr/>
        <p:txBody>
          <a:bodyPr/>
          <a:lstStyle/>
          <a:p>
            <a:pPr algn="l" fontAlgn="base"/>
            <a:r>
              <a:rPr lang="en-US" b="0" i="0" dirty="0">
                <a:solidFill>
                  <a:srgbClr val="000000"/>
                </a:solidFill>
                <a:effectLst/>
                <a:latin typeface="Times New Roman" panose="02020603050405020304" pitchFamily="18" charset="0"/>
                <a:cs typeface="Times New Roman" panose="02020603050405020304" pitchFamily="18" charset="0"/>
              </a:rPr>
              <a:t>The Council of ministers is collectively responsible to the Lok Sabha.</a:t>
            </a:r>
          </a:p>
          <a:p>
            <a:pPr algn="l" fontAlgn="base"/>
            <a:r>
              <a:rPr lang="en-US" b="0" i="0" dirty="0">
                <a:solidFill>
                  <a:srgbClr val="000000"/>
                </a:solidFill>
                <a:effectLst/>
                <a:latin typeface="Times New Roman" panose="02020603050405020304" pitchFamily="18" charset="0"/>
                <a:cs typeface="Times New Roman" panose="02020603050405020304" pitchFamily="18" charset="0"/>
              </a:rPr>
              <a:t> It is the duty of the Prime Minister to communicate to the President all decisions of Council of Ministers relating to administration of affairs of the Union and proposals for legislation and information relating to them.</a:t>
            </a:r>
          </a:p>
          <a:p>
            <a:pPr algn="l" fontAlgn="base"/>
            <a:r>
              <a:rPr lang="en-US" b="0" i="0" dirty="0">
                <a:solidFill>
                  <a:srgbClr val="000000"/>
                </a:solidFill>
                <a:effectLst/>
                <a:latin typeface="Times New Roman" panose="02020603050405020304" pitchFamily="18" charset="0"/>
                <a:cs typeface="Times New Roman" panose="02020603050405020304" pitchFamily="18" charset="0"/>
              </a:rPr>
              <a:t>The Council of Ministers comprises Ministers who are members of Cabinet, Ministers of State (independent charge), Ministers of State and Deputy Ministers.</a:t>
            </a:r>
          </a:p>
          <a:p>
            <a:endParaRPr lang="en-IN" dirty="0"/>
          </a:p>
        </p:txBody>
      </p:sp>
    </p:spTree>
    <p:extLst>
      <p:ext uri="{BB962C8B-B14F-4D97-AF65-F5344CB8AC3E}">
        <p14:creationId xmlns:p14="http://schemas.microsoft.com/office/powerpoint/2010/main" val="4180858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502617-E40E-EDEA-BED8-D4456ABD6AF3}"/>
              </a:ext>
            </a:extLst>
          </p:cNvPr>
          <p:cNvSpPr>
            <a:spLocks noGrp="1"/>
          </p:cNvSpPr>
          <p:nvPr>
            <p:ph type="title"/>
          </p:nvPr>
        </p:nvSpPr>
        <p:spPr/>
        <p:txBody>
          <a:bodyPr/>
          <a:lstStyle/>
          <a:p>
            <a:r>
              <a:rPr lang="en-IN" dirty="0"/>
              <a:t>Union Parliament</a:t>
            </a:r>
          </a:p>
        </p:txBody>
      </p:sp>
      <p:sp>
        <p:nvSpPr>
          <p:cNvPr id="3" name="Content Placeholder 2">
            <a:extLst>
              <a:ext uri="{FF2B5EF4-FFF2-40B4-BE49-F238E27FC236}">
                <a16:creationId xmlns:a16="http://schemas.microsoft.com/office/drawing/2014/main" id="{B4E06C20-94A6-0801-CED7-9C9B9EA9226F}"/>
              </a:ext>
            </a:extLst>
          </p:cNvPr>
          <p:cNvSpPr>
            <a:spLocks noGrp="1"/>
          </p:cNvSpPr>
          <p:nvPr>
            <p:ph idx="1"/>
          </p:nvPr>
        </p:nvSpPr>
        <p:spPr/>
        <p:txBody>
          <a:bodyPr/>
          <a:lstStyle/>
          <a:p>
            <a:r>
              <a:rPr lang="en-US" sz="2400" b="0" i="0" dirty="0">
                <a:solidFill>
                  <a:srgbClr val="000000"/>
                </a:solidFill>
                <a:effectLst/>
                <a:latin typeface="Times New Roman" panose="02020603050405020304" pitchFamily="18" charset="0"/>
                <a:cs typeface="Times New Roman" panose="02020603050405020304" pitchFamily="18" charset="0"/>
              </a:rPr>
              <a:t>Legislature of the Union, which is called Parliament, consists of the President and two Houses, known as </a:t>
            </a:r>
            <a:r>
              <a:rPr lang="en-US" sz="2400" b="1" i="0" dirty="0">
                <a:solidFill>
                  <a:srgbClr val="000000"/>
                </a:solidFill>
                <a:effectLst/>
                <a:latin typeface="Times New Roman" panose="02020603050405020304" pitchFamily="18" charset="0"/>
                <a:cs typeface="Times New Roman" panose="02020603050405020304" pitchFamily="18" charset="0"/>
              </a:rPr>
              <a:t>Council of States (Rajya Sabha)</a:t>
            </a:r>
            <a:r>
              <a:rPr lang="en-US" sz="2400" b="0" i="0" dirty="0">
                <a:solidFill>
                  <a:srgbClr val="000000"/>
                </a:solidFill>
                <a:effectLst/>
                <a:latin typeface="Times New Roman" panose="02020603050405020304" pitchFamily="18" charset="0"/>
                <a:cs typeface="Times New Roman" panose="02020603050405020304" pitchFamily="18" charset="0"/>
              </a:rPr>
              <a:t> and </a:t>
            </a:r>
            <a:r>
              <a:rPr lang="en-US" sz="2400" b="1" i="0" dirty="0">
                <a:solidFill>
                  <a:srgbClr val="000000"/>
                </a:solidFill>
                <a:effectLst/>
                <a:latin typeface="Times New Roman" panose="02020603050405020304" pitchFamily="18" charset="0"/>
                <a:cs typeface="Times New Roman" panose="02020603050405020304" pitchFamily="18" charset="0"/>
              </a:rPr>
              <a:t>House of the People (Lok Sabha)</a:t>
            </a:r>
            <a:r>
              <a:rPr lang="en-US" sz="2400" b="0" i="0" dirty="0">
                <a:solidFill>
                  <a:srgbClr val="000000"/>
                </a:solidFill>
                <a:effectLst/>
                <a:latin typeface="Times New Roman" panose="02020603050405020304" pitchFamily="18" charset="0"/>
                <a:cs typeface="Times New Roman" panose="02020603050405020304" pitchFamily="18" charset="0"/>
              </a:rPr>
              <a:t>. </a:t>
            </a:r>
          </a:p>
          <a:p>
            <a:r>
              <a:rPr lang="en-US" sz="2400" b="0" i="0" dirty="0">
                <a:solidFill>
                  <a:srgbClr val="000000"/>
                </a:solidFill>
                <a:effectLst/>
                <a:latin typeface="Times New Roman" panose="02020603050405020304" pitchFamily="18" charset="0"/>
                <a:cs typeface="Times New Roman" panose="02020603050405020304" pitchFamily="18" charset="0"/>
              </a:rPr>
              <a:t>Each House has to meet within six months of its previous sitting. A joint sitting of two Houses can be held in certain cases.</a:t>
            </a:r>
          </a:p>
          <a:p>
            <a:endParaRPr lang="en-IN" dirty="0"/>
          </a:p>
        </p:txBody>
      </p:sp>
    </p:spTree>
    <p:extLst>
      <p:ext uri="{BB962C8B-B14F-4D97-AF65-F5344CB8AC3E}">
        <p14:creationId xmlns:p14="http://schemas.microsoft.com/office/powerpoint/2010/main" val="2090378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43EC4-0A84-F935-3AE1-2065557A442E}"/>
              </a:ext>
            </a:extLst>
          </p:cNvPr>
          <p:cNvSpPr>
            <a:spLocks noGrp="1"/>
          </p:cNvSpPr>
          <p:nvPr>
            <p:ph type="title"/>
          </p:nvPr>
        </p:nvSpPr>
        <p:spPr/>
        <p:txBody>
          <a:bodyPr/>
          <a:lstStyle/>
          <a:p>
            <a:r>
              <a:rPr lang="en-IN" dirty="0"/>
              <a:t>Rajya Sabha</a:t>
            </a:r>
          </a:p>
        </p:txBody>
      </p:sp>
      <p:sp>
        <p:nvSpPr>
          <p:cNvPr id="3" name="Content Placeholder 2">
            <a:extLst>
              <a:ext uri="{FF2B5EF4-FFF2-40B4-BE49-F238E27FC236}">
                <a16:creationId xmlns:a16="http://schemas.microsoft.com/office/drawing/2014/main" id="{20A52037-A130-52E8-D22F-A6FE767E3FB2}"/>
              </a:ext>
            </a:extLst>
          </p:cNvPr>
          <p:cNvSpPr>
            <a:spLocks noGrp="1"/>
          </p:cNvSpPr>
          <p:nvPr>
            <p:ph idx="1"/>
          </p:nvPr>
        </p:nvSpPr>
        <p:spPr/>
        <p:txBody>
          <a:bodyPr/>
          <a:lstStyle/>
          <a:p>
            <a:r>
              <a:rPr lang="en-US" b="0" i="0" dirty="0">
                <a:solidFill>
                  <a:srgbClr val="000000"/>
                </a:solidFill>
                <a:effectLst/>
                <a:latin typeface="latoregular"/>
              </a:rPr>
              <a:t>Rajya Sabha, at present, has 245 seats. </a:t>
            </a:r>
          </a:p>
          <a:p>
            <a:r>
              <a:rPr lang="en-US" b="0" i="0" dirty="0">
                <a:solidFill>
                  <a:srgbClr val="000000"/>
                </a:solidFill>
                <a:effectLst/>
                <a:latin typeface="latoregular"/>
              </a:rPr>
              <a:t>Of these, 233 members represent the States and the Union Territories, and </a:t>
            </a:r>
          </a:p>
          <a:p>
            <a:r>
              <a:rPr lang="en-US" b="0" i="0" dirty="0">
                <a:solidFill>
                  <a:srgbClr val="000000"/>
                </a:solidFill>
                <a:effectLst/>
                <a:latin typeface="latoregular"/>
              </a:rPr>
              <a:t>12 members are nominated by the President.</a:t>
            </a:r>
          </a:p>
          <a:p>
            <a:endParaRPr lang="en-IN" dirty="0"/>
          </a:p>
        </p:txBody>
      </p:sp>
    </p:spTree>
    <p:extLst>
      <p:ext uri="{BB962C8B-B14F-4D97-AF65-F5344CB8AC3E}">
        <p14:creationId xmlns:p14="http://schemas.microsoft.com/office/powerpoint/2010/main" val="1828605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5382D-6521-126B-A89E-C01EE4FFC538}"/>
              </a:ext>
            </a:extLst>
          </p:cNvPr>
          <p:cNvSpPr>
            <a:spLocks noGrp="1"/>
          </p:cNvSpPr>
          <p:nvPr>
            <p:ph type="title"/>
          </p:nvPr>
        </p:nvSpPr>
        <p:spPr/>
        <p:txBody>
          <a:bodyPr/>
          <a:lstStyle/>
          <a:p>
            <a:r>
              <a:rPr lang="en-IN" dirty="0"/>
              <a:t>Rajya Sabha</a:t>
            </a:r>
          </a:p>
        </p:txBody>
      </p:sp>
      <p:sp>
        <p:nvSpPr>
          <p:cNvPr id="3" name="Content Placeholder 2">
            <a:extLst>
              <a:ext uri="{FF2B5EF4-FFF2-40B4-BE49-F238E27FC236}">
                <a16:creationId xmlns:a16="http://schemas.microsoft.com/office/drawing/2014/main" id="{0A0F5F93-4F94-1F97-3ACD-91070C11D6AC}"/>
              </a:ext>
            </a:extLst>
          </p:cNvPr>
          <p:cNvSpPr>
            <a:spLocks noGrp="1"/>
          </p:cNvSpPr>
          <p:nvPr>
            <p:ph idx="1"/>
          </p:nvPr>
        </p:nvSpPr>
        <p:spPr/>
        <p:txBody>
          <a:bodyPr>
            <a:normAutofit/>
          </a:bodyPr>
          <a:lstStyle/>
          <a:p>
            <a:pPr algn="l" fontAlgn="base"/>
            <a:r>
              <a:rPr lang="en-US" b="0" i="0" dirty="0">
                <a:solidFill>
                  <a:srgbClr val="000000"/>
                </a:solidFill>
                <a:effectLst/>
                <a:latin typeface="latoregular"/>
              </a:rPr>
              <a:t>The Constitution provides </a:t>
            </a:r>
          </a:p>
          <a:p>
            <a:pPr algn="l" fontAlgn="base"/>
            <a:r>
              <a:rPr lang="en-US" b="0" i="0" dirty="0">
                <a:solidFill>
                  <a:srgbClr val="000000"/>
                </a:solidFill>
                <a:effectLst/>
                <a:latin typeface="latoregular"/>
              </a:rPr>
              <a:t>that the Rajya Sabha shall consist of 250 members, </a:t>
            </a:r>
          </a:p>
          <a:p>
            <a:pPr algn="l" fontAlgn="base"/>
            <a:r>
              <a:rPr lang="en-US" b="0" i="0" dirty="0">
                <a:solidFill>
                  <a:srgbClr val="000000"/>
                </a:solidFill>
                <a:effectLst/>
                <a:latin typeface="latoregular"/>
              </a:rPr>
              <a:t>of which 12 members shall be nominated by the President from amongst persons having special knowledge or practical experience in respect of such matters as literature, science, art and social service;  and </a:t>
            </a:r>
          </a:p>
          <a:p>
            <a:pPr algn="l" fontAlgn="base"/>
            <a:r>
              <a:rPr lang="en-US" b="0" i="0" dirty="0">
                <a:solidFill>
                  <a:srgbClr val="000000"/>
                </a:solidFill>
                <a:effectLst/>
                <a:latin typeface="latoregular"/>
              </a:rPr>
              <a:t>not more than 238 representatives of the States and of the Union Territories.</a:t>
            </a:r>
          </a:p>
          <a:p>
            <a:endParaRPr lang="en-IN" dirty="0"/>
          </a:p>
        </p:txBody>
      </p:sp>
    </p:spTree>
    <p:extLst>
      <p:ext uri="{BB962C8B-B14F-4D97-AF65-F5344CB8AC3E}">
        <p14:creationId xmlns:p14="http://schemas.microsoft.com/office/powerpoint/2010/main" val="4283744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4AD22-C683-5144-5134-5339A0C05BEB}"/>
              </a:ext>
            </a:extLst>
          </p:cNvPr>
          <p:cNvSpPr>
            <a:spLocks noGrp="1"/>
          </p:cNvSpPr>
          <p:nvPr>
            <p:ph type="title"/>
          </p:nvPr>
        </p:nvSpPr>
        <p:spPr/>
        <p:txBody>
          <a:bodyPr/>
          <a:lstStyle/>
          <a:p>
            <a:r>
              <a:rPr lang="en-IN" dirty="0"/>
              <a:t>Rajya Sabha</a:t>
            </a:r>
          </a:p>
        </p:txBody>
      </p:sp>
      <p:sp>
        <p:nvSpPr>
          <p:cNvPr id="3" name="Content Placeholder 2">
            <a:extLst>
              <a:ext uri="{FF2B5EF4-FFF2-40B4-BE49-F238E27FC236}">
                <a16:creationId xmlns:a16="http://schemas.microsoft.com/office/drawing/2014/main" id="{E3DE3A86-E1D0-CCF4-E00A-3412FBA005F1}"/>
              </a:ext>
            </a:extLst>
          </p:cNvPr>
          <p:cNvSpPr>
            <a:spLocks noGrp="1"/>
          </p:cNvSpPr>
          <p:nvPr>
            <p:ph idx="1"/>
          </p:nvPr>
        </p:nvSpPr>
        <p:spPr/>
        <p:txBody>
          <a:bodyPr>
            <a:normAutofit/>
          </a:bodyPr>
          <a:lstStyle/>
          <a:p>
            <a:pPr algn="l" fontAlgn="base"/>
            <a:r>
              <a:rPr lang="en-US" b="0" i="0" dirty="0">
                <a:solidFill>
                  <a:srgbClr val="000000"/>
                </a:solidFill>
                <a:effectLst/>
                <a:latin typeface="latoregular"/>
              </a:rPr>
              <a:t>Elections to the Rajya Sabha are indirect; </a:t>
            </a:r>
          </a:p>
          <a:p>
            <a:pPr algn="l" fontAlgn="base"/>
            <a:r>
              <a:rPr lang="en-US" b="0" i="0" dirty="0">
                <a:solidFill>
                  <a:srgbClr val="000000"/>
                </a:solidFill>
                <a:effectLst/>
                <a:latin typeface="latoregular"/>
              </a:rPr>
              <a:t>members representing States are elected by elected members of legislative assemblies of the States in accordance with the system of proportional representation by means of the single transferable vote, and </a:t>
            </a:r>
          </a:p>
          <a:p>
            <a:pPr algn="l" fontAlgn="base"/>
            <a:r>
              <a:rPr lang="en-US" b="0" i="0" dirty="0">
                <a:solidFill>
                  <a:srgbClr val="000000"/>
                </a:solidFill>
                <a:effectLst/>
                <a:latin typeface="latoregular"/>
              </a:rPr>
              <a:t>those representing Union Territories are chosen in such manner as Parliament may by law prescribe.</a:t>
            </a:r>
          </a:p>
          <a:p>
            <a:pPr algn="l" fontAlgn="base"/>
            <a:r>
              <a:rPr lang="en-US" b="0" i="0" dirty="0">
                <a:solidFill>
                  <a:srgbClr val="000000"/>
                </a:solidFill>
                <a:effectLst/>
                <a:latin typeface="latoregular"/>
              </a:rPr>
              <a:t> The Rajya Sabha is not subject to dissolution; one-third of its members retire every second year.</a:t>
            </a:r>
          </a:p>
          <a:p>
            <a:endParaRPr lang="en-IN" dirty="0"/>
          </a:p>
        </p:txBody>
      </p:sp>
    </p:spTree>
    <p:extLst>
      <p:ext uri="{BB962C8B-B14F-4D97-AF65-F5344CB8AC3E}">
        <p14:creationId xmlns:p14="http://schemas.microsoft.com/office/powerpoint/2010/main" val="813778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5AFAA-3D50-B92B-1945-69AB82A49379}"/>
              </a:ext>
            </a:extLst>
          </p:cNvPr>
          <p:cNvSpPr>
            <a:spLocks noGrp="1"/>
          </p:cNvSpPr>
          <p:nvPr>
            <p:ph type="title"/>
          </p:nvPr>
        </p:nvSpPr>
        <p:spPr/>
        <p:txBody>
          <a:bodyPr/>
          <a:lstStyle/>
          <a:p>
            <a:r>
              <a:rPr lang="en-IN" dirty="0"/>
              <a:t>Lok Sabha</a:t>
            </a:r>
          </a:p>
        </p:txBody>
      </p:sp>
      <p:sp>
        <p:nvSpPr>
          <p:cNvPr id="3" name="Content Placeholder 2">
            <a:extLst>
              <a:ext uri="{FF2B5EF4-FFF2-40B4-BE49-F238E27FC236}">
                <a16:creationId xmlns:a16="http://schemas.microsoft.com/office/drawing/2014/main" id="{8D9F1982-4618-A871-D8B1-D7DD2B39F5B0}"/>
              </a:ext>
            </a:extLst>
          </p:cNvPr>
          <p:cNvSpPr>
            <a:spLocks noGrp="1"/>
          </p:cNvSpPr>
          <p:nvPr>
            <p:ph idx="1"/>
          </p:nvPr>
        </p:nvSpPr>
        <p:spPr/>
        <p:txBody>
          <a:bodyPr/>
          <a:lstStyle/>
          <a:p>
            <a:r>
              <a:rPr lang="en-US" b="0" i="0" dirty="0">
                <a:solidFill>
                  <a:srgbClr val="000000"/>
                </a:solidFill>
                <a:effectLst/>
                <a:latin typeface="open_sansregular"/>
              </a:rPr>
              <a:t>The Lok Sabha is composed of representatives of people chosen by direct election on the basis of Universal Adult Suffrage. </a:t>
            </a:r>
          </a:p>
          <a:p>
            <a:r>
              <a:rPr lang="en-US" b="0" i="0" dirty="0">
                <a:solidFill>
                  <a:srgbClr val="000000"/>
                </a:solidFill>
                <a:effectLst/>
                <a:latin typeface="open_sansregular"/>
              </a:rPr>
              <a:t>The Constitution of India allows for a maximum of 550 members in the House, with 530 members representing the States and 20 representing the Union Territories.</a:t>
            </a:r>
          </a:p>
          <a:p>
            <a:r>
              <a:rPr lang="en-US" b="0" i="0" dirty="0">
                <a:solidFill>
                  <a:srgbClr val="000000"/>
                </a:solidFill>
                <a:effectLst/>
                <a:latin typeface="open_sansregular"/>
              </a:rPr>
              <a:t> At present, the Lok Sabha has 543 seats filled by elected representatives. </a:t>
            </a:r>
          </a:p>
          <a:p>
            <a:r>
              <a:rPr lang="en-US" b="0" i="0" dirty="0">
                <a:solidFill>
                  <a:srgbClr val="000000"/>
                </a:solidFill>
                <a:effectLst/>
                <a:latin typeface="open_sansregular"/>
              </a:rPr>
              <a:t>The term of the Lok Sabha, unless dissolved, is five years from the date appointed for its first meeting. </a:t>
            </a:r>
            <a:endParaRPr lang="en-IN" dirty="0"/>
          </a:p>
        </p:txBody>
      </p:sp>
    </p:spTree>
    <p:extLst>
      <p:ext uri="{BB962C8B-B14F-4D97-AF65-F5344CB8AC3E}">
        <p14:creationId xmlns:p14="http://schemas.microsoft.com/office/powerpoint/2010/main" val="3001300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8D8A1-1539-B59E-0FB1-C1E5A77D5C81}"/>
              </a:ext>
            </a:extLst>
          </p:cNvPr>
          <p:cNvSpPr>
            <a:spLocks noGrp="1"/>
          </p:cNvSpPr>
          <p:nvPr>
            <p:ph type="title"/>
          </p:nvPr>
        </p:nvSpPr>
        <p:spPr/>
        <p:txBody>
          <a:bodyPr/>
          <a:lstStyle/>
          <a:p>
            <a:r>
              <a:rPr lang="en-IN" dirty="0"/>
              <a:t>Lok Sabha</a:t>
            </a:r>
          </a:p>
        </p:txBody>
      </p:sp>
      <p:sp>
        <p:nvSpPr>
          <p:cNvPr id="3" name="Content Placeholder 2">
            <a:extLst>
              <a:ext uri="{FF2B5EF4-FFF2-40B4-BE49-F238E27FC236}">
                <a16:creationId xmlns:a16="http://schemas.microsoft.com/office/drawing/2014/main" id="{4B418052-53A3-646C-B128-9AD6E4C5FB72}"/>
              </a:ext>
            </a:extLst>
          </p:cNvPr>
          <p:cNvSpPr>
            <a:spLocks noGrp="1"/>
          </p:cNvSpPr>
          <p:nvPr>
            <p:ph idx="1"/>
          </p:nvPr>
        </p:nvSpPr>
        <p:spPr/>
        <p:txBody>
          <a:bodyPr>
            <a:normAutofit/>
          </a:bodyPr>
          <a:lstStyle/>
          <a:p>
            <a:r>
              <a:rPr lang="en-US" b="0" i="0" dirty="0">
                <a:solidFill>
                  <a:srgbClr val="000000"/>
                </a:solidFill>
                <a:effectLst/>
                <a:latin typeface="latoregular"/>
              </a:rPr>
              <a:t>The Lok Sabha is composed of representatives of people chosen by direct election on the basis of adult suffrage.</a:t>
            </a:r>
          </a:p>
          <a:p>
            <a:r>
              <a:rPr lang="en-US" b="0" i="0" dirty="0">
                <a:solidFill>
                  <a:srgbClr val="000000"/>
                </a:solidFill>
                <a:effectLst/>
                <a:latin typeface="latoregular"/>
              </a:rPr>
              <a:t>The maximum strength of the House envisaged by the Constitution is now 552 (530 members to represent States, 20 to represent Union Territories.</a:t>
            </a:r>
          </a:p>
        </p:txBody>
      </p:sp>
    </p:spTree>
    <p:extLst>
      <p:ext uri="{BB962C8B-B14F-4D97-AF65-F5344CB8AC3E}">
        <p14:creationId xmlns:p14="http://schemas.microsoft.com/office/powerpoint/2010/main" val="1691110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BA778F-F702-C7A6-3DC7-BEE61879E075}"/>
              </a:ext>
            </a:extLst>
          </p:cNvPr>
          <p:cNvSpPr>
            <a:spLocks noGrp="1"/>
          </p:cNvSpPr>
          <p:nvPr>
            <p:ph type="title"/>
          </p:nvPr>
        </p:nvSpPr>
        <p:spPr/>
        <p:txBody>
          <a:bodyPr/>
          <a:lstStyle/>
          <a:p>
            <a:r>
              <a:rPr lang="en-IN" dirty="0"/>
              <a:t>Lok Sabha </a:t>
            </a:r>
          </a:p>
        </p:txBody>
      </p:sp>
      <p:sp>
        <p:nvSpPr>
          <p:cNvPr id="3" name="Content Placeholder 2">
            <a:extLst>
              <a:ext uri="{FF2B5EF4-FFF2-40B4-BE49-F238E27FC236}">
                <a16:creationId xmlns:a16="http://schemas.microsoft.com/office/drawing/2014/main" id="{4403048F-4BD6-B2EF-977E-8194E4B27456}"/>
              </a:ext>
            </a:extLst>
          </p:cNvPr>
          <p:cNvSpPr>
            <a:spLocks noGrp="1"/>
          </p:cNvSpPr>
          <p:nvPr>
            <p:ph idx="1"/>
          </p:nvPr>
        </p:nvSpPr>
        <p:spPr/>
        <p:txBody>
          <a:bodyPr/>
          <a:lstStyle/>
          <a:p>
            <a:r>
              <a:rPr lang="en-US" sz="2800" b="0" i="0" dirty="0">
                <a:solidFill>
                  <a:srgbClr val="000000"/>
                </a:solidFill>
                <a:effectLst/>
                <a:latin typeface="Times New Roman" panose="02020603050405020304" pitchFamily="18" charset="0"/>
                <a:cs typeface="Times New Roman" panose="02020603050405020304" pitchFamily="18" charset="0"/>
              </a:rPr>
              <a:t>The Lok Sabha at present consists of 545 members. Of these, 530 members are directly elected from the States and 13 from Union Territories</a:t>
            </a:r>
          </a:p>
          <a:p>
            <a:r>
              <a:rPr lang="en-US" sz="2800" b="0" i="0" dirty="0">
                <a:solidFill>
                  <a:srgbClr val="000000"/>
                </a:solidFill>
                <a:effectLst/>
                <a:latin typeface="Times New Roman" panose="02020603050405020304" pitchFamily="18" charset="0"/>
                <a:cs typeface="Times New Roman" panose="02020603050405020304" pitchFamily="18" charset="0"/>
              </a:rPr>
              <a:t>The total elective membership of the Lok Sabha is distributed among States in such a way that the ratio between the number of seats allotted to each State and population of the State is, as far as practicable, the same for all States. </a:t>
            </a:r>
            <a:endParaRPr lang="en-IN" sz="2800" dirty="0">
              <a:latin typeface="Times New Roman" panose="02020603050405020304" pitchFamily="18" charset="0"/>
              <a:cs typeface="Times New Roman" panose="02020603050405020304" pitchFamily="18" charset="0"/>
            </a:endParaRPr>
          </a:p>
          <a:p>
            <a:endParaRPr lang="en-US" b="0" i="0" dirty="0">
              <a:solidFill>
                <a:srgbClr val="000000"/>
              </a:solidFill>
              <a:effectLst/>
              <a:latin typeface="latoregular"/>
            </a:endParaRPr>
          </a:p>
        </p:txBody>
      </p:sp>
    </p:spTree>
    <p:extLst>
      <p:ext uri="{BB962C8B-B14F-4D97-AF65-F5344CB8AC3E}">
        <p14:creationId xmlns:p14="http://schemas.microsoft.com/office/powerpoint/2010/main" val="15341773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EFD90B-DB51-CD3A-5424-580FBF38E342}"/>
              </a:ext>
            </a:extLst>
          </p:cNvPr>
          <p:cNvSpPr>
            <a:spLocks noGrp="1"/>
          </p:cNvSpPr>
          <p:nvPr>
            <p:ph type="title"/>
          </p:nvPr>
        </p:nvSpPr>
        <p:spPr>
          <a:xfrm>
            <a:off x="457200" y="533400"/>
            <a:ext cx="8229600" cy="1313688"/>
          </a:xfrm>
        </p:spPr>
        <p:txBody>
          <a:bodyPr>
            <a:normAutofit fontScale="90000"/>
          </a:bodyPr>
          <a:lstStyle/>
          <a:p>
            <a:r>
              <a:rPr lang="en-IN" dirty="0"/>
              <a:t>Supreme Court of India-Indian Judiciary</a:t>
            </a:r>
          </a:p>
        </p:txBody>
      </p:sp>
      <p:sp>
        <p:nvSpPr>
          <p:cNvPr id="3" name="Content Placeholder 2">
            <a:extLst>
              <a:ext uri="{FF2B5EF4-FFF2-40B4-BE49-F238E27FC236}">
                <a16:creationId xmlns:a16="http://schemas.microsoft.com/office/drawing/2014/main" id="{6A0715A9-3504-8058-77FB-20F60103B020}"/>
              </a:ext>
            </a:extLst>
          </p:cNvPr>
          <p:cNvSpPr>
            <a:spLocks noGrp="1"/>
          </p:cNvSpPr>
          <p:nvPr>
            <p:ph idx="1"/>
          </p:nvPr>
        </p:nvSpPr>
        <p:spPr/>
        <p:txBody>
          <a:bodyPr/>
          <a:lstStyle/>
          <a:p>
            <a:r>
              <a:rPr lang="en-US" b="0" i="0" dirty="0">
                <a:solidFill>
                  <a:srgbClr val="333333"/>
                </a:solidFill>
                <a:effectLst/>
                <a:latin typeface="Arial" panose="020B0604020202020204" pitchFamily="34" charset="0"/>
              </a:rPr>
              <a:t>Supreme Court of India came into</a:t>
            </a:r>
            <a:r>
              <a:rPr lang="en-US" b="0" i="0" u="none" strike="noStrike" dirty="0">
                <a:solidFill>
                  <a:srgbClr val="C01700"/>
                </a:solidFill>
                <a:effectLst/>
                <a:latin typeface="Arial" panose="020B0604020202020204" pitchFamily="34" charset="0"/>
                <a:hlinkClick r:id="rId2"/>
              </a:rPr>
              <a:t> </a:t>
            </a:r>
            <a:r>
              <a:rPr lang="en-US" b="0" i="0" dirty="0">
                <a:solidFill>
                  <a:srgbClr val="333333"/>
                </a:solidFill>
                <a:effectLst/>
                <a:latin typeface="Arial" panose="020B0604020202020204" pitchFamily="34" charset="0"/>
              </a:rPr>
              <a:t>existence on 26th January, 1950 .</a:t>
            </a:r>
          </a:p>
          <a:p>
            <a:r>
              <a:rPr lang="en-US" b="0" i="0" dirty="0">
                <a:solidFill>
                  <a:srgbClr val="333333"/>
                </a:solidFill>
                <a:effectLst/>
                <a:latin typeface="Arial" panose="020B0604020202020204" pitchFamily="34" charset="0"/>
              </a:rPr>
              <a:t>The Supreme Court of India comprises the Chief Justice and 33 other Judges appointed by the President of India. </a:t>
            </a:r>
          </a:p>
          <a:p>
            <a:r>
              <a:rPr lang="en-US" b="0" i="0" dirty="0">
                <a:solidFill>
                  <a:srgbClr val="333333"/>
                </a:solidFill>
                <a:effectLst/>
                <a:latin typeface="Arial" panose="020B0604020202020204" pitchFamily="34" charset="0"/>
              </a:rPr>
              <a:t>Supreme Court Judges retire upon attaining the age of 65 years. </a:t>
            </a:r>
          </a:p>
          <a:p>
            <a:endParaRPr lang="en-US" b="0" i="0" dirty="0">
              <a:solidFill>
                <a:srgbClr val="333333"/>
              </a:solidFill>
              <a:effectLst/>
              <a:latin typeface="Arial" panose="020B0604020202020204" pitchFamily="34" charset="0"/>
            </a:endParaRPr>
          </a:p>
          <a:p>
            <a:endParaRPr lang="en-IN" dirty="0"/>
          </a:p>
        </p:txBody>
      </p:sp>
    </p:spTree>
    <p:extLst>
      <p:ext uri="{BB962C8B-B14F-4D97-AF65-F5344CB8AC3E}">
        <p14:creationId xmlns:p14="http://schemas.microsoft.com/office/powerpoint/2010/main" val="7906838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5000F-1AEE-E790-E247-8BE09221890F}"/>
              </a:ext>
            </a:extLst>
          </p:cNvPr>
          <p:cNvSpPr>
            <a:spLocks noGrp="1"/>
          </p:cNvSpPr>
          <p:nvPr>
            <p:ph type="title"/>
          </p:nvPr>
        </p:nvSpPr>
        <p:spPr/>
        <p:txBody>
          <a:bodyPr/>
          <a:lstStyle/>
          <a:p>
            <a:r>
              <a:rPr lang="en-IN" dirty="0"/>
              <a:t>Supreme Court of India</a:t>
            </a:r>
          </a:p>
        </p:txBody>
      </p:sp>
      <p:sp>
        <p:nvSpPr>
          <p:cNvPr id="3" name="Content Placeholder 2">
            <a:extLst>
              <a:ext uri="{FF2B5EF4-FFF2-40B4-BE49-F238E27FC236}">
                <a16:creationId xmlns:a16="http://schemas.microsoft.com/office/drawing/2014/main" id="{2B8ABDD9-D62E-C939-4CA9-1FCBF8E50E86}"/>
              </a:ext>
            </a:extLst>
          </p:cNvPr>
          <p:cNvSpPr>
            <a:spLocks noGrp="1"/>
          </p:cNvSpPr>
          <p:nvPr>
            <p:ph idx="1"/>
          </p:nvPr>
        </p:nvSpPr>
        <p:spPr/>
        <p:txBody>
          <a:bodyPr>
            <a:normAutofit/>
          </a:bodyPr>
          <a:lstStyle/>
          <a:p>
            <a:r>
              <a:rPr lang="en-US" b="0" i="0" dirty="0">
                <a:solidFill>
                  <a:srgbClr val="333333"/>
                </a:solidFill>
                <a:effectLst/>
                <a:latin typeface="Arial" panose="020B0604020202020204" pitchFamily="34" charset="0"/>
              </a:rPr>
              <a:t>In order to be appointed as a Judge of the Supreme Court, </a:t>
            </a:r>
          </a:p>
          <a:p>
            <a:r>
              <a:rPr lang="en-US" b="0" i="0" dirty="0">
                <a:solidFill>
                  <a:srgbClr val="333333"/>
                </a:solidFill>
                <a:effectLst/>
                <a:latin typeface="Arial" panose="020B0604020202020204" pitchFamily="34" charset="0"/>
              </a:rPr>
              <a:t>a person must be a citizen of India and must have been, for at least five years, </a:t>
            </a:r>
          </a:p>
          <a:p>
            <a:r>
              <a:rPr lang="en-US" b="0" i="0" dirty="0">
                <a:solidFill>
                  <a:srgbClr val="333333"/>
                </a:solidFill>
                <a:effectLst/>
                <a:latin typeface="Arial" panose="020B0604020202020204" pitchFamily="34" charset="0"/>
              </a:rPr>
              <a:t>a Judge of a High Court or of two or more such Courts in succession, </a:t>
            </a:r>
          </a:p>
          <a:p>
            <a:r>
              <a:rPr lang="en-US" b="0" i="0" dirty="0">
                <a:solidFill>
                  <a:srgbClr val="333333"/>
                </a:solidFill>
                <a:effectLst/>
                <a:latin typeface="Arial" panose="020B0604020202020204" pitchFamily="34" charset="0"/>
              </a:rPr>
              <a:t>or an Advocate of a High Court or of two or more such Courts in succession for at least 10 years or he must be, in the opinion of the President, a distinguished jurist.</a:t>
            </a:r>
            <a:endParaRPr lang="en-IN" dirty="0"/>
          </a:p>
        </p:txBody>
      </p:sp>
    </p:spTree>
    <p:extLst>
      <p:ext uri="{BB962C8B-B14F-4D97-AF65-F5344CB8AC3E}">
        <p14:creationId xmlns:p14="http://schemas.microsoft.com/office/powerpoint/2010/main" val="4646193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4B563-7BD3-5F48-F522-82537AC5A05C}"/>
              </a:ext>
            </a:extLst>
          </p:cNvPr>
          <p:cNvSpPr>
            <a:spLocks noGrp="1"/>
          </p:cNvSpPr>
          <p:nvPr>
            <p:ph type="title"/>
          </p:nvPr>
        </p:nvSpPr>
        <p:spPr/>
        <p:txBody>
          <a:bodyPr/>
          <a:lstStyle/>
          <a:p>
            <a:r>
              <a:rPr lang="en-IN" dirty="0"/>
              <a:t>Supreme Court of India</a:t>
            </a:r>
          </a:p>
        </p:txBody>
      </p:sp>
      <p:sp>
        <p:nvSpPr>
          <p:cNvPr id="3" name="Content Placeholder 2">
            <a:extLst>
              <a:ext uri="{FF2B5EF4-FFF2-40B4-BE49-F238E27FC236}">
                <a16:creationId xmlns:a16="http://schemas.microsoft.com/office/drawing/2014/main" id="{CE157252-619A-26EF-67C6-379BF59D68AC}"/>
              </a:ext>
            </a:extLst>
          </p:cNvPr>
          <p:cNvSpPr>
            <a:spLocks noGrp="1"/>
          </p:cNvSpPr>
          <p:nvPr>
            <p:ph idx="1"/>
          </p:nvPr>
        </p:nvSpPr>
        <p:spPr/>
        <p:txBody>
          <a:bodyPr>
            <a:normAutofit/>
          </a:bodyPr>
          <a:lstStyle/>
          <a:p>
            <a:r>
              <a:rPr lang="en-US" sz="2400" b="0" i="0" dirty="0">
                <a:solidFill>
                  <a:srgbClr val="333333"/>
                </a:solidFill>
                <a:effectLst/>
                <a:latin typeface="Times New Roman" panose="02020603050405020304" pitchFamily="18" charset="0"/>
                <a:cs typeface="Times New Roman" panose="02020603050405020304" pitchFamily="18" charset="0"/>
              </a:rPr>
              <a:t>The Constitution seeks to ensure the independence of Supreme Court Judges in various ways.</a:t>
            </a:r>
          </a:p>
          <a:p>
            <a:r>
              <a:rPr lang="en-US" sz="2400" b="0" i="0" dirty="0">
                <a:solidFill>
                  <a:srgbClr val="333333"/>
                </a:solidFill>
                <a:effectLst/>
                <a:latin typeface="Times New Roman" panose="02020603050405020304" pitchFamily="18" charset="0"/>
                <a:cs typeface="Times New Roman" panose="02020603050405020304" pitchFamily="18" charset="0"/>
              </a:rPr>
              <a:t> A Judge of the Supreme Court cannot be removed from office except by an order of the President passed after an address in each House of Parliament supported by a majority of the total membership of that House </a:t>
            </a:r>
          </a:p>
        </p:txBody>
      </p:sp>
    </p:spTree>
    <p:extLst>
      <p:ext uri="{BB962C8B-B14F-4D97-AF65-F5344CB8AC3E}">
        <p14:creationId xmlns:p14="http://schemas.microsoft.com/office/powerpoint/2010/main" val="2118327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algn="just">
              <a:buNone/>
            </a:pPr>
            <a:r>
              <a:rPr lang="en-US" dirty="0"/>
              <a:t>                     </a:t>
            </a:r>
          </a:p>
          <a:p>
            <a:pPr algn="just">
              <a:buNone/>
            </a:pPr>
            <a:endParaRPr lang="en-US" dirty="0"/>
          </a:p>
          <a:p>
            <a:pPr algn="just">
              <a:buNone/>
            </a:pPr>
            <a:endParaRPr lang="en-US" dirty="0"/>
          </a:p>
          <a:p>
            <a:pPr algn="just">
              <a:buNone/>
            </a:pPr>
            <a:r>
              <a:rPr lang="en-US" dirty="0"/>
              <a:t>                                     Thank you </a:t>
            </a:r>
          </a:p>
          <a:p>
            <a:pPr algn="just">
              <a:buNone/>
            </a:pPr>
            <a:r>
              <a:rPr lang="en-US" dirty="0"/>
              <a:t>                                     Jai </a:t>
            </a:r>
            <a:r>
              <a:rPr lang="en-US" dirty="0" err="1"/>
              <a:t>Sai</a:t>
            </a:r>
            <a:r>
              <a:rPr lang="en-US" dirty="0"/>
              <a:t> Ram</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471</TotalTime>
  <Words>2016</Words>
  <Application>Microsoft Office PowerPoint</Application>
  <PresentationFormat>On-screen Show (4:3)</PresentationFormat>
  <Paragraphs>120</Paragraphs>
  <Slides>29</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Arial</vt:lpstr>
      <vt:lpstr>Arial</vt:lpstr>
      <vt:lpstr>Calibri</vt:lpstr>
      <vt:lpstr>Constantia</vt:lpstr>
      <vt:lpstr>latoregular</vt:lpstr>
      <vt:lpstr>open_sansregular</vt:lpstr>
      <vt:lpstr>Times New Roman</vt:lpstr>
      <vt:lpstr>Wingdings</vt:lpstr>
      <vt:lpstr>Wingdings 2</vt:lpstr>
      <vt:lpstr>Flow</vt:lpstr>
      <vt:lpstr>Indian Constitution </vt:lpstr>
      <vt:lpstr>Unit 2 Unitary and Federal features of the Indian Constitution </vt:lpstr>
      <vt:lpstr>Introduction</vt:lpstr>
      <vt:lpstr>Unitary and federal form of government</vt:lpstr>
      <vt:lpstr>Federal features in the Indian Constitution and Government  </vt:lpstr>
      <vt:lpstr>Federal features in the Indian Constitution and Government </vt:lpstr>
      <vt:lpstr>Unitary features</vt:lpstr>
      <vt:lpstr>Unitary features of the Indian Constitution and government. </vt:lpstr>
      <vt:lpstr>Unitary features of the Indian Constitution and government. </vt:lpstr>
      <vt:lpstr>Quasi-Federal Nature of the Indian constitution</vt:lpstr>
      <vt:lpstr>Distribution of powers between the Union executive, Union legislature and Judiciary.</vt:lpstr>
      <vt:lpstr>Parliamentary form of government</vt:lpstr>
      <vt:lpstr>Union Executive- President </vt:lpstr>
      <vt:lpstr>Union Executive -President</vt:lpstr>
      <vt:lpstr>Union Executive</vt:lpstr>
      <vt:lpstr>Vice President </vt:lpstr>
      <vt:lpstr>Prime Minister and the Council of Ministers</vt:lpstr>
      <vt:lpstr>Prime Minister and the Council of Ministers</vt:lpstr>
      <vt:lpstr>Union Parliament</vt:lpstr>
      <vt:lpstr>Rajya Sabha</vt:lpstr>
      <vt:lpstr>Rajya Sabha</vt:lpstr>
      <vt:lpstr>Rajya Sabha</vt:lpstr>
      <vt:lpstr>Lok Sabha</vt:lpstr>
      <vt:lpstr>Lok Sabha</vt:lpstr>
      <vt:lpstr>Lok Sabha </vt:lpstr>
      <vt:lpstr>Supreme Court of India-Indian Judiciary</vt:lpstr>
      <vt:lpstr>Supreme Court of India</vt:lpstr>
      <vt:lpstr>Supreme Court of India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Sri Sathya Sai Institute of Higher Learning  Department of Political Science</dc:title>
  <dc:creator>ASUS</dc:creator>
  <cp:lastModifiedBy>pavan.kamarajugadda@gmail.com</cp:lastModifiedBy>
  <cp:revision>56</cp:revision>
  <dcterms:created xsi:type="dcterms:W3CDTF">2006-08-16T00:00:00Z</dcterms:created>
  <dcterms:modified xsi:type="dcterms:W3CDTF">2023-06-30T11:43:15Z</dcterms:modified>
</cp:coreProperties>
</file>