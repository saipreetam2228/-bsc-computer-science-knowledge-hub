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4" r:id="rId2"/>
  </p:sldMasterIdLst>
  <p:notesMasterIdLst>
    <p:notesMasterId r:id="rId51"/>
  </p:notesMasterIdLst>
  <p:sldIdLst>
    <p:sldId id="310" r:id="rId3"/>
    <p:sldId id="272" r:id="rId4"/>
    <p:sldId id="256" r:id="rId5"/>
    <p:sldId id="257" r:id="rId6"/>
    <p:sldId id="258" r:id="rId7"/>
    <p:sldId id="273" r:id="rId8"/>
    <p:sldId id="262" r:id="rId9"/>
    <p:sldId id="263" r:id="rId10"/>
    <p:sldId id="264" r:id="rId11"/>
    <p:sldId id="265" r:id="rId12"/>
    <p:sldId id="266" r:id="rId13"/>
    <p:sldId id="267" r:id="rId14"/>
    <p:sldId id="278" r:id="rId15"/>
    <p:sldId id="311" r:id="rId16"/>
    <p:sldId id="274" r:id="rId17"/>
    <p:sldId id="275" r:id="rId18"/>
    <p:sldId id="276" r:id="rId19"/>
    <p:sldId id="277" r:id="rId20"/>
    <p:sldId id="279" r:id="rId21"/>
    <p:sldId id="283" r:id="rId22"/>
    <p:sldId id="284" r:id="rId23"/>
    <p:sldId id="285" r:id="rId24"/>
    <p:sldId id="286" r:id="rId25"/>
    <p:sldId id="287" r:id="rId26"/>
    <p:sldId id="288" r:id="rId27"/>
    <p:sldId id="289" r:id="rId28"/>
    <p:sldId id="290" r:id="rId29"/>
    <p:sldId id="291" r:id="rId30"/>
    <p:sldId id="292" r:id="rId31"/>
    <p:sldId id="293" r:id="rId32"/>
    <p:sldId id="294" r:id="rId33"/>
    <p:sldId id="295" r:id="rId34"/>
    <p:sldId id="296" r:id="rId35"/>
    <p:sldId id="297" r:id="rId36"/>
    <p:sldId id="298" r:id="rId37"/>
    <p:sldId id="281" r:id="rId38"/>
    <p:sldId id="282" r:id="rId39"/>
    <p:sldId id="299" r:id="rId40"/>
    <p:sldId id="300" r:id="rId41"/>
    <p:sldId id="302" r:id="rId42"/>
    <p:sldId id="303" r:id="rId43"/>
    <p:sldId id="301" r:id="rId44"/>
    <p:sldId id="304" r:id="rId45"/>
    <p:sldId id="307" r:id="rId46"/>
    <p:sldId id="305" r:id="rId47"/>
    <p:sldId id="308" r:id="rId48"/>
    <p:sldId id="306" r:id="rId49"/>
    <p:sldId id="309" r:id="rId5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8" d="100"/>
          <a:sy n="98" d="100"/>
        </p:scale>
        <p:origin x="27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885053-3626-48F1-BABD-1E50C84A4BEB}" type="datetimeFigureOut">
              <a:rPr lang="en-IN" smtClean="0"/>
              <a:t>01-08-2024</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8F093D-EBE6-4B2D-A206-78C43C8A9A6C}" type="slidenum">
              <a:rPr lang="en-IN" smtClean="0"/>
              <a:t>‹#›</a:t>
            </a:fld>
            <a:endParaRPr lang="en-IN"/>
          </a:p>
        </p:txBody>
      </p:sp>
    </p:spTree>
    <p:extLst>
      <p:ext uri="{BB962C8B-B14F-4D97-AF65-F5344CB8AC3E}">
        <p14:creationId xmlns:p14="http://schemas.microsoft.com/office/powerpoint/2010/main" val="30777523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A8AFB177-9B80-4242-A43C-80AE1EFDA107}" type="datetime1">
              <a:rPr lang="en-US" smtClean="0"/>
              <a:t>8/1/2024</a:t>
            </a:fld>
            <a:endParaRPr lang="en-GB"/>
          </a:p>
        </p:txBody>
      </p:sp>
      <p:sp>
        <p:nvSpPr>
          <p:cNvPr id="17" name="Footer Placeholder 16"/>
          <p:cNvSpPr>
            <a:spLocks noGrp="1"/>
          </p:cNvSpPr>
          <p:nvPr>
            <p:ph type="ftr" sz="quarter" idx="11"/>
          </p:nvPr>
        </p:nvSpPr>
        <p:spPr bwMode="auto">
          <a:xfrm rot="5400000">
            <a:off x="7077269" y="4181669"/>
            <a:ext cx="3657600" cy="384048"/>
          </a:xfrm>
        </p:spPr>
        <p:txBody>
          <a:bodyPr/>
          <a:lstStyle/>
          <a:p>
            <a:r>
              <a:rPr lang="en-GB" smtClean="0"/>
              <a:t>Dr. Prashant Luthra/SSSIHL</a:t>
            </a:r>
            <a:endParaRPr lang="en-GB"/>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C15C1E07-7562-4319-BFF8-5329F164BAA6}" type="slidenum">
              <a:rPr lang="en-GB" smtClean="0"/>
              <a:pPr/>
              <a:t>‹#›</a:t>
            </a:fld>
            <a:endParaRPr lang="en-GB"/>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E92574AC-2BCF-44CE-A99D-BA9274B5A2DA}" type="datetime1">
              <a:rPr lang="en-US" smtClean="0"/>
              <a:t>8/1/2024</a:t>
            </a:fld>
            <a:endParaRPr lang="en-GB"/>
          </a:p>
        </p:txBody>
      </p:sp>
      <p:sp>
        <p:nvSpPr>
          <p:cNvPr id="9" name="Slide Number Placeholder 8"/>
          <p:cNvSpPr>
            <a:spLocks noGrp="1"/>
          </p:cNvSpPr>
          <p:nvPr>
            <p:ph type="sldNum" sz="quarter" idx="15"/>
          </p:nvPr>
        </p:nvSpPr>
        <p:spPr/>
        <p:txBody>
          <a:bodyPr rtlCol="0"/>
          <a:lstStyle/>
          <a:p>
            <a:fld id="{C15C1E07-7562-4319-BFF8-5329F164BAA6}" type="slidenum">
              <a:rPr lang="en-GB" smtClean="0"/>
              <a:pPr/>
              <a:t>‹#›</a:t>
            </a:fld>
            <a:endParaRPr lang="en-GB"/>
          </a:p>
        </p:txBody>
      </p:sp>
      <p:sp>
        <p:nvSpPr>
          <p:cNvPr id="10" name="Footer Placeholder 9"/>
          <p:cNvSpPr>
            <a:spLocks noGrp="1"/>
          </p:cNvSpPr>
          <p:nvPr>
            <p:ph type="ftr" sz="quarter" idx="16"/>
          </p:nvPr>
        </p:nvSpPr>
        <p:spPr/>
        <p:txBody>
          <a:bodyPr rtlCol="0"/>
          <a:lstStyle/>
          <a:p>
            <a:r>
              <a:rPr lang="en-GB" smtClean="0"/>
              <a:t>Dr. Prashant Luthra/SSSIHL</a:t>
            </a:r>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991BA4F8-F887-4847-BF05-DFCDC4C921C6}" type="datetime1">
              <a:rPr lang="en-US" smtClean="0"/>
              <a:t>8/1/2024</a:t>
            </a:fld>
            <a:endParaRPr lang="en-GB"/>
          </a:p>
        </p:txBody>
      </p:sp>
      <p:sp>
        <p:nvSpPr>
          <p:cNvPr id="5" name="Footer Placeholder 4"/>
          <p:cNvSpPr>
            <a:spLocks noGrp="1"/>
          </p:cNvSpPr>
          <p:nvPr>
            <p:ph type="ftr" sz="quarter" idx="11"/>
          </p:nvPr>
        </p:nvSpPr>
        <p:spPr bwMode="auto">
          <a:xfrm rot="5400000">
            <a:off x="7077456" y="4178808"/>
            <a:ext cx="3657600" cy="384048"/>
          </a:xfrm>
        </p:spPr>
        <p:txBody>
          <a:bodyPr/>
          <a:lstStyle/>
          <a:p>
            <a:r>
              <a:rPr lang="en-GB" smtClean="0"/>
              <a:t>Dr. Prashant Luthra/SSSIHL</a:t>
            </a:r>
            <a:endParaRPr lang="en-GB"/>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C15C1E07-7562-4319-BFF8-5329F164BAA6}" type="slidenum">
              <a:rPr lang="en-GB" smtClean="0"/>
              <a:pPr/>
              <a:t>‹#›</a:t>
            </a:fld>
            <a:endParaRPr lang="en-GB"/>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233D3BB7-C767-4A4B-B8D2-28DE453757AF}" type="datetime1">
              <a:rPr lang="en-US" smtClean="0"/>
              <a:t>8/1/2024</a:t>
            </a:fld>
            <a:endParaRPr lang="en-GB"/>
          </a:p>
        </p:txBody>
      </p:sp>
      <p:sp>
        <p:nvSpPr>
          <p:cNvPr id="6" name="Footer Placeholder 5"/>
          <p:cNvSpPr>
            <a:spLocks noGrp="1"/>
          </p:cNvSpPr>
          <p:nvPr>
            <p:ph type="ftr" sz="quarter" idx="11"/>
          </p:nvPr>
        </p:nvSpPr>
        <p:spPr/>
        <p:txBody>
          <a:bodyPr/>
          <a:lstStyle/>
          <a:p>
            <a:r>
              <a:rPr lang="en-GB" smtClean="0"/>
              <a:t>Dr. Prashant Luthra/SSSIHL</a:t>
            </a:r>
            <a:endParaRPr lang="en-GB"/>
          </a:p>
        </p:txBody>
      </p:sp>
      <p:sp>
        <p:nvSpPr>
          <p:cNvPr id="7" name="Slide Number Placeholder 6"/>
          <p:cNvSpPr>
            <a:spLocks noGrp="1"/>
          </p:cNvSpPr>
          <p:nvPr>
            <p:ph type="sldNum" sz="quarter" idx="12"/>
          </p:nvPr>
        </p:nvSpPr>
        <p:spPr/>
        <p:txBody>
          <a:bodyPr/>
          <a:lstStyle/>
          <a:p>
            <a:fld id="{C15C1E07-7562-4319-BFF8-5329F164BAA6}" type="slidenum">
              <a:rPr lang="en-GB" smtClean="0"/>
              <a:pPr/>
              <a:t>‹#›</a:t>
            </a:fld>
            <a:endParaRPr lang="en-GB"/>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6DDC0C91-E35F-4444-ACEA-54732AE6A398}" type="datetime1">
              <a:rPr lang="en-US" smtClean="0"/>
              <a:t>8/1/2024</a:t>
            </a:fld>
            <a:endParaRPr lang="en-GB"/>
          </a:p>
        </p:txBody>
      </p:sp>
      <p:sp>
        <p:nvSpPr>
          <p:cNvPr id="8" name="Footer Placeholder 7"/>
          <p:cNvSpPr>
            <a:spLocks noGrp="1"/>
          </p:cNvSpPr>
          <p:nvPr>
            <p:ph type="ftr" sz="quarter" idx="11"/>
          </p:nvPr>
        </p:nvSpPr>
        <p:spPr/>
        <p:txBody>
          <a:bodyPr/>
          <a:lstStyle/>
          <a:p>
            <a:r>
              <a:rPr lang="en-GB" smtClean="0"/>
              <a:t>Dr. Prashant Luthra/SSSIHL</a:t>
            </a:r>
            <a:endParaRPr lang="en-GB"/>
          </a:p>
        </p:txBody>
      </p:sp>
      <p:sp>
        <p:nvSpPr>
          <p:cNvPr id="9" name="Slide Number Placeholder 8"/>
          <p:cNvSpPr>
            <a:spLocks noGrp="1"/>
          </p:cNvSpPr>
          <p:nvPr>
            <p:ph type="sldNum" sz="quarter" idx="12"/>
          </p:nvPr>
        </p:nvSpPr>
        <p:spPr/>
        <p:txBody>
          <a:bodyPr/>
          <a:lstStyle/>
          <a:p>
            <a:fld id="{C15C1E07-7562-4319-BFF8-5329F164BAA6}" type="slidenum">
              <a:rPr lang="en-GB" smtClean="0"/>
              <a:pPr/>
              <a:t>‹#›</a:t>
            </a:fld>
            <a:endParaRPr lang="en-GB"/>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9E2DBF82-7AD1-456E-9C7A-06CD0FDF561D}" type="datetime1">
              <a:rPr lang="en-US" smtClean="0"/>
              <a:t>8/1/2024</a:t>
            </a:fld>
            <a:endParaRPr lang="en-GB"/>
          </a:p>
        </p:txBody>
      </p:sp>
      <p:sp>
        <p:nvSpPr>
          <p:cNvPr id="7" name="Slide Number Placeholder 6"/>
          <p:cNvSpPr>
            <a:spLocks noGrp="1"/>
          </p:cNvSpPr>
          <p:nvPr>
            <p:ph type="sldNum" sz="quarter" idx="11"/>
          </p:nvPr>
        </p:nvSpPr>
        <p:spPr/>
        <p:txBody>
          <a:bodyPr rtlCol="0"/>
          <a:lstStyle/>
          <a:p>
            <a:fld id="{C15C1E07-7562-4319-BFF8-5329F164BAA6}" type="slidenum">
              <a:rPr lang="en-GB" smtClean="0"/>
              <a:pPr/>
              <a:t>‹#›</a:t>
            </a:fld>
            <a:endParaRPr lang="en-GB"/>
          </a:p>
        </p:txBody>
      </p:sp>
      <p:sp>
        <p:nvSpPr>
          <p:cNvPr id="8" name="Footer Placeholder 7"/>
          <p:cNvSpPr>
            <a:spLocks noGrp="1"/>
          </p:cNvSpPr>
          <p:nvPr>
            <p:ph type="ftr" sz="quarter" idx="12"/>
          </p:nvPr>
        </p:nvSpPr>
        <p:spPr/>
        <p:txBody>
          <a:bodyPr rtlCol="0"/>
          <a:lstStyle/>
          <a:p>
            <a:r>
              <a:rPr lang="en-GB" smtClean="0"/>
              <a:t>Dr. Prashant Luthra/SSSIHL</a:t>
            </a:r>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E8E657-0035-4ECA-BEE5-32CF8ADB215D}" type="datetime1">
              <a:rPr lang="en-US" smtClean="0"/>
              <a:t>8/1/2024</a:t>
            </a:fld>
            <a:endParaRPr lang="en-GB"/>
          </a:p>
        </p:txBody>
      </p:sp>
      <p:sp>
        <p:nvSpPr>
          <p:cNvPr id="3" name="Footer Placeholder 2"/>
          <p:cNvSpPr>
            <a:spLocks noGrp="1"/>
          </p:cNvSpPr>
          <p:nvPr>
            <p:ph type="ftr" sz="quarter" idx="11"/>
          </p:nvPr>
        </p:nvSpPr>
        <p:spPr/>
        <p:txBody>
          <a:bodyPr/>
          <a:lstStyle/>
          <a:p>
            <a:r>
              <a:rPr lang="en-GB" smtClean="0"/>
              <a:t>Dr. Prashant Luthra/SSSIHL</a:t>
            </a:r>
            <a:endParaRPr lang="en-GB"/>
          </a:p>
        </p:txBody>
      </p:sp>
      <p:sp>
        <p:nvSpPr>
          <p:cNvPr id="4" name="Slide Number Placeholder 3"/>
          <p:cNvSpPr>
            <a:spLocks noGrp="1"/>
          </p:cNvSpPr>
          <p:nvPr>
            <p:ph type="sldNum" sz="quarter" idx="12"/>
          </p:nvPr>
        </p:nvSpPr>
        <p:spPr/>
        <p:txBody>
          <a:bodyPr/>
          <a:lstStyle/>
          <a:p>
            <a:fld id="{C15C1E07-7562-4319-BFF8-5329F164BAA6}"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A9D2627C-7A51-4FF9-8800-0CB16F9B8F21}" type="datetime1">
              <a:rPr lang="en-US" smtClean="0"/>
              <a:t>8/1/2024</a:t>
            </a:fld>
            <a:endParaRPr lang="en-GB"/>
          </a:p>
        </p:txBody>
      </p:sp>
      <p:sp>
        <p:nvSpPr>
          <p:cNvPr id="22" name="Slide Number Placeholder 21"/>
          <p:cNvSpPr>
            <a:spLocks noGrp="1"/>
          </p:cNvSpPr>
          <p:nvPr>
            <p:ph type="sldNum" sz="quarter" idx="15"/>
          </p:nvPr>
        </p:nvSpPr>
        <p:spPr/>
        <p:txBody>
          <a:bodyPr rtlCol="0"/>
          <a:lstStyle/>
          <a:p>
            <a:fld id="{C15C1E07-7562-4319-BFF8-5329F164BAA6}" type="slidenum">
              <a:rPr lang="en-GB" smtClean="0"/>
              <a:pPr/>
              <a:t>‹#›</a:t>
            </a:fld>
            <a:endParaRPr lang="en-GB"/>
          </a:p>
        </p:txBody>
      </p:sp>
      <p:sp>
        <p:nvSpPr>
          <p:cNvPr id="23" name="Footer Placeholder 22"/>
          <p:cNvSpPr>
            <a:spLocks noGrp="1"/>
          </p:cNvSpPr>
          <p:nvPr>
            <p:ph type="ftr" sz="quarter" idx="16"/>
          </p:nvPr>
        </p:nvSpPr>
        <p:spPr/>
        <p:txBody>
          <a:bodyPr rtlCol="0"/>
          <a:lstStyle/>
          <a:p>
            <a:r>
              <a:rPr lang="en-GB" smtClean="0"/>
              <a:t>Dr. Prashant Luthra/SSSIHL</a:t>
            </a:r>
            <a:endParaRPr lang="en-GB"/>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ADB15CBC-845D-44FE-8C77-17B464513138}" type="datetime1">
              <a:rPr lang="en-US" smtClean="0"/>
              <a:t>8/1/2024</a:t>
            </a:fld>
            <a:endParaRPr lang="en-GB"/>
          </a:p>
        </p:txBody>
      </p:sp>
      <p:sp>
        <p:nvSpPr>
          <p:cNvPr id="18" name="Slide Number Placeholder 17"/>
          <p:cNvSpPr>
            <a:spLocks noGrp="1"/>
          </p:cNvSpPr>
          <p:nvPr>
            <p:ph type="sldNum" sz="quarter" idx="11"/>
          </p:nvPr>
        </p:nvSpPr>
        <p:spPr/>
        <p:txBody>
          <a:bodyPr rtlCol="0"/>
          <a:lstStyle/>
          <a:p>
            <a:fld id="{C15C1E07-7562-4319-BFF8-5329F164BAA6}" type="slidenum">
              <a:rPr lang="en-GB" smtClean="0"/>
              <a:pPr/>
              <a:t>‹#›</a:t>
            </a:fld>
            <a:endParaRPr lang="en-GB"/>
          </a:p>
        </p:txBody>
      </p:sp>
      <p:sp>
        <p:nvSpPr>
          <p:cNvPr id="21" name="Footer Placeholder 20"/>
          <p:cNvSpPr>
            <a:spLocks noGrp="1"/>
          </p:cNvSpPr>
          <p:nvPr>
            <p:ph type="ftr" sz="quarter" idx="12"/>
          </p:nvPr>
        </p:nvSpPr>
        <p:spPr/>
        <p:txBody>
          <a:bodyPr rtlCol="0"/>
          <a:lstStyle/>
          <a:p>
            <a:r>
              <a:rPr lang="en-GB" smtClean="0"/>
              <a:t>Dr. Prashant Luthra/SSSIHL</a:t>
            </a:r>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973E847-2075-4BED-8DB4-5BC0FC6DC18D}" type="datetime1">
              <a:rPr lang="en-US" smtClean="0"/>
              <a:t>8/1/2024</a:t>
            </a:fld>
            <a:endParaRPr lang="en-GB"/>
          </a:p>
        </p:txBody>
      </p:sp>
      <p:sp>
        <p:nvSpPr>
          <p:cNvPr id="5" name="Footer Placeholder 4"/>
          <p:cNvSpPr>
            <a:spLocks noGrp="1"/>
          </p:cNvSpPr>
          <p:nvPr>
            <p:ph type="ftr" sz="quarter" idx="11"/>
          </p:nvPr>
        </p:nvSpPr>
        <p:spPr/>
        <p:txBody>
          <a:bodyPr/>
          <a:lstStyle/>
          <a:p>
            <a:r>
              <a:rPr lang="en-GB" smtClean="0"/>
              <a:t>Dr. Prashant Luthra/SSSIHL</a:t>
            </a:r>
            <a:endParaRPr lang="en-GB"/>
          </a:p>
        </p:txBody>
      </p:sp>
      <p:sp>
        <p:nvSpPr>
          <p:cNvPr id="6" name="Slide Number Placeholder 5"/>
          <p:cNvSpPr>
            <a:spLocks noGrp="1"/>
          </p:cNvSpPr>
          <p:nvPr>
            <p:ph type="sldNum" sz="quarter" idx="12"/>
          </p:nvPr>
        </p:nvSpPr>
        <p:spPr/>
        <p:txBody>
          <a:bodyPr/>
          <a:lstStyle/>
          <a:p>
            <a:fld id="{C15C1E07-7562-4319-BFF8-5329F164BAA6}"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51CC7B4-880E-416B-81C5-5F09D26CBBEB}" type="datetime1">
              <a:rPr lang="en-US" smtClean="0"/>
              <a:t>8/1/2024</a:t>
            </a:fld>
            <a:endParaRPr lang="en-GB"/>
          </a:p>
        </p:txBody>
      </p:sp>
      <p:sp>
        <p:nvSpPr>
          <p:cNvPr id="5" name="Footer Placeholder 4"/>
          <p:cNvSpPr>
            <a:spLocks noGrp="1"/>
          </p:cNvSpPr>
          <p:nvPr>
            <p:ph type="ftr" sz="quarter" idx="11"/>
          </p:nvPr>
        </p:nvSpPr>
        <p:spPr/>
        <p:txBody>
          <a:bodyPr/>
          <a:lstStyle/>
          <a:p>
            <a:r>
              <a:rPr lang="en-GB" smtClean="0"/>
              <a:t>Dr. Prashant Luthra/SSSIHL</a:t>
            </a:r>
            <a:endParaRPr lang="en-GB"/>
          </a:p>
        </p:txBody>
      </p:sp>
      <p:sp>
        <p:nvSpPr>
          <p:cNvPr id="6" name="Slide Number Placeholder 5"/>
          <p:cNvSpPr>
            <a:spLocks noGrp="1"/>
          </p:cNvSpPr>
          <p:nvPr>
            <p:ph type="sldNum" sz="quarter" idx="12"/>
          </p:nvPr>
        </p:nvSpPr>
        <p:spPr/>
        <p:txBody>
          <a:bodyPr/>
          <a:lstStyle/>
          <a:p>
            <a:fld id="{C15C1E07-7562-4319-BFF8-5329F164BAA6}" type="slidenum">
              <a:rPr lang="en-GB" smtClean="0"/>
              <a:pPr/>
              <a:t>‹#›</a:t>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8" name="Rectangle 7"/>
          <p:cNvSpPr/>
          <p:nvPr/>
        </p:nvSpPr>
        <p:spPr>
          <a:xfrm flipH="1">
            <a:off x="2667000" y="0"/>
            <a:ext cx="6477000" cy="6858000"/>
          </a:xfrm>
          <a:prstGeom prst="rect">
            <a:avLst/>
          </a:prstGeom>
          <a:blipFill>
            <a:blip r:embed="rId2"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p>
            <a:endParaRPr kumimoji="0" lang="en-US"/>
          </a:p>
        </p:txBody>
      </p:sp>
      <p:sp>
        <p:nvSpPr>
          <p:cNvPr id="12" name="Title 11"/>
          <p:cNvSpPr>
            <a:spLocks noGrp="1"/>
          </p:cNvSpPr>
          <p:nvPr>
            <p:ph type="ctrTitle"/>
          </p:nvPr>
        </p:nvSpPr>
        <p:spPr>
          <a:xfrm>
            <a:off x="3366868" y="533400"/>
            <a:ext cx="5105400" cy="2868168"/>
          </a:xfrm>
        </p:spPr>
        <p:txBody>
          <a:bodyPr lIns="45720" tIns="0" rIns="45720">
            <a:noAutofit/>
          </a:bodyPr>
          <a:lstStyle>
            <a:lvl1pPr algn="r">
              <a:defRPr sz="4200" b="1"/>
            </a:lvl1pPr>
            <a:extLst/>
          </a:lstStyle>
          <a:p>
            <a:r>
              <a:rPr kumimoji="0" lang="en-US" smtClean="0"/>
              <a:t>Click to edit Master title style</a:t>
            </a:r>
            <a:endParaRPr kumimoji="0" lang="en-US"/>
          </a:p>
        </p:txBody>
      </p:sp>
      <p:sp>
        <p:nvSpPr>
          <p:cNvPr id="25" name="Subtitle 24"/>
          <p:cNvSpPr>
            <a:spLocks noGrp="1"/>
          </p:cNvSpPr>
          <p:nvPr>
            <p:ph type="subTitle" idx="1"/>
          </p:nvPr>
        </p:nvSpPr>
        <p:spPr>
          <a:xfrm>
            <a:off x="3354442" y="3539864"/>
            <a:ext cx="5114778"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31" name="Date Placeholder 30"/>
          <p:cNvSpPr>
            <a:spLocks noGrp="1"/>
          </p:cNvSpPr>
          <p:nvPr>
            <p:ph type="dt" sz="half" idx="10"/>
          </p:nvPr>
        </p:nvSpPr>
        <p:spPr>
          <a:xfrm>
            <a:off x="5871224" y="6557946"/>
            <a:ext cx="2002464" cy="226902"/>
          </a:xfrm>
        </p:spPr>
        <p:txBody>
          <a:bodyPr/>
          <a:lstStyle>
            <a:lvl1pPr>
              <a:defRPr lang="en-US" smtClean="0">
                <a:solidFill>
                  <a:srgbClr val="FFFFFF"/>
                </a:solidFill>
              </a:defRPr>
            </a:lvl1pPr>
            <a:extLst/>
          </a:lstStyle>
          <a:p>
            <a:fld id="{8D7BA081-AC58-446F-9982-8B490073E367}" type="datetime1">
              <a:rPr lang="en-US" smtClean="0"/>
              <a:t>8/1/2024</a:t>
            </a:fld>
            <a:endParaRPr lang="en-GB"/>
          </a:p>
        </p:txBody>
      </p:sp>
      <p:sp>
        <p:nvSpPr>
          <p:cNvPr id="18" name="Footer Placeholder 17"/>
          <p:cNvSpPr>
            <a:spLocks noGrp="1"/>
          </p:cNvSpPr>
          <p:nvPr>
            <p:ph type="ftr" sz="quarter" idx="11"/>
          </p:nvPr>
        </p:nvSpPr>
        <p:spPr>
          <a:xfrm>
            <a:off x="2819400" y="6557946"/>
            <a:ext cx="2927722" cy="228600"/>
          </a:xfrm>
        </p:spPr>
        <p:txBody>
          <a:bodyPr/>
          <a:lstStyle>
            <a:lvl1pPr>
              <a:defRPr lang="en-US" dirty="0">
                <a:solidFill>
                  <a:srgbClr val="FFFFFF"/>
                </a:solidFill>
              </a:defRPr>
            </a:lvl1pPr>
            <a:extLst/>
          </a:lstStyle>
          <a:p>
            <a:r>
              <a:rPr lang="en-GB" smtClean="0"/>
              <a:t>Dr. Prashant Luthra/SSSIHL</a:t>
            </a:r>
            <a:endParaRPr lang="en-GB"/>
          </a:p>
        </p:txBody>
      </p:sp>
      <p:sp>
        <p:nvSpPr>
          <p:cNvPr id="29" name="Slide Number Placeholder 28"/>
          <p:cNvSpPr>
            <a:spLocks noGrp="1"/>
          </p:cNvSpPr>
          <p:nvPr>
            <p:ph type="sldNum" sz="quarter" idx="12"/>
          </p:nvPr>
        </p:nvSpPr>
        <p:spPr>
          <a:xfrm>
            <a:off x="7880884" y="6556248"/>
            <a:ext cx="588336" cy="228600"/>
          </a:xfrm>
        </p:spPr>
        <p:txBody>
          <a:bodyPr/>
          <a:lstStyle>
            <a:lvl1pPr>
              <a:defRPr lang="en-US" smtClean="0">
                <a:solidFill>
                  <a:srgbClr val="FFFFFF"/>
                </a:solidFill>
              </a:defRPr>
            </a:lvl1pPr>
            <a:extLst/>
          </a:lstStyle>
          <a:p>
            <a:fld id="{C15C1E07-7562-4319-BFF8-5329F164BAA6}" type="slidenum">
              <a:rPr lang="en-GB" smtClean="0"/>
              <a:pPr/>
              <a:t>‹#›</a:t>
            </a:fld>
            <a:endParaRPr lang="en-GB"/>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9254FD-06A8-41DF-8F82-B26D00F1475F}" type="datetime1">
              <a:rPr lang="en-US" smtClean="0"/>
              <a:t>8/1/2024</a:t>
            </a:fld>
            <a:endParaRPr lang="en-GB"/>
          </a:p>
        </p:txBody>
      </p:sp>
      <p:sp>
        <p:nvSpPr>
          <p:cNvPr id="5" name="Footer Placeholder 4"/>
          <p:cNvSpPr>
            <a:spLocks noGrp="1"/>
          </p:cNvSpPr>
          <p:nvPr>
            <p:ph type="ftr" sz="quarter" idx="11"/>
          </p:nvPr>
        </p:nvSpPr>
        <p:spPr/>
        <p:txBody>
          <a:bodyPr/>
          <a:lstStyle/>
          <a:p>
            <a:r>
              <a:rPr lang="en-GB" smtClean="0"/>
              <a:t>Dr. Prashant Luthra/SSSIHL</a:t>
            </a:r>
            <a:endParaRPr lang="en-GB"/>
          </a:p>
        </p:txBody>
      </p:sp>
      <p:sp>
        <p:nvSpPr>
          <p:cNvPr id="6" name="Slide Number Placeholder 5"/>
          <p:cNvSpPr>
            <a:spLocks noGrp="1"/>
          </p:cNvSpPr>
          <p:nvPr>
            <p:ph type="sldNum" sz="quarter" idx="12"/>
          </p:nvPr>
        </p:nvSpPr>
        <p:spPr/>
        <p:txBody>
          <a:bodyPr/>
          <a:lstStyle/>
          <a:p>
            <a:fld id="{C15C1E07-7562-4319-BFF8-5329F164BAA6}" type="slidenum">
              <a:rPr lang="en-GB" smtClean="0"/>
              <a:pPr/>
              <a:t>‹#›</a:t>
            </a:fld>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066800" y="2821837"/>
            <a:ext cx="6255488" cy="1362075"/>
          </a:xfrm>
        </p:spPr>
        <p:txBody>
          <a:bodyPr tIns="0" anchor="t"/>
          <a:lstStyle>
            <a:lvl1pPr algn="r">
              <a:buNone/>
              <a:defRPr sz="42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1066800" y="1905000"/>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4724238" y="6556810"/>
            <a:ext cx="2002464" cy="226902"/>
          </a:xfrm>
        </p:spPr>
        <p:txBody>
          <a:bodyPr bIns="0" anchor="b"/>
          <a:lstStyle>
            <a:lvl1pPr>
              <a:defRPr>
                <a:solidFill>
                  <a:schemeClr val="tx2"/>
                </a:solidFill>
              </a:defRPr>
            </a:lvl1pPr>
            <a:extLst/>
          </a:lstStyle>
          <a:p>
            <a:fld id="{C6D01800-6923-4F6B-BECD-1E77DE2224ED}" type="datetime1">
              <a:rPr lang="en-US" smtClean="0"/>
              <a:t>8/1/2024</a:t>
            </a:fld>
            <a:endParaRPr lang="en-GB"/>
          </a:p>
        </p:txBody>
      </p:sp>
      <p:sp>
        <p:nvSpPr>
          <p:cNvPr id="5" name="Footer Placeholder 4"/>
          <p:cNvSpPr>
            <a:spLocks noGrp="1"/>
          </p:cNvSpPr>
          <p:nvPr>
            <p:ph type="ftr" sz="quarter" idx="11"/>
          </p:nvPr>
        </p:nvSpPr>
        <p:spPr>
          <a:xfrm>
            <a:off x="1735358" y="6556810"/>
            <a:ext cx="2895600" cy="228600"/>
          </a:xfrm>
        </p:spPr>
        <p:txBody>
          <a:bodyPr bIns="0" anchor="b"/>
          <a:lstStyle>
            <a:lvl1pPr>
              <a:defRPr>
                <a:solidFill>
                  <a:schemeClr val="tx2"/>
                </a:solidFill>
              </a:defRPr>
            </a:lvl1pPr>
            <a:extLst/>
          </a:lstStyle>
          <a:p>
            <a:r>
              <a:rPr lang="en-GB" smtClean="0"/>
              <a:t>Dr. Prashant Luthra/SSSIHL</a:t>
            </a:r>
            <a:endParaRPr lang="en-GB"/>
          </a:p>
        </p:txBody>
      </p:sp>
      <p:sp>
        <p:nvSpPr>
          <p:cNvPr id="6" name="Slide Number Placeholder 5"/>
          <p:cNvSpPr>
            <a:spLocks noGrp="1"/>
          </p:cNvSpPr>
          <p:nvPr>
            <p:ph type="sldNum" sz="quarter" idx="12"/>
          </p:nvPr>
        </p:nvSpPr>
        <p:spPr>
          <a:xfrm>
            <a:off x="6733952" y="6555112"/>
            <a:ext cx="588336" cy="228600"/>
          </a:xfrm>
        </p:spPr>
        <p:txBody>
          <a:bodyPr/>
          <a:lstStyle/>
          <a:p>
            <a:fld id="{C15C1E07-7562-4319-BFF8-5329F164BAA6}" type="slidenum">
              <a:rPr lang="en-GB" smtClean="0"/>
              <a:pPr/>
              <a:t>‹#›</a:t>
            </a:fld>
            <a:endParaRPr lang="en-GB"/>
          </a:p>
        </p:txBody>
      </p:sp>
    </p:spTree>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178808"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0A906F-386F-400F-AED6-F451ECD0A176}" type="datetime1">
              <a:rPr lang="en-US" smtClean="0"/>
              <a:t>8/1/2024</a:t>
            </a:fld>
            <a:endParaRPr lang="en-GB"/>
          </a:p>
        </p:txBody>
      </p:sp>
      <p:sp>
        <p:nvSpPr>
          <p:cNvPr id="6" name="Footer Placeholder 5"/>
          <p:cNvSpPr>
            <a:spLocks noGrp="1"/>
          </p:cNvSpPr>
          <p:nvPr>
            <p:ph type="ftr" sz="quarter" idx="11"/>
          </p:nvPr>
        </p:nvSpPr>
        <p:spPr/>
        <p:txBody>
          <a:bodyPr/>
          <a:lstStyle/>
          <a:p>
            <a:r>
              <a:rPr lang="en-GB" smtClean="0"/>
              <a:t>Dr. Prashant Luthra/SSSIHL</a:t>
            </a:r>
            <a:endParaRPr lang="en-GB"/>
          </a:p>
        </p:txBody>
      </p:sp>
      <p:sp>
        <p:nvSpPr>
          <p:cNvPr id="7" name="Slide Number Placeholder 6"/>
          <p:cNvSpPr>
            <a:spLocks noGrp="1"/>
          </p:cNvSpPr>
          <p:nvPr>
            <p:ph type="sldNum" sz="quarter" idx="12"/>
          </p:nvPr>
        </p:nvSpPr>
        <p:spPr/>
        <p:txBody>
          <a:bodyPr/>
          <a:lstStyle/>
          <a:p>
            <a:fld id="{C15C1E07-7562-4319-BFF8-5329F164BAA6}" type="slidenum">
              <a:rPr lang="en-GB" smtClean="0"/>
              <a:pPr/>
              <a:t>‹#›</a:t>
            </a:fld>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nchor="b"/>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F257A7B6-F2A1-4AEF-941F-7C4D24081942}" type="datetime1">
              <a:rPr lang="en-US" smtClean="0"/>
              <a:t>8/1/2024</a:t>
            </a:fld>
            <a:endParaRPr lang="en-GB"/>
          </a:p>
        </p:txBody>
      </p:sp>
      <p:sp>
        <p:nvSpPr>
          <p:cNvPr id="8" name="Footer Placeholder 7"/>
          <p:cNvSpPr>
            <a:spLocks noGrp="1"/>
          </p:cNvSpPr>
          <p:nvPr>
            <p:ph type="ftr" sz="quarter" idx="11"/>
          </p:nvPr>
        </p:nvSpPr>
        <p:spPr/>
        <p:txBody>
          <a:bodyPr/>
          <a:lstStyle/>
          <a:p>
            <a:r>
              <a:rPr lang="en-GB" smtClean="0"/>
              <a:t>Dr. Prashant Luthra/SSSIHL</a:t>
            </a:r>
            <a:endParaRPr lang="en-GB"/>
          </a:p>
        </p:txBody>
      </p:sp>
      <p:sp>
        <p:nvSpPr>
          <p:cNvPr id="9" name="Slide Number Placeholder 8"/>
          <p:cNvSpPr>
            <a:spLocks noGrp="1"/>
          </p:cNvSpPr>
          <p:nvPr>
            <p:ph type="sldNum" sz="quarter" idx="12"/>
          </p:nvPr>
        </p:nvSpPr>
        <p:spPr/>
        <p:txBody>
          <a:bodyPr/>
          <a:lstStyle/>
          <a:p>
            <a:fld id="{C15C1E07-7562-4319-BFF8-5329F164BAA6}" type="slidenum">
              <a:rPr lang="en-GB" smtClean="0"/>
              <a:pPr/>
              <a:t>‹#›</a:t>
            </a:fld>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8A10760C-E2BE-4287-B0FF-098375BDEA4A}" type="datetime1">
              <a:rPr lang="en-US" smtClean="0"/>
              <a:t>8/1/2024</a:t>
            </a:fld>
            <a:endParaRPr lang="en-GB"/>
          </a:p>
        </p:txBody>
      </p:sp>
      <p:sp>
        <p:nvSpPr>
          <p:cNvPr id="4" name="Footer Placeholder 3"/>
          <p:cNvSpPr>
            <a:spLocks noGrp="1"/>
          </p:cNvSpPr>
          <p:nvPr>
            <p:ph type="ftr" sz="quarter" idx="11"/>
          </p:nvPr>
        </p:nvSpPr>
        <p:spPr/>
        <p:txBody>
          <a:bodyPr/>
          <a:lstStyle/>
          <a:p>
            <a:r>
              <a:rPr lang="en-GB" smtClean="0"/>
              <a:t>Dr. Prashant Luthra/SSSIHL</a:t>
            </a:r>
            <a:endParaRPr lang="en-GB"/>
          </a:p>
        </p:txBody>
      </p:sp>
      <p:sp>
        <p:nvSpPr>
          <p:cNvPr id="5" name="Slide Number Placeholder 4"/>
          <p:cNvSpPr>
            <a:spLocks noGrp="1"/>
          </p:cNvSpPr>
          <p:nvPr>
            <p:ph type="sldNum" sz="quarter" idx="12"/>
          </p:nvPr>
        </p:nvSpPr>
        <p:spPr/>
        <p:txBody>
          <a:bodyPr/>
          <a:lstStyle/>
          <a:p>
            <a:fld id="{C15C1E07-7562-4319-BFF8-5329F164BAA6}" type="slidenum">
              <a:rPr lang="en-GB" smtClean="0"/>
              <a:pPr/>
              <a:t>‹#›</a:t>
            </a:fld>
            <a:endParaRPr lang="en-GB"/>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extLst/>
          </a:lstStyle>
          <a:p>
            <a:fld id="{E26DD5F3-6043-4919-A74B-BB0BF9019FAC}" type="datetime1">
              <a:rPr lang="en-US" smtClean="0"/>
              <a:t>8/1/2024</a:t>
            </a:fld>
            <a:endParaRPr lang="en-GB"/>
          </a:p>
        </p:txBody>
      </p:sp>
      <p:sp>
        <p:nvSpPr>
          <p:cNvPr id="3" name="Footer Placeholder 2"/>
          <p:cNvSpPr>
            <a:spLocks noGrp="1"/>
          </p:cNvSpPr>
          <p:nvPr>
            <p:ph type="ftr" sz="quarter" idx="11"/>
          </p:nvPr>
        </p:nvSpPr>
        <p:spPr/>
        <p:txBody>
          <a:bodyPr/>
          <a:lstStyle>
            <a:lvl1pPr>
              <a:defRPr>
                <a:solidFill>
                  <a:schemeClr val="tx2"/>
                </a:solidFill>
              </a:defRPr>
            </a:lvl1pPr>
            <a:extLst/>
          </a:lstStyle>
          <a:p>
            <a:r>
              <a:rPr lang="en-GB" smtClean="0"/>
              <a:t>Dr. Prashant Luthra/SSSIHL</a:t>
            </a:r>
            <a:endParaRPr lang="en-GB"/>
          </a:p>
        </p:txBody>
      </p:sp>
      <p:sp>
        <p:nvSpPr>
          <p:cNvPr id="4" name="Slide Number Placeholder 3"/>
          <p:cNvSpPr>
            <a:spLocks noGrp="1"/>
          </p:cNvSpPr>
          <p:nvPr>
            <p:ph type="sldNum" sz="quarter" idx="12"/>
          </p:nvPr>
        </p:nvSpPr>
        <p:spPr/>
        <p:txBody>
          <a:bodyPr/>
          <a:lstStyle/>
          <a:p>
            <a:fld id="{C15C1E07-7562-4319-BFF8-5329F164BAA6}" type="slidenum">
              <a:rPr lang="en-GB" smtClean="0"/>
              <a:pPr/>
              <a:t>‹#›</a:t>
            </a:fld>
            <a:endParaRPr lang="en-GB"/>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5897880" cy="1173480"/>
          </a:xfrm>
        </p:spPr>
        <p:txBody>
          <a:bodyPr wrap="square" anchor="b"/>
          <a:lstStyle>
            <a:lvl1pPr algn="l">
              <a:buNone/>
              <a:defRPr lang="en-US" sz="2400" baseline="0" smtClean="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97416"/>
            <a:ext cx="589788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8C8EA6E-ADF5-4650-A4B0-657B8CC28295}" type="datetime1">
              <a:rPr lang="en-US" smtClean="0"/>
              <a:t>8/1/2024</a:t>
            </a:fld>
            <a:endParaRPr lang="en-GB"/>
          </a:p>
        </p:txBody>
      </p:sp>
      <p:sp>
        <p:nvSpPr>
          <p:cNvPr id="6" name="Footer Placeholder 5"/>
          <p:cNvSpPr>
            <a:spLocks noGrp="1"/>
          </p:cNvSpPr>
          <p:nvPr>
            <p:ph type="ftr" sz="quarter" idx="11"/>
          </p:nvPr>
        </p:nvSpPr>
        <p:spPr/>
        <p:txBody>
          <a:bodyPr/>
          <a:lstStyle/>
          <a:p>
            <a:r>
              <a:rPr lang="en-GB" smtClean="0"/>
              <a:t>Dr. Prashant Luthra/SSSIHL</a:t>
            </a:r>
            <a:endParaRPr lang="en-GB"/>
          </a:p>
        </p:txBody>
      </p:sp>
      <p:sp>
        <p:nvSpPr>
          <p:cNvPr id="7" name="Slide Number Placeholder 6"/>
          <p:cNvSpPr>
            <a:spLocks noGrp="1"/>
          </p:cNvSpPr>
          <p:nvPr>
            <p:ph type="sldNum" sz="quarter" idx="12"/>
          </p:nvPr>
        </p:nvSpPr>
        <p:spPr/>
        <p:txBody>
          <a:bodyPr/>
          <a:lstStyle/>
          <a:p>
            <a:fld id="{C15C1E07-7562-4319-BFF8-5329F164BAA6}" type="slidenum">
              <a:rPr lang="en-GB" smtClean="0"/>
              <a:pPr/>
              <a:t>‹#›</a:t>
            </a:fld>
            <a:endParaRPr lang="en-GB"/>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2"/>
      </p:bgRef>
    </p:bg>
    <p:spTree>
      <p:nvGrpSpPr>
        <p:cNvPr id="1" name=""/>
        <p:cNvGrpSpPr/>
        <p:nvPr/>
      </p:nvGrpSpPr>
      <p:grpSpPr>
        <a:xfrm>
          <a:off x="0" y="0"/>
          <a:ext cx="0" cy="0"/>
          <a:chOff x="0" y="0"/>
          <a:chExt cx="0" cy="0"/>
        </a:xfrm>
      </p:grpSpPr>
      <p:sp>
        <p:nvSpPr>
          <p:cNvPr id="8" name="Rectangle 7"/>
          <p:cNvSpPr/>
          <p:nvPr/>
        </p:nvSpPr>
        <p:spPr>
          <a:xfrm rot="21240000">
            <a:off x="597968" y="1004668"/>
            <a:ext cx="4319527"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rot="21420000">
            <a:off x="596706" y="998816"/>
            <a:ext cx="4319527"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5389098" y="1143000"/>
            <a:ext cx="3429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en-US" smtClean="0"/>
              <a:t>Click to edit Master title style</a:t>
            </a:r>
            <a:endParaRPr kumimoji="0" lang="en-US" dirty="0"/>
          </a:p>
        </p:txBody>
      </p:sp>
      <p:sp>
        <p:nvSpPr>
          <p:cNvPr id="4" name="Text Placeholder 3"/>
          <p:cNvSpPr>
            <a:spLocks noGrp="1"/>
          </p:cNvSpPr>
          <p:nvPr>
            <p:ph type="body" sz="half" idx="2"/>
          </p:nvPr>
        </p:nvSpPr>
        <p:spPr>
          <a:xfrm>
            <a:off x="5389098" y="3283634"/>
            <a:ext cx="3429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en-US" smtClean="0"/>
              <a:t>Click to edit Master text styles</a:t>
            </a:r>
          </a:p>
        </p:txBody>
      </p:sp>
      <p:sp>
        <p:nvSpPr>
          <p:cNvPr id="5" name="Date Placeholder 4"/>
          <p:cNvSpPr>
            <a:spLocks noGrp="1"/>
          </p:cNvSpPr>
          <p:nvPr>
            <p:ph type="dt" sz="half" idx="10"/>
          </p:nvPr>
        </p:nvSpPr>
        <p:spPr/>
        <p:txBody>
          <a:bodyPr/>
          <a:lstStyle/>
          <a:p>
            <a:fld id="{E6552D72-7BB6-4835-A5D5-CBF6F46BC9E5}" type="datetime1">
              <a:rPr lang="en-US" smtClean="0"/>
              <a:t>8/1/2024</a:t>
            </a:fld>
            <a:endParaRPr lang="en-GB"/>
          </a:p>
        </p:txBody>
      </p:sp>
      <p:sp>
        <p:nvSpPr>
          <p:cNvPr id="6" name="Footer Placeholder 5"/>
          <p:cNvSpPr>
            <a:spLocks noGrp="1"/>
          </p:cNvSpPr>
          <p:nvPr>
            <p:ph type="ftr" sz="quarter" idx="11"/>
          </p:nvPr>
        </p:nvSpPr>
        <p:spPr/>
        <p:txBody>
          <a:bodyPr/>
          <a:lstStyle/>
          <a:p>
            <a:r>
              <a:rPr lang="en-GB" smtClean="0"/>
              <a:t>Dr. Prashant Luthra/SSSIHL</a:t>
            </a:r>
            <a:endParaRPr lang="en-GB"/>
          </a:p>
        </p:txBody>
      </p:sp>
      <p:sp>
        <p:nvSpPr>
          <p:cNvPr id="7" name="Slide Number Placeholder 6"/>
          <p:cNvSpPr>
            <a:spLocks noGrp="1"/>
          </p:cNvSpPr>
          <p:nvPr>
            <p:ph type="sldNum" sz="quarter" idx="12"/>
          </p:nvPr>
        </p:nvSpPr>
        <p:spPr/>
        <p:txBody>
          <a:bodyPr/>
          <a:lstStyle/>
          <a:p>
            <a:fld id="{C15C1E07-7562-4319-BFF8-5329F164BAA6}" type="slidenum">
              <a:rPr lang="en-GB" smtClean="0"/>
              <a:pPr/>
              <a:t>‹#›</a:t>
            </a:fld>
            <a:endParaRPr lang="en-GB"/>
          </a:p>
        </p:txBody>
      </p:sp>
      <p:sp>
        <p:nvSpPr>
          <p:cNvPr id="10" name="Picture Placeholder 9"/>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en-US" smtClean="0"/>
              <a:t>Click icon to add picture</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93C4FD53-23AE-4003-9A7B-46BE9CF99B42}" type="datetime1">
              <a:rPr lang="en-US" smtClean="0"/>
              <a:t>8/1/2024</a:t>
            </a:fld>
            <a:endParaRPr lang="en-GB"/>
          </a:p>
        </p:txBody>
      </p:sp>
      <p:sp>
        <p:nvSpPr>
          <p:cNvPr id="5" name="Footer Placeholder 4"/>
          <p:cNvSpPr>
            <a:spLocks noGrp="1"/>
          </p:cNvSpPr>
          <p:nvPr>
            <p:ph type="ftr" sz="quarter" idx="11"/>
          </p:nvPr>
        </p:nvSpPr>
        <p:spPr/>
        <p:txBody>
          <a:bodyPr/>
          <a:lstStyle/>
          <a:p>
            <a:r>
              <a:rPr lang="en-GB" smtClean="0"/>
              <a:t>Dr. Prashant Luthra/SSSIHL</a:t>
            </a:r>
            <a:endParaRPr lang="en-GB"/>
          </a:p>
        </p:txBody>
      </p:sp>
      <p:sp>
        <p:nvSpPr>
          <p:cNvPr id="6" name="Slide Number Placeholder 5"/>
          <p:cNvSpPr>
            <a:spLocks noGrp="1"/>
          </p:cNvSpPr>
          <p:nvPr>
            <p:ph type="sldNum" sz="quarter" idx="12"/>
          </p:nvPr>
        </p:nvSpPr>
        <p:spPr/>
        <p:txBody>
          <a:bodyPr/>
          <a:lstStyle/>
          <a:p>
            <a:fld id="{C15C1E07-7562-4319-BFF8-5329F164BAA6}" type="slidenum">
              <a:rPr lang="en-GB" smtClean="0"/>
              <a:pPr/>
              <a:t>‹#›</a:t>
            </a:fld>
            <a:endParaRPr lang="en-GB"/>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274955"/>
            <a:ext cx="1524000" cy="5851525"/>
          </a:xfrm>
        </p:spPr>
        <p:txBody>
          <a:bodyPr vert="eaVert" ancho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2"/>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4242816" y="6557946"/>
            <a:ext cx="2002464" cy="226902"/>
          </a:xfrm>
        </p:spPr>
        <p:txBody>
          <a:bodyPr/>
          <a:lstStyle/>
          <a:p>
            <a:fld id="{FFFF74B7-E6AB-40F9-B4CC-6BD38E0E7944}" type="datetime1">
              <a:rPr lang="en-US" smtClean="0"/>
              <a:t>8/1/2024</a:t>
            </a:fld>
            <a:endParaRPr lang="en-GB"/>
          </a:p>
        </p:txBody>
      </p:sp>
      <p:sp>
        <p:nvSpPr>
          <p:cNvPr id="5" name="Footer Placeholder 4"/>
          <p:cNvSpPr>
            <a:spLocks noGrp="1"/>
          </p:cNvSpPr>
          <p:nvPr>
            <p:ph type="ftr" sz="quarter" idx="11"/>
          </p:nvPr>
        </p:nvSpPr>
        <p:spPr>
          <a:xfrm>
            <a:off x="457200" y="6556248"/>
            <a:ext cx="3657600" cy="228600"/>
          </a:xfrm>
        </p:spPr>
        <p:txBody>
          <a:bodyPr/>
          <a:lstStyle/>
          <a:p>
            <a:r>
              <a:rPr lang="en-GB" smtClean="0"/>
              <a:t>Dr. Prashant Luthra/SSSIHL</a:t>
            </a:r>
            <a:endParaRPr lang="en-GB"/>
          </a:p>
        </p:txBody>
      </p:sp>
      <p:sp>
        <p:nvSpPr>
          <p:cNvPr id="6" name="Slide Number Placeholder 5"/>
          <p:cNvSpPr>
            <a:spLocks noGrp="1"/>
          </p:cNvSpPr>
          <p:nvPr>
            <p:ph type="sldNum" sz="quarter" idx="12"/>
          </p:nvPr>
        </p:nvSpPr>
        <p:spPr>
          <a:xfrm>
            <a:off x="6254496" y="6553200"/>
            <a:ext cx="588336" cy="228600"/>
          </a:xfrm>
        </p:spPr>
        <p:txBody>
          <a:bodyPr/>
          <a:lstStyle>
            <a:lvl1pPr>
              <a:defRPr>
                <a:solidFill>
                  <a:schemeClr val="tx2"/>
                </a:solidFill>
              </a:defRPr>
            </a:lvl1pPr>
            <a:extLst/>
          </a:lstStyle>
          <a:p>
            <a:fld id="{C15C1E07-7562-4319-BFF8-5329F164BAA6}"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645AD713-D8FE-4988-A03E-1B5FF494AA0D}" type="datetime1">
              <a:rPr lang="en-US" smtClean="0"/>
              <a:t>8/1/2024</a:t>
            </a:fld>
            <a:endParaRPr lang="en-GB"/>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r>
              <a:rPr lang="en-GB" smtClean="0"/>
              <a:t>Dr. Prashant Luthra/SSSIHL</a:t>
            </a:r>
            <a:endParaRPr lang="en-GB"/>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C15C1E07-7562-4319-BFF8-5329F164BAA6}"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flipH="1">
            <a:off x="8153400" y="0"/>
            <a:ext cx="990600" cy="6858000"/>
          </a:xfrm>
          <a:prstGeom prst="rect">
            <a:avLst/>
          </a:prstGeom>
          <a:blipFill>
            <a:blip r:embed="rId13"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Title Placeholder 2"/>
          <p:cNvSpPr>
            <a:spLocks noGrp="1"/>
          </p:cNvSpPr>
          <p:nvPr>
            <p:ph type="title"/>
          </p:nvPr>
        </p:nvSpPr>
        <p:spPr>
          <a:xfrm>
            <a:off x="457200" y="320040"/>
            <a:ext cx="7239000" cy="1143000"/>
          </a:xfrm>
          <a:prstGeom prst="rect">
            <a:avLst/>
          </a:prstGeom>
        </p:spPr>
        <p:txBody>
          <a:bodyPr vert="horz" lIns="45720" tIns="0" rIns="45720" bIns="0" anchor="b" anchorCtr="0">
            <a:normAutofit/>
          </a:bodyPr>
          <a:lstStyle/>
          <a:p>
            <a:r>
              <a:rPr kumimoji="0" lang="en-US" smtClean="0"/>
              <a:t>Click to edit Master title style</a:t>
            </a:r>
            <a:endParaRPr kumimoji="0" lang="en-US"/>
          </a:p>
        </p:txBody>
      </p:sp>
      <p:sp>
        <p:nvSpPr>
          <p:cNvPr id="31" name="Text Placeholder 30"/>
          <p:cNvSpPr>
            <a:spLocks noGrp="1"/>
          </p:cNvSpPr>
          <p:nvPr>
            <p:ph type="body" idx="1"/>
          </p:nvPr>
        </p:nvSpPr>
        <p:spPr>
          <a:xfrm>
            <a:off x="457200" y="1609416"/>
            <a:ext cx="7239000" cy="48463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7" name="Date Placeholder 26"/>
          <p:cNvSpPr>
            <a:spLocks noGrp="1"/>
          </p:cNvSpPr>
          <p:nvPr>
            <p:ph type="dt" sz="half" idx="2"/>
          </p:nvPr>
        </p:nvSpPr>
        <p:spPr>
          <a:xfrm>
            <a:off x="4245936" y="6557946"/>
            <a:ext cx="2002464" cy="226902"/>
          </a:xfrm>
          <a:prstGeom prst="rect">
            <a:avLst/>
          </a:prstGeom>
        </p:spPr>
        <p:txBody>
          <a:bodyPr vert="horz" tIns="0" bIns="0" anchor="b"/>
          <a:lstStyle>
            <a:lvl1pPr algn="l" eaLnBrk="1" latinLnBrk="0" hangingPunct="1">
              <a:defRPr kumimoji="0" sz="1000">
                <a:solidFill>
                  <a:schemeClr val="tx2"/>
                </a:solidFill>
              </a:defRPr>
            </a:lvl1pPr>
            <a:extLst/>
          </a:lstStyle>
          <a:p>
            <a:fld id="{5F14D074-8B19-4841-A8BD-B8BDF005DF3D}" type="datetime1">
              <a:rPr lang="en-US" smtClean="0"/>
              <a:t>8/1/2024</a:t>
            </a:fld>
            <a:endParaRPr lang="en-GB"/>
          </a:p>
        </p:txBody>
      </p:sp>
      <p:sp>
        <p:nvSpPr>
          <p:cNvPr id="4" name="Footer Placeholder 3"/>
          <p:cNvSpPr>
            <a:spLocks noGrp="1"/>
          </p:cNvSpPr>
          <p:nvPr>
            <p:ph type="ftr" sz="quarter" idx="3"/>
          </p:nvPr>
        </p:nvSpPr>
        <p:spPr>
          <a:xfrm>
            <a:off x="457200" y="6557946"/>
            <a:ext cx="3657600" cy="228600"/>
          </a:xfrm>
          <a:prstGeom prst="rect">
            <a:avLst/>
          </a:prstGeom>
        </p:spPr>
        <p:txBody>
          <a:bodyPr vert="horz" tIns="0" bIns="0" anchor="b"/>
          <a:lstStyle>
            <a:lvl1pPr algn="r" eaLnBrk="1" latinLnBrk="0" hangingPunct="1">
              <a:defRPr kumimoji="0" sz="1000">
                <a:solidFill>
                  <a:schemeClr val="tx2"/>
                </a:solidFill>
              </a:defRPr>
            </a:lvl1pPr>
            <a:extLst/>
          </a:lstStyle>
          <a:p>
            <a:r>
              <a:rPr lang="en-GB" smtClean="0"/>
              <a:t>Dr. Prashant Luthra/SSSIHL</a:t>
            </a:r>
            <a:endParaRPr lang="en-GB"/>
          </a:p>
        </p:txBody>
      </p:sp>
      <p:sp>
        <p:nvSpPr>
          <p:cNvPr id="16" name="Slide Number Placeholder 15"/>
          <p:cNvSpPr>
            <a:spLocks noGrp="1"/>
          </p:cNvSpPr>
          <p:nvPr>
            <p:ph type="sldNum" sz="quarter" idx="4"/>
          </p:nvPr>
        </p:nvSpPr>
        <p:spPr>
          <a:xfrm>
            <a:off x="6251448" y="6556248"/>
            <a:ext cx="588336"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C15C1E07-7562-4319-BFF8-5329F164BAA6}"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dt="0"/>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home.earthlink.net/~khatzi/essay/clustering.htm"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hyperlink" Target="http://home.earthlink.net/~khatzi/essay/clustering.htm"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home.earthlink.net/~khatzi/essay/freewriting.htm"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hyperlink" Target="http://home.earthlink.net/~khatzi/essay/imagemap.htm"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hyperlink" Target="http://home.earthlink.net/~khatzi/essay/points.htm" TargetMode="External"/><Relationship Id="rId2" Type="http://schemas.openxmlformats.org/officeDocument/2006/relationships/hyperlink" Target="http://home.earthlink.net/~khatzi/essay/prewrite.htm"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4" name="Footer Placeholder 3"/>
          <p:cNvSpPr>
            <a:spLocks noGrp="1"/>
          </p:cNvSpPr>
          <p:nvPr>
            <p:ph type="ftr" sz="quarter" idx="16"/>
          </p:nvPr>
        </p:nvSpPr>
        <p:spPr/>
        <p:txBody>
          <a:bodyPr/>
          <a:lstStyle/>
          <a:p>
            <a:r>
              <a:rPr lang="en-GB" smtClean="0"/>
              <a:t>Dr. Prashant Luthra/SSSIHL</a:t>
            </a:r>
            <a:endParaRPr lang="en-GB"/>
          </a:p>
        </p:txBody>
      </p:sp>
      <p:pic>
        <p:nvPicPr>
          <p:cNvPr id="5" name="Content Placeholder 4"/>
          <p:cNvPicPr>
            <a:picLocks noGrp="1" noChangeAspect="1"/>
          </p:cNvPicPr>
          <p:nvPr>
            <p:ph sz="quarter" idx="1"/>
          </p:nvPr>
        </p:nvPicPr>
        <p:blipFill>
          <a:blip r:embed="rId2" cstate="print">
            <a:extLst>
              <a:ext uri="{28A0092B-C50C-407E-A947-70E740481C1C}">
                <a14:useLocalDpi xmlns:a14="http://schemas.microsoft.com/office/drawing/2010/main" val="0"/>
              </a:ext>
            </a:extLst>
          </a:blip>
          <a:stretch>
            <a:fillRect/>
          </a:stretch>
        </p:blipFill>
        <p:spPr>
          <a:xfrm>
            <a:off x="-857250" y="0"/>
            <a:ext cx="10578772" cy="6858000"/>
          </a:xfrm>
        </p:spPr>
      </p:pic>
    </p:spTree>
    <p:extLst>
      <p:ext uri="{BB962C8B-B14F-4D97-AF65-F5344CB8AC3E}">
        <p14:creationId xmlns:p14="http://schemas.microsoft.com/office/powerpoint/2010/main" val="8476370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4800" dirty="0" smtClean="0">
                <a:solidFill>
                  <a:srgbClr val="FF0000"/>
                </a:solidFill>
                <a:latin typeface="Aachen-Bold" pitchFamily="2" charset="0"/>
              </a:rPr>
              <a:t>ESSAY WRITING</a:t>
            </a:r>
            <a:endParaRPr lang="en-GB" sz="4800" dirty="0"/>
          </a:p>
        </p:txBody>
      </p:sp>
      <p:sp>
        <p:nvSpPr>
          <p:cNvPr id="5" name="Content Placeholder 4"/>
          <p:cNvSpPr>
            <a:spLocks noGrp="1"/>
          </p:cNvSpPr>
          <p:nvPr>
            <p:ph sz="quarter" idx="1"/>
          </p:nvPr>
        </p:nvSpPr>
        <p:spPr/>
        <p:txBody>
          <a:bodyPr/>
          <a:lstStyle/>
          <a:p>
            <a:pPr algn="ctr">
              <a:buNone/>
            </a:pPr>
            <a:endParaRPr lang="en-US" dirty="0" smtClean="0">
              <a:solidFill>
                <a:schemeClr val="accent2">
                  <a:lumMod val="50000"/>
                </a:schemeClr>
              </a:solidFill>
            </a:endParaRPr>
          </a:p>
          <a:p>
            <a:pPr algn="ctr">
              <a:buNone/>
            </a:pPr>
            <a:r>
              <a:rPr lang="en-US" dirty="0" smtClean="0">
                <a:solidFill>
                  <a:schemeClr val="accent2">
                    <a:lumMod val="50000"/>
                  </a:schemeClr>
                </a:solidFill>
              </a:rPr>
              <a:t> </a:t>
            </a:r>
            <a:r>
              <a:rPr lang="en-US" dirty="0" smtClean="0">
                <a:solidFill>
                  <a:schemeClr val="accent2">
                    <a:lumMod val="50000"/>
                  </a:schemeClr>
                </a:solidFill>
                <a:latin typeface="Segoe UI" panose="020B0502040204020203" pitchFamily="34" charset="0"/>
                <a:cs typeface="Segoe UI" panose="020B0502040204020203" pitchFamily="34" charset="0"/>
              </a:rPr>
              <a:t>WHAT IS AN </a:t>
            </a:r>
            <a:r>
              <a:rPr lang="en-US" dirty="0" smtClean="0">
                <a:solidFill>
                  <a:schemeClr val="accent2">
                    <a:lumMod val="50000"/>
                  </a:schemeClr>
                </a:solidFill>
                <a:latin typeface="Segoe UI" panose="020B0502040204020203" pitchFamily="34" charset="0"/>
                <a:cs typeface="Segoe UI" panose="020B0502040204020203" pitchFamily="34" charset="0"/>
              </a:rPr>
              <a:t>ESSAY?</a:t>
            </a:r>
            <a:endParaRPr lang="en-US" dirty="0" smtClean="0">
              <a:solidFill>
                <a:schemeClr val="accent2">
                  <a:lumMod val="50000"/>
                </a:schemeClr>
              </a:solidFill>
              <a:latin typeface="Segoe UI" panose="020B0502040204020203" pitchFamily="34" charset="0"/>
              <a:cs typeface="Segoe UI" panose="020B0502040204020203" pitchFamily="34" charset="0"/>
            </a:endParaRPr>
          </a:p>
          <a:p>
            <a:endParaRPr lang="en-US" dirty="0" smtClean="0"/>
          </a:p>
          <a:p>
            <a:pPr algn="just">
              <a:buNone/>
            </a:pPr>
            <a:r>
              <a:rPr lang="en-US" dirty="0" smtClean="0">
                <a:latin typeface="Bookman Old Style" panose="02050604050505020204" pitchFamily="18" charset="0"/>
              </a:rPr>
              <a:t>   </a:t>
            </a:r>
            <a:r>
              <a:rPr lang="en-US" dirty="0" smtClean="0">
                <a:latin typeface="Segoe UI" panose="020B0502040204020203" pitchFamily="34" charset="0"/>
                <a:cs typeface="Segoe UI" panose="020B0502040204020203" pitchFamily="34" charset="0"/>
              </a:rPr>
              <a:t>An essay is a written composition giving expression to one’s own ideas or opinions on some topic; but the term usually covers also any written composition, whether it expresses personal opinions, or gives information on any given subject, or details of a narrative or description.</a:t>
            </a:r>
            <a:endParaRPr lang="en-GB" dirty="0">
              <a:latin typeface="Segoe UI" panose="020B0502040204020203" pitchFamily="34" charset="0"/>
              <a:cs typeface="Segoe UI" panose="020B0502040204020203" pitchFamily="34" charset="0"/>
            </a:endParaRPr>
          </a:p>
        </p:txBody>
      </p:sp>
      <p:sp>
        <p:nvSpPr>
          <p:cNvPr id="2" name="Footer Placeholder 1"/>
          <p:cNvSpPr>
            <a:spLocks noGrp="1"/>
          </p:cNvSpPr>
          <p:nvPr>
            <p:ph type="ftr" sz="quarter" idx="16"/>
          </p:nvPr>
        </p:nvSpPr>
        <p:spPr/>
        <p:txBody>
          <a:bodyPr/>
          <a:lstStyle/>
          <a:p>
            <a:r>
              <a:rPr lang="en-GB" smtClean="0"/>
              <a:t>Dr. Prashant Luthra/SSSIHL</a:t>
            </a:r>
            <a:endParaRPr lang="en-GB"/>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838200"/>
            <a:ext cx="7467600" cy="1143000"/>
          </a:xfrm>
        </p:spPr>
        <p:txBody>
          <a:bodyPr>
            <a:normAutofit fontScale="90000"/>
          </a:bodyPr>
          <a:lstStyle/>
          <a:p>
            <a:r>
              <a:rPr lang="en-GB" sz="4800" dirty="0" smtClean="0">
                <a:solidFill>
                  <a:srgbClr val="0070C0"/>
                </a:solidFill>
              </a:rPr>
              <a:t/>
            </a:r>
            <a:br>
              <a:rPr lang="en-GB" sz="4800" dirty="0" smtClean="0">
                <a:solidFill>
                  <a:srgbClr val="0070C0"/>
                </a:solidFill>
              </a:rPr>
            </a:br>
            <a:r>
              <a:rPr lang="en-GB" sz="4800" dirty="0" smtClean="0">
                <a:solidFill>
                  <a:srgbClr val="0070C0"/>
                </a:solidFill>
              </a:rPr>
              <a:t/>
            </a:r>
            <a:br>
              <a:rPr lang="en-GB" sz="4800" dirty="0" smtClean="0">
                <a:solidFill>
                  <a:srgbClr val="0070C0"/>
                </a:solidFill>
              </a:rPr>
            </a:br>
            <a:r>
              <a:rPr lang="en-GB" sz="4800" dirty="0" smtClean="0">
                <a:solidFill>
                  <a:srgbClr val="0070C0"/>
                </a:solidFill>
              </a:rPr>
              <a:t/>
            </a:r>
            <a:br>
              <a:rPr lang="en-GB" sz="4800" dirty="0" smtClean="0">
                <a:solidFill>
                  <a:srgbClr val="0070C0"/>
                </a:solidFill>
              </a:rPr>
            </a:br>
            <a:r>
              <a:rPr lang="en-GB" sz="4800" dirty="0" smtClean="0">
                <a:solidFill>
                  <a:srgbClr val="0070C0"/>
                </a:solidFill>
              </a:rPr>
              <a:t/>
            </a:r>
            <a:br>
              <a:rPr lang="en-GB" sz="4800" dirty="0" smtClean="0">
                <a:solidFill>
                  <a:srgbClr val="0070C0"/>
                </a:solidFill>
              </a:rPr>
            </a:br>
            <a:r>
              <a:rPr lang="en-GB" sz="4800" dirty="0" smtClean="0">
                <a:solidFill>
                  <a:srgbClr val="0070C0"/>
                </a:solidFill>
              </a:rPr>
              <a:t/>
            </a:r>
            <a:br>
              <a:rPr lang="en-GB" sz="4800" dirty="0" smtClean="0">
                <a:solidFill>
                  <a:srgbClr val="0070C0"/>
                </a:solidFill>
              </a:rPr>
            </a:br>
            <a:r>
              <a:rPr lang="en-GB" sz="4800" dirty="0" smtClean="0">
                <a:solidFill>
                  <a:srgbClr val="0070C0"/>
                </a:solidFill>
              </a:rPr>
              <a:t/>
            </a:r>
            <a:br>
              <a:rPr lang="en-GB" sz="4800" dirty="0" smtClean="0">
                <a:solidFill>
                  <a:srgbClr val="0070C0"/>
                </a:solidFill>
              </a:rPr>
            </a:br>
            <a:r>
              <a:rPr lang="en-GB" sz="4800" dirty="0" smtClean="0">
                <a:solidFill>
                  <a:srgbClr val="0070C0"/>
                </a:solidFill>
              </a:rPr>
              <a:t/>
            </a:r>
            <a:br>
              <a:rPr lang="en-GB" sz="4800" dirty="0" smtClean="0">
                <a:solidFill>
                  <a:srgbClr val="0070C0"/>
                </a:solidFill>
              </a:rPr>
            </a:br>
            <a:r>
              <a:rPr lang="en-GB" sz="4800" dirty="0" smtClean="0">
                <a:solidFill>
                  <a:srgbClr val="0070C0"/>
                </a:solidFill>
              </a:rPr>
              <a:t/>
            </a:r>
            <a:br>
              <a:rPr lang="en-GB" sz="4800" dirty="0" smtClean="0">
                <a:solidFill>
                  <a:srgbClr val="0070C0"/>
                </a:solidFill>
              </a:rPr>
            </a:br>
            <a:r>
              <a:rPr lang="en-GB" sz="4800" dirty="0" smtClean="0">
                <a:solidFill>
                  <a:srgbClr val="0070C0"/>
                </a:solidFill>
              </a:rPr>
              <a:t/>
            </a:r>
            <a:br>
              <a:rPr lang="en-GB" sz="4800" dirty="0" smtClean="0">
                <a:solidFill>
                  <a:srgbClr val="0070C0"/>
                </a:solidFill>
              </a:rPr>
            </a:br>
            <a:r>
              <a:rPr lang="en-GB" sz="4800" dirty="0" smtClean="0">
                <a:solidFill>
                  <a:srgbClr val="0070C0"/>
                </a:solidFill>
              </a:rPr>
              <a:t/>
            </a:r>
            <a:br>
              <a:rPr lang="en-GB" sz="4800" dirty="0" smtClean="0">
                <a:solidFill>
                  <a:srgbClr val="0070C0"/>
                </a:solidFill>
              </a:rPr>
            </a:br>
            <a:r>
              <a:rPr lang="en-GB" sz="4800" dirty="0" smtClean="0">
                <a:solidFill>
                  <a:srgbClr val="0070C0"/>
                </a:solidFill>
              </a:rPr>
              <a:t/>
            </a:r>
            <a:br>
              <a:rPr lang="en-GB" sz="4800" dirty="0" smtClean="0">
                <a:solidFill>
                  <a:srgbClr val="0070C0"/>
                </a:solidFill>
              </a:rPr>
            </a:br>
            <a:r>
              <a:rPr lang="en-GB" sz="4800" dirty="0" smtClean="0">
                <a:solidFill>
                  <a:srgbClr val="0070C0"/>
                </a:solidFill>
              </a:rPr>
              <a:t/>
            </a:r>
            <a:br>
              <a:rPr lang="en-GB" sz="4800" dirty="0" smtClean="0">
                <a:solidFill>
                  <a:srgbClr val="0070C0"/>
                </a:solidFill>
              </a:rPr>
            </a:br>
            <a:r>
              <a:rPr lang="en-GB" sz="4800" dirty="0" smtClean="0">
                <a:solidFill>
                  <a:srgbClr val="0070C0"/>
                </a:solidFill>
              </a:rPr>
              <a:t/>
            </a:r>
            <a:br>
              <a:rPr lang="en-GB" sz="4800" dirty="0" smtClean="0">
                <a:solidFill>
                  <a:srgbClr val="0070C0"/>
                </a:solidFill>
              </a:rPr>
            </a:br>
            <a:r>
              <a:rPr lang="en-GB" sz="4800" dirty="0" smtClean="0">
                <a:solidFill>
                  <a:srgbClr val="0070C0"/>
                </a:solidFill>
              </a:rPr>
              <a:t/>
            </a:r>
            <a:br>
              <a:rPr lang="en-GB" sz="4800" dirty="0" smtClean="0">
                <a:solidFill>
                  <a:srgbClr val="0070C0"/>
                </a:solidFill>
              </a:rPr>
            </a:br>
            <a:r>
              <a:rPr lang="en-GB" sz="4800" dirty="0" smtClean="0">
                <a:solidFill>
                  <a:srgbClr val="0070C0"/>
                </a:solidFill>
              </a:rPr>
              <a:t/>
            </a:r>
            <a:br>
              <a:rPr lang="en-GB" sz="4800" dirty="0" smtClean="0">
                <a:solidFill>
                  <a:srgbClr val="0070C0"/>
                </a:solidFill>
              </a:rPr>
            </a:br>
            <a:r>
              <a:rPr lang="en-GB" sz="4800" dirty="0" smtClean="0">
                <a:solidFill>
                  <a:srgbClr val="0070C0"/>
                </a:solidFill>
              </a:rPr>
              <a:t/>
            </a:r>
            <a:br>
              <a:rPr lang="en-GB" sz="4800" dirty="0" smtClean="0">
                <a:solidFill>
                  <a:srgbClr val="0070C0"/>
                </a:solidFill>
              </a:rPr>
            </a:br>
            <a:r>
              <a:rPr lang="en-GB" sz="4400" dirty="0" smtClean="0">
                <a:solidFill>
                  <a:srgbClr val="0070C0"/>
                </a:solidFill>
                <a:latin typeface="Trajan Pro" pitchFamily="2" charset="0"/>
              </a:rPr>
              <a:t>Elements of a Good Essay</a:t>
            </a:r>
            <a:r>
              <a:rPr lang="en-GB" sz="4800" dirty="0" smtClean="0">
                <a:solidFill>
                  <a:srgbClr val="0070C0"/>
                </a:solidFill>
              </a:rPr>
              <a:t/>
            </a:r>
            <a:br>
              <a:rPr lang="en-GB" sz="4800" dirty="0" smtClean="0">
                <a:solidFill>
                  <a:srgbClr val="0070C0"/>
                </a:solidFill>
              </a:rPr>
            </a:br>
            <a:endParaRPr lang="en-GB" sz="4800" dirty="0">
              <a:solidFill>
                <a:srgbClr val="FF0000"/>
              </a:solidFill>
              <a:latin typeface="Aachen-Bold" pitchFamily="2" charset="0"/>
            </a:endParaRPr>
          </a:p>
        </p:txBody>
      </p:sp>
      <p:sp>
        <p:nvSpPr>
          <p:cNvPr id="5" name="Content Placeholder 4"/>
          <p:cNvSpPr>
            <a:spLocks noGrp="1"/>
          </p:cNvSpPr>
          <p:nvPr>
            <p:ph sz="quarter" idx="1"/>
          </p:nvPr>
        </p:nvSpPr>
        <p:spPr/>
        <p:txBody>
          <a:bodyPr>
            <a:normAutofit lnSpcReduction="10000"/>
          </a:bodyPr>
          <a:lstStyle/>
          <a:p>
            <a:pPr>
              <a:buNone/>
            </a:pPr>
            <a:r>
              <a:rPr lang="en-GB" dirty="0" smtClean="0">
                <a:solidFill>
                  <a:srgbClr val="FF0000"/>
                </a:solidFill>
                <a:latin typeface="Trajan Pro" pitchFamily="2" charset="0"/>
              </a:rPr>
              <a:t> Unity </a:t>
            </a:r>
          </a:p>
          <a:p>
            <a:pPr marL="0" lvl="0" indent="0" eaLnBrk="0" fontAlgn="base" hangingPunct="0">
              <a:spcBef>
                <a:spcPct val="0"/>
              </a:spcBef>
              <a:spcAft>
                <a:spcPct val="0"/>
              </a:spcAft>
              <a:buClrTx/>
              <a:buSzTx/>
              <a:buNone/>
            </a:pPr>
            <a:r>
              <a:rPr lang="en-US" altLang="en-US" dirty="0" smtClean="0">
                <a:latin typeface="Segoe UI" panose="020B0502040204020203" pitchFamily="34" charset="0"/>
                <a:cs typeface="Segoe UI" panose="020B0502040204020203" pitchFamily="34" charset="0"/>
              </a:rPr>
              <a:t>The </a:t>
            </a:r>
            <a:r>
              <a:rPr lang="en-US" altLang="en-US" dirty="0">
                <a:latin typeface="Segoe UI" panose="020B0502040204020203" pitchFamily="34" charset="0"/>
                <a:cs typeface="Segoe UI" panose="020B0502040204020203" pitchFamily="34" charset="0"/>
              </a:rPr>
              <a:t>essay must be a unity, developing one theme with a definite purpose</a:t>
            </a:r>
            <a:r>
              <a:rPr lang="en-US" altLang="en-US" dirty="0" smtClean="0">
                <a:latin typeface="Segoe UI" panose="020B0502040204020203" pitchFamily="34" charset="0"/>
                <a:cs typeface="Segoe UI" panose="020B0502040204020203" pitchFamily="34" charset="0"/>
              </a:rPr>
              <a:t>.</a:t>
            </a:r>
          </a:p>
          <a:p>
            <a:pPr marL="0" lvl="0" indent="0" eaLnBrk="0" fontAlgn="base" hangingPunct="0">
              <a:spcBef>
                <a:spcPct val="0"/>
              </a:spcBef>
              <a:spcAft>
                <a:spcPct val="0"/>
              </a:spcAft>
              <a:buClrTx/>
              <a:buSzTx/>
              <a:buFontTx/>
              <a:buChar char="•"/>
            </a:pPr>
            <a:endParaRPr lang="en-US" altLang="en-US" dirty="0">
              <a:latin typeface="Segoe UI" panose="020B0502040204020203" pitchFamily="34" charset="0"/>
              <a:cs typeface="Segoe UI" panose="020B0502040204020203" pitchFamily="34" charset="0"/>
            </a:endParaRPr>
          </a:p>
          <a:p>
            <a:pPr marL="0" lvl="0" indent="0" eaLnBrk="0" fontAlgn="base" hangingPunct="0">
              <a:spcBef>
                <a:spcPct val="0"/>
              </a:spcBef>
              <a:spcAft>
                <a:spcPct val="0"/>
              </a:spcAft>
              <a:buClrTx/>
              <a:buSzTx/>
              <a:buNone/>
            </a:pPr>
            <a:r>
              <a:rPr lang="en-US" altLang="en-US" b="1" dirty="0">
                <a:solidFill>
                  <a:srgbClr val="00B050"/>
                </a:solidFill>
                <a:latin typeface="Segoe UI" panose="020B0502040204020203" pitchFamily="34" charset="0"/>
                <a:cs typeface="Segoe UI" panose="020B0502040204020203" pitchFamily="34" charset="0"/>
              </a:rPr>
              <a:t>Key Points</a:t>
            </a:r>
            <a:r>
              <a:rPr lang="en-US" altLang="en-US" b="1" dirty="0" smtClean="0">
                <a:solidFill>
                  <a:srgbClr val="00B050"/>
                </a:solidFill>
                <a:latin typeface="Segoe UI" panose="020B0502040204020203" pitchFamily="34" charset="0"/>
                <a:cs typeface="Segoe UI" panose="020B0502040204020203" pitchFamily="34" charset="0"/>
              </a:rPr>
              <a:t>:</a:t>
            </a:r>
          </a:p>
          <a:p>
            <a:pPr marL="0" lvl="0" indent="0" eaLnBrk="0" fontAlgn="base" hangingPunct="0">
              <a:spcBef>
                <a:spcPct val="0"/>
              </a:spcBef>
              <a:spcAft>
                <a:spcPct val="0"/>
              </a:spcAft>
              <a:buClrTx/>
              <a:buSzTx/>
              <a:buNone/>
            </a:pPr>
            <a:endParaRPr lang="en-US" altLang="en-US" dirty="0">
              <a:latin typeface="Segoe UI" panose="020B0502040204020203" pitchFamily="34" charset="0"/>
              <a:cs typeface="Segoe UI" panose="020B0502040204020203" pitchFamily="34" charset="0"/>
            </a:endParaRPr>
          </a:p>
          <a:p>
            <a:pPr marL="0" lvl="0" indent="0" eaLnBrk="0" fontAlgn="base" hangingPunct="0">
              <a:spcBef>
                <a:spcPct val="0"/>
              </a:spcBef>
              <a:spcAft>
                <a:spcPct val="0"/>
              </a:spcAft>
              <a:buClrTx/>
              <a:buSzTx/>
              <a:buFontTx/>
              <a:buChar char="•"/>
            </a:pPr>
            <a:r>
              <a:rPr lang="en-US" altLang="en-US" dirty="0">
                <a:latin typeface="Segoe UI" panose="020B0502040204020203" pitchFamily="34" charset="0"/>
                <a:cs typeface="Segoe UI" panose="020B0502040204020203" pitchFamily="34" charset="0"/>
              </a:rPr>
              <a:t>Clearly define the subject in your mind</a:t>
            </a:r>
            <a:r>
              <a:rPr lang="en-US" altLang="en-US" dirty="0" smtClean="0">
                <a:latin typeface="Segoe UI" panose="020B0502040204020203" pitchFamily="34" charset="0"/>
                <a:cs typeface="Segoe UI" panose="020B0502040204020203" pitchFamily="34" charset="0"/>
              </a:rPr>
              <a:t>.</a:t>
            </a:r>
          </a:p>
          <a:p>
            <a:pPr marL="0" lvl="0" indent="0" eaLnBrk="0" fontAlgn="base" hangingPunct="0">
              <a:spcBef>
                <a:spcPct val="0"/>
              </a:spcBef>
              <a:spcAft>
                <a:spcPct val="0"/>
              </a:spcAft>
              <a:buClrTx/>
              <a:buSzTx/>
              <a:buFontTx/>
              <a:buChar char="•"/>
            </a:pPr>
            <a:endParaRPr lang="en-US" altLang="en-US" dirty="0">
              <a:latin typeface="Segoe UI" panose="020B0502040204020203" pitchFamily="34" charset="0"/>
              <a:cs typeface="Segoe UI" panose="020B0502040204020203" pitchFamily="34" charset="0"/>
            </a:endParaRPr>
          </a:p>
          <a:p>
            <a:pPr marL="0" lvl="0" indent="0" eaLnBrk="0" fontAlgn="base" hangingPunct="0">
              <a:spcBef>
                <a:spcPct val="0"/>
              </a:spcBef>
              <a:spcAft>
                <a:spcPct val="0"/>
              </a:spcAft>
              <a:buClrTx/>
              <a:buSzTx/>
              <a:buFontTx/>
              <a:buChar char="•"/>
            </a:pPr>
            <a:r>
              <a:rPr lang="en-US" altLang="en-US" dirty="0">
                <a:latin typeface="Segoe UI" panose="020B0502040204020203" pitchFamily="34" charset="0"/>
                <a:cs typeface="Segoe UI" panose="020B0502040204020203" pitchFamily="34" charset="0"/>
              </a:rPr>
              <a:t>Maintain focus on the subject throughout the essay</a:t>
            </a:r>
            <a:r>
              <a:rPr lang="en-US" altLang="en-US" dirty="0" smtClean="0">
                <a:latin typeface="Segoe UI" panose="020B0502040204020203" pitchFamily="34" charset="0"/>
                <a:cs typeface="Segoe UI" panose="020B0502040204020203" pitchFamily="34" charset="0"/>
              </a:rPr>
              <a:t>.</a:t>
            </a:r>
          </a:p>
          <a:p>
            <a:pPr marL="0" lvl="0" indent="0" eaLnBrk="0" fontAlgn="base" hangingPunct="0">
              <a:spcBef>
                <a:spcPct val="0"/>
              </a:spcBef>
              <a:spcAft>
                <a:spcPct val="0"/>
              </a:spcAft>
              <a:buClrTx/>
              <a:buSzTx/>
              <a:buFontTx/>
              <a:buChar char="•"/>
            </a:pPr>
            <a:endParaRPr lang="en-US" altLang="en-US" dirty="0">
              <a:latin typeface="Segoe UI" panose="020B0502040204020203" pitchFamily="34" charset="0"/>
              <a:cs typeface="Segoe UI" panose="020B0502040204020203" pitchFamily="34" charset="0"/>
            </a:endParaRPr>
          </a:p>
          <a:p>
            <a:pPr marL="0" lvl="0" indent="0" eaLnBrk="0" fontAlgn="base" hangingPunct="0">
              <a:spcBef>
                <a:spcPct val="0"/>
              </a:spcBef>
              <a:spcAft>
                <a:spcPct val="0"/>
              </a:spcAft>
              <a:buClrTx/>
              <a:buSzTx/>
              <a:buFontTx/>
              <a:buChar char="•"/>
            </a:pPr>
            <a:r>
              <a:rPr lang="en-US" altLang="en-US" dirty="0">
                <a:latin typeface="Segoe UI" panose="020B0502040204020203" pitchFamily="34" charset="0"/>
                <a:cs typeface="Segoe UI" panose="020B0502040204020203" pitchFamily="34" charset="0"/>
              </a:rPr>
              <a:t>Avoid irrelevant information</a:t>
            </a:r>
            <a:r>
              <a:rPr lang="en-US" altLang="en-US" dirty="0" smtClean="0">
                <a:latin typeface="Segoe UI" panose="020B0502040204020203" pitchFamily="34" charset="0"/>
                <a:cs typeface="Segoe UI" panose="020B0502040204020203" pitchFamily="34" charset="0"/>
              </a:rPr>
              <a:t>.</a:t>
            </a:r>
          </a:p>
          <a:p>
            <a:pPr marL="0" lvl="0" indent="0" eaLnBrk="0" fontAlgn="base" hangingPunct="0">
              <a:spcBef>
                <a:spcPct val="0"/>
              </a:spcBef>
              <a:spcAft>
                <a:spcPct val="0"/>
              </a:spcAft>
              <a:buClrTx/>
              <a:buSzTx/>
              <a:buFontTx/>
              <a:buChar char="•"/>
            </a:pPr>
            <a:endParaRPr lang="en-US" altLang="en-US" dirty="0">
              <a:latin typeface="Segoe UI" panose="020B0502040204020203" pitchFamily="34" charset="0"/>
              <a:cs typeface="Segoe UI" panose="020B0502040204020203" pitchFamily="34" charset="0"/>
            </a:endParaRPr>
          </a:p>
          <a:p>
            <a:pPr marL="0" lvl="0" indent="0" eaLnBrk="0" fontAlgn="base" hangingPunct="0">
              <a:spcBef>
                <a:spcPct val="0"/>
              </a:spcBef>
              <a:spcAft>
                <a:spcPct val="0"/>
              </a:spcAft>
              <a:buClrTx/>
              <a:buSzTx/>
              <a:buFontTx/>
              <a:buChar char="•"/>
            </a:pPr>
            <a:r>
              <a:rPr lang="en-US" altLang="en-US" dirty="0">
                <a:latin typeface="Segoe UI" panose="020B0502040204020203" pitchFamily="34" charset="0"/>
                <a:cs typeface="Segoe UI" panose="020B0502040204020203" pitchFamily="34" charset="0"/>
              </a:rPr>
              <a:t>Treat the subject from various angles and perspectives.</a:t>
            </a:r>
          </a:p>
          <a:p>
            <a:pPr algn="just">
              <a:buNone/>
            </a:pPr>
            <a:endParaRPr lang="en-GB" dirty="0"/>
          </a:p>
        </p:txBody>
      </p:sp>
      <p:sp>
        <p:nvSpPr>
          <p:cNvPr id="2" name="Footer Placeholder 1"/>
          <p:cNvSpPr>
            <a:spLocks noGrp="1"/>
          </p:cNvSpPr>
          <p:nvPr>
            <p:ph type="ftr" sz="quarter" idx="16"/>
          </p:nvPr>
        </p:nvSpPr>
        <p:spPr/>
        <p:txBody>
          <a:bodyPr/>
          <a:lstStyle/>
          <a:p>
            <a:r>
              <a:rPr lang="en-GB" smtClean="0"/>
              <a:t>Dr. Prashant Luthra/SSSIHL</a:t>
            </a:r>
            <a:endParaRPr lang="en-GB"/>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sp>
        <p:nvSpPr>
          <p:cNvPr id="3" name="Content Placeholder 2"/>
          <p:cNvSpPr>
            <a:spLocks noGrp="1"/>
          </p:cNvSpPr>
          <p:nvPr>
            <p:ph sz="quarter" idx="1"/>
          </p:nvPr>
        </p:nvSpPr>
        <p:spPr>
          <a:xfrm>
            <a:off x="457200" y="457200"/>
            <a:ext cx="7467600" cy="6016752"/>
          </a:xfrm>
        </p:spPr>
        <p:txBody>
          <a:bodyPr/>
          <a:lstStyle/>
          <a:p>
            <a:endParaRPr lang="en-GB" dirty="0" smtClean="0">
              <a:solidFill>
                <a:srgbClr val="FF0000"/>
              </a:solidFill>
            </a:endParaRPr>
          </a:p>
          <a:p>
            <a:r>
              <a:rPr lang="en-GB" dirty="0" smtClean="0">
                <a:solidFill>
                  <a:srgbClr val="FF0000"/>
                </a:solidFill>
                <a:latin typeface="Trajan Pro" pitchFamily="2" charset="0"/>
              </a:rPr>
              <a:t>clear </a:t>
            </a:r>
            <a:r>
              <a:rPr lang="en-GB" dirty="0" smtClean="0">
                <a:solidFill>
                  <a:srgbClr val="FF0000"/>
                </a:solidFill>
                <a:latin typeface="Trajan Pro" pitchFamily="2" charset="0"/>
              </a:rPr>
              <a:t>and defined structure </a:t>
            </a:r>
          </a:p>
          <a:p>
            <a:pPr>
              <a:buNone/>
            </a:pPr>
            <a:r>
              <a:rPr lang="en-GB" dirty="0" smtClean="0"/>
              <a:t>    </a:t>
            </a:r>
          </a:p>
          <a:p>
            <a:pPr marL="0" lvl="0" indent="0" eaLnBrk="0" fontAlgn="base" hangingPunct="0">
              <a:spcBef>
                <a:spcPct val="0"/>
              </a:spcBef>
              <a:spcAft>
                <a:spcPct val="0"/>
              </a:spcAft>
              <a:buClrTx/>
              <a:buSzTx/>
              <a:buNone/>
            </a:pPr>
            <a:r>
              <a:rPr lang="en-US" altLang="en-US" dirty="0" smtClean="0">
                <a:latin typeface="Segoe UI" panose="020B0502040204020203" pitchFamily="34" charset="0"/>
                <a:cs typeface="Segoe UI" panose="020B0502040204020203" pitchFamily="34" charset="0"/>
              </a:rPr>
              <a:t>Planning </a:t>
            </a:r>
            <a:r>
              <a:rPr lang="en-US" altLang="en-US" dirty="0">
                <a:latin typeface="Segoe UI" panose="020B0502040204020203" pitchFamily="34" charset="0"/>
                <a:cs typeface="Segoe UI" panose="020B0502040204020203" pitchFamily="34" charset="0"/>
              </a:rPr>
              <a:t>an essay is like building a house</a:t>
            </a:r>
            <a:r>
              <a:rPr lang="en-US" altLang="en-US" dirty="0" smtClean="0">
                <a:latin typeface="Segoe UI" panose="020B0502040204020203" pitchFamily="34" charset="0"/>
                <a:cs typeface="Segoe UI" panose="020B0502040204020203" pitchFamily="34" charset="0"/>
              </a:rPr>
              <a:t>.</a:t>
            </a:r>
          </a:p>
          <a:p>
            <a:pPr marL="0" lvl="0" indent="0" eaLnBrk="0" fontAlgn="base" hangingPunct="0">
              <a:spcBef>
                <a:spcPct val="0"/>
              </a:spcBef>
              <a:spcAft>
                <a:spcPct val="0"/>
              </a:spcAft>
              <a:buClrTx/>
              <a:buSzTx/>
              <a:buNone/>
            </a:pPr>
            <a:endParaRPr lang="en-US" altLang="en-US" dirty="0">
              <a:latin typeface="Segoe UI" panose="020B0502040204020203" pitchFamily="34" charset="0"/>
              <a:cs typeface="Segoe UI" panose="020B0502040204020203" pitchFamily="34" charset="0"/>
            </a:endParaRPr>
          </a:p>
          <a:p>
            <a:pPr marL="0" lvl="0" indent="0" eaLnBrk="0" fontAlgn="base" hangingPunct="0">
              <a:spcBef>
                <a:spcPct val="0"/>
              </a:spcBef>
              <a:spcAft>
                <a:spcPct val="0"/>
              </a:spcAft>
              <a:buClrTx/>
              <a:buSzTx/>
              <a:buNone/>
            </a:pPr>
            <a:r>
              <a:rPr lang="en-US" altLang="en-US" b="1" dirty="0">
                <a:solidFill>
                  <a:srgbClr val="00B050"/>
                </a:solidFill>
                <a:latin typeface="Segoe UI" panose="020B0502040204020203" pitchFamily="34" charset="0"/>
                <a:cs typeface="Segoe UI" panose="020B0502040204020203" pitchFamily="34" charset="0"/>
              </a:rPr>
              <a:t>Key Points</a:t>
            </a:r>
            <a:r>
              <a:rPr lang="en-US" altLang="en-US" b="1" dirty="0" smtClean="0">
                <a:solidFill>
                  <a:srgbClr val="00B050"/>
                </a:solidFill>
                <a:latin typeface="Segoe UI" panose="020B0502040204020203" pitchFamily="34" charset="0"/>
                <a:cs typeface="Segoe UI" panose="020B0502040204020203" pitchFamily="34" charset="0"/>
              </a:rPr>
              <a:t>:</a:t>
            </a:r>
          </a:p>
          <a:p>
            <a:pPr marL="0" lvl="0" indent="0" eaLnBrk="0" fontAlgn="base" hangingPunct="0">
              <a:spcBef>
                <a:spcPct val="0"/>
              </a:spcBef>
              <a:spcAft>
                <a:spcPct val="0"/>
              </a:spcAft>
              <a:buClrTx/>
              <a:buSzTx/>
              <a:buNone/>
            </a:pPr>
            <a:endParaRPr lang="en-US" altLang="en-US" dirty="0">
              <a:latin typeface="Segoe UI" panose="020B0502040204020203" pitchFamily="34" charset="0"/>
              <a:cs typeface="Segoe UI" panose="020B0502040204020203" pitchFamily="34" charset="0"/>
            </a:endParaRPr>
          </a:p>
          <a:p>
            <a:pPr marL="0" lvl="0" indent="0" eaLnBrk="0" fontAlgn="base" hangingPunct="0">
              <a:spcBef>
                <a:spcPct val="0"/>
              </a:spcBef>
              <a:spcAft>
                <a:spcPct val="0"/>
              </a:spcAft>
              <a:buClrTx/>
              <a:buSzTx/>
              <a:buFontTx/>
              <a:buChar char="•"/>
            </a:pPr>
            <a:r>
              <a:rPr lang="en-US" altLang="en-US" dirty="0">
                <a:latin typeface="Segoe UI" panose="020B0502040204020203" pitchFamily="34" charset="0"/>
                <a:cs typeface="Segoe UI" panose="020B0502040204020203" pitchFamily="34" charset="0"/>
              </a:rPr>
              <a:t>Solid foundation: A well-thought-out plan</a:t>
            </a:r>
            <a:r>
              <a:rPr lang="en-US" altLang="en-US" dirty="0" smtClean="0">
                <a:latin typeface="Segoe UI" panose="020B0502040204020203" pitchFamily="34" charset="0"/>
                <a:cs typeface="Segoe UI" panose="020B0502040204020203" pitchFamily="34" charset="0"/>
              </a:rPr>
              <a:t>.</a:t>
            </a:r>
          </a:p>
          <a:p>
            <a:pPr marL="0" lvl="0" indent="0" eaLnBrk="0" fontAlgn="base" hangingPunct="0">
              <a:spcBef>
                <a:spcPct val="0"/>
              </a:spcBef>
              <a:spcAft>
                <a:spcPct val="0"/>
              </a:spcAft>
              <a:buClrTx/>
              <a:buSzTx/>
              <a:buFontTx/>
              <a:buChar char="•"/>
            </a:pPr>
            <a:endParaRPr lang="en-US" altLang="en-US" dirty="0">
              <a:latin typeface="Segoe UI" panose="020B0502040204020203" pitchFamily="34" charset="0"/>
              <a:cs typeface="Segoe UI" panose="020B0502040204020203" pitchFamily="34" charset="0"/>
            </a:endParaRPr>
          </a:p>
          <a:p>
            <a:pPr marL="0" lvl="0" indent="0" eaLnBrk="0" fontAlgn="base" hangingPunct="0">
              <a:spcBef>
                <a:spcPct val="0"/>
              </a:spcBef>
              <a:spcAft>
                <a:spcPct val="0"/>
              </a:spcAft>
              <a:buClrTx/>
              <a:buSzTx/>
              <a:buFontTx/>
              <a:buChar char="•"/>
            </a:pPr>
            <a:r>
              <a:rPr lang="en-US" altLang="en-US" dirty="0">
                <a:latin typeface="Segoe UI" panose="020B0502040204020203" pitchFamily="34" charset="0"/>
                <a:cs typeface="Segoe UI" panose="020B0502040204020203" pitchFamily="34" charset="0"/>
              </a:rPr>
              <a:t>Clearly defined rooms: Distinct sections and arguments</a:t>
            </a:r>
            <a:r>
              <a:rPr lang="en-US" altLang="en-US" dirty="0" smtClean="0">
                <a:latin typeface="Segoe UI" panose="020B0502040204020203" pitchFamily="34" charset="0"/>
                <a:cs typeface="Segoe UI" panose="020B0502040204020203" pitchFamily="34" charset="0"/>
              </a:rPr>
              <a:t>.</a:t>
            </a:r>
          </a:p>
          <a:p>
            <a:pPr marL="0" lvl="0" indent="0" eaLnBrk="0" fontAlgn="base" hangingPunct="0">
              <a:spcBef>
                <a:spcPct val="0"/>
              </a:spcBef>
              <a:spcAft>
                <a:spcPct val="0"/>
              </a:spcAft>
              <a:buClrTx/>
              <a:buSzTx/>
              <a:buFontTx/>
              <a:buChar char="•"/>
            </a:pPr>
            <a:endParaRPr lang="en-US" altLang="en-US" dirty="0">
              <a:latin typeface="Segoe UI" panose="020B0502040204020203" pitchFamily="34" charset="0"/>
              <a:cs typeface="Segoe UI" panose="020B0502040204020203" pitchFamily="34" charset="0"/>
            </a:endParaRPr>
          </a:p>
          <a:p>
            <a:pPr marL="0" lvl="0" indent="0" eaLnBrk="0" fontAlgn="base" hangingPunct="0">
              <a:spcBef>
                <a:spcPct val="0"/>
              </a:spcBef>
              <a:spcAft>
                <a:spcPct val="0"/>
              </a:spcAft>
              <a:buClrTx/>
              <a:buSzTx/>
              <a:buFontTx/>
              <a:buChar char="•"/>
            </a:pPr>
            <a:r>
              <a:rPr lang="en-US" altLang="en-US" dirty="0">
                <a:latin typeface="Segoe UI" panose="020B0502040204020203" pitchFamily="34" charset="0"/>
                <a:cs typeface="Segoe UI" panose="020B0502040204020203" pitchFamily="34" charset="0"/>
              </a:rPr>
              <a:t>Organize ideas before writing</a:t>
            </a:r>
            <a:r>
              <a:rPr lang="en-US" altLang="en-US" dirty="0" smtClean="0">
                <a:latin typeface="Segoe UI" panose="020B0502040204020203" pitchFamily="34" charset="0"/>
                <a:cs typeface="Segoe UI" panose="020B0502040204020203" pitchFamily="34" charset="0"/>
              </a:rPr>
              <a:t>.</a:t>
            </a:r>
          </a:p>
          <a:p>
            <a:pPr marL="0" lvl="0" indent="0" eaLnBrk="0" fontAlgn="base" hangingPunct="0">
              <a:spcBef>
                <a:spcPct val="0"/>
              </a:spcBef>
              <a:spcAft>
                <a:spcPct val="0"/>
              </a:spcAft>
              <a:buClrTx/>
              <a:buSzTx/>
              <a:buFontTx/>
              <a:buChar char="•"/>
            </a:pPr>
            <a:endParaRPr lang="en-US" altLang="en-US" dirty="0">
              <a:latin typeface="Segoe UI" panose="020B0502040204020203" pitchFamily="34" charset="0"/>
              <a:cs typeface="Segoe UI" panose="020B0502040204020203" pitchFamily="34" charset="0"/>
            </a:endParaRPr>
          </a:p>
          <a:p>
            <a:pPr marL="0" lvl="0" indent="0" eaLnBrk="0" fontAlgn="base" hangingPunct="0">
              <a:spcBef>
                <a:spcPct val="0"/>
              </a:spcBef>
              <a:spcAft>
                <a:spcPct val="0"/>
              </a:spcAft>
              <a:buClrTx/>
              <a:buSzTx/>
              <a:buFontTx/>
              <a:buChar char="•"/>
            </a:pPr>
            <a:r>
              <a:rPr lang="en-US" altLang="en-US" dirty="0">
                <a:latin typeface="Segoe UI" panose="020B0502040204020203" pitchFamily="34" charset="0"/>
                <a:cs typeface="Segoe UI" panose="020B0502040204020203" pitchFamily="34" charset="0"/>
              </a:rPr>
              <a:t>Guide your reader through your essay like a tour.</a:t>
            </a:r>
          </a:p>
          <a:p>
            <a:pPr algn="just">
              <a:buNone/>
            </a:pPr>
            <a:endParaRPr lang="en-GB" dirty="0"/>
          </a:p>
        </p:txBody>
      </p:sp>
      <p:sp>
        <p:nvSpPr>
          <p:cNvPr id="4" name="Footer Placeholder 3"/>
          <p:cNvSpPr>
            <a:spLocks noGrp="1"/>
          </p:cNvSpPr>
          <p:nvPr>
            <p:ph type="ftr" sz="quarter" idx="16"/>
          </p:nvPr>
        </p:nvSpPr>
        <p:spPr/>
        <p:txBody>
          <a:bodyPr/>
          <a:lstStyle/>
          <a:p>
            <a:r>
              <a:rPr lang="en-GB" smtClean="0"/>
              <a:t>Dr. Prashant Luthra/SSSIHL</a:t>
            </a:r>
            <a:endParaRPr lang="en-GB"/>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sz="quarter" idx="1"/>
          </p:nvPr>
        </p:nvSpPr>
        <p:spPr>
          <a:xfrm>
            <a:off x="685800" y="76200"/>
            <a:ext cx="7467600" cy="6169152"/>
          </a:xfrm>
        </p:spPr>
        <p:txBody>
          <a:bodyPr>
            <a:normAutofit fontScale="92500" lnSpcReduction="10000"/>
          </a:bodyPr>
          <a:lstStyle/>
          <a:p>
            <a:pPr marL="0" indent="0">
              <a:buNone/>
            </a:pPr>
            <a:endParaRPr lang="en-GB" dirty="0">
              <a:solidFill>
                <a:srgbClr val="FF0000"/>
              </a:solidFill>
            </a:endParaRPr>
          </a:p>
          <a:p>
            <a:pPr marL="0" indent="0">
              <a:buNone/>
            </a:pPr>
            <a:r>
              <a:rPr lang="en-GB" sz="4400" baseline="-25000" dirty="0" smtClean="0">
                <a:solidFill>
                  <a:srgbClr val="FF0000"/>
                </a:solidFill>
                <a:latin typeface="Trajan Pro" pitchFamily="2" charset="0"/>
              </a:rPr>
              <a:t> Clarity of thought </a:t>
            </a:r>
          </a:p>
          <a:p>
            <a:pPr>
              <a:buNone/>
            </a:pPr>
            <a:r>
              <a:rPr lang="en-GB" dirty="0" smtClean="0"/>
              <a:t>   </a:t>
            </a:r>
          </a:p>
          <a:p>
            <a:pPr marL="0" lvl="0" indent="0" eaLnBrk="0" fontAlgn="base" hangingPunct="0">
              <a:spcBef>
                <a:spcPct val="0"/>
              </a:spcBef>
              <a:spcAft>
                <a:spcPct val="0"/>
              </a:spcAft>
              <a:buClrTx/>
              <a:buSzTx/>
              <a:buNone/>
            </a:pPr>
            <a:r>
              <a:rPr lang="en-US" altLang="en-US" dirty="0" smtClean="0">
                <a:latin typeface="Segoe UI" panose="020B0502040204020203" pitchFamily="34" charset="0"/>
                <a:cs typeface="Segoe UI" panose="020B0502040204020203" pitchFamily="34" charset="0"/>
              </a:rPr>
              <a:t>The </a:t>
            </a:r>
            <a:r>
              <a:rPr lang="en-US" altLang="en-US" dirty="0">
                <a:latin typeface="Segoe UI" panose="020B0502040204020203" pitchFamily="34" charset="0"/>
                <a:cs typeface="Segoe UI" panose="020B0502040204020203" pitchFamily="34" charset="0"/>
              </a:rPr>
              <a:t>secret of clear writing is clear thinking</a:t>
            </a:r>
            <a:r>
              <a:rPr lang="en-US" altLang="en-US" dirty="0" smtClean="0">
                <a:latin typeface="Segoe UI" panose="020B0502040204020203" pitchFamily="34" charset="0"/>
                <a:cs typeface="Segoe UI" panose="020B0502040204020203" pitchFamily="34" charset="0"/>
              </a:rPr>
              <a:t>.</a:t>
            </a:r>
          </a:p>
          <a:p>
            <a:pPr marL="0" lvl="0" indent="0" eaLnBrk="0" fontAlgn="base" hangingPunct="0">
              <a:spcBef>
                <a:spcPct val="0"/>
              </a:spcBef>
              <a:spcAft>
                <a:spcPct val="0"/>
              </a:spcAft>
              <a:buClrTx/>
              <a:buSzTx/>
              <a:buNone/>
            </a:pPr>
            <a:endParaRPr lang="en-US" altLang="en-US" dirty="0">
              <a:latin typeface="Segoe UI" panose="020B0502040204020203" pitchFamily="34" charset="0"/>
              <a:cs typeface="Segoe UI" panose="020B0502040204020203" pitchFamily="34" charset="0"/>
            </a:endParaRPr>
          </a:p>
          <a:p>
            <a:pPr marL="0" lvl="0" indent="0" eaLnBrk="0" fontAlgn="base" hangingPunct="0">
              <a:spcBef>
                <a:spcPct val="0"/>
              </a:spcBef>
              <a:spcAft>
                <a:spcPct val="0"/>
              </a:spcAft>
              <a:buClrTx/>
              <a:buSzTx/>
              <a:buNone/>
            </a:pPr>
            <a:r>
              <a:rPr lang="en-US" altLang="en-US" b="1" dirty="0">
                <a:solidFill>
                  <a:srgbClr val="00B050"/>
                </a:solidFill>
                <a:latin typeface="Segoe UI" panose="020B0502040204020203" pitchFamily="34" charset="0"/>
                <a:cs typeface="Segoe UI" panose="020B0502040204020203" pitchFamily="34" charset="0"/>
              </a:rPr>
              <a:t>Key Points</a:t>
            </a:r>
            <a:r>
              <a:rPr lang="en-US" altLang="en-US" b="1" dirty="0" smtClean="0">
                <a:solidFill>
                  <a:srgbClr val="00B050"/>
                </a:solidFill>
                <a:latin typeface="Segoe UI" panose="020B0502040204020203" pitchFamily="34" charset="0"/>
                <a:cs typeface="Segoe UI" panose="020B0502040204020203" pitchFamily="34" charset="0"/>
              </a:rPr>
              <a:t>:</a:t>
            </a:r>
          </a:p>
          <a:p>
            <a:pPr marL="0" lvl="0" indent="0" eaLnBrk="0" fontAlgn="base" hangingPunct="0">
              <a:spcBef>
                <a:spcPct val="0"/>
              </a:spcBef>
              <a:spcAft>
                <a:spcPct val="0"/>
              </a:spcAft>
              <a:buClrTx/>
              <a:buSzTx/>
              <a:buFontTx/>
              <a:buChar char="•"/>
            </a:pPr>
            <a:endParaRPr lang="en-US" altLang="en-US" dirty="0">
              <a:latin typeface="Segoe UI" panose="020B0502040204020203" pitchFamily="34" charset="0"/>
              <a:cs typeface="Segoe UI" panose="020B0502040204020203" pitchFamily="34" charset="0"/>
            </a:endParaRPr>
          </a:p>
          <a:p>
            <a:pPr marL="0" lvl="0" indent="0" eaLnBrk="0" fontAlgn="base" hangingPunct="0">
              <a:spcBef>
                <a:spcPct val="0"/>
              </a:spcBef>
              <a:spcAft>
                <a:spcPct val="0"/>
              </a:spcAft>
              <a:buClrTx/>
              <a:buSzTx/>
              <a:buFontTx/>
              <a:buChar char="•"/>
            </a:pPr>
            <a:r>
              <a:rPr lang="en-US" altLang="en-US" dirty="0">
                <a:latin typeface="Segoe UI" panose="020B0502040204020203" pitchFamily="34" charset="0"/>
                <a:cs typeface="Segoe UI" panose="020B0502040204020203" pitchFamily="34" charset="0"/>
              </a:rPr>
              <a:t>Understand your material thoroughly</a:t>
            </a:r>
            <a:r>
              <a:rPr lang="en-US" altLang="en-US" dirty="0" smtClean="0">
                <a:latin typeface="Segoe UI" panose="020B0502040204020203" pitchFamily="34" charset="0"/>
                <a:cs typeface="Segoe UI" panose="020B0502040204020203" pitchFamily="34" charset="0"/>
              </a:rPr>
              <a:t>.</a:t>
            </a:r>
          </a:p>
          <a:p>
            <a:pPr marL="0" lvl="0" indent="0" eaLnBrk="0" fontAlgn="base" hangingPunct="0">
              <a:spcBef>
                <a:spcPct val="0"/>
              </a:spcBef>
              <a:spcAft>
                <a:spcPct val="0"/>
              </a:spcAft>
              <a:buClrTx/>
              <a:buSzTx/>
              <a:buFontTx/>
              <a:buChar char="•"/>
            </a:pPr>
            <a:endParaRPr lang="en-US" altLang="en-US" dirty="0">
              <a:latin typeface="Segoe UI" panose="020B0502040204020203" pitchFamily="34" charset="0"/>
              <a:cs typeface="Segoe UI" panose="020B0502040204020203" pitchFamily="34" charset="0"/>
            </a:endParaRPr>
          </a:p>
          <a:p>
            <a:pPr marL="0" lvl="0" indent="0" eaLnBrk="0" fontAlgn="base" hangingPunct="0">
              <a:spcBef>
                <a:spcPct val="0"/>
              </a:spcBef>
              <a:spcAft>
                <a:spcPct val="0"/>
              </a:spcAft>
              <a:buClrTx/>
              <a:buSzTx/>
              <a:buFontTx/>
              <a:buChar char="•"/>
            </a:pPr>
            <a:r>
              <a:rPr lang="en-US" altLang="en-US" dirty="0">
                <a:latin typeface="Segoe UI" panose="020B0502040204020203" pitchFamily="34" charset="0"/>
                <a:cs typeface="Segoe UI" panose="020B0502040204020203" pitchFamily="34" charset="0"/>
              </a:rPr>
              <a:t>Thoughts translate into words effortlessly</a:t>
            </a:r>
            <a:r>
              <a:rPr lang="en-US" altLang="en-US" dirty="0" smtClean="0">
                <a:latin typeface="Segoe UI" panose="020B0502040204020203" pitchFamily="34" charset="0"/>
                <a:cs typeface="Segoe UI" panose="020B0502040204020203" pitchFamily="34" charset="0"/>
              </a:rPr>
              <a:t>.</a:t>
            </a:r>
          </a:p>
          <a:p>
            <a:pPr marL="0" lvl="0" indent="0" eaLnBrk="0" fontAlgn="base" hangingPunct="0">
              <a:spcBef>
                <a:spcPct val="0"/>
              </a:spcBef>
              <a:spcAft>
                <a:spcPct val="0"/>
              </a:spcAft>
              <a:buClrTx/>
              <a:buSzTx/>
              <a:buFontTx/>
              <a:buChar char="•"/>
            </a:pPr>
            <a:endParaRPr lang="en-US" altLang="en-US" dirty="0">
              <a:latin typeface="Segoe UI" panose="020B0502040204020203" pitchFamily="34" charset="0"/>
              <a:cs typeface="Segoe UI" panose="020B0502040204020203" pitchFamily="34" charset="0"/>
            </a:endParaRPr>
          </a:p>
          <a:p>
            <a:pPr marL="0" lvl="0" indent="0" eaLnBrk="0" fontAlgn="base" hangingPunct="0">
              <a:spcBef>
                <a:spcPct val="0"/>
              </a:spcBef>
              <a:spcAft>
                <a:spcPct val="0"/>
              </a:spcAft>
              <a:buClrTx/>
              <a:buSzTx/>
              <a:buFontTx/>
              <a:buChar char="•"/>
            </a:pPr>
            <a:r>
              <a:rPr lang="en-US" altLang="en-US" dirty="0">
                <a:latin typeface="Segoe UI" panose="020B0502040204020203" pitchFamily="34" charset="0"/>
                <a:cs typeface="Segoe UI" panose="020B0502040204020203" pitchFamily="34" charset="0"/>
              </a:rPr>
              <a:t>Demonstrate ability to identify and argue issues logically</a:t>
            </a:r>
            <a:r>
              <a:rPr lang="en-US" altLang="en-US" dirty="0" smtClean="0">
                <a:latin typeface="Segoe UI" panose="020B0502040204020203" pitchFamily="34" charset="0"/>
                <a:cs typeface="Segoe UI" panose="020B0502040204020203" pitchFamily="34" charset="0"/>
              </a:rPr>
              <a:t>.</a:t>
            </a:r>
          </a:p>
          <a:p>
            <a:pPr marL="0" lvl="0" indent="0" eaLnBrk="0" fontAlgn="base" hangingPunct="0">
              <a:spcBef>
                <a:spcPct val="0"/>
              </a:spcBef>
              <a:spcAft>
                <a:spcPct val="0"/>
              </a:spcAft>
              <a:buClrTx/>
              <a:buSzTx/>
              <a:buFontTx/>
              <a:buChar char="•"/>
            </a:pPr>
            <a:endParaRPr lang="en-US" altLang="en-US" dirty="0">
              <a:latin typeface="Segoe UI" panose="020B0502040204020203" pitchFamily="34" charset="0"/>
              <a:cs typeface="Segoe UI" panose="020B0502040204020203" pitchFamily="34" charset="0"/>
            </a:endParaRPr>
          </a:p>
          <a:p>
            <a:pPr marL="0" lvl="0" indent="0" eaLnBrk="0" fontAlgn="base" hangingPunct="0">
              <a:spcBef>
                <a:spcPct val="0"/>
              </a:spcBef>
              <a:spcAft>
                <a:spcPct val="0"/>
              </a:spcAft>
              <a:buClrTx/>
              <a:buSzTx/>
              <a:buFontTx/>
              <a:buChar char="•"/>
            </a:pPr>
            <a:r>
              <a:rPr lang="en-US" altLang="en-US" dirty="0">
                <a:latin typeface="Segoe UI" panose="020B0502040204020203" pitchFamily="34" charset="0"/>
                <a:cs typeface="Segoe UI" panose="020B0502040204020203" pitchFamily="34" charset="0"/>
              </a:rPr>
              <a:t>Organize material into a coherent structure</a:t>
            </a:r>
            <a:r>
              <a:rPr lang="en-US" altLang="en-US" dirty="0" smtClean="0">
                <a:latin typeface="Segoe UI" panose="020B0502040204020203" pitchFamily="34" charset="0"/>
                <a:cs typeface="Segoe UI" panose="020B0502040204020203" pitchFamily="34" charset="0"/>
              </a:rPr>
              <a:t>.</a:t>
            </a:r>
          </a:p>
          <a:p>
            <a:pPr marL="0" lvl="0" indent="0" eaLnBrk="0" fontAlgn="base" hangingPunct="0">
              <a:spcBef>
                <a:spcPct val="0"/>
              </a:spcBef>
              <a:spcAft>
                <a:spcPct val="0"/>
              </a:spcAft>
              <a:buClrTx/>
              <a:buSzTx/>
              <a:buFontTx/>
              <a:buChar char="•"/>
            </a:pPr>
            <a:endParaRPr lang="en-US" altLang="en-US" dirty="0">
              <a:latin typeface="Segoe UI" panose="020B0502040204020203" pitchFamily="34" charset="0"/>
              <a:cs typeface="Segoe UI" panose="020B0502040204020203" pitchFamily="34" charset="0"/>
            </a:endParaRPr>
          </a:p>
          <a:p>
            <a:pPr marL="0" lvl="0" indent="0" eaLnBrk="0" fontAlgn="base" hangingPunct="0">
              <a:spcBef>
                <a:spcPct val="0"/>
              </a:spcBef>
              <a:spcAft>
                <a:spcPct val="0"/>
              </a:spcAft>
              <a:buClrTx/>
              <a:buSzTx/>
              <a:buFontTx/>
              <a:buChar char="•"/>
            </a:pPr>
            <a:r>
              <a:rPr lang="en-US" altLang="en-US" dirty="0">
                <a:latin typeface="Segoe UI" panose="020B0502040204020203" pitchFamily="34" charset="0"/>
                <a:cs typeface="Segoe UI" panose="020B0502040204020203" pitchFamily="34" charset="0"/>
              </a:rPr>
              <a:t>Make important distinctions and insights</a:t>
            </a:r>
            <a:r>
              <a:rPr lang="en-US" altLang="en-US" dirty="0" smtClean="0">
                <a:latin typeface="Segoe UI" panose="020B0502040204020203" pitchFamily="34" charset="0"/>
                <a:cs typeface="Segoe UI" panose="020B0502040204020203" pitchFamily="34" charset="0"/>
              </a:rPr>
              <a:t>.</a:t>
            </a:r>
          </a:p>
          <a:p>
            <a:pPr marL="0" lvl="0" indent="0" eaLnBrk="0" fontAlgn="base" hangingPunct="0">
              <a:spcBef>
                <a:spcPct val="0"/>
              </a:spcBef>
              <a:spcAft>
                <a:spcPct val="0"/>
              </a:spcAft>
              <a:buClrTx/>
              <a:buSzTx/>
              <a:buFontTx/>
              <a:buChar char="•"/>
            </a:pPr>
            <a:endParaRPr lang="en-US" altLang="en-US" dirty="0">
              <a:latin typeface="Segoe UI" panose="020B0502040204020203" pitchFamily="34" charset="0"/>
              <a:cs typeface="Segoe UI" panose="020B0502040204020203" pitchFamily="34" charset="0"/>
            </a:endParaRPr>
          </a:p>
          <a:p>
            <a:pPr marL="0" lvl="0" indent="0" eaLnBrk="0" fontAlgn="base" hangingPunct="0">
              <a:spcBef>
                <a:spcPct val="0"/>
              </a:spcBef>
              <a:spcAft>
                <a:spcPct val="0"/>
              </a:spcAft>
              <a:buClrTx/>
              <a:buSzTx/>
              <a:buFontTx/>
              <a:buChar char="•"/>
            </a:pPr>
            <a:r>
              <a:rPr lang="en-US" altLang="en-US" dirty="0">
                <a:latin typeface="Segoe UI" panose="020B0502040204020203" pitchFamily="34" charset="0"/>
                <a:cs typeface="Segoe UI" panose="020B0502040204020203" pitchFamily="34" charset="0"/>
              </a:rPr>
              <a:t>Train yourself to think specifically and effectively.</a:t>
            </a:r>
          </a:p>
          <a:p>
            <a:pPr>
              <a:buNone/>
            </a:pPr>
            <a:endParaRPr lang="en-GB" dirty="0">
              <a:latin typeface="Segoe UI" panose="020B0502040204020203" pitchFamily="34" charset="0"/>
              <a:cs typeface="Segoe UI" panose="020B0502040204020203" pitchFamily="34" charset="0"/>
            </a:endParaRPr>
          </a:p>
        </p:txBody>
      </p:sp>
      <p:sp>
        <p:nvSpPr>
          <p:cNvPr id="4" name="Footer Placeholder 3"/>
          <p:cNvSpPr>
            <a:spLocks noGrp="1"/>
          </p:cNvSpPr>
          <p:nvPr>
            <p:ph type="ftr" sz="quarter" idx="16"/>
          </p:nvPr>
        </p:nvSpPr>
        <p:spPr/>
        <p:txBody>
          <a:bodyPr/>
          <a:lstStyle/>
          <a:p>
            <a:r>
              <a:rPr lang="en-GB" smtClean="0"/>
              <a:t>Dr. Prashant Luthra/SSSIHL</a:t>
            </a:r>
            <a:endParaRPr lang="en-GB"/>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smtClean="0">
                <a:solidFill>
                  <a:srgbClr val="FF0000"/>
                </a:solidFill>
                <a:latin typeface="Trajan Pro" pitchFamily="2" charset="0"/>
              </a:rPr>
              <a:t>Style</a:t>
            </a:r>
            <a:endParaRPr lang="en-GB" sz="4400" dirty="0">
              <a:solidFill>
                <a:srgbClr val="FF0000"/>
              </a:solidFill>
              <a:latin typeface="Trajan Pro" pitchFamily="2" charset="0"/>
            </a:endParaRPr>
          </a:p>
        </p:txBody>
      </p:sp>
      <p:sp>
        <p:nvSpPr>
          <p:cNvPr id="3" name="Content Placeholder 2"/>
          <p:cNvSpPr>
            <a:spLocks noGrp="1"/>
          </p:cNvSpPr>
          <p:nvPr>
            <p:ph sz="quarter" idx="1"/>
          </p:nvPr>
        </p:nvSpPr>
        <p:spPr/>
        <p:txBody>
          <a:bodyPr/>
          <a:lstStyle/>
          <a:p>
            <a:pPr marL="0" lvl="0" indent="0" eaLnBrk="0" fontAlgn="base" hangingPunct="0">
              <a:spcBef>
                <a:spcPct val="0"/>
              </a:spcBef>
              <a:spcAft>
                <a:spcPct val="0"/>
              </a:spcAft>
              <a:buClrTx/>
              <a:buSzTx/>
              <a:buNone/>
            </a:pPr>
            <a:r>
              <a:rPr lang="en-US" altLang="en-US" dirty="0" smtClean="0">
                <a:latin typeface="Segoe UI" panose="020B0502040204020203" pitchFamily="34" charset="0"/>
                <a:cs typeface="Segoe UI" panose="020B0502040204020203" pitchFamily="34" charset="0"/>
              </a:rPr>
              <a:t>The </a:t>
            </a:r>
            <a:r>
              <a:rPr lang="en-US" altLang="en-US" dirty="0">
                <a:latin typeface="Segoe UI" panose="020B0502040204020203" pitchFamily="34" charset="0"/>
                <a:cs typeface="Segoe UI" panose="020B0502040204020203" pitchFamily="34" charset="0"/>
              </a:rPr>
              <a:t>style of an essay should be dignified and literary</a:t>
            </a:r>
            <a:r>
              <a:rPr lang="en-US" altLang="en-US" dirty="0" smtClean="0">
                <a:latin typeface="Segoe UI" panose="020B0502040204020203" pitchFamily="34" charset="0"/>
                <a:cs typeface="Segoe UI" panose="020B0502040204020203" pitchFamily="34" charset="0"/>
              </a:rPr>
              <a:t>.</a:t>
            </a:r>
          </a:p>
          <a:p>
            <a:pPr marL="0" lvl="0" indent="0" eaLnBrk="0" fontAlgn="base" hangingPunct="0">
              <a:spcBef>
                <a:spcPct val="0"/>
              </a:spcBef>
              <a:spcAft>
                <a:spcPct val="0"/>
              </a:spcAft>
              <a:buClrTx/>
              <a:buSzTx/>
              <a:buNone/>
            </a:pPr>
            <a:endParaRPr lang="en-US" altLang="en-US" dirty="0">
              <a:latin typeface="Segoe UI" panose="020B0502040204020203" pitchFamily="34" charset="0"/>
              <a:cs typeface="Segoe UI" panose="020B0502040204020203" pitchFamily="34" charset="0"/>
            </a:endParaRPr>
          </a:p>
          <a:p>
            <a:pPr marL="0" lvl="0" indent="0" eaLnBrk="0" fontAlgn="base" hangingPunct="0">
              <a:spcBef>
                <a:spcPct val="0"/>
              </a:spcBef>
              <a:spcAft>
                <a:spcPct val="0"/>
              </a:spcAft>
              <a:buClrTx/>
              <a:buSzTx/>
              <a:buNone/>
            </a:pPr>
            <a:r>
              <a:rPr lang="en-US" altLang="en-US" b="1" dirty="0">
                <a:solidFill>
                  <a:srgbClr val="00B050"/>
                </a:solidFill>
                <a:latin typeface="Segoe UI" panose="020B0502040204020203" pitchFamily="34" charset="0"/>
                <a:cs typeface="Segoe UI" panose="020B0502040204020203" pitchFamily="34" charset="0"/>
              </a:rPr>
              <a:t>Key Points</a:t>
            </a:r>
            <a:r>
              <a:rPr lang="en-US" altLang="en-US" b="1" dirty="0" smtClean="0">
                <a:solidFill>
                  <a:srgbClr val="00B050"/>
                </a:solidFill>
                <a:latin typeface="Segoe UI" panose="020B0502040204020203" pitchFamily="34" charset="0"/>
                <a:cs typeface="Segoe UI" panose="020B0502040204020203" pitchFamily="34" charset="0"/>
              </a:rPr>
              <a:t>:</a:t>
            </a:r>
          </a:p>
          <a:p>
            <a:pPr marL="0" lvl="0" indent="0" eaLnBrk="0" fontAlgn="base" hangingPunct="0">
              <a:spcBef>
                <a:spcPct val="0"/>
              </a:spcBef>
              <a:spcAft>
                <a:spcPct val="0"/>
              </a:spcAft>
              <a:buClrTx/>
              <a:buSzTx/>
              <a:buNone/>
            </a:pPr>
            <a:endParaRPr lang="en-US" altLang="en-US" dirty="0">
              <a:latin typeface="Segoe UI" panose="020B0502040204020203" pitchFamily="34" charset="0"/>
              <a:cs typeface="Segoe UI" panose="020B0502040204020203" pitchFamily="34" charset="0"/>
            </a:endParaRPr>
          </a:p>
          <a:p>
            <a:pPr marL="0" lvl="0" indent="0" eaLnBrk="0" fontAlgn="base" hangingPunct="0">
              <a:spcBef>
                <a:spcPct val="0"/>
              </a:spcBef>
              <a:spcAft>
                <a:spcPct val="0"/>
              </a:spcAft>
              <a:buClrTx/>
              <a:buSzTx/>
              <a:buFontTx/>
              <a:buChar char="•"/>
            </a:pPr>
            <a:r>
              <a:rPr lang="en-US" altLang="en-US" dirty="0">
                <a:latin typeface="Segoe UI" panose="020B0502040204020203" pitchFamily="34" charset="0"/>
                <a:cs typeface="Segoe UI" panose="020B0502040204020203" pitchFamily="34" charset="0"/>
              </a:rPr>
              <a:t>Avoid slang, colloquial terms, and casual constructions</a:t>
            </a:r>
            <a:r>
              <a:rPr lang="en-US" altLang="en-US" dirty="0" smtClean="0">
                <a:latin typeface="Segoe UI" panose="020B0502040204020203" pitchFamily="34" charset="0"/>
                <a:cs typeface="Segoe UI" panose="020B0502040204020203" pitchFamily="34" charset="0"/>
              </a:rPr>
              <a:t>.</a:t>
            </a:r>
          </a:p>
          <a:p>
            <a:pPr marL="0" lvl="0" indent="0" eaLnBrk="0" fontAlgn="base" hangingPunct="0">
              <a:spcBef>
                <a:spcPct val="0"/>
              </a:spcBef>
              <a:spcAft>
                <a:spcPct val="0"/>
              </a:spcAft>
              <a:buClrTx/>
              <a:buSzTx/>
              <a:buFontTx/>
              <a:buChar char="•"/>
            </a:pPr>
            <a:endParaRPr lang="en-US" altLang="en-US" dirty="0">
              <a:latin typeface="Segoe UI" panose="020B0502040204020203" pitchFamily="34" charset="0"/>
              <a:cs typeface="Segoe UI" panose="020B0502040204020203" pitchFamily="34" charset="0"/>
            </a:endParaRPr>
          </a:p>
          <a:p>
            <a:pPr marL="0" lvl="0" indent="0" eaLnBrk="0" fontAlgn="base" hangingPunct="0">
              <a:spcBef>
                <a:spcPct val="0"/>
              </a:spcBef>
              <a:spcAft>
                <a:spcPct val="0"/>
              </a:spcAft>
              <a:buClrTx/>
              <a:buSzTx/>
              <a:buFontTx/>
              <a:buChar char="•"/>
            </a:pPr>
            <a:r>
              <a:rPr lang="en-US" altLang="en-US" dirty="0">
                <a:latin typeface="Segoe UI" panose="020B0502040204020203" pitchFamily="34" charset="0"/>
                <a:cs typeface="Segoe UI" panose="020B0502040204020203" pitchFamily="34" charset="0"/>
              </a:rPr>
              <a:t>Use simple, direct, and natural language</a:t>
            </a:r>
            <a:r>
              <a:rPr lang="en-US" altLang="en-US" dirty="0" smtClean="0">
                <a:latin typeface="Segoe UI" panose="020B0502040204020203" pitchFamily="34" charset="0"/>
                <a:cs typeface="Segoe UI" panose="020B0502040204020203" pitchFamily="34" charset="0"/>
              </a:rPr>
              <a:t>.</a:t>
            </a:r>
          </a:p>
          <a:p>
            <a:pPr marL="0" lvl="0" indent="0" eaLnBrk="0" fontAlgn="base" hangingPunct="0">
              <a:spcBef>
                <a:spcPct val="0"/>
              </a:spcBef>
              <a:spcAft>
                <a:spcPct val="0"/>
              </a:spcAft>
              <a:buClrTx/>
              <a:buSzTx/>
              <a:buFontTx/>
              <a:buChar char="•"/>
            </a:pPr>
            <a:endParaRPr lang="en-US" altLang="en-US" dirty="0">
              <a:latin typeface="Segoe UI" panose="020B0502040204020203" pitchFamily="34" charset="0"/>
              <a:cs typeface="Segoe UI" panose="020B0502040204020203" pitchFamily="34" charset="0"/>
            </a:endParaRPr>
          </a:p>
          <a:p>
            <a:pPr marL="0" lvl="0" indent="0" eaLnBrk="0" fontAlgn="base" hangingPunct="0">
              <a:spcBef>
                <a:spcPct val="0"/>
              </a:spcBef>
              <a:spcAft>
                <a:spcPct val="0"/>
              </a:spcAft>
              <a:buClrTx/>
              <a:buSzTx/>
              <a:buFontTx/>
              <a:buChar char="•"/>
            </a:pPr>
            <a:r>
              <a:rPr lang="en-US" altLang="en-US" dirty="0">
                <a:latin typeface="Segoe UI" panose="020B0502040204020203" pitchFamily="34" charset="0"/>
                <a:cs typeface="Segoe UI" panose="020B0502040204020203" pitchFamily="34" charset="0"/>
              </a:rPr>
              <a:t>Aim for clarity, simplicity, and directness</a:t>
            </a:r>
            <a:r>
              <a:rPr lang="en-US" altLang="en-US" dirty="0" smtClean="0">
                <a:latin typeface="Segoe UI" panose="020B0502040204020203" pitchFamily="34" charset="0"/>
                <a:cs typeface="Segoe UI" panose="020B0502040204020203" pitchFamily="34" charset="0"/>
              </a:rPr>
              <a:t>.</a:t>
            </a:r>
          </a:p>
          <a:p>
            <a:pPr marL="0" lvl="0" indent="0" eaLnBrk="0" fontAlgn="base" hangingPunct="0">
              <a:spcBef>
                <a:spcPct val="0"/>
              </a:spcBef>
              <a:spcAft>
                <a:spcPct val="0"/>
              </a:spcAft>
              <a:buClrTx/>
              <a:buSzTx/>
              <a:buFontTx/>
              <a:buChar char="•"/>
            </a:pPr>
            <a:endParaRPr lang="en-US" altLang="en-US" dirty="0">
              <a:latin typeface="Segoe UI" panose="020B0502040204020203" pitchFamily="34" charset="0"/>
              <a:cs typeface="Segoe UI" panose="020B0502040204020203" pitchFamily="34" charset="0"/>
            </a:endParaRPr>
          </a:p>
          <a:p>
            <a:pPr marL="0" lvl="0" indent="0" eaLnBrk="0" fontAlgn="base" hangingPunct="0">
              <a:spcBef>
                <a:spcPct val="0"/>
              </a:spcBef>
              <a:spcAft>
                <a:spcPct val="0"/>
              </a:spcAft>
              <a:buClrTx/>
              <a:buSzTx/>
              <a:buFontTx/>
              <a:buChar char="•"/>
            </a:pPr>
            <a:r>
              <a:rPr lang="en-US" altLang="en-US" dirty="0">
                <a:latin typeface="Segoe UI" panose="020B0502040204020203" pitchFamily="34" charset="0"/>
                <a:cs typeface="Segoe UI" panose="020B0502040204020203" pitchFamily="34" charset="0"/>
              </a:rPr>
              <a:t>Ensure your style is a model of good writing practices.</a:t>
            </a:r>
          </a:p>
          <a:p>
            <a:pPr>
              <a:buNone/>
            </a:pPr>
            <a:endParaRPr lang="en-GB" dirty="0"/>
          </a:p>
        </p:txBody>
      </p:sp>
      <p:sp>
        <p:nvSpPr>
          <p:cNvPr id="4" name="Footer Placeholder 3"/>
          <p:cNvSpPr>
            <a:spLocks noGrp="1"/>
          </p:cNvSpPr>
          <p:nvPr>
            <p:ph type="ftr" sz="quarter" idx="16"/>
          </p:nvPr>
        </p:nvSpPr>
        <p:spPr/>
        <p:txBody>
          <a:bodyPr/>
          <a:lstStyle/>
          <a:p>
            <a:r>
              <a:rPr lang="en-GB" smtClean="0"/>
              <a:t>Dr. Prashant Luthra/SSSIHL</a:t>
            </a:r>
            <a:endParaRPr lang="en-GB"/>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sz="quarter" idx="1"/>
          </p:nvPr>
        </p:nvSpPr>
        <p:spPr>
          <a:xfrm>
            <a:off x="457200" y="304800"/>
            <a:ext cx="7467600" cy="6169152"/>
          </a:xfrm>
        </p:spPr>
        <p:txBody>
          <a:bodyPr/>
          <a:lstStyle/>
          <a:p>
            <a:pPr>
              <a:buNone/>
            </a:pPr>
            <a:r>
              <a:rPr lang="en-GB" sz="4400" dirty="0" smtClean="0">
                <a:solidFill>
                  <a:srgbClr val="FF0000"/>
                </a:solidFill>
              </a:rPr>
              <a:t> </a:t>
            </a:r>
            <a:r>
              <a:rPr lang="en-GB" sz="2800" dirty="0" smtClean="0">
                <a:solidFill>
                  <a:srgbClr val="FF0000"/>
                </a:solidFill>
                <a:latin typeface="Trajan Pro" pitchFamily="2" charset="0"/>
              </a:rPr>
              <a:t>Good presentation </a:t>
            </a:r>
          </a:p>
          <a:p>
            <a:pPr>
              <a:buNone/>
            </a:pPr>
            <a:endParaRPr lang="en-GB" sz="2800" dirty="0" smtClean="0">
              <a:solidFill>
                <a:srgbClr val="FF0000"/>
              </a:solidFill>
              <a:latin typeface="Trajan Pro" pitchFamily="2" charset="0"/>
            </a:endParaRPr>
          </a:p>
          <a:p>
            <a:pPr marL="0" lvl="0" indent="0" eaLnBrk="0" fontAlgn="base" hangingPunct="0">
              <a:spcBef>
                <a:spcPct val="0"/>
              </a:spcBef>
              <a:spcAft>
                <a:spcPct val="0"/>
              </a:spcAft>
              <a:buClrTx/>
              <a:buSzTx/>
              <a:buNone/>
            </a:pPr>
            <a:r>
              <a:rPr lang="en-US" altLang="en-US" dirty="0" smtClean="0">
                <a:latin typeface="Segoe UI" panose="020B0502040204020203" pitchFamily="34" charset="0"/>
                <a:cs typeface="Segoe UI" panose="020B0502040204020203" pitchFamily="34" charset="0"/>
              </a:rPr>
              <a:t>Ensure </a:t>
            </a:r>
            <a:r>
              <a:rPr lang="en-US" altLang="en-US" dirty="0">
                <a:latin typeface="Segoe UI" panose="020B0502040204020203" pitchFamily="34" charset="0"/>
                <a:cs typeface="Segoe UI" panose="020B0502040204020203" pitchFamily="34" charset="0"/>
              </a:rPr>
              <a:t>your essay is neatly written and presented</a:t>
            </a:r>
            <a:r>
              <a:rPr lang="en-US" altLang="en-US" dirty="0" smtClean="0">
                <a:latin typeface="Segoe UI" panose="020B0502040204020203" pitchFamily="34" charset="0"/>
                <a:cs typeface="Segoe UI" panose="020B0502040204020203" pitchFamily="34" charset="0"/>
              </a:rPr>
              <a:t>.</a:t>
            </a:r>
          </a:p>
          <a:p>
            <a:pPr marL="0" lvl="0" indent="0" eaLnBrk="0" fontAlgn="base" hangingPunct="0">
              <a:spcBef>
                <a:spcPct val="0"/>
              </a:spcBef>
              <a:spcAft>
                <a:spcPct val="0"/>
              </a:spcAft>
              <a:buClrTx/>
              <a:buSzTx/>
              <a:buFontTx/>
              <a:buChar char="•"/>
            </a:pPr>
            <a:endParaRPr lang="en-US" altLang="en-US" dirty="0">
              <a:latin typeface="Segoe UI" panose="020B0502040204020203" pitchFamily="34" charset="0"/>
              <a:cs typeface="Segoe UI" panose="020B0502040204020203" pitchFamily="34" charset="0"/>
            </a:endParaRPr>
          </a:p>
          <a:p>
            <a:pPr marL="0" lvl="0" indent="0" eaLnBrk="0" fontAlgn="base" hangingPunct="0">
              <a:spcBef>
                <a:spcPct val="0"/>
              </a:spcBef>
              <a:spcAft>
                <a:spcPct val="0"/>
              </a:spcAft>
              <a:buClrTx/>
              <a:buSzTx/>
              <a:buNone/>
            </a:pPr>
            <a:r>
              <a:rPr lang="en-US" altLang="en-US" b="1" dirty="0">
                <a:solidFill>
                  <a:srgbClr val="00B050"/>
                </a:solidFill>
                <a:latin typeface="Segoe UI" panose="020B0502040204020203" pitchFamily="34" charset="0"/>
                <a:cs typeface="Segoe UI" panose="020B0502040204020203" pitchFamily="34" charset="0"/>
              </a:rPr>
              <a:t>Key Points</a:t>
            </a:r>
            <a:r>
              <a:rPr lang="en-US" altLang="en-US" b="1" dirty="0" smtClean="0">
                <a:solidFill>
                  <a:srgbClr val="00B050"/>
                </a:solidFill>
                <a:latin typeface="Segoe UI" panose="020B0502040204020203" pitchFamily="34" charset="0"/>
                <a:cs typeface="Segoe UI" panose="020B0502040204020203" pitchFamily="34" charset="0"/>
              </a:rPr>
              <a:t>:</a:t>
            </a:r>
          </a:p>
          <a:p>
            <a:pPr marL="0" lvl="0" indent="0" eaLnBrk="0" fontAlgn="base" hangingPunct="0">
              <a:spcBef>
                <a:spcPct val="0"/>
              </a:spcBef>
              <a:spcAft>
                <a:spcPct val="0"/>
              </a:spcAft>
              <a:buClrTx/>
              <a:buSzTx/>
              <a:buNone/>
            </a:pPr>
            <a:endParaRPr lang="en-US" altLang="en-US" dirty="0">
              <a:latin typeface="Segoe UI" panose="020B0502040204020203" pitchFamily="34" charset="0"/>
              <a:cs typeface="Segoe UI" panose="020B0502040204020203" pitchFamily="34" charset="0"/>
            </a:endParaRPr>
          </a:p>
          <a:p>
            <a:pPr marL="0" lvl="0" indent="0" eaLnBrk="0" fontAlgn="base" hangingPunct="0">
              <a:spcBef>
                <a:spcPct val="0"/>
              </a:spcBef>
              <a:spcAft>
                <a:spcPct val="0"/>
              </a:spcAft>
              <a:buClrTx/>
              <a:buSzTx/>
              <a:buFontTx/>
              <a:buChar char="•"/>
            </a:pPr>
            <a:r>
              <a:rPr lang="en-US" altLang="en-US" dirty="0">
                <a:latin typeface="Segoe UI" panose="020B0502040204020203" pitchFamily="34" charset="0"/>
                <a:cs typeface="Segoe UI" panose="020B0502040204020203" pitchFamily="34" charset="0"/>
              </a:rPr>
              <a:t>Avoid drafts with frequent corrections and cross-outs</a:t>
            </a:r>
            <a:r>
              <a:rPr lang="en-US" altLang="en-US" dirty="0" smtClean="0">
                <a:latin typeface="Segoe UI" panose="020B0502040204020203" pitchFamily="34" charset="0"/>
                <a:cs typeface="Segoe UI" panose="020B0502040204020203" pitchFamily="34" charset="0"/>
              </a:rPr>
              <a:t>.</a:t>
            </a:r>
          </a:p>
          <a:p>
            <a:pPr marL="0" lvl="0" indent="0" eaLnBrk="0" fontAlgn="base" hangingPunct="0">
              <a:spcBef>
                <a:spcPct val="0"/>
              </a:spcBef>
              <a:spcAft>
                <a:spcPct val="0"/>
              </a:spcAft>
              <a:buClrTx/>
              <a:buSzTx/>
              <a:buFontTx/>
              <a:buChar char="•"/>
            </a:pPr>
            <a:endParaRPr lang="en-US" altLang="en-US" dirty="0">
              <a:latin typeface="Segoe UI" panose="020B0502040204020203" pitchFamily="34" charset="0"/>
              <a:cs typeface="Segoe UI" panose="020B0502040204020203" pitchFamily="34" charset="0"/>
            </a:endParaRPr>
          </a:p>
          <a:p>
            <a:pPr marL="0" lvl="0" indent="0" eaLnBrk="0" fontAlgn="base" hangingPunct="0">
              <a:spcBef>
                <a:spcPct val="0"/>
              </a:spcBef>
              <a:spcAft>
                <a:spcPct val="0"/>
              </a:spcAft>
              <a:buClrTx/>
              <a:buSzTx/>
              <a:buFontTx/>
              <a:buChar char="•"/>
            </a:pPr>
            <a:r>
              <a:rPr lang="en-US" altLang="en-US" dirty="0">
                <a:latin typeface="Segoe UI" panose="020B0502040204020203" pitchFamily="34" charset="0"/>
                <a:cs typeface="Segoe UI" panose="020B0502040204020203" pitchFamily="34" charset="0"/>
              </a:rPr>
              <a:t>Typing essays is recommended for clarity</a:t>
            </a:r>
            <a:r>
              <a:rPr lang="en-US" altLang="en-US" dirty="0" smtClean="0">
                <a:latin typeface="Segoe UI" panose="020B0502040204020203" pitchFamily="34" charset="0"/>
                <a:cs typeface="Segoe UI" panose="020B0502040204020203" pitchFamily="34" charset="0"/>
              </a:rPr>
              <a:t>.</a:t>
            </a:r>
          </a:p>
          <a:p>
            <a:pPr marL="0" lvl="0" indent="0" eaLnBrk="0" fontAlgn="base" hangingPunct="0">
              <a:spcBef>
                <a:spcPct val="0"/>
              </a:spcBef>
              <a:spcAft>
                <a:spcPct val="0"/>
              </a:spcAft>
              <a:buClrTx/>
              <a:buSzTx/>
              <a:buFontTx/>
              <a:buChar char="•"/>
            </a:pPr>
            <a:endParaRPr lang="en-US" altLang="en-US" dirty="0">
              <a:latin typeface="Segoe UI" panose="020B0502040204020203" pitchFamily="34" charset="0"/>
              <a:cs typeface="Segoe UI" panose="020B0502040204020203" pitchFamily="34" charset="0"/>
            </a:endParaRPr>
          </a:p>
          <a:p>
            <a:pPr marL="0" lvl="0" indent="0" eaLnBrk="0" fontAlgn="base" hangingPunct="0">
              <a:spcBef>
                <a:spcPct val="0"/>
              </a:spcBef>
              <a:spcAft>
                <a:spcPct val="0"/>
              </a:spcAft>
              <a:buClrTx/>
              <a:buSzTx/>
              <a:buFontTx/>
              <a:buChar char="•"/>
            </a:pPr>
            <a:r>
              <a:rPr lang="en-US" altLang="en-US" dirty="0">
                <a:latin typeface="Segoe UI" panose="020B0502040204020203" pitchFamily="34" charset="0"/>
                <a:cs typeface="Segoe UI" panose="020B0502040204020203" pitchFamily="34" charset="0"/>
              </a:rPr>
              <a:t>Neat presentation aids comprehension</a:t>
            </a:r>
            <a:r>
              <a:rPr lang="en-US" altLang="en-US" dirty="0" smtClean="0">
                <a:latin typeface="Segoe UI" panose="020B0502040204020203" pitchFamily="34" charset="0"/>
                <a:cs typeface="Segoe UI" panose="020B0502040204020203" pitchFamily="34" charset="0"/>
              </a:rPr>
              <a:t>.</a:t>
            </a:r>
          </a:p>
          <a:p>
            <a:pPr marL="0" lvl="0" indent="0" eaLnBrk="0" fontAlgn="base" hangingPunct="0">
              <a:spcBef>
                <a:spcPct val="0"/>
              </a:spcBef>
              <a:spcAft>
                <a:spcPct val="0"/>
              </a:spcAft>
              <a:buClrTx/>
              <a:buSzTx/>
              <a:buFontTx/>
              <a:buChar char="•"/>
            </a:pPr>
            <a:endParaRPr lang="en-US" altLang="en-US" dirty="0">
              <a:latin typeface="Segoe UI" panose="020B0502040204020203" pitchFamily="34" charset="0"/>
              <a:cs typeface="Segoe UI" panose="020B0502040204020203" pitchFamily="34" charset="0"/>
            </a:endParaRPr>
          </a:p>
          <a:p>
            <a:pPr marL="0" lvl="0" indent="0" eaLnBrk="0" fontAlgn="base" hangingPunct="0">
              <a:spcBef>
                <a:spcPct val="0"/>
              </a:spcBef>
              <a:spcAft>
                <a:spcPct val="0"/>
              </a:spcAft>
              <a:buClrTx/>
              <a:buSzTx/>
              <a:buFontTx/>
              <a:buChar char="•"/>
            </a:pPr>
            <a:r>
              <a:rPr lang="en-US" altLang="en-US" dirty="0">
                <a:latin typeface="Segoe UI" panose="020B0502040204020203" pitchFamily="34" charset="0"/>
                <a:cs typeface="Segoe UI" panose="020B0502040204020203" pitchFamily="34" charset="0"/>
              </a:rPr>
              <a:t>A well-presented essay makes a positive impression.</a:t>
            </a:r>
          </a:p>
          <a:p>
            <a:pPr algn="just">
              <a:buNone/>
            </a:pPr>
            <a:endParaRPr lang="en-GB" dirty="0"/>
          </a:p>
        </p:txBody>
      </p:sp>
      <p:sp>
        <p:nvSpPr>
          <p:cNvPr id="4" name="Footer Placeholder 3"/>
          <p:cNvSpPr>
            <a:spLocks noGrp="1"/>
          </p:cNvSpPr>
          <p:nvPr>
            <p:ph type="ftr" sz="quarter" idx="16"/>
          </p:nvPr>
        </p:nvSpPr>
        <p:spPr/>
        <p:txBody>
          <a:bodyPr/>
          <a:lstStyle/>
          <a:p>
            <a:r>
              <a:rPr lang="en-GB" smtClean="0"/>
              <a:t>Dr. Prashant Luthra/SSSIHL</a:t>
            </a:r>
            <a:endParaRPr lang="en-GB"/>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sz="quarter" idx="1"/>
          </p:nvPr>
        </p:nvSpPr>
        <p:spPr>
          <a:xfrm>
            <a:off x="457200" y="304800"/>
            <a:ext cx="7467600" cy="6169152"/>
          </a:xfrm>
        </p:spPr>
        <p:txBody>
          <a:bodyPr>
            <a:normAutofit fontScale="92500" lnSpcReduction="10000"/>
          </a:bodyPr>
          <a:lstStyle/>
          <a:p>
            <a:pPr>
              <a:buNone/>
            </a:pPr>
            <a:r>
              <a:rPr lang="en-GB" dirty="0" smtClean="0">
                <a:solidFill>
                  <a:srgbClr val="FF0000"/>
                </a:solidFill>
              </a:rPr>
              <a:t>  </a:t>
            </a:r>
          </a:p>
          <a:p>
            <a:pPr>
              <a:buNone/>
            </a:pPr>
            <a:r>
              <a:rPr lang="en-GB" sz="2800" dirty="0" smtClean="0">
                <a:solidFill>
                  <a:srgbClr val="FF0000"/>
                </a:solidFill>
                <a:latin typeface="Trajan Pro" pitchFamily="2" charset="0"/>
              </a:rPr>
              <a:t>Demonstration of originality of thought</a:t>
            </a:r>
          </a:p>
          <a:p>
            <a:pPr>
              <a:buNone/>
            </a:pPr>
            <a:r>
              <a:rPr lang="en-GB" dirty="0" smtClean="0">
                <a:solidFill>
                  <a:srgbClr val="FF0000"/>
                </a:solidFill>
              </a:rPr>
              <a:t> </a:t>
            </a:r>
          </a:p>
          <a:p>
            <a:pPr marL="0" lvl="0" indent="0" eaLnBrk="0" fontAlgn="base" hangingPunct="0">
              <a:spcBef>
                <a:spcPct val="0"/>
              </a:spcBef>
              <a:spcAft>
                <a:spcPct val="0"/>
              </a:spcAft>
              <a:buClrTx/>
              <a:buSzTx/>
              <a:buNone/>
            </a:pPr>
            <a:r>
              <a:rPr lang="en-US" altLang="en-US" dirty="0" smtClean="0">
                <a:latin typeface="Segoe UI" panose="020B0502040204020203" pitchFamily="34" charset="0"/>
                <a:cs typeface="Segoe UI" panose="020B0502040204020203" pitchFamily="34" charset="0"/>
              </a:rPr>
              <a:t>High </a:t>
            </a:r>
            <a:r>
              <a:rPr lang="en-US" altLang="en-US" dirty="0">
                <a:latin typeface="Segoe UI" panose="020B0502040204020203" pitchFamily="34" charset="0"/>
                <a:cs typeface="Segoe UI" panose="020B0502040204020203" pitchFamily="34" charset="0"/>
              </a:rPr>
              <a:t>marks are given for originality and imaginative approaches</a:t>
            </a:r>
            <a:r>
              <a:rPr lang="en-US" altLang="en-US" dirty="0" smtClean="0">
                <a:latin typeface="Segoe UI" panose="020B0502040204020203" pitchFamily="34" charset="0"/>
                <a:cs typeface="Segoe UI" panose="020B0502040204020203" pitchFamily="34" charset="0"/>
              </a:rPr>
              <a:t>.</a:t>
            </a:r>
          </a:p>
          <a:p>
            <a:pPr marL="0" lvl="0" indent="0" eaLnBrk="0" fontAlgn="base" hangingPunct="0">
              <a:spcBef>
                <a:spcPct val="0"/>
              </a:spcBef>
              <a:spcAft>
                <a:spcPct val="0"/>
              </a:spcAft>
              <a:buClrTx/>
              <a:buSzTx/>
              <a:buNone/>
            </a:pPr>
            <a:endParaRPr lang="en-US" altLang="en-US" dirty="0">
              <a:latin typeface="Segoe UI" panose="020B0502040204020203" pitchFamily="34" charset="0"/>
              <a:cs typeface="Segoe UI" panose="020B0502040204020203" pitchFamily="34" charset="0"/>
            </a:endParaRPr>
          </a:p>
          <a:p>
            <a:pPr marL="0" lvl="0" indent="0" eaLnBrk="0" fontAlgn="base" hangingPunct="0">
              <a:spcBef>
                <a:spcPct val="0"/>
              </a:spcBef>
              <a:spcAft>
                <a:spcPct val="0"/>
              </a:spcAft>
              <a:buClrTx/>
              <a:buSzTx/>
              <a:buNone/>
            </a:pPr>
            <a:r>
              <a:rPr lang="en-US" altLang="en-US" b="1" dirty="0">
                <a:solidFill>
                  <a:srgbClr val="00B050"/>
                </a:solidFill>
                <a:latin typeface="Segoe UI" panose="020B0502040204020203" pitchFamily="34" charset="0"/>
                <a:cs typeface="Segoe UI" panose="020B0502040204020203" pitchFamily="34" charset="0"/>
              </a:rPr>
              <a:t>Key Points</a:t>
            </a:r>
            <a:r>
              <a:rPr lang="en-US" altLang="en-US" b="1" dirty="0" smtClean="0">
                <a:solidFill>
                  <a:srgbClr val="00B050"/>
                </a:solidFill>
                <a:latin typeface="Segoe UI" panose="020B0502040204020203" pitchFamily="34" charset="0"/>
                <a:cs typeface="Segoe UI" panose="020B0502040204020203" pitchFamily="34" charset="0"/>
              </a:rPr>
              <a:t>:</a:t>
            </a:r>
          </a:p>
          <a:p>
            <a:pPr marL="0" lvl="0" indent="0" eaLnBrk="0" fontAlgn="base" hangingPunct="0">
              <a:spcBef>
                <a:spcPct val="0"/>
              </a:spcBef>
              <a:spcAft>
                <a:spcPct val="0"/>
              </a:spcAft>
              <a:buClrTx/>
              <a:buSzTx/>
              <a:buFontTx/>
              <a:buChar char="•"/>
            </a:pPr>
            <a:endParaRPr lang="en-US" altLang="en-US" dirty="0">
              <a:latin typeface="Segoe UI" panose="020B0502040204020203" pitchFamily="34" charset="0"/>
              <a:cs typeface="Segoe UI" panose="020B0502040204020203" pitchFamily="34" charset="0"/>
            </a:endParaRPr>
          </a:p>
          <a:p>
            <a:pPr marL="0" lvl="0" indent="0" eaLnBrk="0" fontAlgn="base" hangingPunct="0">
              <a:spcBef>
                <a:spcPct val="0"/>
              </a:spcBef>
              <a:spcAft>
                <a:spcPct val="0"/>
              </a:spcAft>
              <a:buClrTx/>
              <a:buSzTx/>
              <a:buFontTx/>
              <a:buChar char="•"/>
            </a:pPr>
            <a:r>
              <a:rPr lang="en-US" altLang="en-US" dirty="0">
                <a:latin typeface="Segoe UI" panose="020B0502040204020203" pitchFamily="34" charset="0"/>
                <a:cs typeface="Segoe UI" panose="020B0502040204020203" pitchFamily="34" charset="0"/>
              </a:rPr>
              <a:t>Display original ideas or unusual approaches</a:t>
            </a:r>
            <a:r>
              <a:rPr lang="en-US" altLang="en-US" dirty="0" smtClean="0">
                <a:latin typeface="Segoe UI" panose="020B0502040204020203" pitchFamily="34" charset="0"/>
                <a:cs typeface="Segoe UI" panose="020B0502040204020203" pitchFamily="34" charset="0"/>
              </a:rPr>
              <a:t>.</a:t>
            </a:r>
          </a:p>
          <a:p>
            <a:pPr marL="0" lvl="0" indent="0" eaLnBrk="0" fontAlgn="base" hangingPunct="0">
              <a:spcBef>
                <a:spcPct val="0"/>
              </a:spcBef>
              <a:spcAft>
                <a:spcPct val="0"/>
              </a:spcAft>
              <a:buClrTx/>
              <a:buSzTx/>
              <a:buFontTx/>
              <a:buChar char="•"/>
            </a:pPr>
            <a:endParaRPr lang="en-US" altLang="en-US" dirty="0">
              <a:latin typeface="Segoe UI" panose="020B0502040204020203" pitchFamily="34" charset="0"/>
              <a:cs typeface="Segoe UI" panose="020B0502040204020203" pitchFamily="34" charset="0"/>
            </a:endParaRPr>
          </a:p>
          <a:p>
            <a:pPr marL="0" lvl="0" indent="0" eaLnBrk="0" fontAlgn="base" hangingPunct="0">
              <a:spcBef>
                <a:spcPct val="0"/>
              </a:spcBef>
              <a:spcAft>
                <a:spcPct val="0"/>
              </a:spcAft>
              <a:buClrTx/>
              <a:buSzTx/>
              <a:buFontTx/>
              <a:buChar char="•"/>
            </a:pPr>
            <a:r>
              <a:rPr lang="en-US" altLang="en-US" dirty="0">
                <a:latin typeface="Segoe UI" panose="020B0502040204020203" pitchFamily="34" charset="0"/>
                <a:cs typeface="Segoe UI" panose="020B0502040204020203" pitchFamily="34" charset="0"/>
              </a:rPr>
              <a:t>Fresh and exciting essays stand out</a:t>
            </a:r>
            <a:r>
              <a:rPr lang="en-US" altLang="en-US" dirty="0" smtClean="0">
                <a:latin typeface="Segoe UI" panose="020B0502040204020203" pitchFamily="34" charset="0"/>
                <a:cs typeface="Segoe UI" panose="020B0502040204020203" pitchFamily="34" charset="0"/>
              </a:rPr>
              <a:t>.</a:t>
            </a:r>
          </a:p>
          <a:p>
            <a:pPr marL="0" lvl="0" indent="0" eaLnBrk="0" fontAlgn="base" hangingPunct="0">
              <a:spcBef>
                <a:spcPct val="0"/>
              </a:spcBef>
              <a:spcAft>
                <a:spcPct val="0"/>
              </a:spcAft>
              <a:buClrTx/>
              <a:buSzTx/>
              <a:buFontTx/>
              <a:buChar char="•"/>
            </a:pPr>
            <a:endParaRPr lang="en-US" altLang="en-US" dirty="0">
              <a:latin typeface="Segoe UI" panose="020B0502040204020203" pitchFamily="34" charset="0"/>
              <a:cs typeface="Segoe UI" panose="020B0502040204020203" pitchFamily="34" charset="0"/>
            </a:endParaRPr>
          </a:p>
          <a:p>
            <a:pPr marL="0" lvl="0" indent="0" eaLnBrk="0" fontAlgn="base" hangingPunct="0">
              <a:spcBef>
                <a:spcPct val="0"/>
              </a:spcBef>
              <a:spcAft>
                <a:spcPct val="0"/>
              </a:spcAft>
              <a:buClrTx/>
              <a:buSzTx/>
              <a:buFontTx/>
              <a:buChar char="•"/>
            </a:pPr>
            <a:r>
              <a:rPr lang="en-US" altLang="en-US" dirty="0">
                <a:latin typeface="Segoe UI" panose="020B0502040204020203" pitchFamily="34" charset="0"/>
                <a:cs typeface="Segoe UI" panose="020B0502040204020203" pitchFamily="34" charset="0"/>
              </a:rPr>
              <a:t>Avoid being different just for the sake of it</a:t>
            </a:r>
            <a:r>
              <a:rPr lang="en-US" altLang="en-US" dirty="0" smtClean="0">
                <a:latin typeface="Segoe UI" panose="020B0502040204020203" pitchFamily="34" charset="0"/>
                <a:cs typeface="Segoe UI" panose="020B0502040204020203" pitchFamily="34" charset="0"/>
              </a:rPr>
              <a:t>.</a:t>
            </a:r>
          </a:p>
          <a:p>
            <a:pPr marL="0" lvl="0" indent="0" eaLnBrk="0" fontAlgn="base" hangingPunct="0">
              <a:spcBef>
                <a:spcPct val="0"/>
              </a:spcBef>
              <a:spcAft>
                <a:spcPct val="0"/>
              </a:spcAft>
              <a:buClrTx/>
              <a:buSzTx/>
              <a:buFontTx/>
              <a:buChar char="•"/>
            </a:pPr>
            <a:endParaRPr lang="en-US" altLang="en-US" dirty="0">
              <a:latin typeface="Segoe UI" panose="020B0502040204020203" pitchFamily="34" charset="0"/>
              <a:cs typeface="Segoe UI" panose="020B0502040204020203" pitchFamily="34" charset="0"/>
            </a:endParaRPr>
          </a:p>
          <a:p>
            <a:pPr marL="0" lvl="0" indent="0" eaLnBrk="0" fontAlgn="base" hangingPunct="0">
              <a:spcBef>
                <a:spcPct val="0"/>
              </a:spcBef>
              <a:spcAft>
                <a:spcPct val="0"/>
              </a:spcAft>
              <a:buClrTx/>
              <a:buSzTx/>
              <a:buFontTx/>
              <a:buChar char="•"/>
            </a:pPr>
            <a:r>
              <a:rPr lang="en-US" altLang="en-US" dirty="0">
                <a:latin typeface="Segoe UI" panose="020B0502040204020203" pitchFamily="34" charset="0"/>
                <a:cs typeface="Segoe UI" panose="020B0502040204020203" pitchFamily="34" charset="0"/>
              </a:rPr>
              <a:t>Authentic originality is hard but valuable</a:t>
            </a:r>
            <a:r>
              <a:rPr lang="en-US" altLang="en-US" dirty="0" smtClean="0">
                <a:latin typeface="Segoe UI" panose="020B0502040204020203" pitchFamily="34" charset="0"/>
                <a:cs typeface="Segoe UI" panose="020B0502040204020203" pitchFamily="34" charset="0"/>
              </a:rPr>
              <a:t>.</a:t>
            </a:r>
          </a:p>
          <a:p>
            <a:pPr marL="0" lvl="0" indent="0" eaLnBrk="0" fontAlgn="base" hangingPunct="0">
              <a:spcBef>
                <a:spcPct val="0"/>
              </a:spcBef>
              <a:spcAft>
                <a:spcPct val="0"/>
              </a:spcAft>
              <a:buClrTx/>
              <a:buSzTx/>
              <a:buFontTx/>
              <a:buChar char="•"/>
            </a:pPr>
            <a:endParaRPr lang="en-US" altLang="en-US" dirty="0">
              <a:latin typeface="Segoe UI" panose="020B0502040204020203" pitchFamily="34" charset="0"/>
              <a:cs typeface="Segoe UI" panose="020B0502040204020203" pitchFamily="34" charset="0"/>
            </a:endParaRPr>
          </a:p>
          <a:p>
            <a:pPr marL="0" lvl="0" indent="0" eaLnBrk="0" fontAlgn="base" hangingPunct="0">
              <a:spcBef>
                <a:spcPct val="0"/>
              </a:spcBef>
              <a:spcAft>
                <a:spcPct val="0"/>
              </a:spcAft>
              <a:buClrTx/>
              <a:buSzTx/>
              <a:buFontTx/>
              <a:buChar char="•"/>
            </a:pPr>
            <a:r>
              <a:rPr lang="en-US" altLang="en-US" dirty="0">
                <a:latin typeface="Segoe UI" panose="020B0502040204020203" pitchFamily="34" charset="0"/>
                <a:cs typeface="Segoe UI" panose="020B0502040204020203" pitchFamily="34" charset="0"/>
              </a:rPr>
              <a:t>Don't pressure yourself into forced originality.</a:t>
            </a:r>
          </a:p>
          <a:p>
            <a:pPr algn="just">
              <a:buNone/>
            </a:pPr>
            <a:endParaRPr lang="en-GB" dirty="0"/>
          </a:p>
        </p:txBody>
      </p:sp>
      <p:sp>
        <p:nvSpPr>
          <p:cNvPr id="4" name="Footer Placeholder 3"/>
          <p:cNvSpPr>
            <a:spLocks noGrp="1"/>
          </p:cNvSpPr>
          <p:nvPr>
            <p:ph type="ftr" sz="quarter" idx="16"/>
          </p:nvPr>
        </p:nvSpPr>
        <p:spPr/>
        <p:txBody>
          <a:bodyPr/>
          <a:lstStyle/>
          <a:p>
            <a:r>
              <a:rPr lang="en-GB" dirty="0" err="1" smtClean="0"/>
              <a:t>Dr.</a:t>
            </a:r>
            <a:r>
              <a:rPr lang="en-GB" dirty="0" smtClean="0"/>
              <a:t> Prashant </a:t>
            </a:r>
            <a:r>
              <a:rPr lang="en-GB" dirty="0" err="1" smtClean="0"/>
              <a:t>Luthra</a:t>
            </a:r>
            <a:r>
              <a:rPr lang="en-GB" dirty="0" smtClean="0"/>
              <a:t>/</a:t>
            </a:r>
          </a:p>
          <a:p>
            <a:r>
              <a:rPr lang="en-GB" dirty="0" smtClean="0"/>
              <a:t>SSSIHL</a:t>
            </a:r>
            <a:endParaRPr lang="en-GB"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sz="quarter" idx="1"/>
          </p:nvPr>
        </p:nvSpPr>
        <p:spPr>
          <a:xfrm>
            <a:off x="457200" y="304800"/>
            <a:ext cx="7467600" cy="6169152"/>
          </a:xfrm>
        </p:spPr>
        <p:txBody>
          <a:bodyPr/>
          <a:lstStyle/>
          <a:p>
            <a:pPr algn="ctr">
              <a:buNone/>
            </a:pPr>
            <a:r>
              <a:rPr lang="en-GB" dirty="0" smtClean="0"/>
              <a:t>   </a:t>
            </a:r>
            <a:r>
              <a:rPr lang="en-GB" sz="2800" dirty="0" smtClean="0">
                <a:solidFill>
                  <a:srgbClr val="0070C0"/>
                </a:solidFill>
                <a:latin typeface="Trajan Pro" pitchFamily="2" charset="0"/>
              </a:rPr>
              <a:t>Three important things to consider as you write your essay: </a:t>
            </a:r>
          </a:p>
          <a:p>
            <a:pPr>
              <a:buNone/>
            </a:pPr>
            <a:r>
              <a:rPr lang="en-US" sz="3200" dirty="0" smtClean="0"/>
              <a:t>  </a:t>
            </a:r>
            <a:endParaRPr lang="en-US" dirty="0" smtClean="0"/>
          </a:p>
          <a:p>
            <a:pPr>
              <a:buFont typeface="Wingdings" panose="05000000000000000000" pitchFamily="2" charset="2"/>
              <a:buChar char="v"/>
            </a:pPr>
            <a:r>
              <a:rPr lang="en-GB" sz="3600" dirty="0" smtClean="0">
                <a:solidFill>
                  <a:schemeClr val="accent3">
                    <a:lumMod val="60000"/>
                    <a:lumOff val="40000"/>
                  </a:schemeClr>
                </a:solidFill>
                <a:latin typeface="Trajan Pro" pitchFamily="2" charset="0"/>
                <a:cs typeface="Segoe UI" panose="020B0502040204020203" pitchFamily="34" charset="0"/>
              </a:rPr>
              <a:t>Subject</a:t>
            </a:r>
          </a:p>
          <a:p>
            <a:pPr>
              <a:buFont typeface="Wingdings" panose="05000000000000000000" pitchFamily="2" charset="2"/>
              <a:buChar char="v"/>
            </a:pPr>
            <a:r>
              <a:rPr lang="en-GB" sz="3600" dirty="0" smtClean="0">
                <a:solidFill>
                  <a:schemeClr val="accent3">
                    <a:lumMod val="60000"/>
                    <a:lumOff val="40000"/>
                  </a:schemeClr>
                </a:solidFill>
                <a:latin typeface="Trajan Pro" pitchFamily="2" charset="0"/>
                <a:cs typeface="Segoe UI" panose="020B0502040204020203" pitchFamily="34" charset="0"/>
              </a:rPr>
              <a:t>Purpose</a:t>
            </a:r>
          </a:p>
          <a:p>
            <a:pPr>
              <a:buFont typeface="Wingdings" panose="05000000000000000000" pitchFamily="2" charset="2"/>
              <a:buChar char="v"/>
            </a:pPr>
            <a:r>
              <a:rPr lang="en-GB" sz="3600" smtClean="0">
                <a:solidFill>
                  <a:schemeClr val="accent3">
                    <a:lumMod val="60000"/>
                    <a:lumOff val="40000"/>
                  </a:schemeClr>
                </a:solidFill>
                <a:latin typeface="Trajan Pro" pitchFamily="2" charset="0"/>
                <a:cs typeface="Segoe UI" panose="020B0502040204020203" pitchFamily="34" charset="0"/>
              </a:rPr>
              <a:t>Audience</a:t>
            </a:r>
            <a:endParaRPr lang="en-GB" sz="3600" dirty="0" smtClean="0">
              <a:latin typeface="Trajan Pro" pitchFamily="2" charset="0"/>
              <a:cs typeface="Segoe UI" panose="020B0502040204020203" pitchFamily="34" charset="0"/>
            </a:endParaRPr>
          </a:p>
          <a:p>
            <a:pPr>
              <a:buNone/>
            </a:pPr>
            <a:r>
              <a:rPr lang="en-US" sz="3600" dirty="0" smtClean="0">
                <a:latin typeface="Segoe UI" panose="020B0502040204020203" pitchFamily="34" charset="0"/>
                <a:cs typeface="Segoe UI" panose="020B0502040204020203" pitchFamily="34" charset="0"/>
              </a:rPr>
              <a:t>  </a:t>
            </a:r>
            <a:r>
              <a:rPr lang="en-US" sz="2800" dirty="0" smtClean="0">
                <a:latin typeface="Segoe UI" panose="020B0502040204020203" pitchFamily="34" charset="0"/>
                <a:cs typeface="Segoe UI" panose="020B0502040204020203" pitchFamily="34" charset="0"/>
              </a:rPr>
              <a:t>Remember to keep your subject, purpose, and audience in mind as you plan and write your essay.</a:t>
            </a:r>
            <a:endParaRPr lang="en-GB" sz="2800" dirty="0" smtClean="0">
              <a:solidFill>
                <a:srgbClr val="0070C0"/>
              </a:solidFill>
              <a:latin typeface="Segoe UI" panose="020B0502040204020203" pitchFamily="34" charset="0"/>
              <a:cs typeface="Segoe UI" panose="020B0502040204020203" pitchFamily="34" charset="0"/>
            </a:endParaRPr>
          </a:p>
          <a:p>
            <a:endParaRPr lang="en-GB" sz="3600" dirty="0">
              <a:solidFill>
                <a:schemeClr val="accent1">
                  <a:lumMod val="75000"/>
                </a:schemeClr>
              </a:solidFill>
            </a:endParaRPr>
          </a:p>
        </p:txBody>
      </p:sp>
      <p:sp>
        <p:nvSpPr>
          <p:cNvPr id="4" name="Footer Placeholder 3"/>
          <p:cNvSpPr>
            <a:spLocks noGrp="1"/>
          </p:cNvSpPr>
          <p:nvPr>
            <p:ph type="ftr" sz="quarter" idx="16"/>
          </p:nvPr>
        </p:nvSpPr>
        <p:spPr/>
        <p:txBody>
          <a:bodyPr/>
          <a:lstStyle/>
          <a:p>
            <a:r>
              <a:rPr lang="en-GB" smtClean="0"/>
              <a:t>Dr. Prashant Luthra/SSSIHL</a:t>
            </a:r>
            <a:endParaRPr lang="en-GB"/>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sz="quarter" idx="1"/>
          </p:nvPr>
        </p:nvSpPr>
        <p:spPr>
          <a:xfrm>
            <a:off x="457200" y="304800"/>
            <a:ext cx="7467600" cy="6169152"/>
          </a:xfrm>
        </p:spPr>
        <p:txBody>
          <a:bodyPr>
            <a:normAutofit/>
          </a:bodyPr>
          <a:lstStyle/>
          <a:p>
            <a:pPr>
              <a:buNone/>
            </a:pPr>
            <a:r>
              <a:rPr lang="en-US" dirty="0" smtClean="0">
                <a:solidFill>
                  <a:srgbClr val="FF0000"/>
                </a:solidFill>
              </a:rPr>
              <a:t>   SUBJECT</a:t>
            </a:r>
          </a:p>
          <a:p>
            <a:endParaRPr lang="en-US" dirty="0" smtClean="0">
              <a:solidFill>
                <a:srgbClr val="FF0000"/>
              </a:solidFill>
            </a:endParaRPr>
          </a:p>
          <a:p>
            <a:endParaRPr lang="en-GB" dirty="0" smtClean="0">
              <a:solidFill>
                <a:srgbClr val="FF0000"/>
              </a:solidFill>
            </a:endParaRPr>
          </a:p>
          <a:p>
            <a:r>
              <a:rPr lang="en-US" dirty="0" smtClean="0"/>
              <a:t>Have a clear and accurate conception of the subject of the essay before you attempt to write.</a:t>
            </a:r>
          </a:p>
          <a:p>
            <a:pPr>
              <a:buNone/>
            </a:pPr>
            <a:endParaRPr lang="en-US" dirty="0" smtClean="0"/>
          </a:p>
          <a:p>
            <a:r>
              <a:rPr lang="en-GB" dirty="0" smtClean="0"/>
              <a:t>Many students fail to understand the subject and consequently treat it inadequately or write a great deal of irrelevant material.  </a:t>
            </a:r>
          </a:p>
          <a:p>
            <a:endParaRPr lang="en-US" dirty="0" smtClean="0"/>
          </a:p>
          <a:p>
            <a:endParaRPr lang="en-GB" dirty="0"/>
          </a:p>
        </p:txBody>
      </p:sp>
      <p:sp>
        <p:nvSpPr>
          <p:cNvPr id="4" name="Footer Placeholder 3"/>
          <p:cNvSpPr>
            <a:spLocks noGrp="1"/>
          </p:cNvSpPr>
          <p:nvPr>
            <p:ph type="ftr" sz="quarter" idx="16"/>
          </p:nvPr>
        </p:nvSpPr>
        <p:spPr/>
        <p:txBody>
          <a:bodyPr/>
          <a:lstStyle/>
          <a:p>
            <a:r>
              <a:rPr lang="en-GB" smtClean="0"/>
              <a:t>Dr. Prashant Luthra/SSSIHL</a:t>
            </a:r>
            <a:endParaRPr lang="en-GB"/>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sz="quarter" idx="1"/>
          </p:nvPr>
        </p:nvSpPr>
        <p:spPr>
          <a:xfrm>
            <a:off x="457200" y="228600"/>
            <a:ext cx="7467600" cy="6245352"/>
          </a:xfrm>
        </p:spPr>
        <p:txBody>
          <a:bodyPr>
            <a:normAutofit/>
          </a:bodyPr>
          <a:lstStyle/>
          <a:p>
            <a:r>
              <a:rPr lang="en-US" dirty="0" smtClean="0">
                <a:solidFill>
                  <a:srgbClr val="FF0000"/>
                </a:solidFill>
              </a:rPr>
              <a:t>AUDIENCE</a:t>
            </a:r>
          </a:p>
          <a:p>
            <a:endParaRPr lang="en-GB" dirty="0" smtClean="0">
              <a:solidFill>
                <a:srgbClr val="FF0000"/>
              </a:solidFill>
            </a:endParaRPr>
          </a:p>
          <a:p>
            <a:pPr>
              <a:buNone/>
            </a:pPr>
            <a:r>
              <a:rPr lang="en-US" dirty="0" smtClean="0"/>
              <a:t>   </a:t>
            </a:r>
            <a:r>
              <a:rPr lang="en-US" dirty="0" smtClean="0">
                <a:solidFill>
                  <a:srgbClr val="0070C0"/>
                </a:solidFill>
              </a:rPr>
              <a:t>Your audience should determine how you will write and what you will say in your essay. Before you start writing you should:</a:t>
            </a:r>
            <a:endParaRPr lang="en-GB" dirty="0" smtClean="0">
              <a:solidFill>
                <a:srgbClr val="0070C0"/>
              </a:solidFill>
            </a:endParaRPr>
          </a:p>
          <a:p>
            <a:pPr lvl="0"/>
            <a:r>
              <a:rPr lang="en-GB" dirty="0" smtClean="0"/>
              <a:t>Understand your audience's interests and perspectives.</a:t>
            </a:r>
          </a:p>
          <a:p>
            <a:pPr lvl="0"/>
            <a:r>
              <a:rPr lang="en-GB" dirty="0" smtClean="0"/>
              <a:t>Evaluate your topic in relation to your audience.</a:t>
            </a:r>
          </a:p>
          <a:p>
            <a:pPr lvl="0"/>
            <a:r>
              <a:rPr lang="en-GB" dirty="0" smtClean="0"/>
              <a:t>Adapt your topic, examples, and language so that they are appropriate to your audience.</a:t>
            </a:r>
          </a:p>
          <a:p>
            <a:endParaRPr lang="en-GB" dirty="0"/>
          </a:p>
        </p:txBody>
      </p:sp>
      <p:sp>
        <p:nvSpPr>
          <p:cNvPr id="4" name="Footer Placeholder 3"/>
          <p:cNvSpPr>
            <a:spLocks noGrp="1"/>
          </p:cNvSpPr>
          <p:nvPr>
            <p:ph type="ftr" sz="quarter" idx="16"/>
          </p:nvPr>
        </p:nvSpPr>
        <p:spPr/>
        <p:txBody>
          <a:bodyPr/>
          <a:lstStyle/>
          <a:p>
            <a:r>
              <a:rPr lang="en-GB" smtClean="0"/>
              <a:t>Dr. Prashant Luthra/SSSIHL</a:t>
            </a:r>
            <a:endParaRPr lang="en-GB"/>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sz="quarter" idx="1"/>
          </p:nvPr>
        </p:nvSpPr>
        <p:spPr>
          <a:xfrm>
            <a:off x="457200" y="304800"/>
            <a:ext cx="7467600" cy="6169152"/>
          </a:xfrm>
        </p:spPr>
        <p:txBody>
          <a:bodyPr>
            <a:normAutofit/>
          </a:bodyPr>
          <a:lstStyle/>
          <a:p>
            <a:pPr>
              <a:buNone/>
            </a:pPr>
            <a:r>
              <a:rPr lang="en-US" dirty="0" smtClean="0">
                <a:solidFill>
                  <a:srgbClr val="FF0000"/>
                </a:solidFill>
              </a:rPr>
              <a:t>  PURPOSE</a:t>
            </a:r>
            <a:endParaRPr lang="en-GB" dirty="0" smtClean="0">
              <a:solidFill>
                <a:srgbClr val="FF0000"/>
              </a:solidFill>
            </a:endParaRPr>
          </a:p>
          <a:p>
            <a:r>
              <a:rPr lang="en-US" dirty="0" smtClean="0"/>
              <a:t>The purpose of your essay will determine what type of essay you write. Each type has certain uses and styles. Purpose can be to:</a:t>
            </a:r>
          </a:p>
          <a:p>
            <a:pPr>
              <a:buNone/>
            </a:pPr>
            <a:endParaRPr lang="en-GB" dirty="0" smtClean="0"/>
          </a:p>
          <a:p>
            <a:r>
              <a:rPr lang="en-US" dirty="0" smtClean="0"/>
              <a:t>recalls an event or series of events</a:t>
            </a:r>
          </a:p>
          <a:p>
            <a:r>
              <a:rPr lang="en-US" dirty="0" smtClean="0"/>
              <a:t>portrays a person, place, or object</a:t>
            </a:r>
          </a:p>
          <a:p>
            <a:r>
              <a:rPr lang="en-US" dirty="0" smtClean="0"/>
              <a:t>explains, clarifies, or illustrates</a:t>
            </a:r>
          </a:p>
          <a:p>
            <a:r>
              <a:rPr lang="en-US" dirty="0" smtClean="0"/>
              <a:t>convinces through reasoning etc.</a:t>
            </a:r>
            <a:endParaRPr lang="en-GB" dirty="0" smtClean="0"/>
          </a:p>
          <a:p>
            <a:pPr>
              <a:buNone/>
            </a:pPr>
            <a:r>
              <a:rPr lang="en-US" dirty="0" smtClean="0"/>
              <a:t>   </a:t>
            </a:r>
          </a:p>
          <a:p>
            <a:pPr>
              <a:buNone/>
            </a:pPr>
            <a:endParaRPr lang="en-GB" dirty="0"/>
          </a:p>
        </p:txBody>
      </p:sp>
      <p:sp>
        <p:nvSpPr>
          <p:cNvPr id="4" name="Footer Placeholder 3"/>
          <p:cNvSpPr>
            <a:spLocks noGrp="1"/>
          </p:cNvSpPr>
          <p:nvPr>
            <p:ph type="ftr" sz="quarter" idx="16"/>
          </p:nvPr>
        </p:nvSpPr>
        <p:spPr/>
        <p:txBody>
          <a:bodyPr/>
          <a:lstStyle/>
          <a:p>
            <a:r>
              <a:rPr lang="en-GB" smtClean="0"/>
              <a:t>Dr. Prashant Luthra/SSSIHL</a:t>
            </a:r>
            <a:endParaRPr lang="en-GB"/>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563562"/>
          </a:xfrm>
        </p:spPr>
        <p:txBody>
          <a:bodyPr>
            <a:noAutofit/>
          </a:bodyPr>
          <a:lstStyle/>
          <a:p>
            <a:r>
              <a:rPr lang="en-US" sz="4800" dirty="0" smtClean="0">
                <a:solidFill>
                  <a:srgbClr val="0070C0"/>
                </a:solidFill>
                <a:latin typeface="Calibri" pitchFamily="34" charset="0"/>
              </a:rPr>
              <a:t>classification of essays</a:t>
            </a:r>
            <a:endParaRPr lang="en-GB" sz="4400" dirty="0">
              <a:solidFill>
                <a:srgbClr val="0070C0"/>
              </a:solidFill>
            </a:endParaRPr>
          </a:p>
        </p:txBody>
      </p:sp>
      <p:sp>
        <p:nvSpPr>
          <p:cNvPr id="3" name="Content Placeholder 2"/>
          <p:cNvSpPr>
            <a:spLocks noGrp="1"/>
          </p:cNvSpPr>
          <p:nvPr>
            <p:ph sz="quarter" idx="1"/>
          </p:nvPr>
        </p:nvSpPr>
        <p:spPr>
          <a:xfrm>
            <a:off x="457200" y="990600"/>
            <a:ext cx="7467600" cy="5483352"/>
          </a:xfrm>
        </p:spPr>
        <p:txBody>
          <a:bodyPr>
            <a:normAutofit/>
          </a:bodyPr>
          <a:lstStyle/>
          <a:p>
            <a:pPr marL="0" indent="0" algn="just">
              <a:buNone/>
            </a:pPr>
            <a:r>
              <a:rPr lang="en-US" dirty="0" smtClean="0"/>
              <a:t>Essays may be classified as </a:t>
            </a:r>
          </a:p>
          <a:p>
            <a:pPr marL="0" indent="0" algn="just">
              <a:buNone/>
            </a:pPr>
            <a:r>
              <a:rPr lang="en-US" i="1" dirty="0" smtClean="0">
                <a:solidFill>
                  <a:srgbClr val="FF0000"/>
                </a:solidFill>
              </a:rPr>
              <a:t>Narrative Essays</a:t>
            </a:r>
            <a:endParaRPr lang="en-US" dirty="0"/>
          </a:p>
          <a:p>
            <a:pPr marL="0" indent="0" algn="just">
              <a:buNone/>
            </a:pPr>
            <a:endParaRPr lang="en-US" dirty="0" smtClean="0"/>
          </a:p>
          <a:p>
            <a:pPr marL="0" indent="0" algn="just">
              <a:buNone/>
            </a:pPr>
            <a:r>
              <a:rPr lang="en-US" i="1" dirty="0" smtClean="0">
                <a:solidFill>
                  <a:srgbClr val="FF0000"/>
                </a:solidFill>
              </a:rPr>
              <a:t>Descriptive Essays </a:t>
            </a:r>
          </a:p>
          <a:p>
            <a:pPr marL="0" indent="0" algn="just">
              <a:buNone/>
            </a:pPr>
            <a:endParaRPr lang="en-US" i="1" dirty="0" smtClean="0">
              <a:solidFill>
                <a:srgbClr val="FF0000"/>
              </a:solidFill>
            </a:endParaRPr>
          </a:p>
          <a:p>
            <a:pPr marL="0" indent="0" algn="just">
              <a:buNone/>
            </a:pPr>
            <a:r>
              <a:rPr lang="en-US" i="1" dirty="0" smtClean="0">
                <a:solidFill>
                  <a:srgbClr val="FF0000"/>
                </a:solidFill>
              </a:rPr>
              <a:t>Expository Essays</a:t>
            </a:r>
          </a:p>
          <a:p>
            <a:pPr marL="0" indent="0" algn="just">
              <a:buNone/>
            </a:pPr>
            <a:endParaRPr lang="en-US" i="1" dirty="0" smtClean="0">
              <a:solidFill>
                <a:srgbClr val="FF0000"/>
              </a:solidFill>
            </a:endParaRPr>
          </a:p>
          <a:p>
            <a:pPr marL="0" indent="0" algn="just">
              <a:buNone/>
            </a:pPr>
            <a:r>
              <a:rPr lang="en-US" i="1" dirty="0" smtClean="0">
                <a:solidFill>
                  <a:srgbClr val="FF0000"/>
                </a:solidFill>
              </a:rPr>
              <a:t>Reflective Essays </a:t>
            </a:r>
          </a:p>
          <a:p>
            <a:pPr marL="0" indent="0" algn="just">
              <a:buNone/>
            </a:pPr>
            <a:endParaRPr lang="en-US" i="1" dirty="0" smtClean="0">
              <a:solidFill>
                <a:srgbClr val="FF0000"/>
              </a:solidFill>
            </a:endParaRPr>
          </a:p>
          <a:p>
            <a:pPr marL="0" indent="0" algn="just">
              <a:buNone/>
            </a:pPr>
            <a:r>
              <a:rPr lang="en-US" i="1" dirty="0" smtClean="0">
                <a:solidFill>
                  <a:srgbClr val="FF0000"/>
                </a:solidFill>
              </a:rPr>
              <a:t>Imaginative Essays</a:t>
            </a:r>
            <a:r>
              <a:rPr lang="en-US" dirty="0" smtClean="0"/>
              <a:t> </a:t>
            </a:r>
          </a:p>
        </p:txBody>
      </p:sp>
      <p:sp>
        <p:nvSpPr>
          <p:cNvPr id="4" name="Footer Placeholder 3"/>
          <p:cNvSpPr>
            <a:spLocks noGrp="1"/>
          </p:cNvSpPr>
          <p:nvPr>
            <p:ph type="ftr" sz="quarter" idx="16"/>
          </p:nvPr>
        </p:nvSpPr>
        <p:spPr/>
        <p:txBody>
          <a:bodyPr/>
          <a:lstStyle/>
          <a:p>
            <a:r>
              <a:rPr lang="en-GB" smtClean="0"/>
              <a:t>Dr. Prashant Luthra/SSSIHL</a:t>
            </a:r>
            <a:endParaRPr lang="en-GB"/>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7894" y="685800"/>
            <a:ext cx="7467600" cy="1143000"/>
          </a:xfrm>
        </p:spPr>
        <p:txBody>
          <a:bodyPr>
            <a:normAutofit fontScale="90000"/>
          </a:bodyPr>
          <a:lstStyle/>
          <a:p>
            <a:pPr lvl="0" algn="ctr"/>
            <a:r>
              <a:rPr lang="en-US" dirty="0" smtClean="0">
                <a:solidFill>
                  <a:srgbClr val="FF0000"/>
                </a:solidFill>
                <a:latin typeface="Trajan Pro" pitchFamily="2" charset="0"/>
              </a:rPr>
              <a:t>Remember</a:t>
            </a:r>
            <a:r>
              <a:rPr lang="en-US" dirty="0" smtClean="0"/>
              <a:t>  </a:t>
            </a:r>
            <a:br>
              <a:rPr lang="en-US" dirty="0" smtClean="0"/>
            </a:br>
            <a:r>
              <a:rPr lang="en-US" altLang="en-US" sz="2700" cap="none" dirty="0" smtClean="0">
                <a:solidFill>
                  <a:srgbClr val="0070C0"/>
                </a:solidFill>
                <a:latin typeface="Segoe UI" panose="020B0502040204020203" pitchFamily="34" charset="0"/>
                <a:cs typeface="Segoe UI" panose="020B0502040204020203" pitchFamily="34" charset="0"/>
              </a:rPr>
              <a:t>Classifications </a:t>
            </a:r>
            <a:r>
              <a:rPr lang="en-US" altLang="en-US" sz="2700" cap="none" dirty="0">
                <a:solidFill>
                  <a:srgbClr val="0070C0"/>
                </a:solidFill>
                <a:latin typeface="Segoe UI" panose="020B0502040204020203" pitchFamily="34" charset="0"/>
                <a:cs typeface="Segoe UI" panose="020B0502040204020203" pitchFamily="34" charset="0"/>
              </a:rPr>
              <a:t>are useful but not mutually exclusive.</a:t>
            </a:r>
            <a:br>
              <a:rPr lang="en-US" altLang="en-US" sz="2700" cap="none" dirty="0">
                <a:solidFill>
                  <a:srgbClr val="0070C0"/>
                </a:solidFill>
                <a:latin typeface="Segoe UI" panose="020B0502040204020203" pitchFamily="34" charset="0"/>
                <a:cs typeface="Segoe UI" panose="020B0502040204020203" pitchFamily="34" charset="0"/>
              </a:rPr>
            </a:br>
            <a:endParaRPr lang="en-IN" dirty="0">
              <a:solidFill>
                <a:srgbClr val="0070C0"/>
              </a:solidFill>
              <a:latin typeface="Segoe UI" panose="020B0502040204020203" pitchFamily="34" charset="0"/>
              <a:cs typeface="Segoe UI" panose="020B0502040204020203" pitchFamily="34" charset="0"/>
            </a:endParaRPr>
          </a:p>
        </p:txBody>
      </p:sp>
      <p:sp>
        <p:nvSpPr>
          <p:cNvPr id="4" name="Footer Placeholder 3"/>
          <p:cNvSpPr>
            <a:spLocks noGrp="1"/>
          </p:cNvSpPr>
          <p:nvPr>
            <p:ph type="ftr" sz="quarter" idx="16"/>
          </p:nvPr>
        </p:nvSpPr>
        <p:spPr/>
        <p:txBody>
          <a:bodyPr/>
          <a:lstStyle/>
          <a:p>
            <a:r>
              <a:rPr lang="en-GB" smtClean="0"/>
              <a:t>Dr. Prashant Luthra/SSSIHL</a:t>
            </a:r>
            <a:endParaRPr lang="en-GB"/>
          </a:p>
        </p:txBody>
      </p:sp>
      <p:sp>
        <p:nvSpPr>
          <p:cNvPr id="5" name="Rectangle 1"/>
          <p:cNvSpPr>
            <a:spLocks noGrp="1" noChangeArrowheads="1"/>
          </p:cNvSpPr>
          <p:nvPr>
            <p:ph sz="quarter" idx="1"/>
          </p:nvPr>
        </p:nvSpPr>
        <p:spPr bwMode="auto">
          <a:xfrm>
            <a:off x="609600" y="1417638"/>
            <a:ext cx="769620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Segoe UI" panose="020B0502040204020203" pitchFamily="34" charset="0"/>
                <a:cs typeface="Segoe UI" panose="020B0502040204020203" pitchFamily="34" charset="0"/>
              </a:rPr>
              <a:t>Essays can share characteristics of multiple classes.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smtClean="0">
              <a:ln>
                <a:noFill/>
              </a:ln>
              <a:solidFill>
                <a:schemeClr val="tx1"/>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Segoe UI" panose="020B0502040204020203" pitchFamily="34" charset="0"/>
                <a:cs typeface="Segoe UI" panose="020B0502040204020203" pitchFamily="34" charset="0"/>
              </a:rPr>
              <a:t>Narrative essays can include descriptive elements.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smtClean="0">
              <a:ln>
                <a:noFill/>
              </a:ln>
              <a:solidFill>
                <a:schemeClr val="tx1"/>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Segoe UI" panose="020B0502040204020203" pitchFamily="34" charset="0"/>
                <a:cs typeface="Segoe UI" panose="020B0502040204020203" pitchFamily="34" charset="0"/>
              </a:rPr>
              <a:t>Essays should be reflective, expressing the writer's feelings and opinions.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smtClean="0">
              <a:ln>
                <a:noFill/>
              </a:ln>
              <a:solidFill>
                <a:schemeClr val="tx1"/>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Segoe UI" panose="020B0502040204020203" pitchFamily="34" charset="0"/>
                <a:cs typeface="Segoe UI" panose="020B0502040204020203" pitchFamily="34" charset="0"/>
              </a:rPr>
              <a:t>The original idea of an essay is to convey the writer's personal perspective on a subject.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125584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15962"/>
          </a:xfrm>
        </p:spPr>
        <p:txBody>
          <a:bodyPr>
            <a:normAutofit/>
          </a:bodyPr>
          <a:lstStyle/>
          <a:p>
            <a:r>
              <a:rPr lang="en-US" sz="3200" dirty="0" smtClean="0">
                <a:solidFill>
                  <a:srgbClr val="FF0000"/>
                </a:solidFill>
              </a:rPr>
              <a:t>Narrative Essays</a:t>
            </a:r>
            <a:endParaRPr lang="en-GB" sz="4800" dirty="0">
              <a:solidFill>
                <a:srgbClr val="0070C0"/>
              </a:solidFill>
              <a:latin typeface="Calibri" pitchFamily="34" charset="0"/>
            </a:endParaRPr>
          </a:p>
        </p:txBody>
      </p:sp>
      <p:sp>
        <p:nvSpPr>
          <p:cNvPr id="3" name="Content Placeholder 2"/>
          <p:cNvSpPr>
            <a:spLocks noGrp="1"/>
          </p:cNvSpPr>
          <p:nvPr>
            <p:ph sz="quarter" idx="1"/>
          </p:nvPr>
        </p:nvSpPr>
        <p:spPr>
          <a:xfrm>
            <a:off x="457200" y="1066800"/>
            <a:ext cx="7467600" cy="5407152"/>
          </a:xfrm>
        </p:spPr>
        <p:txBody>
          <a:bodyPr>
            <a:normAutofit fontScale="85000" lnSpcReduction="10000"/>
          </a:bodyPr>
          <a:lstStyle/>
          <a:p>
            <a:pPr algn="just"/>
            <a:r>
              <a:rPr lang="en-US" dirty="0" smtClean="0">
                <a:solidFill>
                  <a:srgbClr val="FF0000"/>
                </a:solidFill>
              </a:rPr>
              <a:t>1.</a:t>
            </a:r>
            <a:r>
              <a:rPr lang="en-US" dirty="0" smtClean="0"/>
              <a:t>.-A narrative essay consists mainly in the narration of some event, or series of events. I say "mainly" because a narrative essay must not be confused with a short story or bits of history. The narrative it relates should be treated as a subject for thought and comment, and so the essay should be more or less reflective. Narrative essays may treat of-</a:t>
            </a:r>
          </a:p>
          <a:p>
            <a:pPr algn="just"/>
            <a:r>
              <a:rPr lang="en-US" dirty="0" smtClean="0"/>
              <a:t>a)</a:t>
            </a:r>
            <a:r>
              <a:rPr lang="en-US" dirty="0" smtClean="0">
                <a:solidFill>
                  <a:srgbClr val="0070C0"/>
                </a:solidFill>
              </a:rPr>
              <a:t>Historical stories or legends</a:t>
            </a:r>
            <a:r>
              <a:rPr lang="en-US" dirty="0" smtClean="0"/>
              <a:t>(e.g., the reign of Akbar, the  </a:t>
            </a:r>
          </a:p>
          <a:p>
            <a:pPr algn="just">
              <a:buNone/>
            </a:pPr>
            <a:r>
              <a:rPr lang="en-US" dirty="0" smtClean="0"/>
              <a:t>       story of Rama and </a:t>
            </a:r>
            <a:r>
              <a:rPr lang="en-US" dirty="0" err="1" smtClean="0"/>
              <a:t>Sita</a:t>
            </a:r>
            <a:r>
              <a:rPr lang="en-US" dirty="0" smtClean="0"/>
              <a:t>) ; </a:t>
            </a:r>
          </a:p>
          <a:p>
            <a:pPr algn="just"/>
            <a:r>
              <a:rPr lang="en-US" dirty="0" smtClean="0"/>
              <a:t>(b) </a:t>
            </a:r>
            <a:r>
              <a:rPr lang="en-US" dirty="0" smtClean="0">
                <a:solidFill>
                  <a:srgbClr val="0070C0"/>
                </a:solidFill>
              </a:rPr>
              <a:t>Biographies</a:t>
            </a:r>
            <a:r>
              <a:rPr lang="en-US" dirty="0" smtClean="0"/>
              <a:t> (e.g., life of </a:t>
            </a:r>
            <a:r>
              <a:rPr lang="en-US" dirty="0" err="1" smtClean="0"/>
              <a:t>Shivajee</a:t>
            </a:r>
            <a:r>
              <a:rPr lang="en-US" dirty="0" smtClean="0"/>
              <a:t>, or of Babar) ; </a:t>
            </a:r>
          </a:p>
          <a:p>
            <a:pPr algn="just"/>
            <a:r>
              <a:rPr lang="en-US" dirty="0" smtClean="0"/>
              <a:t>(c) </a:t>
            </a:r>
            <a:r>
              <a:rPr lang="en-US" dirty="0" smtClean="0">
                <a:solidFill>
                  <a:srgbClr val="0070C0"/>
                </a:solidFill>
              </a:rPr>
              <a:t>Incidents</a:t>
            </a:r>
            <a:r>
              <a:rPr lang="en-US" dirty="0" smtClean="0"/>
              <a:t> (e.g., a street quarrel, a festival, a marriage) ; </a:t>
            </a:r>
          </a:p>
          <a:p>
            <a:pPr algn="just"/>
            <a:r>
              <a:rPr lang="en-US" dirty="0" smtClean="0"/>
              <a:t>(d) </a:t>
            </a:r>
            <a:r>
              <a:rPr lang="en-US" dirty="0" smtClean="0">
                <a:solidFill>
                  <a:srgbClr val="0070C0"/>
                </a:solidFill>
              </a:rPr>
              <a:t>An accident or natural disaster </a:t>
            </a:r>
            <a:r>
              <a:rPr lang="en-US" dirty="0" smtClean="0"/>
              <a:t>(e.g., a flood, a fire, a  </a:t>
            </a:r>
          </a:p>
          <a:p>
            <a:pPr algn="just">
              <a:buNone/>
            </a:pPr>
            <a:r>
              <a:rPr lang="en-US" dirty="0" smtClean="0"/>
              <a:t>         ship-wreck, an earthquake; </a:t>
            </a:r>
          </a:p>
          <a:p>
            <a:pPr algn="just"/>
            <a:r>
              <a:rPr lang="en-US" dirty="0" smtClean="0"/>
              <a:t>(e) </a:t>
            </a:r>
            <a:r>
              <a:rPr lang="en-US" dirty="0" smtClean="0">
                <a:solidFill>
                  <a:srgbClr val="0070C0"/>
                </a:solidFill>
              </a:rPr>
              <a:t>A journey or </a:t>
            </a:r>
            <a:r>
              <a:rPr lang="en-US" dirty="0" err="1" smtClean="0">
                <a:solidFill>
                  <a:srgbClr val="0070C0"/>
                </a:solidFill>
              </a:rPr>
              <a:t>voayge</a:t>
            </a:r>
            <a:r>
              <a:rPr lang="en-US" dirty="0" smtClean="0"/>
              <a:t>; </a:t>
            </a:r>
          </a:p>
          <a:p>
            <a:pPr algn="just"/>
            <a:r>
              <a:rPr lang="en-US" dirty="0" smtClean="0"/>
              <a:t>(f) </a:t>
            </a:r>
            <a:r>
              <a:rPr lang="en-US" dirty="0" smtClean="0">
                <a:solidFill>
                  <a:srgbClr val="0070C0"/>
                </a:solidFill>
              </a:rPr>
              <a:t>A story (real or imaginary). </a:t>
            </a:r>
            <a:endParaRPr lang="en-GB" dirty="0" smtClean="0">
              <a:solidFill>
                <a:srgbClr val="0070C0"/>
              </a:solidFill>
            </a:endParaRPr>
          </a:p>
          <a:p>
            <a:endParaRPr lang="en-GB" dirty="0"/>
          </a:p>
        </p:txBody>
      </p:sp>
      <p:sp>
        <p:nvSpPr>
          <p:cNvPr id="4" name="Footer Placeholder 3"/>
          <p:cNvSpPr>
            <a:spLocks noGrp="1"/>
          </p:cNvSpPr>
          <p:nvPr>
            <p:ph type="ftr" sz="quarter" idx="16"/>
          </p:nvPr>
        </p:nvSpPr>
        <p:spPr/>
        <p:txBody>
          <a:bodyPr/>
          <a:lstStyle/>
          <a:p>
            <a:r>
              <a:rPr lang="en-GB" smtClean="0"/>
              <a:t>Dr. Prashant Luthra/SSSIHL</a:t>
            </a:r>
            <a:endParaRPr lang="en-GB"/>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11162"/>
          </a:xfrm>
        </p:spPr>
        <p:txBody>
          <a:bodyPr>
            <a:noAutofit/>
          </a:bodyPr>
          <a:lstStyle/>
          <a:p>
            <a:r>
              <a:rPr lang="en-US" sz="3200" dirty="0" smtClean="0">
                <a:solidFill>
                  <a:srgbClr val="FF0000"/>
                </a:solidFill>
              </a:rPr>
              <a:t>Descriptive Essays </a:t>
            </a:r>
            <a:endParaRPr lang="en-GB" sz="3200" dirty="0">
              <a:solidFill>
                <a:srgbClr val="FF0000"/>
              </a:solidFill>
            </a:endParaRPr>
          </a:p>
        </p:txBody>
      </p:sp>
      <p:sp>
        <p:nvSpPr>
          <p:cNvPr id="3" name="Content Placeholder 2"/>
          <p:cNvSpPr>
            <a:spLocks noGrp="1"/>
          </p:cNvSpPr>
          <p:nvPr>
            <p:ph sz="quarter" idx="1"/>
          </p:nvPr>
        </p:nvSpPr>
        <p:spPr>
          <a:xfrm>
            <a:off x="457200" y="914400"/>
            <a:ext cx="7467600" cy="5559552"/>
          </a:xfrm>
        </p:spPr>
        <p:txBody>
          <a:bodyPr/>
          <a:lstStyle/>
          <a:p>
            <a:pPr>
              <a:buNone/>
            </a:pPr>
            <a:r>
              <a:rPr lang="en-US" dirty="0" smtClean="0"/>
              <a:t>   A descriptive essay consists of a description of some place or thing; e.g., </a:t>
            </a:r>
          </a:p>
          <a:p>
            <a:pPr marL="457200" indent="-457200">
              <a:buAutoNum type="alphaLcParenBoth"/>
            </a:pPr>
            <a:r>
              <a:rPr lang="en-US" dirty="0" smtClean="0"/>
              <a:t>Animals, plants, minerals (such as the elephant, the </a:t>
            </a:r>
            <a:r>
              <a:rPr lang="en-US" dirty="0" err="1" smtClean="0"/>
              <a:t>pipal</a:t>
            </a:r>
            <a:r>
              <a:rPr lang="en-US" dirty="0" smtClean="0"/>
              <a:t> tree, coal); </a:t>
            </a:r>
          </a:p>
          <a:p>
            <a:pPr marL="457200" indent="-457200">
              <a:buAutoNum type="alphaLcParenBoth"/>
            </a:pPr>
            <a:r>
              <a:rPr lang="en-US" dirty="0" smtClean="0"/>
              <a:t>Towns, countries, buildings, etc., (e.g., Mumbai, Italy, the </a:t>
            </a:r>
            <a:r>
              <a:rPr lang="en-US" dirty="0" err="1" smtClean="0"/>
              <a:t>Taj</a:t>
            </a:r>
            <a:r>
              <a:rPr lang="en-US" dirty="0" smtClean="0"/>
              <a:t> </a:t>
            </a:r>
            <a:r>
              <a:rPr lang="en-US" dirty="0" err="1" smtClean="0"/>
              <a:t>Mahal</a:t>
            </a:r>
            <a:r>
              <a:rPr lang="en-US" dirty="0" smtClean="0"/>
              <a:t>); </a:t>
            </a:r>
          </a:p>
          <a:p>
            <a:pPr marL="457200" indent="-457200">
              <a:buAutoNum type="alphaLcParenBoth"/>
            </a:pPr>
            <a:r>
              <a:rPr lang="en-US" dirty="0" smtClean="0"/>
              <a:t>Aspects and phe­nomena of nature (such as volcanoes, the monsoon, sunlight, organic life); and</a:t>
            </a:r>
          </a:p>
          <a:p>
            <a:pPr marL="457200" indent="-457200">
              <a:buAutoNum type="alphaLcParenBoth"/>
            </a:pPr>
            <a:r>
              <a:rPr lang="en-US" dirty="0" smtClean="0"/>
              <a:t>Manufactured articles (such as motor-cars, steam-engines, silk, paper, etc.).</a:t>
            </a:r>
            <a:endParaRPr lang="en-GB" dirty="0"/>
          </a:p>
        </p:txBody>
      </p:sp>
      <p:sp>
        <p:nvSpPr>
          <p:cNvPr id="4" name="Footer Placeholder 3"/>
          <p:cNvSpPr>
            <a:spLocks noGrp="1"/>
          </p:cNvSpPr>
          <p:nvPr>
            <p:ph type="ftr" sz="quarter" idx="16"/>
          </p:nvPr>
        </p:nvSpPr>
        <p:spPr/>
        <p:txBody>
          <a:bodyPr/>
          <a:lstStyle/>
          <a:p>
            <a:r>
              <a:rPr lang="en-GB" smtClean="0"/>
              <a:t>Dr. Prashant Luthra/SSSIHL</a:t>
            </a:r>
            <a:endParaRPr lang="en-GB"/>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563562"/>
          </a:xfrm>
        </p:spPr>
        <p:txBody>
          <a:bodyPr/>
          <a:lstStyle/>
          <a:p>
            <a:r>
              <a:rPr lang="en-US" dirty="0" smtClean="0">
                <a:solidFill>
                  <a:srgbClr val="FF0000"/>
                </a:solidFill>
              </a:rPr>
              <a:t>Expository Essays</a:t>
            </a:r>
            <a:endParaRPr lang="en-GB" dirty="0">
              <a:solidFill>
                <a:srgbClr val="FF0000"/>
              </a:solidFill>
            </a:endParaRPr>
          </a:p>
        </p:txBody>
      </p:sp>
      <p:sp>
        <p:nvSpPr>
          <p:cNvPr id="3" name="Content Placeholder 2"/>
          <p:cNvSpPr>
            <a:spLocks noGrp="1"/>
          </p:cNvSpPr>
          <p:nvPr>
            <p:ph sz="quarter" idx="1"/>
          </p:nvPr>
        </p:nvSpPr>
        <p:spPr/>
        <p:txBody>
          <a:bodyPr/>
          <a:lstStyle/>
          <a:p>
            <a:pPr>
              <a:buNone/>
            </a:pPr>
            <a:r>
              <a:rPr lang="en-US" dirty="0" smtClean="0"/>
              <a:t>   An expository (or explanatory) essay consists of an exposition or explanation of some subject; e.g. </a:t>
            </a:r>
          </a:p>
          <a:p>
            <a:pPr>
              <a:buNone/>
            </a:pPr>
            <a:r>
              <a:rPr lang="en-US" dirty="0" smtClean="0"/>
              <a:t> (a) </a:t>
            </a:r>
            <a:r>
              <a:rPr lang="en-US" dirty="0" smtClean="0">
                <a:solidFill>
                  <a:srgbClr val="0070C0"/>
                </a:solidFill>
              </a:rPr>
              <a:t>Institutions, industries, occupations </a:t>
            </a:r>
            <a:r>
              <a:rPr lang="en-US" dirty="0" smtClean="0"/>
              <a:t>(e.g., parliament, the press, silk-weaving, farming, etc.): </a:t>
            </a:r>
          </a:p>
          <a:p>
            <a:pPr>
              <a:buNone/>
            </a:pPr>
            <a:r>
              <a:rPr lang="en-US" dirty="0" smtClean="0"/>
              <a:t>(b) </a:t>
            </a:r>
            <a:r>
              <a:rPr lang="en-US" dirty="0" smtClean="0">
                <a:solidFill>
                  <a:srgbClr val="0070C0"/>
                </a:solidFill>
              </a:rPr>
              <a:t>Scientific topics </a:t>
            </a:r>
            <a:r>
              <a:rPr lang="en-US" dirty="0" smtClean="0"/>
              <a:t>(such as gravitation, evolution, astronomy, etc.) ; </a:t>
            </a:r>
          </a:p>
          <a:p>
            <a:pPr>
              <a:buNone/>
            </a:pPr>
            <a:r>
              <a:rPr lang="en-US" dirty="0" smtClean="0"/>
              <a:t>(c) </a:t>
            </a:r>
            <a:r>
              <a:rPr lang="en-US" dirty="0" smtClean="0">
                <a:solidFill>
                  <a:srgbClr val="0070C0"/>
                </a:solidFill>
              </a:rPr>
              <a:t>Literary topics </a:t>
            </a:r>
            <a:r>
              <a:rPr lang="en-US" dirty="0" smtClean="0"/>
              <a:t>(such as the nature of poetry,   prose styles, the genius of Shakespeare, the novels of Scott, history of fiction, etc.). </a:t>
            </a:r>
            <a:endParaRPr lang="en-GB" dirty="0" smtClean="0"/>
          </a:p>
          <a:p>
            <a:endParaRPr lang="en-GB" dirty="0"/>
          </a:p>
        </p:txBody>
      </p:sp>
      <p:sp>
        <p:nvSpPr>
          <p:cNvPr id="4" name="Footer Placeholder 3"/>
          <p:cNvSpPr>
            <a:spLocks noGrp="1"/>
          </p:cNvSpPr>
          <p:nvPr>
            <p:ph type="ftr" sz="quarter" idx="16"/>
          </p:nvPr>
        </p:nvSpPr>
        <p:spPr/>
        <p:txBody>
          <a:bodyPr/>
          <a:lstStyle/>
          <a:p>
            <a:r>
              <a:rPr lang="en-GB" smtClean="0"/>
              <a:t>Dr. Prashant Luthra/SSSIHL</a:t>
            </a:r>
            <a:endParaRPr lang="en-GB"/>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7467600" cy="990600"/>
          </a:xfrm>
        </p:spPr>
        <p:txBody>
          <a:bodyPr>
            <a:normAutofit fontScale="90000"/>
          </a:bodyPr>
          <a:lstStyle/>
          <a:p>
            <a:r>
              <a:rPr lang="en-US" dirty="0" smtClean="0">
                <a:solidFill>
                  <a:srgbClr val="0070C0"/>
                </a:solidFill>
              </a:rPr>
              <a:t/>
            </a:r>
            <a:br>
              <a:rPr lang="en-US" dirty="0" smtClean="0">
                <a:solidFill>
                  <a:srgbClr val="0070C0"/>
                </a:solidFill>
              </a:rPr>
            </a:br>
            <a:r>
              <a:rPr lang="en-US" dirty="0" smtClean="0">
                <a:solidFill>
                  <a:srgbClr val="0070C0"/>
                </a:solidFill>
              </a:rPr>
              <a:t/>
            </a:r>
            <a:br>
              <a:rPr lang="en-US" dirty="0" smtClean="0">
                <a:solidFill>
                  <a:srgbClr val="0070C0"/>
                </a:solidFill>
              </a:rPr>
            </a:br>
            <a:r>
              <a:rPr lang="en-US" dirty="0" smtClean="0">
                <a:solidFill>
                  <a:srgbClr val="0070C0"/>
                </a:solidFill>
              </a:rPr>
              <a:t/>
            </a:r>
            <a:br>
              <a:rPr lang="en-US" dirty="0" smtClean="0">
                <a:solidFill>
                  <a:srgbClr val="0070C0"/>
                </a:solidFill>
              </a:rPr>
            </a:br>
            <a:r>
              <a:rPr lang="en-US" dirty="0" smtClean="0">
                <a:solidFill>
                  <a:srgbClr val="0070C0"/>
                </a:solidFill>
              </a:rPr>
              <a:t/>
            </a:r>
            <a:br>
              <a:rPr lang="en-US" dirty="0" smtClean="0">
                <a:solidFill>
                  <a:srgbClr val="0070C0"/>
                </a:solidFill>
              </a:rPr>
            </a:br>
            <a:r>
              <a:rPr lang="en-US" dirty="0" smtClean="0">
                <a:solidFill>
                  <a:srgbClr val="0070C0"/>
                </a:solidFill>
              </a:rPr>
              <a:t/>
            </a:r>
            <a:br>
              <a:rPr lang="en-US" dirty="0" smtClean="0">
                <a:solidFill>
                  <a:srgbClr val="0070C0"/>
                </a:solidFill>
              </a:rPr>
            </a:br>
            <a:r>
              <a:rPr lang="en-US" sz="3200" dirty="0" smtClean="0">
                <a:solidFill>
                  <a:srgbClr val="FF0000"/>
                </a:solidFill>
              </a:rPr>
              <a:t> Reflective Essays</a:t>
            </a:r>
            <a:r>
              <a:rPr lang="en-US" b="1" dirty="0" smtClean="0">
                <a:solidFill>
                  <a:srgbClr val="0070C0"/>
                </a:solidFill>
              </a:rPr>
              <a:t/>
            </a:r>
            <a:br>
              <a:rPr lang="en-US" b="1" dirty="0" smtClean="0">
                <a:solidFill>
                  <a:srgbClr val="0070C0"/>
                </a:solidFill>
              </a:rPr>
            </a:br>
            <a:endParaRPr lang="en-GB" dirty="0">
              <a:solidFill>
                <a:srgbClr val="0070C0"/>
              </a:solidFill>
            </a:endParaRPr>
          </a:p>
        </p:txBody>
      </p:sp>
      <p:sp>
        <p:nvSpPr>
          <p:cNvPr id="3" name="Content Placeholder 2"/>
          <p:cNvSpPr>
            <a:spLocks noGrp="1"/>
          </p:cNvSpPr>
          <p:nvPr>
            <p:ph sz="quarter" idx="1"/>
          </p:nvPr>
        </p:nvSpPr>
        <p:spPr>
          <a:xfrm>
            <a:off x="457200" y="1066800"/>
            <a:ext cx="7467600" cy="5407152"/>
          </a:xfrm>
        </p:spPr>
        <p:txBody>
          <a:bodyPr>
            <a:normAutofit fontScale="77500" lnSpcReduction="20000"/>
          </a:bodyPr>
          <a:lstStyle/>
          <a:p>
            <a:r>
              <a:rPr lang="en-US" dirty="0" smtClean="0"/>
              <a:t>A reflection is a thought on some subject-on an idea arising in the mind. So a reflective essay consists of reflections or thoughts on some topic, which is generally </a:t>
            </a:r>
            <a:r>
              <a:rPr lang="en-US" i="1" dirty="0" smtClean="0">
                <a:solidFill>
                  <a:srgbClr val="FF0000"/>
                </a:solidFill>
              </a:rPr>
              <a:t>of an abstract nature</a:t>
            </a:r>
            <a:r>
              <a:rPr lang="en-US" dirty="0" smtClean="0"/>
              <a:t>; for example; </a:t>
            </a:r>
          </a:p>
          <a:p>
            <a:pPr>
              <a:buNone/>
            </a:pPr>
            <a:r>
              <a:rPr lang="en-US" dirty="0" smtClean="0"/>
              <a:t>(a) </a:t>
            </a:r>
            <a:r>
              <a:rPr lang="en-US" dirty="0" smtClean="0">
                <a:solidFill>
                  <a:srgbClr val="0070C0"/>
                </a:solidFill>
              </a:rPr>
              <a:t>habits, qualities</a:t>
            </a:r>
            <a:r>
              <a:rPr lang="en-US" dirty="0" smtClean="0"/>
              <a:t>, etc., such as truthfulness, thrift, temperance, cowardice, heroism, patriotism, industry, etc., </a:t>
            </a:r>
          </a:p>
          <a:p>
            <a:pPr>
              <a:buNone/>
            </a:pPr>
            <a:r>
              <a:rPr lang="en-US" dirty="0" smtClean="0"/>
              <a:t>(b) </a:t>
            </a:r>
            <a:r>
              <a:rPr lang="en-US" dirty="0" smtClean="0">
                <a:solidFill>
                  <a:srgbClr val="0070C0"/>
                </a:solidFill>
              </a:rPr>
              <a:t>social, political and domestic topics</a:t>
            </a:r>
            <a:r>
              <a:rPr lang="en-US" dirty="0" smtClean="0"/>
              <a:t>, such as riches and poverty, caste, democracy, liberty, government, family life, education, marriage, business, etc., </a:t>
            </a:r>
          </a:p>
          <a:p>
            <a:pPr>
              <a:buNone/>
            </a:pPr>
            <a:r>
              <a:rPr lang="en-US" dirty="0" smtClean="0"/>
              <a:t>(c) </a:t>
            </a:r>
            <a:r>
              <a:rPr lang="en-US" dirty="0" smtClean="0">
                <a:solidFill>
                  <a:srgbClr val="0070C0"/>
                </a:solidFill>
              </a:rPr>
              <a:t>philosophical subjects</a:t>
            </a:r>
            <a:r>
              <a:rPr lang="en-US" dirty="0" smtClean="0"/>
              <a:t>, such as right and wrong, real­ity, consciousness, the meaning of the universe, etc. ; or </a:t>
            </a:r>
          </a:p>
          <a:p>
            <a:pPr>
              <a:buNone/>
            </a:pPr>
            <a:r>
              <a:rPr lang="en-US" dirty="0" smtClean="0"/>
              <a:t>(d) </a:t>
            </a:r>
            <a:r>
              <a:rPr lang="en-US" dirty="0" smtClean="0">
                <a:solidFill>
                  <a:srgbClr val="0070C0"/>
                </a:solidFill>
              </a:rPr>
              <a:t>religious and theological topics. </a:t>
            </a:r>
            <a:endParaRPr lang="en-GB" dirty="0" smtClean="0">
              <a:solidFill>
                <a:srgbClr val="0070C0"/>
              </a:solidFill>
            </a:endParaRPr>
          </a:p>
          <a:p>
            <a:r>
              <a:rPr lang="en-US" dirty="0" smtClean="0"/>
              <a:t>In treating such themes, you should try </a:t>
            </a:r>
          </a:p>
          <a:p>
            <a:pPr>
              <a:buNone/>
            </a:pPr>
            <a:r>
              <a:rPr lang="en-US" dirty="0" smtClean="0"/>
              <a:t>     </a:t>
            </a:r>
            <a:r>
              <a:rPr lang="en-US" dirty="0" smtClean="0">
                <a:solidFill>
                  <a:srgbClr val="0070C0"/>
                </a:solidFill>
              </a:rPr>
              <a:t>(</a:t>
            </a:r>
            <a:r>
              <a:rPr lang="en-US" dirty="0" err="1" smtClean="0">
                <a:solidFill>
                  <a:srgbClr val="0070C0"/>
                </a:solidFill>
              </a:rPr>
              <a:t>i</a:t>
            </a:r>
            <a:r>
              <a:rPr lang="en-US" dirty="0" smtClean="0">
                <a:solidFill>
                  <a:srgbClr val="0070C0"/>
                </a:solidFill>
              </a:rPr>
              <a:t>) </a:t>
            </a:r>
            <a:r>
              <a:rPr lang="en-US" dirty="0" smtClean="0"/>
              <a:t>to explain, for example, the importance or advantages of possessing good habits and qualities, and the risks and disadvantages of lacking them; and quote stories, fables, or historical or literary references in support of your statements; </a:t>
            </a:r>
          </a:p>
          <a:p>
            <a:pPr>
              <a:buNone/>
            </a:pPr>
            <a:r>
              <a:rPr lang="en-US" dirty="0" smtClean="0">
                <a:solidFill>
                  <a:srgbClr val="0070C0"/>
                </a:solidFill>
              </a:rPr>
              <a:t>      (ii) </a:t>
            </a:r>
            <a:r>
              <a:rPr lang="en-US" dirty="0" smtClean="0"/>
              <a:t>discuss the importance of social institutions etc .•.</a:t>
            </a:r>
          </a:p>
          <a:p>
            <a:pPr>
              <a:buNone/>
            </a:pPr>
            <a:r>
              <a:rPr lang="en-US" dirty="0" smtClean="0">
                <a:solidFill>
                  <a:srgbClr val="0070C0"/>
                </a:solidFill>
              </a:rPr>
              <a:t>     (iii) </a:t>
            </a:r>
            <a:r>
              <a:rPr lang="en-US" dirty="0" smtClean="0"/>
              <a:t>expound and discuss philosophical and theological theories. You should reason and support your statements </a:t>
            </a:r>
            <a:endParaRPr lang="en-GB" dirty="0" smtClean="0"/>
          </a:p>
          <a:p>
            <a:endParaRPr lang="en-GB" dirty="0"/>
          </a:p>
        </p:txBody>
      </p:sp>
      <p:sp>
        <p:nvSpPr>
          <p:cNvPr id="4" name="Footer Placeholder 3"/>
          <p:cNvSpPr>
            <a:spLocks noGrp="1"/>
          </p:cNvSpPr>
          <p:nvPr>
            <p:ph type="ftr" sz="quarter" idx="16"/>
          </p:nvPr>
        </p:nvSpPr>
        <p:spPr/>
        <p:txBody>
          <a:bodyPr/>
          <a:lstStyle/>
          <a:p>
            <a:r>
              <a:rPr lang="en-GB" smtClean="0"/>
              <a:t>Dr. Prashant Luthra/SSSIHL</a:t>
            </a:r>
            <a:endParaRPr lang="en-GB"/>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563562"/>
          </a:xfrm>
        </p:spPr>
        <p:txBody>
          <a:bodyPr/>
          <a:lstStyle/>
          <a:p>
            <a:r>
              <a:rPr lang="en-US" dirty="0" smtClean="0">
                <a:solidFill>
                  <a:srgbClr val="FF0000"/>
                </a:solidFill>
              </a:rPr>
              <a:t>Imaginative Essays</a:t>
            </a:r>
            <a:endParaRPr lang="en-GB" dirty="0">
              <a:solidFill>
                <a:srgbClr val="FF0000"/>
              </a:solidFill>
            </a:endParaRPr>
          </a:p>
        </p:txBody>
      </p:sp>
      <p:sp>
        <p:nvSpPr>
          <p:cNvPr id="3" name="Content Placeholder 2"/>
          <p:cNvSpPr>
            <a:spLocks noGrp="1"/>
          </p:cNvSpPr>
          <p:nvPr>
            <p:ph sz="quarter" idx="1"/>
          </p:nvPr>
        </p:nvSpPr>
        <p:spPr>
          <a:xfrm>
            <a:off x="457200" y="914400"/>
            <a:ext cx="7467600" cy="5559552"/>
          </a:xfrm>
        </p:spPr>
        <p:txBody>
          <a:bodyPr/>
          <a:lstStyle/>
          <a:p>
            <a:pPr algn="just">
              <a:buNone/>
            </a:pPr>
            <a:r>
              <a:rPr lang="en-US" dirty="0" smtClean="0"/>
              <a:t>   Essays on subjects such as the feelings and experiences of the sailor wrecked on a desert island may be called imaginative Essays</a:t>
            </a:r>
            <a:r>
              <a:rPr lang="en-US" i="1" dirty="0" smtClean="0">
                <a:solidFill>
                  <a:srgbClr val="0070C0"/>
                </a:solidFill>
              </a:rPr>
              <a:t>. In such the writer is called to place himself in imagination in a position of which he has had no actual experience</a:t>
            </a:r>
            <a:r>
              <a:rPr lang="en-US" dirty="0" smtClean="0"/>
              <a:t>. Such subjects as "If I were a king," or ''The autobiography of a horse," would call for imagina­tive essays. </a:t>
            </a:r>
            <a:endParaRPr lang="en-GB" dirty="0" smtClean="0"/>
          </a:p>
          <a:p>
            <a:endParaRPr lang="en-GB" dirty="0"/>
          </a:p>
        </p:txBody>
      </p:sp>
      <p:sp>
        <p:nvSpPr>
          <p:cNvPr id="4" name="Footer Placeholder 3"/>
          <p:cNvSpPr>
            <a:spLocks noGrp="1"/>
          </p:cNvSpPr>
          <p:nvPr>
            <p:ph type="ftr" sz="quarter" idx="16"/>
          </p:nvPr>
        </p:nvSpPr>
        <p:spPr/>
        <p:txBody>
          <a:bodyPr/>
          <a:lstStyle/>
          <a:p>
            <a:r>
              <a:rPr lang="en-GB" smtClean="0"/>
              <a:t>Dr. Prashant Luthra/SSSIHL</a:t>
            </a:r>
            <a:endParaRPr lang="en-GB"/>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838200"/>
            <a:ext cx="7467600" cy="5635752"/>
          </a:xfrm>
        </p:spPr>
        <p:txBody>
          <a:bodyPr/>
          <a:lstStyle/>
          <a:p>
            <a:pPr>
              <a:buNone/>
            </a:pPr>
            <a:r>
              <a:rPr lang="en-US" dirty="0" smtClean="0"/>
              <a:t>   Once you understand the writing assignment, you need to figure out what to write about.  A good way to do that is to </a:t>
            </a:r>
            <a:r>
              <a:rPr lang="en-US" dirty="0" err="1" smtClean="0"/>
              <a:t>prewrite</a:t>
            </a:r>
            <a:r>
              <a:rPr lang="en-US" dirty="0" smtClean="0"/>
              <a:t> for ideas. </a:t>
            </a:r>
            <a:endParaRPr lang="en-GB" dirty="0" smtClean="0"/>
          </a:p>
          <a:p>
            <a:pPr>
              <a:buNone/>
            </a:pPr>
            <a:r>
              <a:rPr lang="en-GB" dirty="0" smtClean="0">
                <a:solidFill>
                  <a:srgbClr val="7030A0"/>
                </a:solidFill>
                <a:latin typeface="Mondine SF" pitchFamily="2" charset="0"/>
              </a:rPr>
              <a:t>Four useful prewriting techniques are:</a:t>
            </a:r>
          </a:p>
          <a:p>
            <a:r>
              <a:rPr lang="en-GB" dirty="0" smtClean="0"/>
              <a:t> </a:t>
            </a:r>
            <a:r>
              <a:rPr lang="en-GB" i="1" dirty="0" smtClean="0">
                <a:solidFill>
                  <a:srgbClr val="00B050"/>
                </a:solidFill>
              </a:rPr>
              <a:t>brainstorming</a:t>
            </a:r>
            <a:r>
              <a:rPr lang="en-GB" dirty="0" smtClean="0">
                <a:solidFill>
                  <a:srgbClr val="00B050"/>
                </a:solidFill>
              </a:rPr>
              <a:t>, </a:t>
            </a:r>
          </a:p>
          <a:p>
            <a:r>
              <a:rPr lang="en-GB" i="1" dirty="0" smtClean="0">
                <a:solidFill>
                  <a:srgbClr val="00B050"/>
                </a:solidFill>
              </a:rPr>
              <a:t>clustering</a:t>
            </a:r>
            <a:r>
              <a:rPr lang="en-GB" dirty="0" smtClean="0">
                <a:solidFill>
                  <a:srgbClr val="00B050"/>
                </a:solidFill>
              </a:rPr>
              <a:t>, </a:t>
            </a:r>
          </a:p>
          <a:p>
            <a:r>
              <a:rPr lang="en-GB" i="1" dirty="0" smtClean="0">
                <a:solidFill>
                  <a:srgbClr val="00B050"/>
                </a:solidFill>
              </a:rPr>
              <a:t>free writing </a:t>
            </a:r>
            <a:r>
              <a:rPr lang="en-GB" dirty="0" smtClean="0">
                <a:solidFill>
                  <a:srgbClr val="00B050"/>
                </a:solidFill>
              </a:rPr>
              <a:t> </a:t>
            </a:r>
          </a:p>
          <a:p>
            <a:r>
              <a:rPr lang="en-GB" i="1" dirty="0" smtClean="0">
                <a:solidFill>
                  <a:srgbClr val="00B050"/>
                </a:solidFill>
              </a:rPr>
              <a:t>image mapping</a:t>
            </a:r>
            <a:r>
              <a:rPr lang="en-GB" dirty="0" smtClean="0">
                <a:solidFill>
                  <a:srgbClr val="00B050"/>
                </a:solidFill>
              </a:rPr>
              <a:t>. </a:t>
            </a:r>
          </a:p>
          <a:p>
            <a:pPr>
              <a:buNone/>
            </a:pPr>
            <a:r>
              <a:rPr lang="en-GB" dirty="0" smtClean="0"/>
              <a:t>   </a:t>
            </a:r>
            <a:r>
              <a:rPr lang="en-GB" i="1" dirty="0" smtClean="0">
                <a:solidFill>
                  <a:srgbClr val="0070C0"/>
                </a:solidFill>
              </a:rPr>
              <a:t>Each method can help you get all your ideas about a topic out of your brain and onto paper.  Then you can check your ideas and decide which ones to keep and which to throw out.</a:t>
            </a:r>
            <a:br>
              <a:rPr lang="en-GB" i="1" dirty="0" smtClean="0">
                <a:solidFill>
                  <a:srgbClr val="0070C0"/>
                </a:solidFill>
              </a:rPr>
            </a:br>
            <a:endParaRPr lang="en-GB" i="1" dirty="0">
              <a:solidFill>
                <a:srgbClr val="0070C0"/>
              </a:solidFill>
            </a:endParaRPr>
          </a:p>
        </p:txBody>
      </p:sp>
      <p:sp>
        <p:nvSpPr>
          <p:cNvPr id="1025" name="Rectangle 1"/>
          <p:cNvSpPr>
            <a:spLocks noGrp="1" noChangeArrowheads="1"/>
          </p:cNvSpPr>
          <p:nvPr>
            <p:ph type="title"/>
          </p:nvPr>
        </p:nvSpPr>
        <p:spPr bwMode="auto">
          <a:xfrm>
            <a:off x="457200" y="274638"/>
            <a:ext cx="3578224" cy="58477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3200" b="0" i="0" u="none" strike="noStrike" cap="none" normalizeH="0" baseline="0" dirty="0" smtClean="0">
                <a:ln>
                  <a:noFill/>
                </a:ln>
                <a:solidFill>
                  <a:srgbClr val="FF0000"/>
                </a:solidFill>
                <a:effectLst/>
                <a:latin typeface="Arial" pitchFamily="34" charset="0"/>
                <a:ea typeface="Times New Roman" pitchFamily="18" charset="0"/>
                <a:cs typeface="Arial" pitchFamily="34" charset="0"/>
              </a:rPr>
              <a:t>Prewriting of Ideas</a:t>
            </a:r>
            <a:endParaRPr kumimoji="0" lang="en-US" sz="3200" b="0" i="0" u="none" strike="noStrike" cap="none" normalizeH="0" baseline="0" dirty="0" smtClean="0">
              <a:ln>
                <a:noFill/>
              </a:ln>
              <a:solidFill>
                <a:schemeClr val="tx1"/>
              </a:solidFill>
              <a:effectLst/>
              <a:latin typeface="Arial" pitchFamily="34" charset="0"/>
            </a:endParaRPr>
          </a:p>
        </p:txBody>
      </p:sp>
      <p:sp>
        <p:nvSpPr>
          <p:cNvPr id="2" name="Footer Placeholder 1"/>
          <p:cNvSpPr>
            <a:spLocks noGrp="1"/>
          </p:cNvSpPr>
          <p:nvPr>
            <p:ph type="ftr" sz="quarter" idx="16"/>
          </p:nvPr>
        </p:nvSpPr>
        <p:spPr/>
        <p:txBody>
          <a:bodyPr/>
          <a:lstStyle/>
          <a:p>
            <a:r>
              <a:rPr lang="en-GB" smtClean="0"/>
              <a:t>Dr. Prashant Luthra/SSSIHL</a:t>
            </a:r>
            <a:endParaRPr lang="en-GB"/>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87362"/>
          </a:xfrm>
        </p:spPr>
        <p:txBody>
          <a:bodyPr>
            <a:normAutofit fontScale="90000"/>
          </a:bodyPr>
          <a:lstStyle/>
          <a:p>
            <a:endParaRPr lang="en-GB" dirty="0"/>
          </a:p>
        </p:txBody>
      </p:sp>
      <p:sp>
        <p:nvSpPr>
          <p:cNvPr id="3" name="Content Placeholder 2"/>
          <p:cNvSpPr>
            <a:spLocks noGrp="1"/>
          </p:cNvSpPr>
          <p:nvPr>
            <p:ph sz="quarter" idx="1"/>
          </p:nvPr>
        </p:nvSpPr>
        <p:spPr>
          <a:xfrm>
            <a:off x="457200" y="381000"/>
            <a:ext cx="7467600" cy="6092952"/>
          </a:xfrm>
        </p:spPr>
        <p:txBody>
          <a:bodyPr/>
          <a:lstStyle/>
          <a:p>
            <a:pPr>
              <a:buNone/>
            </a:pPr>
            <a:r>
              <a:rPr lang="en-US" dirty="0" smtClean="0"/>
              <a:t>   </a:t>
            </a:r>
            <a:r>
              <a:rPr lang="en-US" dirty="0" smtClean="0">
                <a:solidFill>
                  <a:srgbClr val="FF0000"/>
                </a:solidFill>
                <a:latin typeface="Comic Sans MS" pitchFamily="66" charset="0"/>
              </a:rPr>
              <a:t>It's important not to judge your ideas as you write them.  Let the ideas flow out of your head as fast as you can.  Even if an idea seems crazy or weird, write it down.</a:t>
            </a:r>
          </a:p>
          <a:p>
            <a:pPr>
              <a:buNone/>
            </a:pPr>
            <a:endParaRPr lang="en-US" dirty="0" smtClean="0">
              <a:solidFill>
                <a:srgbClr val="FF0000"/>
              </a:solidFill>
              <a:latin typeface="Mondine SF" pitchFamily="2" charset="0"/>
            </a:endParaRPr>
          </a:p>
          <a:p>
            <a:pPr>
              <a:buNone/>
            </a:pPr>
            <a:endParaRPr lang="en-GB" dirty="0" smtClean="0">
              <a:solidFill>
                <a:srgbClr val="FF0000"/>
              </a:solidFill>
              <a:latin typeface="Mondine SF" pitchFamily="2" charset="0"/>
            </a:endParaRPr>
          </a:p>
          <a:p>
            <a:pPr algn="ctr">
              <a:buNone/>
            </a:pPr>
            <a:r>
              <a:rPr lang="en-GB" dirty="0" smtClean="0"/>
              <a:t>   </a:t>
            </a:r>
            <a:r>
              <a:rPr lang="en-GB" sz="4000" dirty="0" smtClean="0">
                <a:solidFill>
                  <a:srgbClr val="0070C0"/>
                </a:solidFill>
                <a:latin typeface="Comic Sans MS" pitchFamily="66" charset="0"/>
              </a:rPr>
              <a:t>Let's look at how you can use the different prewriting methods to come up with a topic. </a:t>
            </a:r>
            <a:br>
              <a:rPr lang="en-GB" sz="4000" dirty="0" smtClean="0">
                <a:solidFill>
                  <a:srgbClr val="0070C0"/>
                </a:solidFill>
                <a:latin typeface="Comic Sans MS" pitchFamily="66" charset="0"/>
              </a:rPr>
            </a:br>
            <a:endParaRPr lang="en-GB" dirty="0">
              <a:solidFill>
                <a:srgbClr val="0070C0"/>
              </a:solidFill>
              <a:latin typeface="Comic Sans MS" pitchFamily="66" charset="0"/>
            </a:endParaRPr>
          </a:p>
        </p:txBody>
      </p:sp>
      <p:sp>
        <p:nvSpPr>
          <p:cNvPr id="4" name="Footer Placeholder 3"/>
          <p:cNvSpPr>
            <a:spLocks noGrp="1"/>
          </p:cNvSpPr>
          <p:nvPr>
            <p:ph type="ftr" sz="quarter" idx="16"/>
          </p:nvPr>
        </p:nvSpPr>
        <p:spPr/>
        <p:txBody>
          <a:bodyPr/>
          <a:lstStyle/>
          <a:p>
            <a:r>
              <a:rPr lang="en-GB" smtClean="0"/>
              <a:t>Dr. Prashant Luthra/SSSIHL</a:t>
            </a:r>
            <a:endParaRPr lang="en-GB"/>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7467600" cy="639762"/>
          </a:xfrm>
        </p:spPr>
        <p:txBody>
          <a:bodyPr>
            <a:normAutofit fontScale="90000"/>
          </a:bodyPr>
          <a:lstStyle/>
          <a:p>
            <a:r>
              <a:rPr lang="en-US" b="1" dirty="0" smtClean="0">
                <a:solidFill>
                  <a:srgbClr val="FF0000"/>
                </a:solidFill>
              </a:rPr>
              <a:t>Brainstorming</a:t>
            </a:r>
            <a:r>
              <a:rPr lang="en-US" b="1" dirty="0" smtClean="0"/>
              <a:t>: </a:t>
            </a:r>
            <a:r>
              <a:rPr lang="en-US" b="1" i="1" dirty="0" smtClean="0"/>
              <a:t>Looking for a Topic</a:t>
            </a:r>
            <a:r>
              <a:rPr lang="en-GB" i="1" dirty="0" smtClean="0"/>
              <a:t/>
            </a:r>
            <a:br>
              <a:rPr lang="en-GB" i="1" dirty="0" smtClean="0"/>
            </a:br>
            <a:endParaRPr lang="en-GB" i="1" dirty="0"/>
          </a:p>
        </p:txBody>
      </p:sp>
      <p:sp>
        <p:nvSpPr>
          <p:cNvPr id="3" name="Content Placeholder 2"/>
          <p:cNvSpPr>
            <a:spLocks noGrp="1"/>
          </p:cNvSpPr>
          <p:nvPr>
            <p:ph sz="quarter" idx="1"/>
          </p:nvPr>
        </p:nvSpPr>
        <p:spPr>
          <a:xfrm>
            <a:off x="457200" y="838200"/>
            <a:ext cx="7467600" cy="5635752"/>
          </a:xfrm>
        </p:spPr>
        <p:txBody>
          <a:bodyPr/>
          <a:lstStyle/>
          <a:p>
            <a:endParaRPr lang="en-US" dirty="0" smtClean="0"/>
          </a:p>
          <a:p>
            <a:endParaRPr lang="en-US" dirty="0" smtClean="0"/>
          </a:p>
          <a:p>
            <a:pPr algn="ctr">
              <a:buNone/>
            </a:pPr>
            <a:r>
              <a:rPr lang="en-US" dirty="0" smtClean="0"/>
              <a:t>   </a:t>
            </a:r>
            <a:r>
              <a:rPr lang="en-US" sz="3600" dirty="0" smtClean="0">
                <a:solidFill>
                  <a:srgbClr val="00B050"/>
                </a:solidFill>
                <a:latin typeface="Comic Sans MS" pitchFamily="66" charset="0"/>
              </a:rPr>
              <a:t>When </a:t>
            </a:r>
            <a:r>
              <a:rPr lang="en-US" sz="3600" i="1" dirty="0" smtClean="0">
                <a:solidFill>
                  <a:srgbClr val="00B050"/>
                </a:solidFill>
                <a:latin typeface="Comic Sans MS" pitchFamily="66" charset="0"/>
              </a:rPr>
              <a:t>brainstorming</a:t>
            </a:r>
            <a:r>
              <a:rPr lang="en-US" sz="3600" dirty="0" smtClean="0">
                <a:solidFill>
                  <a:srgbClr val="00B050"/>
                </a:solidFill>
                <a:latin typeface="Comic Sans MS" pitchFamily="66" charset="0"/>
              </a:rPr>
              <a:t> or </a:t>
            </a:r>
            <a:r>
              <a:rPr lang="en-US" sz="3600" i="1" dirty="0" smtClean="0">
                <a:solidFill>
                  <a:srgbClr val="00B050"/>
                </a:solidFill>
                <a:latin typeface="Comic Sans MS" pitchFamily="66" charset="0"/>
              </a:rPr>
              <a:t>listing</a:t>
            </a:r>
            <a:r>
              <a:rPr lang="en-US" sz="3600" dirty="0" smtClean="0">
                <a:solidFill>
                  <a:srgbClr val="00B050"/>
                </a:solidFill>
                <a:latin typeface="Comic Sans MS" pitchFamily="66" charset="0"/>
              </a:rPr>
              <a:t>, you simply write your ideas down the page as fast as they come to you.  You might use bullets or hyphens to set off each one. </a:t>
            </a:r>
            <a:endParaRPr lang="en-GB" sz="3600" dirty="0" smtClean="0">
              <a:solidFill>
                <a:srgbClr val="00B050"/>
              </a:solidFill>
              <a:latin typeface="Comic Sans MS" pitchFamily="66" charset="0"/>
            </a:endParaRPr>
          </a:p>
          <a:p>
            <a:pPr>
              <a:buNone/>
            </a:pPr>
            <a:endParaRPr lang="en-US" dirty="0" smtClean="0"/>
          </a:p>
          <a:p>
            <a:pPr>
              <a:buNone/>
            </a:pPr>
            <a:r>
              <a:rPr lang="en-US" sz="3600" dirty="0" smtClean="0">
                <a:solidFill>
                  <a:srgbClr val="0070C0"/>
                </a:solidFill>
                <a:latin typeface="Comic Sans MS" pitchFamily="66" charset="0"/>
              </a:rPr>
              <a:t>                                for example-</a:t>
            </a:r>
            <a:endParaRPr lang="en-GB" sz="3600" dirty="0">
              <a:solidFill>
                <a:srgbClr val="0070C0"/>
              </a:solidFill>
              <a:latin typeface="Comic Sans MS" pitchFamily="66" charset="0"/>
            </a:endParaRPr>
          </a:p>
        </p:txBody>
      </p:sp>
      <p:sp>
        <p:nvSpPr>
          <p:cNvPr id="4" name="Footer Placeholder 3"/>
          <p:cNvSpPr>
            <a:spLocks noGrp="1"/>
          </p:cNvSpPr>
          <p:nvPr>
            <p:ph type="ftr" sz="quarter" idx="16"/>
          </p:nvPr>
        </p:nvSpPr>
        <p:spPr/>
        <p:txBody>
          <a:bodyPr/>
          <a:lstStyle/>
          <a:p>
            <a:r>
              <a:rPr lang="en-GB" smtClean="0"/>
              <a:t>Dr. Prashant Luthra/SSSIHL</a:t>
            </a:r>
            <a:endParaRPr lang="en-GB"/>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sz="quarter" idx="1"/>
          </p:nvPr>
        </p:nvSpPr>
        <p:spPr>
          <a:xfrm>
            <a:off x="457200" y="381000"/>
            <a:ext cx="7467600" cy="6092952"/>
          </a:xfrm>
        </p:spPr>
        <p:txBody>
          <a:bodyPr/>
          <a:lstStyle/>
          <a:p>
            <a:r>
              <a:rPr lang="en-US" b="1" dirty="0" smtClean="0">
                <a:solidFill>
                  <a:srgbClr val="0070C0"/>
                </a:solidFill>
                <a:latin typeface="Comic Sans MS" pitchFamily="66" charset="0"/>
              </a:rPr>
              <a:t>Brainstorming:</a:t>
            </a:r>
            <a:endParaRPr lang="en-GB" dirty="0" smtClean="0">
              <a:solidFill>
                <a:srgbClr val="0070C0"/>
              </a:solidFill>
              <a:latin typeface="Comic Sans MS" pitchFamily="66" charset="0"/>
            </a:endParaRPr>
          </a:p>
          <a:p>
            <a:r>
              <a:rPr lang="en-US" dirty="0" smtClean="0">
                <a:solidFill>
                  <a:srgbClr val="FF0000"/>
                </a:solidFill>
              </a:rPr>
              <a:t>Subject</a:t>
            </a:r>
            <a:r>
              <a:rPr lang="en-US" dirty="0" smtClean="0"/>
              <a:t>: </a:t>
            </a:r>
            <a:r>
              <a:rPr lang="en-US" dirty="0" smtClean="0">
                <a:solidFill>
                  <a:srgbClr val="008000"/>
                </a:solidFill>
              </a:rPr>
              <a:t>Education</a:t>
            </a:r>
            <a:endParaRPr lang="en-GB" dirty="0" smtClean="0">
              <a:solidFill>
                <a:srgbClr val="008000"/>
              </a:solidFill>
            </a:endParaRPr>
          </a:p>
          <a:p>
            <a:pPr>
              <a:buNone/>
            </a:pPr>
            <a:endParaRPr lang="en-GB" dirty="0"/>
          </a:p>
        </p:txBody>
      </p:sp>
      <p:pic>
        <p:nvPicPr>
          <p:cNvPr id="4" name="Picture 3" descr="brain st.JPG"/>
          <p:cNvPicPr>
            <a:picLocks noChangeAspect="1"/>
          </p:cNvPicPr>
          <p:nvPr/>
        </p:nvPicPr>
        <p:blipFill>
          <a:blip r:embed="rId2" cstate="print"/>
          <a:srcRect b="2174"/>
          <a:stretch>
            <a:fillRect/>
          </a:stretch>
        </p:blipFill>
        <p:spPr>
          <a:xfrm>
            <a:off x="304800" y="2057400"/>
            <a:ext cx="8458200" cy="3429000"/>
          </a:xfrm>
          <a:prstGeom prst="rect">
            <a:avLst/>
          </a:prstGeom>
        </p:spPr>
      </p:pic>
      <p:sp>
        <p:nvSpPr>
          <p:cNvPr id="5" name="Footer Placeholder 4"/>
          <p:cNvSpPr>
            <a:spLocks noGrp="1"/>
          </p:cNvSpPr>
          <p:nvPr>
            <p:ph type="ftr" sz="quarter" idx="16"/>
          </p:nvPr>
        </p:nvSpPr>
        <p:spPr/>
        <p:txBody>
          <a:bodyPr/>
          <a:lstStyle/>
          <a:p>
            <a:r>
              <a:rPr lang="en-GB" smtClean="0"/>
              <a:t>Dr. Prashant Luthra/SSSIHL</a:t>
            </a:r>
            <a:endParaRPr lang="en-GB"/>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endParaRPr lang="en-GB" dirty="0"/>
          </a:p>
        </p:txBody>
      </p:sp>
      <p:sp>
        <p:nvSpPr>
          <p:cNvPr id="3" name="Content Placeholder 2"/>
          <p:cNvSpPr>
            <a:spLocks noGrp="1"/>
          </p:cNvSpPr>
          <p:nvPr>
            <p:ph sz="quarter" idx="1"/>
          </p:nvPr>
        </p:nvSpPr>
        <p:spPr>
          <a:xfrm>
            <a:off x="457200" y="304800"/>
            <a:ext cx="8153400" cy="6169152"/>
          </a:xfrm>
        </p:spPr>
        <p:txBody>
          <a:bodyPr/>
          <a:lstStyle/>
          <a:p>
            <a:r>
              <a:rPr lang="en-US" b="1" dirty="0" smtClean="0">
                <a:solidFill>
                  <a:srgbClr val="0070C0"/>
                </a:solidFill>
                <a:latin typeface="Comic Sans MS" pitchFamily="66" charset="0"/>
              </a:rPr>
              <a:t>Brainstorming:</a:t>
            </a:r>
            <a:endParaRPr lang="en-GB" dirty="0" smtClean="0">
              <a:solidFill>
                <a:srgbClr val="0070C0"/>
              </a:solidFill>
              <a:latin typeface="Comic Sans MS" pitchFamily="66" charset="0"/>
            </a:endParaRPr>
          </a:p>
          <a:p>
            <a:r>
              <a:rPr lang="en-US" dirty="0" smtClean="0">
                <a:solidFill>
                  <a:srgbClr val="FF0000"/>
                </a:solidFill>
              </a:rPr>
              <a:t>Subject</a:t>
            </a:r>
            <a:r>
              <a:rPr lang="en-US" dirty="0" smtClean="0"/>
              <a:t>: </a:t>
            </a:r>
            <a:r>
              <a:rPr lang="en-US" dirty="0" smtClean="0">
                <a:solidFill>
                  <a:srgbClr val="008000"/>
                </a:solidFill>
              </a:rPr>
              <a:t>Family Vacations</a:t>
            </a:r>
            <a:endParaRPr lang="en-GB" dirty="0"/>
          </a:p>
        </p:txBody>
      </p:sp>
      <p:pic>
        <p:nvPicPr>
          <p:cNvPr id="4" name="Picture 3" descr="22.JPG"/>
          <p:cNvPicPr>
            <a:picLocks noChangeAspect="1"/>
          </p:cNvPicPr>
          <p:nvPr/>
        </p:nvPicPr>
        <p:blipFill>
          <a:blip r:embed="rId2" cstate="print"/>
          <a:stretch>
            <a:fillRect/>
          </a:stretch>
        </p:blipFill>
        <p:spPr>
          <a:xfrm>
            <a:off x="228600" y="1828800"/>
            <a:ext cx="8440905" cy="3276600"/>
          </a:xfrm>
          <a:prstGeom prst="rect">
            <a:avLst/>
          </a:prstGeom>
        </p:spPr>
      </p:pic>
      <p:sp>
        <p:nvSpPr>
          <p:cNvPr id="5" name="Footer Placeholder 4"/>
          <p:cNvSpPr>
            <a:spLocks noGrp="1"/>
          </p:cNvSpPr>
          <p:nvPr>
            <p:ph type="ftr" sz="quarter" idx="16"/>
          </p:nvPr>
        </p:nvSpPr>
        <p:spPr/>
        <p:txBody>
          <a:bodyPr/>
          <a:lstStyle/>
          <a:p>
            <a:r>
              <a:rPr lang="en-GB" smtClean="0"/>
              <a:t>Dr. Prashant Luthra/SSSIHL</a:t>
            </a:r>
            <a:endParaRPr lang="en-GB"/>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563562"/>
          </a:xfrm>
        </p:spPr>
        <p:txBody>
          <a:bodyPr/>
          <a:lstStyle/>
          <a:p>
            <a:r>
              <a:rPr lang="en-GB" u="sng" dirty="0" smtClean="0">
                <a:solidFill>
                  <a:srgbClr val="FF0000"/>
                </a:solidFill>
                <a:hlinkClick r:id="rId2"/>
              </a:rPr>
              <a:t>Cluster / Map / Web</a:t>
            </a:r>
            <a:endParaRPr lang="en-GB" dirty="0">
              <a:solidFill>
                <a:srgbClr val="FF0000"/>
              </a:solidFill>
            </a:endParaRPr>
          </a:p>
        </p:txBody>
      </p:sp>
      <p:sp>
        <p:nvSpPr>
          <p:cNvPr id="5" name="Content Placeholder 4"/>
          <p:cNvSpPr>
            <a:spLocks noGrp="1"/>
          </p:cNvSpPr>
          <p:nvPr>
            <p:ph sz="quarter" idx="1"/>
          </p:nvPr>
        </p:nvSpPr>
        <p:spPr>
          <a:xfrm>
            <a:off x="457200" y="1066800"/>
            <a:ext cx="7467600" cy="5407152"/>
          </a:xfrm>
        </p:spPr>
        <p:txBody>
          <a:bodyPr/>
          <a:lstStyle/>
          <a:p>
            <a:pPr algn="ctr">
              <a:buNone/>
            </a:pPr>
            <a:r>
              <a:rPr lang="en-US" i="1" dirty="0" smtClean="0"/>
              <a:t>   </a:t>
            </a:r>
            <a:r>
              <a:rPr lang="en-US" sz="3600" i="1" dirty="0" smtClean="0">
                <a:solidFill>
                  <a:srgbClr val="0070C0"/>
                </a:solidFill>
                <a:latin typeface="Comic Sans MS" pitchFamily="66" charset="0"/>
              </a:rPr>
              <a:t>Clustering</a:t>
            </a:r>
            <a:r>
              <a:rPr lang="en-US" sz="3600" dirty="0" smtClean="0">
                <a:solidFill>
                  <a:srgbClr val="0070C0"/>
                </a:solidFill>
                <a:latin typeface="Comic Sans MS" pitchFamily="66" charset="0"/>
              </a:rPr>
              <a:t> or </a:t>
            </a:r>
            <a:r>
              <a:rPr lang="en-US" sz="3600" i="1" dirty="0" smtClean="0">
                <a:solidFill>
                  <a:srgbClr val="0070C0"/>
                </a:solidFill>
                <a:latin typeface="Comic Sans MS" pitchFamily="66" charset="0"/>
              </a:rPr>
              <a:t>mapping</a:t>
            </a:r>
            <a:r>
              <a:rPr lang="en-US" sz="3600" dirty="0" smtClean="0">
                <a:solidFill>
                  <a:srgbClr val="0070C0"/>
                </a:solidFill>
                <a:latin typeface="Comic Sans MS" pitchFamily="66" charset="0"/>
              </a:rPr>
              <a:t> is a way of drawing your ideas out like a spider web.  The main idea goes in the middle, and you expand your thoughts out from there. </a:t>
            </a:r>
          </a:p>
          <a:p>
            <a:pPr algn="ctr">
              <a:buNone/>
            </a:pPr>
            <a:endParaRPr lang="en-US" sz="3600" dirty="0" smtClean="0">
              <a:solidFill>
                <a:srgbClr val="0070C0"/>
              </a:solidFill>
              <a:latin typeface="Comic Sans MS" pitchFamily="66" charset="0"/>
            </a:endParaRPr>
          </a:p>
          <a:p>
            <a:pPr algn="ctr">
              <a:buNone/>
            </a:pPr>
            <a:endParaRPr lang="en-US" sz="3600" dirty="0" smtClean="0">
              <a:solidFill>
                <a:srgbClr val="0070C0"/>
              </a:solidFill>
              <a:latin typeface="Comic Sans MS" pitchFamily="66" charset="0"/>
            </a:endParaRPr>
          </a:p>
          <a:p>
            <a:pPr algn="ctr">
              <a:buNone/>
            </a:pPr>
            <a:r>
              <a:rPr lang="en-US" sz="3600" dirty="0" smtClean="0">
                <a:solidFill>
                  <a:srgbClr val="0070C0"/>
                </a:solidFill>
                <a:latin typeface="Comic Sans MS" pitchFamily="66" charset="0"/>
              </a:rPr>
              <a:t>                                 </a:t>
            </a:r>
            <a:r>
              <a:rPr lang="en-US" sz="3600" dirty="0" smtClean="0">
                <a:solidFill>
                  <a:srgbClr val="00B050"/>
                </a:solidFill>
                <a:latin typeface="Comic Sans MS" pitchFamily="66" charset="0"/>
              </a:rPr>
              <a:t>for example-</a:t>
            </a:r>
            <a:endParaRPr lang="en-GB" sz="3600" dirty="0" smtClean="0">
              <a:solidFill>
                <a:srgbClr val="00B050"/>
              </a:solidFill>
              <a:latin typeface="Comic Sans MS" pitchFamily="66" charset="0"/>
            </a:endParaRPr>
          </a:p>
          <a:p>
            <a:endParaRPr lang="en-GB" dirty="0"/>
          </a:p>
        </p:txBody>
      </p:sp>
      <p:sp>
        <p:nvSpPr>
          <p:cNvPr id="3" name="Footer Placeholder 2"/>
          <p:cNvSpPr>
            <a:spLocks noGrp="1"/>
          </p:cNvSpPr>
          <p:nvPr>
            <p:ph type="ftr" sz="quarter" idx="16"/>
          </p:nvPr>
        </p:nvSpPr>
        <p:spPr/>
        <p:txBody>
          <a:bodyPr/>
          <a:lstStyle/>
          <a:p>
            <a:r>
              <a:rPr lang="en-GB" smtClean="0"/>
              <a:t>Dr. Prashant Luthra/SSSIHL</a:t>
            </a:r>
            <a:endParaRPr lang="en-GB"/>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639762"/>
          </a:xfrm>
        </p:spPr>
        <p:txBody>
          <a:bodyPr/>
          <a:lstStyle/>
          <a:p>
            <a:r>
              <a:rPr lang="en-GB" u="sng" dirty="0" smtClean="0">
                <a:solidFill>
                  <a:srgbClr val="FF0000"/>
                </a:solidFill>
                <a:hlinkClick r:id="rId2"/>
              </a:rPr>
              <a:t>Cluster / Map / Web</a:t>
            </a:r>
            <a:endParaRPr lang="en-GB" dirty="0"/>
          </a:p>
        </p:txBody>
      </p:sp>
      <p:pic>
        <p:nvPicPr>
          <p:cNvPr id="4" name="Content Placeholder 3" descr="3333.JPG"/>
          <p:cNvPicPr>
            <a:picLocks noGrp="1" noChangeAspect="1"/>
          </p:cNvPicPr>
          <p:nvPr>
            <p:ph sz="quarter" idx="1"/>
          </p:nvPr>
        </p:nvPicPr>
        <p:blipFill>
          <a:blip r:embed="rId3" cstate="print"/>
          <a:stretch>
            <a:fillRect/>
          </a:stretch>
        </p:blipFill>
        <p:spPr>
          <a:xfrm>
            <a:off x="1295400" y="1143001"/>
            <a:ext cx="6096000" cy="5715000"/>
          </a:xfrm>
        </p:spPr>
      </p:pic>
      <p:sp>
        <p:nvSpPr>
          <p:cNvPr id="3" name="Footer Placeholder 2"/>
          <p:cNvSpPr>
            <a:spLocks noGrp="1"/>
          </p:cNvSpPr>
          <p:nvPr>
            <p:ph type="ftr" sz="quarter" idx="16"/>
          </p:nvPr>
        </p:nvSpPr>
        <p:spPr/>
        <p:txBody>
          <a:bodyPr/>
          <a:lstStyle/>
          <a:p>
            <a:r>
              <a:rPr lang="en-GB" smtClean="0"/>
              <a:t>Dr. Prashant Luthra/SSSIHL</a:t>
            </a:r>
            <a:endParaRPr lang="en-GB"/>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sz="quarter" idx="1"/>
          </p:nvPr>
        </p:nvSpPr>
        <p:spPr>
          <a:xfrm>
            <a:off x="457200" y="457200"/>
            <a:ext cx="7467600" cy="6016752"/>
          </a:xfrm>
        </p:spPr>
        <p:txBody>
          <a:bodyPr>
            <a:normAutofit lnSpcReduction="10000"/>
          </a:bodyPr>
          <a:lstStyle/>
          <a:p>
            <a:pPr algn="just"/>
            <a:r>
              <a:rPr lang="en-US" sz="3200" u="sng" dirty="0" err="1" smtClean="0">
                <a:latin typeface="Comic Sans MS" pitchFamily="66" charset="0"/>
                <a:hlinkClick r:id="rId2"/>
              </a:rPr>
              <a:t>Freewrite</a:t>
            </a:r>
            <a:endParaRPr lang="en-US" sz="3200" u="sng" dirty="0" smtClean="0">
              <a:latin typeface="Comic Sans MS" pitchFamily="66" charset="0"/>
            </a:endParaRPr>
          </a:p>
          <a:p>
            <a:pPr algn="just"/>
            <a:r>
              <a:rPr lang="en-US" dirty="0" smtClean="0">
                <a:latin typeface="Comic Sans MS" pitchFamily="66" charset="0"/>
              </a:rPr>
              <a:t/>
            </a:r>
            <a:br>
              <a:rPr lang="en-US" dirty="0" smtClean="0">
                <a:latin typeface="Comic Sans MS" pitchFamily="66" charset="0"/>
              </a:rPr>
            </a:br>
            <a:r>
              <a:rPr lang="en-US" sz="2800" dirty="0" smtClean="0">
                <a:solidFill>
                  <a:srgbClr val="0070C0"/>
                </a:solidFill>
                <a:latin typeface="Comic Sans MS" pitchFamily="66" charset="0"/>
              </a:rPr>
              <a:t>With </a:t>
            </a:r>
            <a:r>
              <a:rPr lang="en-US" sz="2800" i="1" dirty="0" smtClean="0">
                <a:solidFill>
                  <a:srgbClr val="0070C0"/>
                </a:solidFill>
                <a:latin typeface="Comic Sans MS" pitchFamily="66" charset="0"/>
              </a:rPr>
              <a:t>free writing</a:t>
            </a:r>
            <a:r>
              <a:rPr lang="en-US" sz="2800" dirty="0" smtClean="0">
                <a:solidFill>
                  <a:srgbClr val="0070C0"/>
                </a:solidFill>
                <a:latin typeface="Comic Sans MS" pitchFamily="66" charset="0"/>
              </a:rPr>
              <a:t>, you put your ideas onto paper in the form of sentences as quickly as possible.  Unlike the final essay, in free writing you don't worry about spelling, punctuation and grammar.  Get your ideas on the page while they're buzzing around in your brain.  Imagine that you're talking to yourself on paper.  If you hit a rough patch, just keep writing whatever comes into your head.  Soon some more topic ideas will come, and you can add them.</a:t>
            </a:r>
            <a:endParaRPr lang="en-GB" sz="2800" dirty="0" smtClean="0">
              <a:solidFill>
                <a:srgbClr val="0070C0"/>
              </a:solidFill>
              <a:latin typeface="Comic Sans MS" pitchFamily="66" charset="0"/>
            </a:endParaRPr>
          </a:p>
          <a:p>
            <a:pPr>
              <a:buNone/>
            </a:pPr>
            <a:r>
              <a:rPr lang="en-US" dirty="0" smtClean="0">
                <a:solidFill>
                  <a:srgbClr val="00B050"/>
                </a:solidFill>
                <a:latin typeface="Comic Sans MS" pitchFamily="66" charset="0"/>
              </a:rPr>
              <a:t>                                                            for example-</a:t>
            </a:r>
            <a:endParaRPr lang="en-GB" dirty="0"/>
          </a:p>
        </p:txBody>
      </p:sp>
      <p:sp>
        <p:nvSpPr>
          <p:cNvPr id="4" name="Footer Placeholder 3"/>
          <p:cNvSpPr>
            <a:spLocks noGrp="1"/>
          </p:cNvSpPr>
          <p:nvPr>
            <p:ph type="ftr" sz="quarter" idx="16"/>
          </p:nvPr>
        </p:nvSpPr>
        <p:spPr/>
        <p:txBody>
          <a:bodyPr/>
          <a:lstStyle/>
          <a:p>
            <a:r>
              <a:rPr lang="en-GB" smtClean="0"/>
              <a:t>Dr. Prashant Luthra/SSSIHL</a:t>
            </a:r>
            <a:endParaRPr lang="en-GB"/>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sz="quarter" idx="1"/>
          </p:nvPr>
        </p:nvSpPr>
        <p:spPr>
          <a:xfrm>
            <a:off x="457200" y="381000"/>
            <a:ext cx="7467600" cy="6092952"/>
          </a:xfrm>
        </p:spPr>
        <p:txBody>
          <a:bodyPr>
            <a:normAutofit fontScale="85000" lnSpcReduction="10000"/>
          </a:bodyPr>
          <a:lstStyle/>
          <a:p>
            <a:r>
              <a:rPr lang="en-US" sz="3800" b="1" dirty="0" err="1" smtClean="0">
                <a:solidFill>
                  <a:srgbClr val="FF0000"/>
                </a:solidFill>
                <a:latin typeface="Calibri" pitchFamily="34" charset="0"/>
              </a:rPr>
              <a:t>Freewriting</a:t>
            </a:r>
            <a:endParaRPr lang="en-GB" sz="3800" dirty="0" smtClean="0">
              <a:solidFill>
                <a:srgbClr val="FF0000"/>
              </a:solidFill>
              <a:latin typeface="Calibri" pitchFamily="34" charset="0"/>
            </a:endParaRPr>
          </a:p>
          <a:p>
            <a:r>
              <a:rPr lang="en-US" sz="3300" dirty="0" smtClean="0">
                <a:solidFill>
                  <a:srgbClr val="002060"/>
                </a:solidFill>
                <a:latin typeface="Calibri" pitchFamily="34" charset="0"/>
              </a:rPr>
              <a:t>Subject</a:t>
            </a:r>
            <a:r>
              <a:rPr lang="en-US" sz="3300" dirty="0" smtClean="0">
                <a:latin typeface="Calibri" pitchFamily="34" charset="0"/>
              </a:rPr>
              <a:t>: </a:t>
            </a:r>
            <a:r>
              <a:rPr lang="en-US" sz="3300" dirty="0" smtClean="0">
                <a:solidFill>
                  <a:srgbClr val="008000"/>
                </a:solidFill>
                <a:latin typeface="Calibri" pitchFamily="34" charset="0"/>
              </a:rPr>
              <a:t>A Memorable Moment</a:t>
            </a:r>
            <a:endParaRPr lang="en-GB" sz="3300" dirty="0" smtClean="0">
              <a:solidFill>
                <a:srgbClr val="008000"/>
              </a:solidFill>
              <a:latin typeface="Calibri" pitchFamily="34" charset="0"/>
            </a:endParaRPr>
          </a:p>
          <a:p>
            <a:pPr>
              <a:buNone/>
            </a:pPr>
            <a:r>
              <a:rPr lang="en-US" dirty="0" smtClean="0">
                <a:latin typeface="Calibri" pitchFamily="34" charset="0"/>
              </a:rPr>
              <a:t>    </a:t>
            </a:r>
            <a:r>
              <a:rPr lang="en-US" dirty="0" smtClean="0">
                <a:solidFill>
                  <a:srgbClr val="0070C0"/>
                </a:solidFill>
                <a:latin typeface="Calibri" pitchFamily="34" charset="0"/>
              </a:rPr>
              <a:t>The day I got my driver's license. Cloudy. Raining. Crummy taste in my mouth. Nervous stomach. Sweaty hands.  DMV exam room. Crowded. People pushing. Smoking. Stale air. Loud laughter and kids crying. Waiting in line for eternity. Dirty floor, carved up desk tops. Waiting and waiting.  Still in line. Candy wrappers on floor. People next to me looked poor.  Dirty T-shirts. Foreigners having trouble understanding written test. Lots of luck.  Everyone seems older than me.  Cop graded written test. Passed. Knew I would. Studied hard for weeks. Only missed two questions.  Don't know why, knew the answers.  Here, said the cop.  Thanks I said.  He ignored me, just looked straight ahead.  Next, he mumbled. Big beer gut. Gray face. Smoking. More lines. Wait again, again. again.  Wait in line for vision test.  People loud, rude, nervous in line. Getting angry at waiting.  Been here three hours said a scruffy looking kid.  Tough.  Faceless eye examiner.  Passed.  Go to the next line.     Thank you. No response.  Thanks a lot.  Still no response.  Important moment for me.  Must of been for him when he was my ages.  Guess he doesn't remember.</a:t>
            </a:r>
            <a:endParaRPr lang="en-GB" dirty="0" smtClean="0">
              <a:solidFill>
                <a:srgbClr val="0070C0"/>
              </a:solidFill>
              <a:latin typeface="Calibri" pitchFamily="34" charset="0"/>
            </a:endParaRPr>
          </a:p>
          <a:p>
            <a:endParaRPr lang="en-GB" dirty="0"/>
          </a:p>
        </p:txBody>
      </p:sp>
      <p:sp>
        <p:nvSpPr>
          <p:cNvPr id="4" name="Footer Placeholder 3"/>
          <p:cNvSpPr>
            <a:spLocks noGrp="1"/>
          </p:cNvSpPr>
          <p:nvPr>
            <p:ph type="ftr" sz="quarter" idx="16"/>
          </p:nvPr>
        </p:nvSpPr>
        <p:spPr/>
        <p:txBody>
          <a:bodyPr/>
          <a:lstStyle/>
          <a:p>
            <a:r>
              <a:rPr lang="en-GB" smtClean="0"/>
              <a:t>Dr. Prashant Luthra/SSSIHL</a:t>
            </a:r>
            <a:endParaRPr lang="en-GB"/>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7467600" cy="639762"/>
          </a:xfrm>
        </p:spPr>
        <p:txBody>
          <a:bodyPr>
            <a:normAutofit fontScale="90000"/>
          </a:bodyPr>
          <a:lstStyle/>
          <a:p>
            <a:r>
              <a:rPr lang="en-GB" u="sng" dirty="0" smtClean="0">
                <a:hlinkClick r:id="rId2"/>
              </a:rPr>
              <a:t>Image Map</a:t>
            </a:r>
            <a:r>
              <a:rPr lang="en-GB" dirty="0" smtClean="0"/>
              <a:t/>
            </a:r>
            <a:br>
              <a:rPr lang="en-GB" dirty="0" smtClean="0"/>
            </a:br>
            <a:endParaRPr lang="en-GB" dirty="0"/>
          </a:p>
        </p:txBody>
      </p:sp>
      <p:sp>
        <p:nvSpPr>
          <p:cNvPr id="3" name="Content Placeholder 2"/>
          <p:cNvSpPr>
            <a:spLocks noGrp="1"/>
          </p:cNvSpPr>
          <p:nvPr>
            <p:ph sz="quarter" idx="1"/>
          </p:nvPr>
        </p:nvSpPr>
        <p:spPr>
          <a:xfrm>
            <a:off x="457200" y="838200"/>
            <a:ext cx="7467600" cy="5635752"/>
          </a:xfrm>
        </p:spPr>
        <p:txBody>
          <a:bodyPr/>
          <a:lstStyle/>
          <a:p>
            <a:r>
              <a:rPr lang="en-US" dirty="0" smtClean="0">
                <a:solidFill>
                  <a:srgbClr val="FF0000"/>
                </a:solidFill>
                <a:latin typeface="Comic Sans MS" pitchFamily="66" charset="0"/>
              </a:rPr>
              <a:t>If you like to draw or doodle, </a:t>
            </a:r>
            <a:r>
              <a:rPr lang="en-US" i="1" dirty="0" smtClean="0">
                <a:solidFill>
                  <a:srgbClr val="FF0000"/>
                </a:solidFill>
                <a:latin typeface="Comic Sans MS" pitchFamily="66" charset="0"/>
              </a:rPr>
              <a:t>image mapping</a:t>
            </a:r>
            <a:r>
              <a:rPr lang="en-US" dirty="0" smtClean="0">
                <a:solidFill>
                  <a:srgbClr val="FF0000"/>
                </a:solidFill>
                <a:latin typeface="Comic Sans MS" pitchFamily="66" charset="0"/>
              </a:rPr>
              <a:t> might just be for you. Instead of writing your ideas down with words, draw quick sketches to represent your thoughts.  After you've drawn some ideas, label them with words if you like.</a:t>
            </a:r>
            <a:endParaRPr lang="en-GB" dirty="0" smtClean="0">
              <a:solidFill>
                <a:srgbClr val="FF0000"/>
              </a:solidFill>
              <a:latin typeface="Comic Sans MS" pitchFamily="66" charset="0"/>
            </a:endParaRPr>
          </a:p>
          <a:p>
            <a:pPr>
              <a:buNone/>
            </a:pPr>
            <a:endParaRPr lang="en-GB" dirty="0"/>
          </a:p>
        </p:txBody>
      </p:sp>
      <p:pic>
        <p:nvPicPr>
          <p:cNvPr id="4" name="Picture 3" descr="44444.JPG"/>
          <p:cNvPicPr>
            <a:picLocks noChangeAspect="1"/>
          </p:cNvPicPr>
          <p:nvPr/>
        </p:nvPicPr>
        <p:blipFill>
          <a:blip r:embed="rId3" cstate="print"/>
          <a:stretch>
            <a:fillRect/>
          </a:stretch>
        </p:blipFill>
        <p:spPr>
          <a:xfrm>
            <a:off x="2133600" y="2819400"/>
            <a:ext cx="4267200" cy="3886200"/>
          </a:xfrm>
          <a:prstGeom prst="rect">
            <a:avLst/>
          </a:prstGeom>
        </p:spPr>
      </p:pic>
      <p:sp>
        <p:nvSpPr>
          <p:cNvPr id="5" name="Footer Placeholder 4"/>
          <p:cNvSpPr>
            <a:spLocks noGrp="1"/>
          </p:cNvSpPr>
          <p:nvPr>
            <p:ph type="ftr" sz="quarter" idx="16"/>
          </p:nvPr>
        </p:nvSpPr>
        <p:spPr/>
        <p:txBody>
          <a:bodyPr/>
          <a:lstStyle/>
          <a:p>
            <a:r>
              <a:rPr lang="en-GB" smtClean="0"/>
              <a:t>Dr. Prashant Luthra/SSSIHL</a:t>
            </a:r>
            <a:endParaRPr lang="en-GB"/>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sz="quarter" idx="1"/>
          </p:nvPr>
        </p:nvSpPr>
        <p:spPr>
          <a:xfrm>
            <a:off x="457200" y="381000"/>
            <a:ext cx="7467600" cy="6092952"/>
          </a:xfrm>
        </p:spPr>
        <p:txBody>
          <a:bodyPr/>
          <a:lstStyle/>
          <a:p>
            <a:pPr>
              <a:buNone/>
            </a:pPr>
            <a:r>
              <a:rPr lang="en-US" dirty="0" smtClean="0"/>
              <a:t>  </a:t>
            </a:r>
            <a:r>
              <a:rPr lang="en-US" i="1" dirty="0" smtClean="0">
                <a:solidFill>
                  <a:srgbClr val="FF0000"/>
                </a:solidFill>
                <a:latin typeface="Comic Sans MS" pitchFamily="66" charset="0"/>
              </a:rPr>
              <a:t>For example, I made the following brainstorm list for the writing prompt about pets:</a:t>
            </a:r>
            <a:endParaRPr lang="en-GB" i="1" dirty="0" smtClean="0">
              <a:solidFill>
                <a:srgbClr val="FF0000"/>
              </a:solidFill>
              <a:latin typeface="Comic Sans MS" pitchFamily="66" charset="0"/>
            </a:endParaRPr>
          </a:p>
          <a:p>
            <a:endParaRPr lang="en-GB" dirty="0"/>
          </a:p>
        </p:txBody>
      </p:sp>
      <p:pic>
        <p:nvPicPr>
          <p:cNvPr id="4" name="Picture 3" descr="55555.JPG"/>
          <p:cNvPicPr>
            <a:picLocks noChangeAspect="1"/>
          </p:cNvPicPr>
          <p:nvPr/>
        </p:nvPicPr>
        <p:blipFill>
          <a:blip r:embed="rId2" cstate="print"/>
          <a:stretch>
            <a:fillRect/>
          </a:stretch>
        </p:blipFill>
        <p:spPr>
          <a:xfrm>
            <a:off x="2209800" y="1676400"/>
            <a:ext cx="3452813" cy="4520046"/>
          </a:xfrm>
          <a:prstGeom prst="rect">
            <a:avLst/>
          </a:prstGeom>
        </p:spPr>
      </p:pic>
      <p:sp>
        <p:nvSpPr>
          <p:cNvPr id="5" name="Footer Placeholder 4"/>
          <p:cNvSpPr>
            <a:spLocks noGrp="1"/>
          </p:cNvSpPr>
          <p:nvPr>
            <p:ph type="ftr" sz="quarter" idx="16"/>
          </p:nvPr>
        </p:nvSpPr>
        <p:spPr/>
        <p:txBody>
          <a:bodyPr/>
          <a:lstStyle/>
          <a:p>
            <a:r>
              <a:rPr lang="en-GB" smtClean="0"/>
              <a:t>Dr. Prashant Luthra/SSSIHL</a:t>
            </a:r>
            <a:endParaRPr lang="en-GB"/>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sz="quarter" idx="1"/>
          </p:nvPr>
        </p:nvSpPr>
        <p:spPr>
          <a:xfrm>
            <a:off x="457200" y="381000"/>
            <a:ext cx="7467600" cy="6092952"/>
          </a:xfrm>
        </p:spPr>
        <p:txBody>
          <a:bodyPr>
            <a:normAutofit lnSpcReduction="10000"/>
          </a:bodyPr>
          <a:lstStyle/>
          <a:p>
            <a:pPr algn="just">
              <a:buNone/>
            </a:pPr>
            <a:r>
              <a:rPr lang="en-US" sz="3200" dirty="0" smtClean="0"/>
              <a:t>  </a:t>
            </a:r>
            <a:r>
              <a:rPr lang="en-US" sz="3200" dirty="0" smtClean="0">
                <a:solidFill>
                  <a:srgbClr val="FF0000"/>
                </a:solidFill>
                <a:latin typeface="Comic Sans MS" pitchFamily="66" charset="0"/>
              </a:rPr>
              <a:t>Now I have to look over my list and pick a topic to write about. Here are some questions you might ask yourself as you try to choose your topic:</a:t>
            </a:r>
            <a:endParaRPr lang="en-GB" sz="3200" dirty="0" smtClean="0">
              <a:solidFill>
                <a:srgbClr val="FF0000"/>
              </a:solidFill>
              <a:latin typeface="Comic Sans MS" pitchFamily="66" charset="0"/>
            </a:endParaRPr>
          </a:p>
          <a:p>
            <a:pPr lvl="0"/>
            <a:r>
              <a:rPr lang="en-GB" dirty="0" smtClean="0">
                <a:solidFill>
                  <a:srgbClr val="0070C0"/>
                </a:solidFill>
                <a:latin typeface="Comic Sans MS" pitchFamily="66" charset="0"/>
              </a:rPr>
              <a:t>About which topic do you feel most strongly?</a:t>
            </a:r>
          </a:p>
          <a:p>
            <a:pPr lvl="0">
              <a:buNone/>
            </a:pPr>
            <a:endParaRPr lang="en-GB" dirty="0" smtClean="0">
              <a:solidFill>
                <a:srgbClr val="0070C0"/>
              </a:solidFill>
              <a:latin typeface="Comic Sans MS" pitchFamily="66" charset="0"/>
            </a:endParaRPr>
          </a:p>
          <a:p>
            <a:pPr lvl="0"/>
            <a:r>
              <a:rPr lang="en-GB" dirty="0" smtClean="0">
                <a:solidFill>
                  <a:srgbClr val="0070C0"/>
                </a:solidFill>
                <a:latin typeface="Comic Sans MS" pitchFamily="66" charset="0"/>
              </a:rPr>
              <a:t>Which topic would be the easiest for you to write?</a:t>
            </a:r>
          </a:p>
          <a:p>
            <a:pPr lvl="0">
              <a:buNone/>
            </a:pPr>
            <a:endParaRPr lang="en-GB" dirty="0" smtClean="0">
              <a:solidFill>
                <a:srgbClr val="0070C0"/>
              </a:solidFill>
              <a:latin typeface="Comic Sans MS" pitchFamily="66" charset="0"/>
            </a:endParaRPr>
          </a:p>
          <a:p>
            <a:pPr lvl="0"/>
            <a:r>
              <a:rPr lang="en-GB" dirty="0" smtClean="0">
                <a:solidFill>
                  <a:srgbClr val="0070C0"/>
                </a:solidFill>
                <a:latin typeface="Comic Sans MS" pitchFamily="66" charset="0"/>
              </a:rPr>
              <a:t>For which topic do you have the most strong ideas or background knowledge?</a:t>
            </a:r>
          </a:p>
          <a:p>
            <a:pPr algn="ctr">
              <a:buNone/>
            </a:pPr>
            <a:r>
              <a:rPr lang="en-US" sz="3600" dirty="0" smtClean="0">
                <a:solidFill>
                  <a:srgbClr val="008000"/>
                </a:solidFill>
                <a:latin typeface="Comic Sans MS" pitchFamily="66" charset="0"/>
              </a:rPr>
              <a:t>For my essay, I've chosen the topic "dogs."</a:t>
            </a:r>
            <a:endParaRPr lang="en-GB" sz="3600" dirty="0" smtClean="0">
              <a:solidFill>
                <a:srgbClr val="008000"/>
              </a:solidFill>
              <a:latin typeface="Comic Sans MS" pitchFamily="66" charset="0"/>
            </a:endParaRPr>
          </a:p>
          <a:p>
            <a:pPr lvl="0"/>
            <a:endParaRPr lang="en-GB" dirty="0" smtClean="0">
              <a:solidFill>
                <a:srgbClr val="0070C0"/>
              </a:solidFill>
              <a:latin typeface="Comic Sans MS" pitchFamily="66" charset="0"/>
            </a:endParaRPr>
          </a:p>
          <a:p>
            <a:endParaRPr lang="en-GB" dirty="0"/>
          </a:p>
        </p:txBody>
      </p:sp>
      <p:sp>
        <p:nvSpPr>
          <p:cNvPr id="4" name="Footer Placeholder 3"/>
          <p:cNvSpPr>
            <a:spLocks noGrp="1"/>
          </p:cNvSpPr>
          <p:nvPr>
            <p:ph type="ftr" sz="quarter" idx="16"/>
          </p:nvPr>
        </p:nvSpPr>
        <p:spPr/>
        <p:txBody>
          <a:bodyPr/>
          <a:lstStyle/>
          <a:p>
            <a:r>
              <a:rPr lang="en-GB" smtClean="0"/>
              <a:t>Dr. Prashant Luthra/SSSIHL</a:t>
            </a:r>
            <a:endParaRPr lang="en-GB"/>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563562"/>
          </a:xfrm>
        </p:spPr>
        <p:txBody>
          <a:bodyPr/>
          <a:lstStyle/>
          <a:p>
            <a:r>
              <a:rPr lang="en-GB" dirty="0" smtClean="0"/>
              <a:t>List and Develop Major Points</a:t>
            </a:r>
            <a:endParaRPr lang="en-GB" dirty="0"/>
          </a:p>
        </p:txBody>
      </p:sp>
      <p:sp>
        <p:nvSpPr>
          <p:cNvPr id="3" name="Content Placeholder 2"/>
          <p:cNvSpPr>
            <a:spLocks noGrp="1"/>
          </p:cNvSpPr>
          <p:nvPr>
            <p:ph sz="quarter" idx="1"/>
          </p:nvPr>
        </p:nvSpPr>
        <p:spPr>
          <a:xfrm>
            <a:off x="457200" y="914400"/>
            <a:ext cx="7467600" cy="5559552"/>
          </a:xfrm>
        </p:spPr>
        <p:txBody>
          <a:bodyPr/>
          <a:lstStyle/>
          <a:p>
            <a:pPr algn="just">
              <a:buNone/>
            </a:pPr>
            <a:r>
              <a:rPr lang="en-US" sz="1800" dirty="0" smtClean="0">
                <a:solidFill>
                  <a:srgbClr val="FF0000"/>
                </a:solidFill>
                <a:latin typeface="Comic Sans MS" pitchFamily="66" charset="0"/>
              </a:rPr>
              <a:t>    Now that you've selected the topic for your essay, it's time to think about how you're going to develop your major points. For example, I know that I want to write about dogs. Looking back at the prompt, I see that I have to give three reasons why a dog is the right pet for me. So I make a list of things that I like about dogs:</a:t>
            </a:r>
            <a:endParaRPr lang="en-GB" sz="1800" dirty="0" smtClean="0">
              <a:solidFill>
                <a:srgbClr val="FF0000"/>
              </a:solidFill>
              <a:latin typeface="Comic Sans MS" pitchFamily="66" charset="0"/>
            </a:endParaRPr>
          </a:p>
          <a:p>
            <a:pPr>
              <a:buNone/>
            </a:pPr>
            <a:endParaRPr lang="en-GB" dirty="0"/>
          </a:p>
        </p:txBody>
      </p:sp>
      <p:pic>
        <p:nvPicPr>
          <p:cNvPr id="4" name="Picture 3" descr="66666.JPG"/>
          <p:cNvPicPr>
            <a:picLocks noChangeAspect="1"/>
          </p:cNvPicPr>
          <p:nvPr/>
        </p:nvPicPr>
        <p:blipFill>
          <a:blip r:embed="rId2" cstate="print"/>
          <a:stretch>
            <a:fillRect/>
          </a:stretch>
        </p:blipFill>
        <p:spPr>
          <a:xfrm>
            <a:off x="2514600" y="2412395"/>
            <a:ext cx="2895600" cy="4217005"/>
          </a:xfrm>
          <a:prstGeom prst="rect">
            <a:avLst/>
          </a:prstGeom>
        </p:spPr>
      </p:pic>
      <p:sp>
        <p:nvSpPr>
          <p:cNvPr id="5" name="Footer Placeholder 4"/>
          <p:cNvSpPr>
            <a:spLocks noGrp="1"/>
          </p:cNvSpPr>
          <p:nvPr>
            <p:ph type="ftr" sz="quarter" idx="16"/>
          </p:nvPr>
        </p:nvSpPr>
        <p:spPr/>
        <p:txBody>
          <a:bodyPr/>
          <a:lstStyle/>
          <a:p>
            <a:r>
              <a:rPr lang="en-GB" smtClean="0"/>
              <a:t>Dr. Prashant Luthra/SSSIHL</a:t>
            </a:r>
            <a:endParaRPr lang="en-GB"/>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sz="quarter" idx="1"/>
          </p:nvPr>
        </p:nvSpPr>
        <p:spPr>
          <a:xfrm>
            <a:off x="457200" y="457200"/>
            <a:ext cx="7467600" cy="6016752"/>
          </a:xfrm>
        </p:spPr>
        <p:txBody>
          <a:bodyPr/>
          <a:lstStyle/>
          <a:p>
            <a:pPr>
              <a:buNone/>
            </a:pPr>
            <a:r>
              <a:rPr lang="en-US" dirty="0" smtClean="0">
                <a:solidFill>
                  <a:srgbClr val="0070C0"/>
                </a:solidFill>
              </a:rPr>
              <a:t>   </a:t>
            </a:r>
            <a:r>
              <a:rPr lang="en-US" dirty="0" smtClean="0">
                <a:solidFill>
                  <a:srgbClr val="0070C0"/>
                </a:solidFill>
                <a:latin typeface="Comic Sans MS" pitchFamily="66" charset="0"/>
              </a:rPr>
              <a:t>Next, I look over my list and decide on the three major points, or reasons, that I want to discuss in my essay. I decide that a dog would be the best pet for me because they're . . .</a:t>
            </a:r>
          </a:p>
          <a:p>
            <a:pPr>
              <a:buNone/>
            </a:pPr>
            <a:endParaRPr lang="en-GB" dirty="0" smtClean="0">
              <a:latin typeface="Comic Sans MS" pitchFamily="66" charset="0"/>
            </a:endParaRPr>
          </a:p>
          <a:p>
            <a:r>
              <a:rPr lang="en-US" sz="4000" dirty="0" smtClean="0">
                <a:latin typeface="Comic Sans MS" pitchFamily="66" charset="0"/>
              </a:rPr>
              <a:t> </a:t>
            </a:r>
            <a:r>
              <a:rPr lang="en-US" sz="4000" dirty="0" smtClean="0">
                <a:solidFill>
                  <a:srgbClr val="FF0000"/>
                </a:solidFill>
                <a:latin typeface="Comic Sans MS" pitchFamily="66" charset="0"/>
              </a:rPr>
              <a:t>loyal</a:t>
            </a:r>
          </a:p>
          <a:p>
            <a:r>
              <a:rPr lang="en-US" sz="4000" dirty="0" smtClean="0">
                <a:solidFill>
                  <a:srgbClr val="FF0000"/>
                </a:solidFill>
                <a:latin typeface="Comic Sans MS" pitchFamily="66" charset="0"/>
              </a:rPr>
              <a:t> easy to train</a:t>
            </a:r>
          </a:p>
          <a:p>
            <a:r>
              <a:rPr lang="en-US" sz="4000" dirty="0" smtClean="0">
                <a:solidFill>
                  <a:srgbClr val="FF0000"/>
                </a:solidFill>
                <a:latin typeface="Comic Sans MS" pitchFamily="66" charset="0"/>
              </a:rPr>
              <a:t> fun to take places</a:t>
            </a:r>
            <a:endParaRPr lang="en-GB" sz="4000" dirty="0" smtClean="0">
              <a:solidFill>
                <a:srgbClr val="FF0000"/>
              </a:solidFill>
              <a:latin typeface="Comic Sans MS" pitchFamily="66" charset="0"/>
            </a:endParaRPr>
          </a:p>
          <a:p>
            <a:endParaRPr lang="en-GB" dirty="0">
              <a:latin typeface="Comic Sans MS" pitchFamily="66" charset="0"/>
            </a:endParaRPr>
          </a:p>
        </p:txBody>
      </p:sp>
      <p:sp>
        <p:nvSpPr>
          <p:cNvPr id="4" name="Footer Placeholder 3"/>
          <p:cNvSpPr>
            <a:spLocks noGrp="1"/>
          </p:cNvSpPr>
          <p:nvPr>
            <p:ph type="ftr" sz="quarter" idx="16"/>
          </p:nvPr>
        </p:nvSpPr>
        <p:spPr/>
        <p:txBody>
          <a:bodyPr/>
          <a:lstStyle/>
          <a:p>
            <a:r>
              <a:rPr lang="en-GB" smtClean="0"/>
              <a:t>Dr. Prashant Luthra/SSSIHL</a:t>
            </a:r>
            <a:endParaRPr lang="en-GB"/>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sz="quarter" idx="1"/>
          </p:nvPr>
        </p:nvSpPr>
        <p:spPr>
          <a:xfrm>
            <a:off x="457200" y="381000"/>
            <a:ext cx="7467600" cy="6092952"/>
          </a:xfrm>
        </p:spPr>
        <p:txBody>
          <a:bodyPr/>
          <a:lstStyle/>
          <a:p>
            <a:pPr algn="just">
              <a:buNone/>
            </a:pPr>
            <a:r>
              <a:rPr lang="en-GB" dirty="0" smtClean="0"/>
              <a:t>   </a:t>
            </a:r>
            <a:r>
              <a:rPr lang="en-GB" sz="2000" dirty="0" smtClean="0">
                <a:solidFill>
                  <a:srgbClr val="FF0000"/>
                </a:solidFill>
                <a:latin typeface="Comic Sans MS" pitchFamily="66" charset="0"/>
              </a:rPr>
              <a:t>Each of these ideas will turn into a separate body paragraph for my essay. Now I go back to those three major points and brainstorm once again to develop more ideas.</a:t>
            </a:r>
            <a:endParaRPr lang="en-GB" sz="2000" dirty="0">
              <a:solidFill>
                <a:srgbClr val="FF0000"/>
              </a:solidFill>
              <a:latin typeface="Comic Sans MS" pitchFamily="66" charset="0"/>
            </a:endParaRPr>
          </a:p>
        </p:txBody>
      </p:sp>
      <p:pic>
        <p:nvPicPr>
          <p:cNvPr id="4" name="Picture 3" descr="7777777.JPG"/>
          <p:cNvPicPr>
            <a:picLocks noChangeAspect="1"/>
          </p:cNvPicPr>
          <p:nvPr/>
        </p:nvPicPr>
        <p:blipFill>
          <a:blip r:embed="rId2" cstate="print"/>
          <a:stretch>
            <a:fillRect/>
          </a:stretch>
        </p:blipFill>
        <p:spPr>
          <a:xfrm>
            <a:off x="1676400" y="1524000"/>
            <a:ext cx="5181600" cy="4982817"/>
          </a:xfrm>
          <a:prstGeom prst="rect">
            <a:avLst/>
          </a:prstGeom>
        </p:spPr>
      </p:pic>
      <p:sp>
        <p:nvSpPr>
          <p:cNvPr id="5" name="Footer Placeholder 4"/>
          <p:cNvSpPr>
            <a:spLocks noGrp="1"/>
          </p:cNvSpPr>
          <p:nvPr>
            <p:ph type="ftr" sz="quarter" idx="16"/>
          </p:nvPr>
        </p:nvSpPr>
        <p:spPr/>
        <p:txBody>
          <a:bodyPr/>
          <a:lstStyle/>
          <a:p>
            <a:r>
              <a:rPr lang="en-GB" smtClean="0"/>
              <a:t>Dr. Prashant Luthra/SSSIHL</a:t>
            </a:r>
            <a:endParaRPr lang="en-GB"/>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sz="quarter" idx="1"/>
          </p:nvPr>
        </p:nvSpPr>
        <p:spPr>
          <a:xfrm>
            <a:off x="457200" y="381000"/>
            <a:ext cx="7467600" cy="6092952"/>
          </a:xfrm>
        </p:spPr>
        <p:txBody>
          <a:bodyPr/>
          <a:lstStyle/>
          <a:p>
            <a:pPr algn="just">
              <a:buNone/>
            </a:pPr>
            <a:r>
              <a:rPr lang="en-US" dirty="0" smtClean="0"/>
              <a:t>   </a:t>
            </a:r>
            <a:r>
              <a:rPr lang="en-US" sz="3600" dirty="0" smtClean="0">
                <a:solidFill>
                  <a:srgbClr val="0070C0"/>
                </a:solidFill>
                <a:latin typeface="Comic Sans MS" pitchFamily="66" charset="0"/>
              </a:rPr>
              <a:t>At this point, you should have a pretty good idea of what you're going to write about in your essay. If you get stuck here and have problems coming up with ideas for your three major points, go back to your original </a:t>
            </a:r>
            <a:r>
              <a:rPr lang="en-US" sz="3600" dirty="0" err="1" smtClean="0">
                <a:solidFill>
                  <a:srgbClr val="0070C0"/>
                </a:solidFill>
                <a:latin typeface="Comic Sans MS" pitchFamily="66" charset="0"/>
              </a:rPr>
              <a:t>prewrite</a:t>
            </a:r>
            <a:r>
              <a:rPr lang="en-US" sz="3600" dirty="0" smtClean="0">
                <a:solidFill>
                  <a:srgbClr val="0070C0"/>
                </a:solidFill>
                <a:latin typeface="Comic Sans MS" pitchFamily="66" charset="0"/>
              </a:rPr>
              <a:t> and try to find another idea that will work better for you.</a:t>
            </a:r>
            <a:endParaRPr lang="en-GB" dirty="0" smtClean="0">
              <a:solidFill>
                <a:srgbClr val="0070C0"/>
              </a:solidFill>
              <a:latin typeface="Comic Sans MS" pitchFamily="66" charset="0"/>
            </a:endParaRPr>
          </a:p>
          <a:p>
            <a:endParaRPr lang="en-GB" dirty="0"/>
          </a:p>
        </p:txBody>
      </p:sp>
      <p:sp>
        <p:nvSpPr>
          <p:cNvPr id="4" name="Footer Placeholder 3"/>
          <p:cNvSpPr>
            <a:spLocks noGrp="1"/>
          </p:cNvSpPr>
          <p:nvPr>
            <p:ph type="ftr" sz="quarter" idx="16"/>
          </p:nvPr>
        </p:nvSpPr>
        <p:spPr/>
        <p:txBody>
          <a:bodyPr/>
          <a:lstStyle/>
          <a:p>
            <a:r>
              <a:rPr lang="en-GB" smtClean="0"/>
              <a:t>Dr. Prashant Luthra/SSSIHL</a:t>
            </a:r>
            <a:endParaRPr lang="en-GB"/>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Footer Placeholder 2"/>
          <p:cNvSpPr>
            <a:spLocks noGrp="1"/>
          </p:cNvSpPr>
          <p:nvPr>
            <p:ph type="ftr" sz="quarter" idx="11"/>
          </p:nvPr>
        </p:nvSpPr>
        <p:spPr/>
        <p:txBody>
          <a:bodyPr/>
          <a:lstStyle/>
          <a:p>
            <a:r>
              <a:rPr lang="en-GB" smtClean="0"/>
              <a:t>Dr. Prashant Luthra/SSSIHL</a:t>
            </a:r>
            <a:endParaRPr lang="en-GB"/>
          </a:p>
        </p:txBody>
      </p:sp>
      <p:pic>
        <p:nvPicPr>
          <p:cNvPr id="6" name="Content Placeholder 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762000" y="-42698"/>
            <a:ext cx="7086599" cy="6626584"/>
          </a:xfr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563562"/>
          </a:xfrm>
        </p:spPr>
        <p:txBody>
          <a:bodyPr/>
          <a:lstStyle/>
          <a:p>
            <a:r>
              <a:rPr lang="en-GB" dirty="0" smtClean="0">
                <a:solidFill>
                  <a:srgbClr val="FF0000"/>
                </a:solidFill>
              </a:rPr>
              <a:t>Write a Thesis Statement</a:t>
            </a:r>
            <a:endParaRPr lang="en-GB" dirty="0">
              <a:solidFill>
                <a:srgbClr val="FF0000"/>
              </a:solidFill>
            </a:endParaRPr>
          </a:p>
        </p:txBody>
      </p:sp>
      <p:sp>
        <p:nvSpPr>
          <p:cNvPr id="3" name="Content Placeholder 2"/>
          <p:cNvSpPr>
            <a:spLocks noGrp="1"/>
          </p:cNvSpPr>
          <p:nvPr>
            <p:ph sz="quarter" idx="1"/>
          </p:nvPr>
        </p:nvSpPr>
        <p:spPr>
          <a:xfrm>
            <a:off x="457200" y="838200"/>
            <a:ext cx="7467600" cy="5635752"/>
          </a:xfrm>
        </p:spPr>
        <p:txBody>
          <a:bodyPr/>
          <a:lstStyle/>
          <a:p>
            <a:pPr>
              <a:buNone/>
            </a:pPr>
            <a:r>
              <a:rPr lang="en-US" dirty="0" smtClean="0"/>
              <a:t>    </a:t>
            </a:r>
            <a:r>
              <a:rPr lang="en-US" sz="1600" dirty="0" smtClean="0">
                <a:latin typeface="Comic Sans MS" pitchFamily="66" charset="0"/>
              </a:rPr>
              <a:t>After </a:t>
            </a:r>
            <a:r>
              <a:rPr lang="en-US" sz="1600" i="1" u="sng" dirty="0" smtClean="0">
                <a:latin typeface="Comic Sans MS" pitchFamily="66" charset="0"/>
                <a:hlinkClick r:id="rId2"/>
              </a:rPr>
              <a:t>prewriting for ideas</a:t>
            </a:r>
            <a:r>
              <a:rPr lang="en-US" sz="1600" dirty="0" smtClean="0">
                <a:latin typeface="Comic Sans MS" pitchFamily="66" charset="0"/>
              </a:rPr>
              <a:t>, and </a:t>
            </a:r>
            <a:r>
              <a:rPr lang="en-US" sz="1600" i="1" u="sng" dirty="0" smtClean="0">
                <a:latin typeface="Comic Sans MS" pitchFamily="66" charset="0"/>
                <a:hlinkClick r:id="rId3"/>
              </a:rPr>
              <a:t>listing and developing major points</a:t>
            </a:r>
            <a:r>
              <a:rPr lang="en-US" sz="1600" dirty="0" smtClean="0">
                <a:latin typeface="Comic Sans MS" pitchFamily="66" charset="0"/>
              </a:rPr>
              <a:t>, you should have a pretty good idea of what your essay will be about. Now it's time to write the </a:t>
            </a:r>
            <a:r>
              <a:rPr lang="en-US" sz="1600" i="1" dirty="0" smtClean="0">
                <a:latin typeface="Comic Sans MS" pitchFamily="66" charset="0"/>
              </a:rPr>
              <a:t>thesis statement</a:t>
            </a:r>
            <a:r>
              <a:rPr lang="en-US" sz="1600" dirty="0" smtClean="0">
                <a:latin typeface="Comic Sans MS" pitchFamily="66" charset="0"/>
              </a:rPr>
              <a:t>.</a:t>
            </a:r>
            <a:endParaRPr lang="en-GB" dirty="0" smtClean="0">
              <a:latin typeface="Comic Sans MS" pitchFamily="66" charset="0"/>
            </a:endParaRPr>
          </a:p>
          <a:p>
            <a:pPr>
              <a:buNone/>
            </a:pPr>
            <a:r>
              <a:rPr lang="en-US" dirty="0" smtClean="0"/>
              <a:t> </a:t>
            </a:r>
            <a:r>
              <a:rPr lang="en-US" dirty="0" smtClean="0">
                <a:solidFill>
                  <a:srgbClr val="0070C0"/>
                </a:solidFill>
              </a:rPr>
              <a:t>THE THESIS STATEMENT</a:t>
            </a:r>
            <a:endParaRPr lang="en-GB" dirty="0" smtClean="0">
              <a:solidFill>
                <a:srgbClr val="0070C0"/>
              </a:solidFill>
            </a:endParaRPr>
          </a:p>
          <a:p>
            <a:pPr>
              <a:buNone/>
            </a:pPr>
            <a:r>
              <a:rPr lang="en-US" dirty="0" smtClean="0"/>
              <a:t>   </a:t>
            </a:r>
            <a:r>
              <a:rPr lang="en-US" dirty="0" smtClean="0">
                <a:solidFill>
                  <a:srgbClr val="FF0000"/>
                </a:solidFill>
              </a:rPr>
              <a:t>A very basic thesis statement is a single sentence at the end of the first paragraph that tells the reader the main idea of your essay.</a:t>
            </a:r>
          </a:p>
          <a:p>
            <a:pPr>
              <a:buNone/>
            </a:pPr>
            <a:endParaRPr lang="en-GB" dirty="0" smtClean="0"/>
          </a:p>
          <a:p>
            <a:pPr>
              <a:buNone/>
            </a:pPr>
            <a:r>
              <a:rPr lang="en-US" dirty="0" smtClean="0">
                <a:solidFill>
                  <a:srgbClr val="008000"/>
                </a:solidFill>
              </a:rPr>
              <a:t>A thesis statement should do these three things:</a:t>
            </a:r>
            <a:endParaRPr lang="en-GB" dirty="0" smtClean="0">
              <a:solidFill>
                <a:srgbClr val="008000"/>
              </a:solidFill>
            </a:endParaRPr>
          </a:p>
          <a:p>
            <a:pPr>
              <a:buNone/>
            </a:pPr>
            <a:r>
              <a:rPr lang="en-US" dirty="0" smtClean="0"/>
              <a:t>   </a:t>
            </a:r>
            <a:r>
              <a:rPr lang="en-US" i="1" dirty="0" smtClean="0">
                <a:solidFill>
                  <a:srgbClr val="0070C0"/>
                </a:solidFill>
              </a:rPr>
              <a:t>1. It should clearly express what the essay is  </a:t>
            </a:r>
          </a:p>
          <a:p>
            <a:pPr>
              <a:buNone/>
            </a:pPr>
            <a:r>
              <a:rPr lang="en-US" i="1" dirty="0" smtClean="0">
                <a:solidFill>
                  <a:srgbClr val="0070C0"/>
                </a:solidFill>
              </a:rPr>
              <a:t>       about.</a:t>
            </a:r>
            <a:br>
              <a:rPr lang="en-US" i="1" dirty="0" smtClean="0">
                <a:solidFill>
                  <a:srgbClr val="0070C0"/>
                </a:solidFill>
              </a:rPr>
            </a:br>
            <a:r>
              <a:rPr lang="en-US" i="1" dirty="0" smtClean="0">
                <a:solidFill>
                  <a:srgbClr val="0070C0"/>
                </a:solidFill>
              </a:rPr>
              <a:t>2. It should make a discussible point.</a:t>
            </a:r>
            <a:br>
              <a:rPr lang="en-US" i="1" dirty="0" smtClean="0">
                <a:solidFill>
                  <a:srgbClr val="0070C0"/>
                </a:solidFill>
              </a:rPr>
            </a:br>
            <a:r>
              <a:rPr lang="en-US" i="1" dirty="0" smtClean="0">
                <a:solidFill>
                  <a:srgbClr val="0070C0"/>
                </a:solidFill>
              </a:rPr>
              <a:t>3. It should indicate the structure of the essay.</a:t>
            </a:r>
            <a:endParaRPr lang="en-GB" i="1" dirty="0" smtClean="0">
              <a:solidFill>
                <a:srgbClr val="0070C0"/>
              </a:solidFill>
            </a:endParaRPr>
          </a:p>
          <a:p>
            <a:pPr>
              <a:buNone/>
            </a:pPr>
            <a:endParaRPr lang="en-GB" i="1" dirty="0">
              <a:solidFill>
                <a:srgbClr val="0070C0"/>
              </a:solidFill>
            </a:endParaRPr>
          </a:p>
        </p:txBody>
      </p:sp>
      <p:sp>
        <p:nvSpPr>
          <p:cNvPr id="4" name="Footer Placeholder 3"/>
          <p:cNvSpPr>
            <a:spLocks noGrp="1"/>
          </p:cNvSpPr>
          <p:nvPr>
            <p:ph type="ftr" sz="quarter" idx="16"/>
          </p:nvPr>
        </p:nvSpPr>
        <p:spPr/>
        <p:txBody>
          <a:bodyPr/>
          <a:lstStyle/>
          <a:p>
            <a:r>
              <a:rPr lang="en-GB" smtClean="0"/>
              <a:t>Dr. Prashant Luthra/SSSIHL</a:t>
            </a:r>
            <a:endParaRPr lang="en-GB"/>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7467600" cy="639762"/>
          </a:xfrm>
        </p:spPr>
        <p:txBody>
          <a:bodyPr>
            <a:normAutofit fontScale="90000"/>
          </a:bodyPr>
          <a:lstStyle/>
          <a:p>
            <a:r>
              <a:rPr lang="en-US" b="1" dirty="0" smtClean="0">
                <a:solidFill>
                  <a:srgbClr val="FF0000"/>
                </a:solidFill>
              </a:rPr>
              <a:t>Thesis Statement – Examples    </a:t>
            </a:r>
            <a:r>
              <a:rPr lang="en-US" sz="6000" b="1" dirty="0" smtClean="0">
                <a:solidFill>
                  <a:srgbClr val="FF0000"/>
                </a:solidFill>
              </a:rPr>
              <a:t>1</a:t>
            </a:r>
            <a:r>
              <a:rPr lang="en-GB" sz="6000" dirty="0" smtClean="0">
                <a:solidFill>
                  <a:srgbClr val="FF0000"/>
                </a:solidFill>
              </a:rPr>
              <a:t/>
            </a:r>
            <a:br>
              <a:rPr lang="en-GB" sz="6000" dirty="0" smtClean="0">
                <a:solidFill>
                  <a:srgbClr val="FF0000"/>
                </a:solidFill>
              </a:rPr>
            </a:br>
            <a:endParaRPr lang="en-GB" dirty="0">
              <a:solidFill>
                <a:srgbClr val="FF0000"/>
              </a:solidFill>
            </a:endParaRPr>
          </a:p>
        </p:txBody>
      </p:sp>
      <p:sp>
        <p:nvSpPr>
          <p:cNvPr id="3" name="Content Placeholder 2"/>
          <p:cNvSpPr>
            <a:spLocks noGrp="1"/>
          </p:cNvSpPr>
          <p:nvPr>
            <p:ph sz="quarter" idx="1"/>
          </p:nvPr>
        </p:nvSpPr>
        <p:spPr>
          <a:xfrm>
            <a:off x="457200" y="990600"/>
            <a:ext cx="7467600" cy="5483352"/>
          </a:xfrm>
        </p:spPr>
        <p:txBody>
          <a:bodyPr/>
          <a:lstStyle/>
          <a:p>
            <a:r>
              <a:rPr lang="en-US" dirty="0" smtClean="0">
                <a:solidFill>
                  <a:srgbClr val="0070C0"/>
                </a:solidFill>
              </a:rPr>
              <a:t>Subject: </a:t>
            </a:r>
            <a:r>
              <a:rPr lang="en-US" dirty="0" smtClean="0"/>
              <a:t>The Best Place for the Perfect Family Vacation</a:t>
            </a:r>
          </a:p>
          <a:p>
            <a:endParaRPr lang="en-GB" dirty="0" smtClean="0"/>
          </a:p>
          <a:p>
            <a:r>
              <a:rPr lang="en-US" dirty="0" smtClean="0">
                <a:solidFill>
                  <a:srgbClr val="0070C0"/>
                </a:solidFill>
              </a:rPr>
              <a:t>Focused Topic: </a:t>
            </a:r>
            <a:r>
              <a:rPr lang="en-US" dirty="0" smtClean="0"/>
              <a:t>Yosemite</a:t>
            </a:r>
          </a:p>
          <a:p>
            <a:endParaRPr lang="en-GB" dirty="0" smtClean="0"/>
          </a:p>
          <a:p>
            <a:r>
              <a:rPr lang="en-US" b="1" dirty="0" smtClean="0">
                <a:solidFill>
                  <a:srgbClr val="008000"/>
                </a:solidFill>
              </a:rPr>
              <a:t>Three Major Points:</a:t>
            </a:r>
            <a:r>
              <a:rPr lang="en-US" dirty="0" smtClean="0">
                <a:solidFill>
                  <a:srgbClr val="008000"/>
                </a:solidFill>
              </a:rPr>
              <a:t> </a:t>
            </a:r>
            <a:r>
              <a:rPr lang="en-US" dirty="0" smtClean="0"/>
              <a:t>recreational activities, pleasant location, economical lodging</a:t>
            </a:r>
          </a:p>
          <a:p>
            <a:pPr>
              <a:buNone/>
            </a:pPr>
            <a:endParaRPr lang="en-GB" dirty="0" smtClean="0"/>
          </a:p>
          <a:p>
            <a:r>
              <a:rPr lang="en-US" b="1" dirty="0" smtClean="0">
                <a:solidFill>
                  <a:schemeClr val="accent1">
                    <a:lumMod val="75000"/>
                  </a:schemeClr>
                </a:solidFill>
              </a:rPr>
              <a:t>Thesis Statement: </a:t>
            </a:r>
            <a:r>
              <a:rPr lang="en-US" dirty="0" smtClean="0"/>
              <a:t>The best place for the perfect family is Yosemite because of the fun recreational activities, the beautiful scenery in a pleasant location, and the economical lodging available.</a:t>
            </a:r>
            <a:endParaRPr lang="en-GB" dirty="0" smtClean="0"/>
          </a:p>
          <a:p>
            <a:endParaRPr lang="en-GB" dirty="0"/>
          </a:p>
        </p:txBody>
      </p:sp>
      <p:sp>
        <p:nvSpPr>
          <p:cNvPr id="4" name="Footer Placeholder 3"/>
          <p:cNvSpPr>
            <a:spLocks noGrp="1"/>
          </p:cNvSpPr>
          <p:nvPr>
            <p:ph type="ftr" sz="quarter" idx="16"/>
          </p:nvPr>
        </p:nvSpPr>
        <p:spPr/>
        <p:txBody>
          <a:bodyPr/>
          <a:lstStyle/>
          <a:p>
            <a:r>
              <a:rPr lang="en-GB" smtClean="0"/>
              <a:t>Dr. Prashant Luthra/SSSIHL</a:t>
            </a:r>
            <a:endParaRPr lang="en-GB"/>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15962"/>
          </a:xfrm>
        </p:spPr>
        <p:txBody>
          <a:bodyPr>
            <a:normAutofit fontScale="90000"/>
          </a:bodyPr>
          <a:lstStyle/>
          <a:p>
            <a:r>
              <a:rPr lang="en-US" b="1" dirty="0" smtClean="0">
                <a:solidFill>
                  <a:srgbClr val="FF0000"/>
                </a:solidFill>
              </a:rPr>
              <a:t>Thesis Statement – Examples    </a:t>
            </a:r>
            <a:r>
              <a:rPr lang="en-US" sz="6000" b="1" dirty="0" smtClean="0">
                <a:solidFill>
                  <a:srgbClr val="FF0000"/>
                </a:solidFill>
              </a:rPr>
              <a:t>2</a:t>
            </a:r>
            <a:endParaRPr lang="en-GB" dirty="0"/>
          </a:p>
        </p:txBody>
      </p:sp>
      <p:sp>
        <p:nvSpPr>
          <p:cNvPr id="3" name="Content Placeholder 2"/>
          <p:cNvSpPr>
            <a:spLocks noGrp="1"/>
          </p:cNvSpPr>
          <p:nvPr>
            <p:ph sz="quarter" idx="1"/>
          </p:nvPr>
        </p:nvSpPr>
        <p:spPr>
          <a:xfrm>
            <a:off x="457200" y="990600"/>
            <a:ext cx="7467600" cy="5483352"/>
          </a:xfrm>
        </p:spPr>
        <p:txBody>
          <a:bodyPr/>
          <a:lstStyle/>
          <a:p>
            <a:r>
              <a:rPr lang="en-US" dirty="0" smtClean="0">
                <a:solidFill>
                  <a:srgbClr val="0070C0"/>
                </a:solidFill>
              </a:rPr>
              <a:t>Subject:</a:t>
            </a:r>
            <a:r>
              <a:rPr lang="en-US" dirty="0" smtClean="0"/>
              <a:t> A Memorable Moment</a:t>
            </a:r>
          </a:p>
          <a:p>
            <a:endParaRPr lang="en-GB" dirty="0" smtClean="0"/>
          </a:p>
          <a:p>
            <a:r>
              <a:rPr lang="en-US" dirty="0" smtClean="0">
                <a:solidFill>
                  <a:srgbClr val="0070C0"/>
                </a:solidFill>
              </a:rPr>
              <a:t>Focused Topic: </a:t>
            </a:r>
            <a:r>
              <a:rPr lang="en-US" dirty="0" smtClean="0"/>
              <a:t>The Day I Go My Driver's License</a:t>
            </a:r>
          </a:p>
          <a:p>
            <a:endParaRPr lang="en-GB" dirty="0" smtClean="0"/>
          </a:p>
          <a:p>
            <a:r>
              <a:rPr lang="en-US" b="1" dirty="0" smtClean="0">
                <a:solidFill>
                  <a:srgbClr val="008000"/>
                </a:solidFill>
              </a:rPr>
              <a:t>Three Major Points:</a:t>
            </a:r>
            <a:r>
              <a:rPr lang="en-US" dirty="0" smtClean="0">
                <a:solidFill>
                  <a:srgbClr val="008000"/>
                </a:solidFill>
              </a:rPr>
              <a:t> </a:t>
            </a:r>
            <a:r>
              <a:rPr lang="en-US" dirty="0" smtClean="0"/>
              <a:t>unpleasant surroundings, never ending lines, rude people</a:t>
            </a:r>
          </a:p>
          <a:p>
            <a:pPr>
              <a:buNone/>
            </a:pPr>
            <a:endParaRPr lang="en-GB" dirty="0" smtClean="0"/>
          </a:p>
          <a:p>
            <a:r>
              <a:rPr lang="en-US" b="1" dirty="0" smtClean="0">
                <a:solidFill>
                  <a:schemeClr val="accent1">
                    <a:lumMod val="75000"/>
                  </a:schemeClr>
                </a:solidFill>
              </a:rPr>
              <a:t>Thesis Statement:</a:t>
            </a:r>
            <a:r>
              <a:rPr lang="en-US" dirty="0" smtClean="0">
                <a:solidFill>
                  <a:schemeClr val="accent1">
                    <a:lumMod val="75000"/>
                  </a:schemeClr>
                </a:solidFill>
              </a:rPr>
              <a:t> </a:t>
            </a:r>
            <a:r>
              <a:rPr lang="en-US" dirty="0" smtClean="0"/>
              <a:t>One moment I'll never forget was the time I spend in the Department of Motor Vehicles facing unpleasant surroundings, never ending lines, and rude people as I tried to get my first driver's license.</a:t>
            </a:r>
            <a:endParaRPr lang="en-GB" dirty="0" smtClean="0"/>
          </a:p>
          <a:p>
            <a:endParaRPr lang="en-GB" dirty="0"/>
          </a:p>
        </p:txBody>
      </p:sp>
      <p:sp>
        <p:nvSpPr>
          <p:cNvPr id="4" name="Footer Placeholder 3"/>
          <p:cNvSpPr>
            <a:spLocks noGrp="1"/>
          </p:cNvSpPr>
          <p:nvPr>
            <p:ph type="ftr" sz="quarter" idx="16"/>
          </p:nvPr>
        </p:nvSpPr>
        <p:spPr/>
        <p:txBody>
          <a:bodyPr/>
          <a:lstStyle/>
          <a:p>
            <a:r>
              <a:rPr lang="en-GB" smtClean="0"/>
              <a:t>Dr. Prashant Luthra/SSSIHL</a:t>
            </a:r>
            <a:endParaRPr lang="en-GB"/>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15962"/>
          </a:xfrm>
        </p:spPr>
        <p:txBody>
          <a:bodyPr>
            <a:normAutofit fontScale="90000"/>
          </a:bodyPr>
          <a:lstStyle/>
          <a:p>
            <a:r>
              <a:rPr lang="en-US" b="1" dirty="0" smtClean="0">
                <a:solidFill>
                  <a:srgbClr val="FF0000"/>
                </a:solidFill>
              </a:rPr>
              <a:t>Thesis Statement – Examples    </a:t>
            </a:r>
            <a:r>
              <a:rPr lang="en-US" sz="6000" b="1" dirty="0" smtClean="0">
                <a:solidFill>
                  <a:srgbClr val="FF0000"/>
                </a:solidFill>
              </a:rPr>
              <a:t>3</a:t>
            </a:r>
            <a:endParaRPr lang="en-GB" dirty="0"/>
          </a:p>
        </p:txBody>
      </p:sp>
      <p:sp>
        <p:nvSpPr>
          <p:cNvPr id="3" name="Content Placeholder 2"/>
          <p:cNvSpPr>
            <a:spLocks noGrp="1"/>
          </p:cNvSpPr>
          <p:nvPr>
            <p:ph sz="quarter" idx="1"/>
          </p:nvPr>
        </p:nvSpPr>
        <p:spPr>
          <a:xfrm>
            <a:off x="457200" y="990600"/>
            <a:ext cx="7467600" cy="5483352"/>
          </a:xfrm>
        </p:spPr>
        <p:txBody>
          <a:bodyPr/>
          <a:lstStyle/>
          <a:p>
            <a:r>
              <a:rPr lang="en-US" dirty="0" smtClean="0">
                <a:solidFill>
                  <a:srgbClr val="0070C0"/>
                </a:solidFill>
              </a:rPr>
              <a:t>Subject: </a:t>
            </a:r>
            <a:r>
              <a:rPr lang="en-US" dirty="0" smtClean="0"/>
              <a:t>Qualities of a Good Campsite</a:t>
            </a:r>
          </a:p>
          <a:p>
            <a:endParaRPr lang="en-GB" dirty="0" smtClean="0"/>
          </a:p>
          <a:p>
            <a:r>
              <a:rPr lang="en-US" dirty="0" smtClean="0">
                <a:solidFill>
                  <a:srgbClr val="0070C0"/>
                </a:solidFill>
              </a:rPr>
              <a:t>Focused Topic: </a:t>
            </a:r>
            <a:r>
              <a:rPr lang="en-US" dirty="0" smtClean="0"/>
              <a:t>Three Important Qualities of a Good Campsite</a:t>
            </a:r>
          </a:p>
          <a:p>
            <a:endParaRPr lang="en-GB" dirty="0" smtClean="0"/>
          </a:p>
          <a:p>
            <a:r>
              <a:rPr lang="en-US" b="1" dirty="0" smtClean="0">
                <a:solidFill>
                  <a:srgbClr val="008000"/>
                </a:solidFill>
              </a:rPr>
              <a:t>Three Major Points:</a:t>
            </a:r>
            <a:r>
              <a:rPr lang="en-US" dirty="0" smtClean="0">
                <a:solidFill>
                  <a:srgbClr val="008000"/>
                </a:solidFill>
              </a:rPr>
              <a:t> </a:t>
            </a:r>
            <a:r>
              <a:rPr lang="en-US" dirty="0" smtClean="0"/>
              <a:t>recreation, location, convenience</a:t>
            </a:r>
          </a:p>
          <a:p>
            <a:endParaRPr lang="en-GB" dirty="0" smtClean="0"/>
          </a:p>
          <a:p>
            <a:r>
              <a:rPr lang="en-US" b="1" dirty="0" smtClean="0">
                <a:solidFill>
                  <a:schemeClr val="accent1">
                    <a:lumMod val="75000"/>
                  </a:schemeClr>
                </a:solidFill>
              </a:rPr>
              <a:t>Thesis Statement:</a:t>
            </a:r>
            <a:r>
              <a:rPr lang="en-US" dirty="0" smtClean="0">
                <a:solidFill>
                  <a:schemeClr val="accent1">
                    <a:lumMod val="75000"/>
                  </a:schemeClr>
                </a:solidFill>
              </a:rPr>
              <a:t> </a:t>
            </a:r>
            <a:r>
              <a:rPr lang="en-US" dirty="0" smtClean="0"/>
              <a:t>If you're looking for the best campsite, there are three important factors to consider: the availability of recreational activities, the attractiveness of the location, and the closeness of basic amenities.</a:t>
            </a:r>
            <a:endParaRPr lang="en-GB" dirty="0" smtClean="0"/>
          </a:p>
          <a:p>
            <a:pPr>
              <a:buNone/>
            </a:pPr>
            <a:endParaRPr lang="en-GB" dirty="0"/>
          </a:p>
        </p:txBody>
      </p:sp>
      <p:sp>
        <p:nvSpPr>
          <p:cNvPr id="4" name="Footer Placeholder 3"/>
          <p:cNvSpPr>
            <a:spLocks noGrp="1"/>
          </p:cNvSpPr>
          <p:nvPr>
            <p:ph type="ftr" sz="quarter" idx="16"/>
          </p:nvPr>
        </p:nvSpPr>
        <p:spPr/>
        <p:txBody>
          <a:bodyPr/>
          <a:lstStyle/>
          <a:p>
            <a:r>
              <a:rPr lang="en-GB" smtClean="0"/>
              <a:t>Dr. Prashant Luthra/SSSIHL</a:t>
            </a:r>
            <a:endParaRPr lang="en-GB"/>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15962"/>
          </a:xfrm>
        </p:spPr>
        <p:txBody>
          <a:bodyPr>
            <a:normAutofit fontScale="90000"/>
          </a:bodyPr>
          <a:lstStyle/>
          <a:p>
            <a:r>
              <a:rPr lang="en-US" b="1" dirty="0" smtClean="0">
                <a:solidFill>
                  <a:srgbClr val="FF0000"/>
                </a:solidFill>
              </a:rPr>
              <a:t>Thesis Statement – Examples    </a:t>
            </a:r>
            <a:r>
              <a:rPr lang="en-US" sz="6000" b="1" dirty="0" smtClean="0">
                <a:solidFill>
                  <a:srgbClr val="FF0000"/>
                </a:solidFill>
              </a:rPr>
              <a:t>4</a:t>
            </a:r>
            <a:endParaRPr lang="en-GB" dirty="0"/>
          </a:p>
        </p:txBody>
      </p:sp>
      <p:sp>
        <p:nvSpPr>
          <p:cNvPr id="3" name="Content Placeholder 2"/>
          <p:cNvSpPr>
            <a:spLocks noGrp="1"/>
          </p:cNvSpPr>
          <p:nvPr>
            <p:ph sz="quarter" idx="1"/>
          </p:nvPr>
        </p:nvSpPr>
        <p:spPr>
          <a:xfrm>
            <a:off x="457200" y="990600"/>
            <a:ext cx="7467600" cy="5483352"/>
          </a:xfrm>
        </p:spPr>
        <p:txBody>
          <a:bodyPr>
            <a:normAutofit/>
          </a:bodyPr>
          <a:lstStyle/>
          <a:p>
            <a:r>
              <a:rPr lang="en-US" dirty="0" smtClean="0">
                <a:solidFill>
                  <a:srgbClr val="0070C0"/>
                </a:solidFill>
              </a:rPr>
              <a:t>Subject: </a:t>
            </a:r>
            <a:r>
              <a:rPr lang="en-US" dirty="0" smtClean="0"/>
              <a:t>Sports and Activities</a:t>
            </a:r>
          </a:p>
          <a:p>
            <a:endParaRPr lang="en-GB" dirty="0" smtClean="0"/>
          </a:p>
          <a:p>
            <a:r>
              <a:rPr lang="en-US" dirty="0" smtClean="0">
                <a:solidFill>
                  <a:srgbClr val="0070C0"/>
                </a:solidFill>
              </a:rPr>
              <a:t>Focused Topic: </a:t>
            </a:r>
            <a:r>
              <a:rPr lang="en-US" dirty="0" smtClean="0"/>
              <a:t>My Three Favorite Activities</a:t>
            </a:r>
          </a:p>
          <a:p>
            <a:endParaRPr lang="en-GB" dirty="0" smtClean="0"/>
          </a:p>
          <a:p>
            <a:r>
              <a:rPr lang="en-US" b="1" dirty="0" smtClean="0">
                <a:solidFill>
                  <a:srgbClr val="008000"/>
                </a:solidFill>
              </a:rPr>
              <a:t>Three Major Points:</a:t>
            </a:r>
            <a:r>
              <a:rPr lang="en-US" dirty="0" smtClean="0">
                <a:solidFill>
                  <a:srgbClr val="008000"/>
                </a:solidFill>
              </a:rPr>
              <a:t> </a:t>
            </a:r>
            <a:r>
              <a:rPr lang="en-US" dirty="0" smtClean="0"/>
              <a:t>soccer, biking, roller </a:t>
            </a:r>
            <a:r>
              <a:rPr lang="en-US" dirty="0" err="1" smtClean="0"/>
              <a:t>blading</a:t>
            </a:r>
            <a:endParaRPr lang="en-US" dirty="0" smtClean="0"/>
          </a:p>
          <a:p>
            <a:endParaRPr lang="en-GB" dirty="0" smtClean="0"/>
          </a:p>
          <a:p>
            <a:r>
              <a:rPr lang="en-US" b="1" dirty="0" smtClean="0">
                <a:solidFill>
                  <a:schemeClr val="accent1">
                    <a:lumMod val="75000"/>
                  </a:schemeClr>
                </a:solidFill>
              </a:rPr>
              <a:t>Thesis Statement:</a:t>
            </a:r>
            <a:r>
              <a:rPr lang="en-US" dirty="0" smtClean="0">
                <a:solidFill>
                  <a:srgbClr val="0070C0"/>
                </a:solidFill>
              </a:rPr>
              <a:t> </a:t>
            </a:r>
            <a:r>
              <a:rPr lang="en-US" dirty="0" smtClean="0"/>
              <a:t>When I have some free time to myself I like to spend it outside playing soccer, riding my bike, or roller </a:t>
            </a:r>
            <a:r>
              <a:rPr lang="en-US" dirty="0" err="1" smtClean="0"/>
              <a:t>blading</a:t>
            </a:r>
            <a:r>
              <a:rPr lang="en-US" dirty="0" smtClean="0"/>
              <a:t>.</a:t>
            </a:r>
            <a:endParaRPr lang="en-GB" dirty="0" smtClean="0"/>
          </a:p>
          <a:p>
            <a:pPr>
              <a:buNone/>
            </a:pPr>
            <a:endParaRPr lang="en-GB" dirty="0" smtClean="0"/>
          </a:p>
          <a:p>
            <a:pPr>
              <a:buNone/>
            </a:pPr>
            <a:endParaRPr lang="en-GB" dirty="0"/>
          </a:p>
        </p:txBody>
      </p:sp>
      <p:sp>
        <p:nvSpPr>
          <p:cNvPr id="4" name="Footer Placeholder 3"/>
          <p:cNvSpPr>
            <a:spLocks noGrp="1"/>
          </p:cNvSpPr>
          <p:nvPr>
            <p:ph type="ftr" sz="quarter" idx="16"/>
          </p:nvPr>
        </p:nvSpPr>
        <p:spPr/>
        <p:txBody>
          <a:bodyPr/>
          <a:lstStyle/>
          <a:p>
            <a:r>
              <a:rPr lang="en-GB" smtClean="0"/>
              <a:t>Dr. Prashant Luthra/SSSIHL</a:t>
            </a:r>
            <a:endParaRPr lang="en-GB"/>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8888.bmp"/>
          <p:cNvPicPr>
            <a:picLocks noGrp="1" noChangeAspect="1"/>
          </p:cNvPicPr>
          <p:nvPr>
            <p:ph sz="quarter" idx="1"/>
          </p:nvPr>
        </p:nvPicPr>
        <p:blipFill>
          <a:blip r:embed="rId2" cstate="print"/>
          <a:stretch>
            <a:fillRect/>
          </a:stretch>
        </p:blipFill>
        <p:spPr>
          <a:xfrm>
            <a:off x="1447800" y="304800"/>
            <a:ext cx="6096000" cy="6324599"/>
          </a:xfrm>
        </p:spPr>
      </p:pic>
      <p:sp>
        <p:nvSpPr>
          <p:cNvPr id="2" name="Title 1"/>
          <p:cNvSpPr>
            <a:spLocks noGrp="1"/>
          </p:cNvSpPr>
          <p:nvPr>
            <p:ph type="title"/>
          </p:nvPr>
        </p:nvSpPr>
        <p:spPr>
          <a:xfrm>
            <a:off x="457200" y="274638"/>
            <a:ext cx="7467600" cy="639762"/>
          </a:xfrm>
        </p:spPr>
        <p:txBody>
          <a:bodyPr>
            <a:noAutofit/>
          </a:bodyPr>
          <a:lstStyle/>
          <a:p>
            <a:r>
              <a:rPr lang="en-US" sz="1200" b="1" dirty="0" smtClean="0">
                <a:solidFill>
                  <a:srgbClr val="FF0000"/>
                </a:solidFill>
              </a:rPr>
              <a:t>TOPIC WEB FOR THE “FAVOURITE PET” ESSAY</a:t>
            </a:r>
            <a:endParaRPr lang="en-GB" sz="1200" dirty="0">
              <a:solidFill>
                <a:srgbClr val="FF0000"/>
              </a:solidFill>
            </a:endParaRPr>
          </a:p>
        </p:txBody>
      </p:sp>
      <p:sp>
        <p:nvSpPr>
          <p:cNvPr id="3" name="Footer Placeholder 2"/>
          <p:cNvSpPr>
            <a:spLocks noGrp="1"/>
          </p:cNvSpPr>
          <p:nvPr>
            <p:ph type="ftr" sz="quarter" idx="16"/>
          </p:nvPr>
        </p:nvSpPr>
        <p:spPr/>
        <p:txBody>
          <a:bodyPr/>
          <a:lstStyle/>
          <a:p>
            <a:r>
              <a:rPr lang="en-GB" smtClean="0"/>
              <a:t>Dr. Prashant Luthra/SSSIHL</a:t>
            </a:r>
            <a:endParaRPr lang="en-GB"/>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sz="quarter" idx="1"/>
          </p:nvPr>
        </p:nvSpPr>
        <p:spPr>
          <a:xfrm>
            <a:off x="457200" y="609600"/>
            <a:ext cx="7467600" cy="5864352"/>
          </a:xfrm>
        </p:spPr>
        <p:txBody>
          <a:bodyPr/>
          <a:lstStyle/>
          <a:p>
            <a:pPr>
              <a:buNone/>
            </a:pPr>
            <a:r>
              <a:rPr lang="en-US" sz="3600" dirty="0" smtClean="0">
                <a:solidFill>
                  <a:srgbClr val="FF0000"/>
                </a:solidFill>
                <a:latin typeface="Comic Sans MS" pitchFamily="66" charset="0"/>
              </a:rPr>
              <a:t>SENTENCE OUTLINE</a:t>
            </a:r>
          </a:p>
          <a:p>
            <a:pPr>
              <a:buNone/>
            </a:pPr>
            <a:endParaRPr lang="en-US" dirty="0" smtClean="0">
              <a:solidFill>
                <a:srgbClr val="FF0000"/>
              </a:solidFill>
            </a:endParaRPr>
          </a:p>
          <a:p>
            <a:pPr>
              <a:buNone/>
            </a:pPr>
            <a:endParaRPr lang="en-GB" dirty="0" smtClean="0">
              <a:solidFill>
                <a:srgbClr val="FF0000"/>
              </a:solidFill>
            </a:endParaRPr>
          </a:p>
          <a:p>
            <a:pPr algn="just">
              <a:buNone/>
            </a:pPr>
            <a:r>
              <a:rPr lang="en-US" dirty="0" smtClean="0"/>
              <a:t>   </a:t>
            </a:r>
            <a:r>
              <a:rPr lang="en-US" dirty="0" smtClean="0">
                <a:solidFill>
                  <a:srgbClr val="0070C0"/>
                </a:solidFill>
                <a:latin typeface="Comic Sans MS" pitchFamily="66" charset="0"/>
              </a:rPr>
              <a:t>The sentence outline is a more developed version of a topic web. It can work as a first draft for your essay, since you will be writing complete sentences.</a:t>
            </a:r>
            <a:endParaRPr lang="en-GB" dirty="0" smtClean="0">
              <a:solidFill>
                <a:srgbClr val="0070C0"/>
              </a:solidFill>
              <a:latin typeface="Comic Sans MS" pitchFamily="66" charset="0"/>
            </a:endParaRPr>
          </a:p>
          <a:p>
            <a:pPr algn="just">
              <a:buNone/>
            </a:pPr>
            <a:r>
              <a:rPr lang="en-US" dirty="0" smtClean="0">
                <a:solidFill>
                  <a:srgbClr val="0070C0"/>
                </a:solidFill>
                <a:latin typeface="Comic Sans MS" pitchFamily="66" charset="0"/>
              </a:rPr>
              <a:t>    A sentence outline allows you to see the structure of each body paragraph to make sure your ideas are developed clearly and logically.</a:t>
            </a:r>
            <a:endParaRPr lang="en-GB" dirty="0" smtClean="0">
              <a:solidFill>
                <a:srgbClr val="0070C0"/>
              </a:solidFill>
              <a:latin typeface="Comic Sans MS" pitchFamily="66" charset="0"/>
            </a:endParaRPr>
          </a:p>
          <a:p>
            <a:endParaRPr lang="en-GB" dirty="0">
              <a:solidFill>
                <a:srgbClr val="0070C0"/>
              </a:solidFill>
              <a:latin typeface="Comic Sans MS" pitchFamily="66" charset="0"/>
            </a:endParaRPr>
          </a:p>
        </p:txBody>
      </p:sp>
      <p:sp>
        <p:nvSpPr>
          <p:cNvPr id="4" name="Footer Placeholder 3"/>
          <p:cNvSpPr>
            <a:spLocks noGrp="1"/>
          </p:cNvSpPr>
          <p:nvPr>
            <p:ph type="ftr" sz="quarter" idx="16"/>
          </p:nvPr>
        </p:nvSpPr>
        <p:spPr/>
        <p:txBody>
          <a:bodyPr/>
          <a:lstStyle/>
          <a:p>
            <a:r>
              <a:rPr lang="en-GB" smtClean="0"/>
              <a:t>Dr. Prashant Luthra/SSSIHL</a:t>
            </a:r>
            <a:endParaRPr lang="en-GB"/>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7467600" cy="639762"/>
          </a:xfrm>
        </p:spPr>
        <p:txBody>
          <a:bodyPr>
            <a:normAutofit fontScale="90000"/>
          </a:bodyPr>
          <a:lstStyle/>
          <a:p>
            <a:r>
              <a:rPr lang="en-US" b="1" dirty="0" smtClean="0">
                <a:solidFill>
                  <a:srgbClr val="FF0000"/>
                </a:solidFill>
              </a:rPr>
              <a:t>Thesis Statement – Examples    </a:t>
            </a:r>
            <a:r>
              <a:rPr lang="en-US" sz="6000" b="1" dirty="0" smtClean="0">
                <a:solidFill>
                  <a:srgbClr val="FF0000"/>
                </a:solidFill>
              </a:rPr>
              <a:t>1</a:t>
            </a:r>
            <a:r>
              <a:rPr lang="en-GB" sz="6000" dirty="0" smtClean="0">
                <a:solidFill>
                  <a:srgbClr val="FF0000"/>
                </a:solidFill>
              </a:rPr>
              <a:t/>
            </a:r>
            <a:br>
              <a:rPr lang="en-GB" sz="6000" dirty="0" smtClean="0">
                <a:solidFill>
                  <a:srgbClr val="FF0000"/>
                </a:solidFill>
              </a:rPr>
            </a:br>
            <a:endParaRPr lang="en-GB" dirty="0">
              <a:solidFill>
                <a:srgbClr val="FF0000"/>
              </a:solidFill>
            </a:endParaRPr>
          </a:p>
        </p:txBody>
      </p:sp>
      <p:sp>
        <p:nvSpPr>
          <p:cNvPr id="3" name="Content Placeholder 2"/>
          <p:cNvSpPr>
            <a:spLocks noGrp="1"/>
          </p:cNvSpPr>
          <p:nvPr>
            <p:ph sz="quarter" idx="1"/>
          </p:nvPr>
        </p:nvSpPr>
        <p:spPr>
          <a:xfrm>
            <a:off x="457200" y="990600"/>
            <a:ext cx="7467600" cy="5483352"/>
          </a:xfrm>
        </p:spPr>
        <p:txBody>
          <a:bodyPr/>
          <a:lstStyle/>
          <a:p>
            <a:r>
              <a:rPr lang="en-US" dirty="0" smtClean="0">
                <a:solidFill>
                  <a:srgbClr val="0070C0"/>
                </a:solidFill>
              </a:rPr>
              <a:t>Subject: </a:t>
            </a:r>
            <a:r>
              <a:rPr lang="en-US" dirty="0" smtClean="0"/>
              <a:t>The Best Place for the Perfect Family Vacation</a:t>
            </a:r>
          </a:p>
          <a:p>
            <a:endParaRPr lang="en-GB" dirty="0" smtClean="0"/>
          </a:p>
          <a:p>
            <a:r>
              <a:rPr lang="en-US" dirty="0" smtClean="0">
                <a:solidFill>
                  <a:srgbClr val="0070C0"/>
                </a:solidFill>
              </a:rPr>
              <a:t>Focused Topic: </a:t>
            </a:r>
            <a:r>
              <a:rPr lang="en-US" dirty="0" smtClean="0"/>
              <a:t>Yosemite</a:t>
            </a:r>
          </a:p>
          <a:p>
            <a:endParaRPr lang="en-GB" dirty="0" smtClean="0"/>
          </a:p>
          <a:p>
            <a:r>
              <a:rPr lang="en-US" b="1" dirty="0" smtClean="0">
                <a:solidFill>
                  <a:srgbClr val="008000"/>
                </a:solidFill>
              </a:rPr>
              <a:t>Three Major Points:</a:t>
            </a:r>
            <a:r>
              <a:rPr lang="en-US" dirty="0" smtClean="0">
                <a:solidFill>
                  <a:srgbClr val="008000"/>
                </a:solidFill>
              </a:rPr>
              <a:t> </a:t>
            </a:r>
            <a:r>
              <a:rPr lang="en-US" dirty="0" smtClean="0"/>
              <a:t>recreational activities, pleasant location, economical lodging</a:t>
            </a:r>
          </a:p>
          <a:p>
            <a:pPr>
              <a:buNone/>
            </a:pPr>
            <a:endParaRPr lang="en-GB" dirty="0" smtClean="0"/>
          </a:p>
          <a:p>
            <a:r>
              <a:rPr lang="en-US" b="1" dirty="0" smtClean="0">
                <a:solidFill>
                  <a:schemeClr val="accent1">
                    <a:lumMod val="75000"/>
                  </a:schemeClr>
                </a:solidFill>
              </a:rPr>
              <a:t>Thesis Statement: </a:t>
            </a:r>
            <a:r>
              <a:rPr lang="en-US" dirty="0" smtClean="0"/>
              <a:t>The best place for the perfect family is Yosemite because of the fun recreational activities, the beautiful scenery in a pleasant location, and the economical lodging available.</a:t>
            </a:r>
            <a:endParaRPr lang="en-GB" dirty="0" smtClean="0"/>
          </a:p>
          <a:p>
            <a:endParaRPr lang="en-GB" dirty="0"/>
          </a:p>
        </p:txBody>
      </p:sp>
      <p:sp>
        <p:nvSpPr>
          <p:cNvPr id="4" name="Footer Placeholder 3"/>
          <p:cNvSpPr>
            <a:spLocks noGrp="1"/>
          </p:cNvSpPr>
          <p:nvPr>
            <p:ph type="ftr" sz="quarter" idx="16"/>
          </p:nvPr>
        </p:nvSpPr>
        <p:spPr/>
        <p:txBody>
          <a:bodyPr/>
          <a:lstStyle/>
          <a:p>
            <a:r>
              <a:rPr lang="en-GB" smtClean="0"/>
              <a:t>Dr. Prashant Luthra/SSSIHL</a:t>
            </a:r>
            <a:endParaRPr lang="en-GB"/>
          </a:p>
        </p:txBody>
      </p:sp>
    </p:spTree>
    <p:extLst>
      <p:ext uri="{BB962C8B-B14F-4D97-AF65-F5344CB8AC3E}">
        <p14:creationId xmlns:p14="http://schemas.microsoft.com/office/powerpoint/2010/main" val="285691022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7467600" cy="487362"/>
          </a:xfrm>
        </p:spPr>
        <p:txBody>
          <a:bodyPr>
            <a:normAutofit fontScale="90000"/>
          </a:bodyPr>
          <a:lstStyle/>
          <a:p>
            <a:r>
              <a:rPr lang="en-GB" dirty="0" smtClean="0"/>
              <a:t>Example 1- </a:t>
            </a:r>
            <a:r>
              <a:rPr lang="en-GB" dirty="0" smtClean="0">
                <a:solidFill>
                  <a:schemeClr val="accent1">
                    <a:lumMod val="75000"/>
                  </a:schemeClr>
                </a:solidFill>
              </a:rPr>
              <a:t>Sentence Outline</a:t>
            </a:r>
            <a:endParaRPr lang="en-GB" dirty="0">
              <a:solidFill>
                <a:schemeClr val="accent1">
                  <a:lumMod val="75000"/>
                </a:schemeClr>
              </a:solidFill>
            </a:endParaRPr>
          </a:p>
        </p:txBody>
      </p:sp>
      <p:sp>
        <p:nvSpPr>
          <p:cNvPr id="7" name="Content Placeholder 6"/>
          <p:cNvSpPr>
            <a:spLocks noGrp="1"/>
          </p:cNvSpPr>
          <p:nvPr>
            <p:ph sz="quarter" idx="1"/>
          </p:nvPr>
        </p:nvSpPr>
        <p:spPr>
          <a:xfrm>
            <a:off x="457200" y="563562"/>
            <a:ext cx="7467600" cy="5910390"/>
          </a:xfrm>
        </p:spPr>
        <p:txBody>
          <a:bodyPr>
            <a:normAutofit fontScale="47500" lnSpcReduction="20000"/>
          </a:bodyPr>
          <a:lstStyle/>
          <a:p>
            <a:r>
              <a:rPr lang="en-US" sz="2500" b="1" dirty="0">
                <a:solidFill>
                  <a:srgbClr val="FF0000"/>
                </a:solidFill>
                <a:latin typeface="Segoe UI" panose="020B0502040204020203" pitchFamily="34" charset="0"/>
                <a:cs typeface="Segoe UI" panose="020B0502040204020203" pitchFamily="34" charset="0"/>
              </a:rPr>
              <a:t>Sentence Outline: </a:t>
            </a:r>
            <a:r>
              <a:rPr lang="en-US" sz="2500" b="1" dirty="0">
                <a:solidFill>
                  <a:srgbClr val="0070C0"/>
                </a:solidFill>
                <a:latin typeface="Segoe UI" panose="020B0502040204020203" pitchFamily="34" charset="0"/>
                <a:cs typeface="Segoe UI" panose="020B0502040204020203" pitchFamily="34" charset="0"/>
              </a:rPr>
              <a:t>The Best Place for the Perfect Family Vacation - Yosemite</a:t>
            </a:r>
          </a:p>
          <a:p>
            <a:r>
              <a:rPr lang="en-US" sz="2500" b="1" dirty="0">
                <a:solidFill>
                  <a:srgbClr val="FF0000"/>
                </a:solidFill>
                <a:latin typeface="Segoe UI" panose="020B0502040204020203" pitchFamily="34" charset="0"/>
                <a:cs typeface="Segoe UI" panose="020B0502040204020203" pitchFamily="34" charset="0"/>
              </a:rPr>
              <a:t>Thesis Statement:</a:t>
            </a:r>
            <a:r>
              <a:rPr lang="en-US" sz="2500" dirty="0">
                <a:solidFill>
                  <a:srgbClr val="FF0000"/>
                </a:solidFill>
                <a:latin typeface="Segoe UI" panose="020B0502040204020203" pitchFamily="34" charset="0"/>
                <a:cs typeface="Segoe UI" panose="020B0502040204020203" pitchFamily="34" charset="0"/>
              </a:rPr>
              <a:t> </a:t>
            </a:r>
            <a:r>
              <a:rPr lang="en-US" sz="2500" dirty="0">
                <a:latin typeface="Segoe UI" panose="020B0502040204020203" pitchFamily="34" charset="0"/>
                <a:cs typeface="Segoe UI" panose="020B0502040204020203" pitchFamily="34" charset="0"/>
              </a:rPr>
              <a:t>The best place for the perfect family vacation is Yosemite because of the fun recreational activities, the beautiful scenery in a pleasant location, and the economical lodging available.</a:t>
            </a:r>
          </a:p>
          <a:p>
            <a:r>
              <a:rPr lang="en-US" sz="2500" b="1" dirty="0">
                <a:solidFill>
                  <a:srgbClr val="FF0000"/>
                </a:solidFill>
                <a:latin typeface="Segoe UI" panose="020B0502040204020203" pitchFamily="34" charset="0"/>
                <a:cs typeface="Segoe UI" panose="020B0502040204020203" pitchFamily="34" charset="0"/>
              </a:rPr>
              <a:t>Introduction</a:t>
            </a:r>
            <a:endParaRPr lang="en-US" sz="2500" dirty="0">
              <a:solidFill>
                <a:srgbClr val="FF0000"/>
              </a:solidFill>
              <a:latin typeface="Segoe UI" panose="020B0502040204020203" pitchFamily="34" charset="0"/>
              <a:cs typeface="Segoe UI" panose="020B0502040204020203" pitchFamily="34" charset="0"/>
            </a:endParaRPr>
          </a:p>
          <a:p>
            <a:pPr lvl="1"/>
            <a:r>
              <a:rPr lang="en-US" sz="2500" dirty="0">
                <a:latin typeface="Segoe UI" panose="020B0502040204020203" pitchFamily="34" charset="0"/>
                <a:cs typeface="Segoe UI" panose="020B0502040204020203" pitchFamily="34" charset="0"/>
              </a:rPr>
              <a:t>Family vacations are essential for bonding and creating lasting memories.</a:t>
            </a:r>
          </a:p>
          <a:p>
            <a:pPr lvl="1"/>
            <a:r>
              <a:rPr lang="en-US" sz="2500" dirty="0">
                <a:latin typeface="Segoe UI" panose="020B0502040204020203" pitchFamily="34" charset="0"/>
                <a:cs typeface="Segoe UI" panose="020B0502040204020203" pitchFamily="34" charset="0"/>
              </a:rPr>
              <a:t>Yosemite offers the ideal environment for a perfect family vacation.</a:t>
            </a:r>
          </a:p>
          <a:p>
            <a:r>
              <a:rPr lang="en-US" sz="2500" b="1" dirty="0">
                <a:solidFill>
                  <a:srgbClr val="FF0000"/>
                </a:solidFill>
                <a:latin typeface="Segoe UI" panose="020B0502040204020203" pitchFamily="34" charset="0"/>
                <a:cs typeface="Segoe UI" panose="020B0502040204020203" pitchFamily="34" charset="0"/>
              </a:rPr>
              <a:t>Recreational Activities</a:t>
            </a:r>
            <a:endParaRPr lang="en-US" sz="2500" dirty="0">
              <a:solidFill>
                <a:srgbClr val="FF0000"/>
              </a:solidFill>
              <a:latin typeface="Segoe UI" panose="020B0502040204020203" pitchFamily="34" charset="0"/>
              <a:cs typeface="Segoe UI" panose="020B0502040204020203" pitchFamily="34" charset="0"/>
            </a:endParaRPr>
          </a:p>
          <a:p>
            <a:pPr lvl="1"/>
            <a:r>
              <a:rPr lang="en-US" sz="2500" dirty="0">
                <a:latin typeface="Segoe UI" panose="020B0502040204020203" pitchFamily="34" charset="0"/>
                <a:cs typeface="Segoe UI" panose="020B0502040204020203" pitchFamily="34" charset="0"/>
              </a:rPr>
              <a:t>Yosemite provides a wide range of outdoor activities such as hiking, rock climbing, and horseback riding.</a:t>
            </a:r>
          </a:p>
          <a:p>
            <a:pPr lvl="1"/>
            <a:r>
              <a:rPr lang="en-US" sz="2500" dirty="0">
                <a:latin typeface="Segoe UI" panose="020B0502040204020203" pitchFamily="34" charset="0"/>
                <a:cs typeface="Segoe UI" panose="020B0502040204020203" pitchFamily="34" charset="0"/>
              </a:rPr>
              <a:t>Families can enjoy water activities like rafting, fishing, and swimming in the Merced River.</a:t>
            </a:r>
          </a:p>
          <a:p>
            <a:pPr lvl="1"/>
            <a:r>
              <a:rPr lang="en-US" sz="2500" dirty="0">
                <a:latin typeface="Segoe UI" panose="020B0502040204020203" pitchFamily="34" charset="0"/>
                <a:cs typeface="Segoe UI" panose="020B0502040204020203" pitchFamily="34" charset="0"/>
              </a:rPr>
              <a:t>The park offers educational programs and guided tours, making it an engaging experience for children and adults alike.</a:t>
            </a:r>
          </a:p>
          <a:p>
            <a:r>
              <a:rPr lang="en-US" sz="2500" b="1" dirty="0">
                <a:solidFill>
                  <a:srgbClr val="FF0000"/>
                </a:solidFill>
                <a:latin typeface="Segoe UI" panose="020B0502040204020203" pitchFamily="34" charset="0"/>
                <a:cs typeface="Segoe UI" panose="020B0502040204020203" pitchFamily="34" charset="0"/>
              </a:rPr>
              <a:t>Pleasant Location</a:t>
            </a:r>
            <a:endParaRPr lang="en-US" sz="2500" dirty="0">
              <a:solidFill>
                <a:srgbClr val="FF0000"/>
              </a:solidFill>
              <a:latin typeface="Segoe UI" panose="020B0502040204020203" pitchFamily="34" charset="0"/>
              <a:cs typeface="Segoe UI" panose="020B0502040204020203" pitchFamily="34" charset="0"/>
            </a:endParaRPr>
          </a:p>
          <a:p>
            <a:pPr lvl="1"/>
            <a:r>
              <a:rPr lang="en-US" sz="2500" dirty="0">
                <a:latin typeface="Segoe UI" panose="020B0502040204020203" pitchFamily="34" charset="0"/>
                <a:cs typeface="Segoe UI" panose="020B0502040204020203" pitchFamily="34" charset="0"/>
              </a:rPr>
              <a:t>Yosemite is renowned for its breathtaking natural beauty, including iconic landmarks like El Capitan, Half Dome, and Yosemite Falls.</a:t>
            </a:r>
          </a:p>
          <a:p>
            <a:pPr lvl="1"/>
            <a:r>
              <a:rPr lang="en-US" sz="2500" dirty="0">
                <a:latin typeface="Segoe UI" panose="020B0502040204020203" pitchFamily="34" charset="0"/>
                <a:cs typeface="Segoe UI" panose="020B0502040204020203" pitchFamily="34" charset="0"/>
              </a:rPr>
              <a:t>The park's diverse ecosystem allows families to experience a variety of flora and fauna, creating an enriching and picturesque environment.</a:t>
            </a:r>
          </a:p>
          <a:p>
            <a:pPr lvl="1"/>
            <a:r>
              <a:rPr lang="en-US" sz="2500" dirty="0">
                <a:latin typeface="Segoe UI" panose="020B0502040204020203" pitchFamily="34" charset="0"/>
                <a:cs typeface="Segoe UI" panose="020B0502040204020203" pitchFamily="34" charset="0"/>
              </a:rPr>
              <a:t>Yosemite's tranquil atmosphere provides a peaceful retreat from the hustle and bustle of everyday life.</a:t>
            </a:r>
          </a:p>
          <a:p>
            <a:r>
              <a:rPr lang="en-US" sz="2500" b="1" dirty="0">
                <a:solidFill>
                  <a:srgbClr val="FF0000"/>
                </a:solidFill>
                <a:latin typeface="Segoe UI" panose="020B0502040204020203" pitchFamily="34" charset="0"/>
                <a:cs typeface="Segoe UI" panose="020B0502040204020203" pitchFamily="34" charset="0"/>
              </a:rPr>
              <a:t>Economical Lodging</a:t>
            </a:r>
            <a:endParaRPr lang="en-US" sz="2500" dirty="0">
              <a:solidFill>
                <a:srgbClr val="FF0000"/>
              </a:solidFill>
              <a:latin typeface="Segoe UI" panose="020B0502040204020203" pitchFamily="34" charset="0"/>
              <a:cs typeface="Segoe UI" panose="020B0502040204020203" pitchFamily="34" charset="0"/>
            </a:endParaRPr>
          </a:p>
          <a:p>
            <a:pPr lvl="1"/>
            <a:r>
              <a:rPr lang="en-US" sz="2500" dirty="0">
                <a:latin typeface="Segoe UI" panose="020B0502040204020203" pitchFamily="34" charset="0"/>
                <a:cs typeface="Segoe UI" panose="020B0502040204020203" pitchFamily="34" charset="0"/>
              </a:rPr>
              <a:t>Yosemite offers a range of lodging options, from affordable campgrounds to budget-friendly cabins and lodges.</a:t>
            </a:r>
          </a:p>
          <a:p>
            <a:pPr lvl="1"/>
            <a:r>
              <a:rPr lang="en-US" sz="2500" dirty="0">
                <a:latin typeface="Segoe UI" panose="020B0502040204020203" pitchFamily="34" charset="0"/>
                <a:cs typeface="Segoe UI" panose="020B0502040204020203" pitchFamily="34" charset="0"/>
              </a:rPr>
              <a:t>Families can choose to stay in convenient locations within the park, minimizing travel time and maximizing their vacation experience.</a:t>
            </a:r>
          </a:p>
          <a:p>
            <a:pPr lvl="1"/>
            <a:r>
              <a:rPr lang="en-US" sz="2500" dirty="0">
                <a:latin typeface="Segoe UI" panose="020B0502040204020203" pitchFamily="34" charset="0"/>
                <a:cs typeface="Segoe UI" panose="020B0502040204020203" pitchFamily="34" charset="0"/>
              </a:rPr>
              <a:t>The availability of economical lodging makes Yosemite an accessible destination for families of all sizes and budgets.</a:t>
            </a:r>
          </a:p>
          <a:p>
            <a:r>
              <a:rPr lang="en-US" sz="2500" b="1" dirty="0">
                <a:solidFill>
                  <a:srgbClr val="FF0000"/>
                </a:solidFill>
                <a:latin typeface="Segoe UI" panose="020B0502040204020203" pitchFamily="34" charset="0"/>
                <a:cs typeface="Segoe UI" panose="020B0502040204020203" pitchFamily="34" charset="0"/>
              </a:rPr>
              <a:t>Conclusion</a:t>
            </a:r>
            <a:endParaRPr lang="en-US" sz="2500" dirty="0">
              <a:solidFill>
                <a:srgbClr val="FF0000"/>
              </a:solidFill>
              <a:latin typeface="Segoe UI" panose="020B0502040204020203" pitchFamily="34" charset="0"/>
              <a:cs typeface="Segoe UI" panose="020B0502040204020203" pitchFamily="34" charset="0"/>
            </a:endParaRPr>
          </a:p>
          <a:p>
            <a:pPr lvl="1"/>
            <a:r>
              <a:rPr lang="en-US" sz="2500" dirty="0">
                <a:latin typeface="Segoe UI" panose="020B0502040204020203" pitchFamily="34" charset="0"/>
                <a:cs typeface="Segoe UI" panose="020B0502040204020203" pitchFamily="34" charset="0"/>
              </a:rPr>
              <a:t>Yosemite combines fun recreational activities, beautiful scenery, and affordable lodging to create the perfect family vacation destination.</a:t>
            </a:r>
          </a:p>
          <a:p>
            <a:pPr lvl="1"/>
            <a:r>
              <a:rPr lang="en-US" sz="2500" dirty="0">
                <a:latin typeface="Segoe UI" panose="020B0502040204020203" pitchFamily="34" charset="0"/>
                <a:cs typeface="Segoe UI" panose="020B0502040204020203" pitchFamily="34" charset="0"/>
              </a:rPr>
              <a:t>A visit to Yosemite ensures memorable experiences and quality family time in a stunning natural setting.</a:t>
            </a:r>
          </a:p>
          <a:p>
            <a:endParaRPr lang="en-GB" dirty="0"/>
          </a:p>
        </p:txBody>
      </p:sp>
      <p:sp>
        <p:nvSpPr>
          <p:cNvPr id="3" name="Footer Placeholder 2"/>
          <p:cNvSpPr>
            <a:spLocks noGrp="1"/>
          </p:cNvSpPr>
          <p:nvPr>
            <p:ph type="ftr" sz="quarter" idx="16"/>
          </p:nvPr>
        </p:nvSpPr>
        <p:spPr/>
        <p:txBody>
          <a:bodyPr/>
          <a:lstStyle/>
          <a:p>
            <a:r>
              <a:rPr lang="en-GB" smtClean="0"/>
              <a:t>Dr. Prashant Luthra/SSSIHL</a:t>
            </a:r>
            <a:endParaRPr lang="en-GB"/>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15962"/>
          </a:xfrm>
        </p:spPr>
        <p:txBody>
          <a:bodyPr>
            <a:normAutofit fontScale="90000"/>
          </a:bodyPr>
          <a:lstStyle/>
          <a:p>
            <a:r>
              <a:rPr lang="en-US" b="1" dirty="0" smtClean="0">
                <a:solidFill>
                  <a:srgbClr val="FF0000"/>
                </a:solidFill>
              </a:rPr>
              <a:t>Thesis Statement – Examples    </a:t>
            </a:r>
            <a:r>
              <a:rPr lang="en-US" sz="6000" b="1" dirty="0" smtClean="0">
                <a:solidFill>
                  <a:srgbClr val="FF0000"/>
                </a:solidFill>
              </a:rPr>
              <a:t>2</a:t>
            </a:r>
            <a:endParaRPr lang="en-GB" dirty="0"/>
          </a:p>
        </p:txBody>
      </p:sp>
      <p:sp>
        <p:nvSpPr>
          <p:cNvPr id="3" name="Content Placeholder 2"/>
          <p:cNvSpPr>
            <a:spLocks noGrp="1"/>
          </p:cNvSpPr>
          <p:nvPr>
            <p:ph sz="quarter" idx="1"/>
          </p:nvPr>
        </p:nvSpPr>
        <p:spPr>
          <a:xfrm>
            <a:off x="457200" y="990600"/>
            <a:ext cx="7467600" cy="5483352"/>
          </a:xfrm>
        </p:spPr>
        <p:txBody>
          <a:bodyPr/>
          <a:lstStyle/>
          <a:p>
            <a:r>
              <a:rPr lang="en-US" dirty="0" smtClean="0">
                <a:solidFill>
                  <a:srgbClr val="0070C0"/>
                </a:solidFill>
              </a:rPr>
              <a:t>Subject:</a:t>
            </a:r>
            <a:r>
              <a:rPr lang="en-US" dirty="0" smtClean="0"/>
              <a:t> A Memorable Moment</a:t>
            </a:r>
          </a:p>
          <a:p>
            <a:endParaRPr lang="en-GB" dirty="0" smtClean="0"/>
          </a:p>
          <a:p>
            <a:r>
              <a:rPr lang="en-US" dirty="0" smtClean="0">
                <a:solidFill>
                  <a:srgbClr val="0070C0"/>
                </a:solidFill>
              </a:rPr>
              <a:t>Focused Topic: </a:t>
            </a:r>
            <a:r>
              <a:rPr lang="en-US" dirty="0" smtClean="0"/>
              <a:t>The Day I Go My Driver's License</a:t>
            </a:r>
          </a:p>
          <a:p>
            <a:endParaRPr lang="en-GB" dirty="0" smtClean="0"/>
          </a:p>
          <a:p>
            <a:r>
              <a:rPr lang="en-US" b="1" dirty="0" smtClean="0">
                <a:solidFill>
                  <a:srgbClr val="008000"/>
                </a:solidFill>
              </a:rPr>
              <a:t>Three Major Points:</a:t>
            </a:r>
            <a:r>
              <a:rPr lang="en-US" dirty="0" smtClean="0">
                <a:solidFill>
                  <a:srgbClr val="008000"/>
                </a:solidFill>
              </a:rPr>
              <a:t> </a:t>
            </a:r>
            <a:r>
              <a:rPr lang="en-US" dirty="0" smtClean="0"/>
              <a:t>unpleasant surroundings, never ending lines, rude people</a:t>
            </a:r>
          </a:p>
          <a:p>
            <a:pPr>
              <a:buNone/>
            </a:pPr>
            <a:endParaRPr lang="en-GB" dirty="0" smtClean="0"/>
          </a:p>
          <a:p>
            <a:r>
              <a:rPr lang="en-US" b="1" dirty="0" smtClean="0">
                <a:solidFill>
                  <a:schemeClr val="accent1">
                    <a:lumMod val="75000"/>
                  </a:schemeClr>
                </a:solidFill>
              </a:rPr>
              <a:t>Thesis Statement:</a:t>
            </a:r>
            <a:r>
              <a:rPr lang="en-US" dirty="0" smtClean="0">
                <a:solidFill>
                  <a:schemeClr val="accent1">
                    <a:lumMod val="75000"/>
                  </a:schemeClr>
                </a:solidFill>
              </a:rPr>
              <a:t> </a:t>
            </a:r>
            <a:r>
              <a:rPr lang="en-US" dirty="0" smtClean="0"/>
              <a:t>One moment I'll never forget was the time I spend in the Department of Motor Vehicles facing unpleasant surroundings, never ending lines, and rude people as I tried to get my first driver's license.</a:t>
            </a:r>
            <a:endParaRPr lang="en-GB" dirty="0" smtClean="0"/>
          </a:p>
          <a:p>
            <a:endParaRPr lang="en-GB" dirty="0"/>
          </a:p>
        </p:txBody>
      </p:sp>
      <p:sp>
        <p:nvSpPr>
          <p:cNvPr id="4" name="Footer Placeholder 3"/>
          <p:cNvSpPr>
            <a:spLocks noGrp="1"/>
          </p:cNvSpPr>
          <p:nvPr>
            <p:ph type="ftr" sz="quarter" idx="16"/>
          </p:nvPr>
        </p:nvSpPr>
        <p:spPr/>
        <p:txBody>
          <a:bodyPr/>
          <a:lstStyle/>
          <a:p>
            <a:r>
              <a:rPr lang="en-GB" smtClean="0"/>
              <a:t>Dr. Prashant Luthra/SSSIHL</a:t>
            </a:r>
            <a:endParaRPr lang="en-GB"/>
          </a:p>
        </p:txBody>
      </p:sp>
    </p:spTree>
    <p:extLst>
      <p:ext uri="{BB962C8B-B14F-4D97-AF65-F5344CB8AC3E}">
        <p14:creationId xmlns:p14="http://schemas.microsoft.com/office/powerpoint/2010/main" val="75796868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7467600" cy="487362"/>
          </a:xfrm>
        </p:spPr>
        <p:txBody>
          <a:bodyPr>
            <a:normAutofit fontScale="90000"/>
          </a:bodyPr>
          <a:lstStyle/>
          <a:p>
            <a:r>
              <a:rPr lang="en-GB" dirty="0" smtClean="0"/>
              <a:t>Example 2- </a:t>
            </a:r>
            <a:r>
              <a:rPr lang="en-GB" dirty="0" smtClean="0">
                <a:solidFill>
                  <a:schemeClr val="accent1">
                    <a:lumMod val="75000"/>
                  </a:schemeClr>
                </a:solidFill>
              </a:rPr>
              <a:t>Sentence Outline</a:t>
            </a:r>
            <a:endParaRPr lang="en-GB" dirty="0">
              <a:solidFill>
                <a:schemeClr val="accent1">
                  <a:lumMod val="75000"/>
                </a:schemeClr>
              </a:solidFill>
            </a:endParaRPr>
          </a:p>
        </p:txBody>
      </p:sp>
      <p:sp>
        <p:nvSpPr>
          <p:cNvPr id="7" name="Content Placeholder 6"/>
          <p:cNvSpPr>
            <a:spLocks noGrp="1"/>
          </p:cNvSpPr>
          <p:nvPr>
            <p:ph sz="quarter" idx="1"/>
          </p:nvPr>
        </p:nvSpPr>
        <p:spPr>
          <a:xfrm>
            <a:off x="457200" y="563562"/>
            <a:ext cx="7467600" cy="5910390"/>
          </a:xfrm>
        </p:spPr>
        <p:txBody>
          <a:bodyPr>
            <a:normAutofit fontScale="62500" lnSpcReduction="20000"/>
          </a:bodyPr>
          <a:lstStyle/>
          <a:p>
            <a:r>
              <a:rPr lang="en-US" b="1" dirty="0">
                <a:solidFill>
                  <a:srgbClr val="FF0000"/>
                </a:solidFill>
                <a:latin typeface="Segoe UI" panose="020B0502040204020203" pitchFamily="34" charset="0"/>
                <a:cs typeface="Segoe UI" panose="020B0502040204020203" pitchFamily="34" charset="0"/>
              </a:rPr>
              <a:t>Sentence Outline: </a:t>
            </a:r>
            <a:r>
              <a:rPr lang="en-US" b="1" dirty="0">
                <a:solidFill>
                  <a:srgbClr val="0070C0"/>
                </a:solidFill>
                <a:latin typeface="Segoe UI" panose="020B0502040204020203" pitchFamily="34" charset="0"/>
                <a:cs typeface="Segoe UI" panose="020B0502040204020203" pitchFamily="34" charset="0"/>
              </a:rPr>
              <a:t>A Memorable Moment - The Day I Got My Driver's License</a:t>
            </a:r>
          </a:p>
          <a:p>
            <a:r>
              <a:rPr lang="en-US" b="1" dirty="0">
                <a:solidFill>
                  <a:srgbClr val="FF0000"/>
                </a:solidFill>
                <a:latin typeface="Segoe UI" panose="020B0502040204020203" pitchFamily="34" charset="0"/>
                <a:cs typeface="Segoe UI" panose="020B0502040204020203" pitchFamily="34" charset="0"/>
              </a:rPr>
              <a:t>Thesis Statement</a:t>
            </a:r>
            <a:r>
              <a:rPr lang="en-US" sz="1900" b="1" dirty="0">
                <a:solidFill>
                  <a:srgbClr val="0070C0"/>
                </a:solidFill>
                <a:latin typeface="Segoe UI" panose="020B0502040204020203" pitchFamily="34" charset="0"/>
                <a:cs typeface="Segoe UI" panose="020B0502040204020203" pitchFamily="34" charset="0"/>
              </a:rPr>
              <a:t>:</a:t>
            </a:r>
            <a:r>
              <a:rPr lang="en-US" sz="1900" dirty="0">
                <a:solidFill>
                  <a:srgbClr val="0070C0"/>
                </a:solidFill>
                <a:latin typeface="Segoe UI" panose="020B0502040204020203" pitchFamily="34" charset="0"/>
                <a:cs typeface="Segoe UI" panose="020B0502040204020203" pitchFamily="34" charset="0"/>
              </a:rPr>
              <a:t> One moment I'll never forget was the time I spent in the Department of Motor Vehicles facing unpleasant surroundings, never-ending lines, and rude people as I tried to get my first driver's license.</a:t>
            </a:r>
          </a:p>
          <a:p>
            <a:r>
              <a:rPr lang="en-US" b="1" dirty="0">
                <a:solidFill>
                  <a:srgbClr val="FF0000"/>
                </a:solidFill>
                <a:latin typeface="Segoe UI" panose="020B0502040204020203" pitchFamily="34" charset="0"/>
                <a:cs typeface="Segoe UI" panose="020B0502040204020203" pitchFamily="34" charset="0"/>
              </a:rPr>
              <a:t>Introduction</a:t>
            </a:r>
            <a:endParaRPr lang="en-US" dirty="0">
              <a:solidFill>
                <a:srgbClr val="FF0000"/>
              </a:solidFill>
              <a:latin typeface="Segoe UI" panose="020B0502040204020203" pitchFamily="34" charset="0"/>
              <a:cs typeface="Segoe UI" panose="020B0502040204020203" pitchFamily="34" charset="0"/>
            </a:endParaRPr>
          </a:p>
          <a:p>
            <a:pPr lvl="1"/>
            <a:r>
              <a:rPr lang="en-US" dirty="0">
                <a:latin typeface="Segoe UI" panose="020B0502040204020203" pitchFamily="34" charset="0"/>
                <a:cs typeface="Segoe UI" panose="020B0502040204020203" pitchFamily="34" charset="0"/>
              </a:rPr>
              <a:t>Getting a driver's license is a significant milestone in one's life.</a:t>
            </a:r>
          </a:p>
          <a:p>
            <a:pPr lvl="1"/>
            <a:r>
              <a:rPr lang="en-US" dirty="0">
                <a:latin typeface="Segoe UI" panose="020B0502040204020203" pitchFamily="34" charset="0"/>
                <a:cs typeface="Segoe UI" panose="020B0502040204020203" pitchFamily="34" charset="0"/>
              </a:rPr>
              <a:t>The experience at the Department of Motor Vehicles (DMV) is often memorable for various reasons.</a:t>
            </a:r>
          </a:p>
          <a:p>
            <a:r>
              <a:rPr lang="en-US" b="1" dirty="0">
                <a:solidFill>
                  <a:srgbClr val="FF0000"/>
                </a:solidFill>
                <a:latin typeface="Segoe UI" panose="020B0502040204020203" pitchFamily="34" charset="0"/>
                <a:cs typeface="Segoe UI" panose="020B0502040204020203" pitchFamily="34" charset="0"/>
              </a:rPr>
              <a:t>Unpleasant Surroundings</a:t>
            </a:r>
            <a:endParaRPr lang="en-US" dirty="0">
              <a:solidFill>
                <a:srgbClr val="FF0000"/>
              </a:solidFill>
              <a:latin typeface="Segoe UI" panose="020B0502040204020203" pitchFamily="34" charset="0"/>
              <a:cs typeface="Segoe UI" panose="020B0502040204020203" pitchFamily="34" charset="0"/>
            </a:endParaRPr>
          </a:p>
          <a:p>
            <a:pPr lvl="1"/>
            <a:r>
              <a:rPr lang="en-US" dirty="0">
                <a:latin typeface="Segoe UI" panose="020B0502040204020203" pitchFamily="34" charset="0"/>
                <a:cs typeface="Segoe UI" panose="020B0502040204020203" pitchFamily="34" charset="0"/>
              </a:rPr>
              <a:t>The DMV was located in a drab, poorly lit building with outdated decor.</a:t>
            </a:r>
          </a:p>
          <a:p>
            <a:pPr lvl="1"/>
            <a:r>
              <a:rPr lang="en-US" dirty="0">
                <a:latin typeface="Segoe UI" panose="020B0502040204020203" pitchFamily="34" charset="0"/>
                <a:cs typeface="Segoe UI" panose="020B0502040204020203" pitchFamily="34" charset="0"/>
              </a:rPr>
              <a:t>The waiting area was cramped, with uncomfortable seating and a lack of proper ventilation.</a:t>
            </a:r>
          </a:p>
          <a:p>
            <a:pPr lvl="1"/>
            <a:r>
              <a:rPr lang="en-US" dirty="0">
                <a:latin typeface="Segoe UI" panose="020B0502040204020203" pitchFamily="34" charset="0"/>
                <a:cs typeface="Segoe UI" panose="020B0502040204020203" pitchFamily="34" charset="0"/>
              </a:rPr>
              <a:t>The atmosphere was tense, with everyone appearing frustrated and impatient.</a:t>
            </a:r>
          </a:p>
          <a:p>
            <a:r>
              <a:rPr lang="en-US" b="1" dirty="0">
                <a:solidFill>
                  <a:srgbClr val="FF0000"/>
                </a:solidFill>
                <a:latin typeface="Segoe UI" panose="020B0502040204020203" pitchFamily="34" charset="0"/>
                <a:cs typeface="Segoe UI" panose="020B0502040204020203" pitchFamily="34" charset="0"/>
              </a:rPr>
              <a:t>Never-Ending Lines</a:t>
            </a:r>
            <a:endParaRPr lang="en-US" dirty="0">
              <a:solidFill>
                <a:srgbClr val="FF0000"/>
              </a:solidFill>
              <a:latin typeface="Segoe UI" panose="020B0502040204020203" pitchFamily="34" charset="0"/>
              <a:cs typeface="Segoe UI" panose="020B0502040204020203" pitchFamily="34" charset="0"/>
            </a:endParaRPr>
          </a:p>
          <a:p>
            <a:pPr lvl="1"/>
            <a:r>
              <a:rPr lang="en-US" dirty="0">
                <a:latin typeface="Segoe UI" panose="020B0502040204020203" pitchFamily="34" charset="0"/>
                <a:cs typeface="Segoe UI" panose="020B0502040204020203" pitchFamily="34" charset="0"/>
              </a:rPr>
              <a:t>The line at the DMV seemed to stretch endlessly, with a slow-moving process adding to the frustration.</a:t>
            </a:r>
          </a:p>
          <a:p>
            <a:pPr lvl="1"/>
            <a:r>
              <a:rPr lang="en-US" dirty="0">
                <a:latin typeface="Segoe UI" panose="020B0502040204020203" pitchFamily="34" charset="0"/>
                <a:cs typeface="Segoe UI" panose="020B0502040204020203" pitchFamily="34" charset="0"/>
              </a:rPr>
              <a:t>Multiple lines for different services created confusion and added to the wait time.</a:t>
            </a:r>
          </a:p>
          <a:p>
            <a:pPr lvl="1"/>
            <a:r>
              <a:rPr lang="en-US" dirty="0">
                <a:latin typeface="Segoe UI" panose="020B0502040204020203" pitchFamily="34" charset="0"/>
                <a:cs typeface="Segoe UI" panose="020B0502040204020203" pitchFamily="34" charset="0"/>
              </a:rPr>
              <a:t>The long wait tested my patience and made the whole experience feel even more daunting.</a:t>
            </a:r>
          </a:p>
          <a:p>
            <a:r>
              <a:rPr lang="en-US" b="1" dirty="0">
                <a:solidFill>
                  <a:srgbClr val="FF0000"/>
                </a:solidFill>
                <a:latin typeface="Segoe UI" panose="020B0502040204020203" pitchFamily="34" charset="0"/>
                <a:cs typeface="Segoe UI" panose="020B0502040204020203" pitchFamily="34" charset="0"/>
              </a:rPr>
              <a:t>Rude People</a:t>
            </a:r>
            <a:endParaRPr lang="en-US" dirty="0">
              <a:solidFill>
                <a:srgbClr val="FF0000"/>
              </a:solidFill>
              <a:latin typeface="Segoe UI" panose="020B0502040204020203" pitchFamily="34" charset="0"/>
              <a:cs typeface="Segoe UI" panose="020B0502040204020203" pitchFamily="34" charset="0"/>
            </a:endParaRPr>
          </a:p>
          <a:p>
            <a:pPr lvl="1"/>
            <a:r>
              <a:rPr lang="en-US" dirty="0">
                <a:latin typeface="Segoe UI" panose="020B0502040204020203" pitchFamily="34" charset="0"/>
                <a:cs typeface="Segoe UI" panose="020B0502040204020203" pitchFamily="34" charset="0"/>
              </a:rPr>
              <a:t>Many of the DMV staff were curt and unhelpful, adding to the stress of the situation.</a:t>
            </a:r>
          </a:p>
          <a:p>
            <a:pPr lvl="1"/>
            <a:r>
              <a:rPr lang="en-US" dirty="0">
                <a:latin typeface="Segoe UI" panose="020B0502040204020203" pitchFamily="34" charset="0"/>
                <a:cs typeface="Segoe UI" panose="020B0502040204020203" pitchFamily="34" charset="0"/>
              </a:rPr>
              <a:t>Fellow applicants were irritable, often complaining loudly and creating a negative atmosphere.</a:t>
            </a:r>
          </a:p>
          <a:p>
            <a:pPr lvl="1"/>
            <a:r>
              <a:rPr lang="en-US" dirty="0">
                <a:latin typeface="Segoe UI" panose="020B0502040204020203" pitchFamily="34" charset="0"/>
                <a:cs typeface="Segoe UI" panose="020B0502040204020203" pitchFamily="34" charset="0"/>
              </a:rPr>
              <a:t>An altercation between two people in line further disrupted the already tense environment.</a:t>
            </a:r>
          </a:p>
          <a:p>
            <a:r>
              <a:rPr lang="en-US" b="1" dirty="0">
                <a:solidFill>
                  <a:srgbClr val="FF0000"/>
                </a:solidFill>
                <a:latin typeface="Segoe UI" panose="020B0502040204020203" pitchFamily="34" charset="0"/>
                <a:cs typeface="Segoe UI" panose="020B0502040204020203" pitchFamily="34" charset="0"/>
              </a:rPr>
              <a:t>Conclusion</a:t>
            </a:r>
            <a:endParaRPr lang="en-US" dirty="0">
              <a:solidFill>
                <a:srgbClr val="FF0000"/>
              </a:solidFill>
              <a:latin typeface="Segoe UI" panose="020B0502040204020203" pitchFamily="34" charset="0"/>
              <a:cs typeface="Segoe UI" panose="020B0502040204020203" pitchFamily="34" charset="0"/>
            </a:endParaRPr>
          </a:p>
          <a:p>
            <a:pPr lvl="1"/>
            <a:r>
              <a:rPr lang="en-US" dirty="0">
                <a:latin typeface="Segoe UI" panose="020B0502040204020203" pitchFamily="34" charset="0"/>
                <a:cs typeface="Segoe UI" panose="020B0502040204020203" pitchFamily="34" charset="0"/>
              </a:rPr>
              <a:t>Despite the unpleasant surroundings, never-ending lines, and rude people, obtaining my driver's license was a memorable achievement.</a:t>
            </a:r>
          </a:p>
          <a:p>
            <a:pPr lvl="1"/>
            <a:r>
              <a:rPr lang="en-US" dirty="0">
                <a:latin typeface="Segoe UI" panose="020B0502040204020203" pitchFamily="34" charset="0"/>
                <a:cs typeface="Segoe UI" panose="020B0502040204020203" pitchFamily="34" charset="0"/>
              </a:rPr>
              <a:t>The challenging experience at the DMV highlighted the importance of patience and perseverance in reaching significant milestones.</a:t>
            </a:r>
          </a:p>
          <a:p>
            <a:endParaRPr lang="en-GB" dirty="0">
              <a:latin typeface="Segoe UI" panose="020B0502040204020203" pitchFamily="34" charset="0"/>
              <a:cs typeface="Segoe UI" panose="020B0502040204020203" pitchFamily="34" charset="0"/>
            </a:endParaRPr>
          </a:p>
        </p:txBody>
      </p:sp>
      <p:sp>
        <p:nvSpPr>
          <p:cNvPr id="3" name="Footer Placeholder 2"/>
          <p:cNvSpPr>
            <a:spLocks noGrp="1"/>
          </p:cNvSpPr>
          <p:nvPr>
            <p:ph type="ftr" sz="quarter" idx="16"/>
          </p:nvPr>
        </p:nvSpPr>
        <p:spPr/>
        <p:txBody>
          <a:bodyPr/>
          <a:lstStyle/>
          <a:p>
            <a:r>
              <a:rPr lang="en-GB" smtClean="0"/>
              <a:t>Dr. Prashant Luthra/SSSIHL</a:t>
            </a:r>
            <a:endParaRPr lang="en-GB"/>
          </a:p>
        </p:txBody>
      </p:sp>
    </p:spTree>
    <p:extLst>
      <p:ext uri="{BB962C8B-B14F-4D97-AF65-F5344CB8AC3E}">
        <p14:creationId xmlns:p14="http://schemas.microsoft.com/office/powerpoint/2010/main" val="35098245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19400" y="2819400"/>
            <a:ext cx="7467600" cy="1143000"/>
          </a:xfrm>
        </p:spPr>
        <p:txBody>
          <a:bodyPr>
            <a:normAutofit fontScale="90000"/>
          </a:bodyPr>
          <a:lstStyle/>
          <a:p>
            <a:r>
              <a:rPr lang="en-US" sz="6000" dirty="0">
                <a:solidFill>
                  <a:schemeClr val="accent1">
                    <a:lumMod val="75000"/>
                  </a:schemeClr>
                </a:solidFill>
              </a:rPr>
              <a:t>SAIRAM</a:t>
            </a:r>
            <a:r>
              <a:rPr lang="en-IN" dirty="0"/>
              <a:t/>
            </a:r>
            <a:br>
              <a:rPr lang="en-IN" dirty="0"/>
            </a:br>
            <a:endParaRPr lang="en-IN" dirty="0"/>
          </a:p>
        </p:txBody>
      </p:sp>
      <p:sp>
        <p:nvSpPr>
          <p:cNvPr id="3" name="Content Placeholder 2"/>
          <p:cNvSpPr>
            <a:spLocks noGrp="1"/>
          </p:cNvSpPr>
          <p:nvPr>
            <p:ph sz="quarter" idx="1"/>
          </p:nvPr>
        </p:nvSpPr>
        <p:spPr>
          <a:xfrm>
            <a:off x="457200" y="4876800"/>
            <a:ext cx="7467600" cy="1597152"/>
          </a:xfrm>
        </p:spPr>
        <p:txBody>
          <a:bodyPr/>
          <a:lstStyle/>
          <a:p>
            <a:endParaRPr lang="en-IN" dirty="0"/>
          </a:p>
        </p:txBody>
      </p:sp>
      <p:sp>
        <p:nvSpPr>
          <p:cNvPr id="4" name="Footer Placeholder 3"/>
          <p:cNvSpPr>
            <a:spLocks noGrp="1"/>
          </p:cNvSpPr>
          <p:nvPr>
            <p:ph type="ftr" sz="quarter" idx="16"/>
          </p:nvPr>
        </p:nvSpPr>
        <p:spPr/>
        <p:txBody>
          <a:bodyPr/>
          <a:lstStyle/>
          <a:p>
            <a:r>
              <a:rPr lang="en-GB" smtClean="0"/>
              <a:t>Dr. Prashant Luthra/SSSIHL</a:t>
            </a:r>
            <a:endParaRPr lang="en-GB"/>
          </a:p>
        </p:txBody>
      </p:sp>
    </p:spTree>
    <p:extLst>
      <p:ext uri="{BB962C8B-B14F-4D97-AF65-F5344CB8AC3E}">
        <p14:creationId xmlns:p14="http://schemas.microsoft.com/office/powerpoint/2010/main" val="178025111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pulent">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Oriel</Template>
  <TotalTime>583</TotalTime>
  <Words>3037</Words>
  <Application>Microsoft Office PowerPoint</Application>
  <PresentationFormat>On-screen Show (4:3)</PresentationFormat>
  <Paragraphs>380</Paragraphs>
  <Slides>48</Slides>
  <Notes>0</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48</vt:i4>
      </vt:variant>
    </vt:vector>
  </HeadingPairs>
  <TitlesOfParts>
    <vt:vector size="63" baseType="lpstr">
      <vt:lpstr>Aachen-Bold</vt:lpstr>
      <vt:lpstr>Arial</vt:lpstr>
      <vt:lpstr>Bookman Old Style</vt:lpstr>
      <vt:lpstr>Calibri</vt:lpstr>
      <vt:lpstr>Century Schoolbook</vt:lpstr>
      <vt:lpstr>Comic Sans MS</vt:lpstr>
      <vt:lpstr>Mondine SF</vt:lpstr>
      <vt:lpstr>Segoe UI</vt:lpstr>
      <vt:lpstr>Times New Roman</vt:lpstr>
      <vt:lpstr>Trajan Pro</vt:lpstr>
      <vt:lpstr>Trebuchet MS</vt:lpstr>
      <vt:lpstr>Wingdings</vt:lpstr>
      <vt:lpstr>Wingdings 2</vt:lpstr>
      <vt:lpstr>Oriel</vt:lpstr>
      <vt:lpstr>Opulent</vt:lpstr>
      <vt:lpstr>PowerPoint Presentation</vt:lpstr>
      <vt:lpstr>ESSAY WRITING</vt:lpstr>
      <vt:lpstr>                Elements of a Good Essay </vt:lpstr>
      <vt:lpstr>PowerPoint Presentation</vt:lpstr>
      <vt:lpstr>PowerPoint Presentation</vt:lpstr>
      <vt:lpstr>Style</vt:lpstr>
      <vt:lpstr>PowerPoint Presentation</vt:lpstr>
      <vt:lpstr>PowerPoint Presentation</vt:lpstr>
      <vt:lpstr>PowerPoint Presentation</vt:lpstr>
      <vt:lpstr>PowerPoint Presentation</vt:lpstr>
      <vt:lpstr>PowerPoint Presentation</vt:lpstr>
      <vt:lpstr>PowerPoint Presentation</vt:lpstr>
      <vt:lpstr>classification of essays</vt:lpstr>
      <vt:lpstr>Remember   Classifications are useful but not mutually exclusive. </vt:lpstr>
      <vt:lpstr>Narrative Essays</vt:lpstr>
      <vt:lpstr>Descriptive Essays </vt:lpstr>
      <vt:lpstr>Expository Essays</vt:lpstr>
      <vt:lpstr>      Reflective Essays </vt:lpstr>
      <vt:lpstr>Imaginative Essays</vt:lpstr>
      <vt:lpstr>Prewriting of Ideas</vt:lpstr>
      <vt:lpstr>PowerPoint Presentation</vt:lpstr>
      <vt:lpstr>Brainstorming: Looking for a Topic </vt:lpstr>
      <vt:lpstr>PowerPoint Presentation</vt:lpstr>
      <vt:lpstr> </vt:lpstr>
      <vt:lpstr>Cluster / Map / Web</vt:lpstr>
      <vt:lpstr>Cluster / Map / Web</vt:lpstr>
      <vt:lpstr>PowerPoint Presentation</vt:lpstr>
      <vt:lpstr>PowerPoint Presentation</vt:lpstr>
      <vt:lpstr>Image Map </vt:lpstr>
      <vt:lpstr>PowerPoint Presentation</vt:lpstr>
      <vt:lpstr>PowerPoint Presentation</vt:lpstr>
      <vt:lpstr>List and Develop Major Points</vt:lpstr>
      <vt:lpstr>PowerPoint Presentation</vt:lpstr>
      <vt:lpstr>PowerPoint Presentation</vt:lpstr>
      <vt:lpstr>PowerPoint Presentation</vt:lpstr>
      <vt:lpstr>PowerPoint Presentation</vt:lpstr>
      <vt:lpstr>Write a Thesis Statement</vt:lpstr>
      <vt:lpstr>Thesis Statement – Examples    1 </vt:lpstr>
      <vt:lpstr>Thesis Statement – Examples    2</vt:lpstr>
      <vt:lpstr>Thesis Statement – Examples    3</vt:lpstr>
      <vt:lpstr>Thesis Statement – Examples    4</vt:lpstr>
      <vt:lpstr>TOPIC WEB FOR THE “FAVOURITE PET” ESSAY</vt:lpstr>
      <vt:lpstr>PowerPoint Presentation</vt:lpstr>
      <vt:lpstr>Thesis Statement – Examples    1 </vt:lpstr>
      <vt:lpstr>Example 1- Sentence Outline</vt:lpstr>
      <vt:lpstr>Thesis Statement – Examples    2</vt:lpstr>
      <vt:lpstr>Example 2- Sentence Outline</vt:lpstr>
      <vt:lpstr>SAIRAM </vt:lpstr>
    </vt:vector>
  </TitlesOfParts>
  <Company>sssihl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winXP</dc:creator>
  <cp:lastModifiedBy>PRASHANT LUTHRA</cp:lastModifiedBy>
  <cp:revision>99</cp:revision>
  <dcterms:created xsi:type="dcterms:W3CDTF">2011-09-15T04:58:16Z</dcterms:created>
  <dcterms:modified xsi:type="dcterms:W3CDTF">2024-08-01T03:38:16Z</dcterms:modified>
</cp:coreProperties>
</file>