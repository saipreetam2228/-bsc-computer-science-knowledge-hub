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8" roundtripDataSignature="AMtx7mir2G3dnfN/VBAPrOPFQcafvQEb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97E2EE-8823-4C09-897D-2F75CCA6BF67}">
  <a:tblStyle styleId="{1397E2EE-8823-4C09-897D-2F75CCA6BF6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24ac2f7c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724ac2f7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24ac2f7c2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724ac2f7c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24ac2f7c2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724ac2f7c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24ac2f7c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724ac2f7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24ac2f7c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724ac2f7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24ac2f7c2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724ac2f7c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24ac2f7c2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724ac2f7c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24ac2f7c2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724ac2f7c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24ac2f7c2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724ac2f7c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2" name="Google Shape;38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6" name="Google Shape;41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8" name="Google Shape;42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0" name="Google Shape;45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0" name="Google Shape;460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5" name="Google Shape;46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0" name="Google Shape;480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4" name="Google Shape;484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5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Relationship Id="rId4" Type="http://schemas.openxmlformats.org/officeDocument/2006/relationships/image" Target="../media/image27.png"/><Relationship Id="rId5" Type="http://schemas.openxmlformats.org/officeDocument/2006/relationships/image" Target="../media/image40.png"/><Relationship Id="rId6" Type="http://schemas.openxmlformats.org/officeDocument/2006/relationships/image" Target="../media/image31.png"/><Relationship Id="rId7" Type="http://schemas.openxmlformats.org/officeDocument/2006/relationships/image" Target="../media/image22.png"/><Relationship Id="rId8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Relationship Id="rId4" Type="http://schemas.openxmlformats.org/officeDocument/2006/relationships/image" Target="../media/image45.png"/><Relationship Id="rId5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7.png"/><Relationship Id="rId4" Type="http://schemas.openxmlformats.org/officeDocument/2006/relationships/image" Target="../media/image4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361841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TREES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838200" y="1825625"/>
            <a:ext cx="10515600" cy="17927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Aum Sri Sairam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89750" y="104250"/>
            <a:ext cx="11400000" cy="6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of ML task is performed by Decision Trees?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Explain the working procedure of a DT classifier with an example.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 decision tree classifier.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are the components of a decision tree and What are decision rules?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is the principle/technique behind the functionality of a decision tree classifier explain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technique mathematically.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a split point.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Data Partition 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purity in the context of a region/space.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find the split point in case of a categorical attribute?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the stopping condition for splitting?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8509675" y="104250"/>
            <a:ext cx="34290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Problem:</a:t>
            </a:r>
            <a:endParaRPr/>
          </a:p>
        </p:txBody>
      </p: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070" y="1972492"/>
            <a:ext cx="11048352" cy="236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g3724ac2f7c2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8625" y="224225"/>
            <a:ext cx="8554749" cy="649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24ac2f7c2_0_27"/>
          <p:cNvSpPr txBox="1"/>
          <p:nvPr>
            <p:ph idx="1" type="body"/>
          </p:nvPr>
        </p:nvSpPr>
        <p:spPr>
          <a:xfrm>
            <a:off x="610400" y="700150"/>
            <a:ext cx="10743300" cy="54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4000">
                <a:solidFill>
                  <a:srgbClr val="38761D"/>
                </a:solidFill>
              </a:rPr>
              <a:t>A decision tree consists of internal nodes that represent the decisions corresponding to the hyperplanes or split points (i.e., which half-space a given point lies in), and leaf nodes that represent regions or partitions of the data space, which are labeled with the majority class.</a:t>
            </a:r>
            <a:endParaRPr sz="4000">
              <a:solidFill>
                <a:srgbClr val="38761D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rgbClr val="38761D"/>
                </a:solidFill>
              </a:rPr>
              <a:t>A region is characterized by the subset of data points that lie in that region.</a:t>
            </a:r>
            <a:endParaRPr sz="40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724ac2f7c2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262" y="1193275"/>
            <a:ext cx="10991500" cy="410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724ac2f7c2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460" y="321500"/>
            <a:ext cx="11225900" cy="61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3724ac2f7c2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050" y="727101"/>
            <a:ext cx="11000800" cy="58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5729" y="26295"/>
            <a:ext cx="6599092" cy="471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3363" y="457200"/>
            <a:ext cx="5521941" cy="2061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4983" y="2975586"/>
            <a:ext cx="6160321" cy="35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24ac2f7c2_0_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Keywords</a:t>
            </a:r>
            <a:endParaRPr/>
          </a:p>
        </p:txBody>
      </p:sp>
      <p:sp>
        <p:nvSpPr>
          <p:cNvPr id="135" name="Google Shape;135;g3724ac2f7c2_0_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Split Point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Partition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Purity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724ac2f7c2_0_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Split Point</a:t>
            </a:r>
            <a:endParaRPr/>
          </a:p>
        </p:txBody>
      </p:sp>
      <p:pic>
        <p:nvPicPr>
          <p:cNvPr id="141" name="Google Shape;141;g3724ac2f7c2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775" y="2740875"/>
            <a:ext cx="11099025" cy="198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24ac2f7c2_0_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 Partition</a:t>
            </a:r>
            <a:endParaRPr/>
          </a:p>
        </p:txBody>
      </p:sp>
      <p:pic>
        <p:nvPicPr>
          <p:cNvPr id="147" name="Google Shape;147;g3724ac2f7c2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130475"/>
            <a:ext cx="12039600" cy="2781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24ac2f7c2_0_5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Purity</a:t>
            </a:r>
            <a:endParaRPr/>
          </a:p>
        </p:txBody>
      </p:sp>
      <p:pic>
        <p:nvPicPr>
          <p:cNvPr id="153" name="Google Shape;153;g3724ac2f7c2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9225" y="2127642"/>
            <a:ext cx="5724325" cy="18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724ac2f7c2_0_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800" y="4137956"/>
            <a:ext cx="11201401" cy="906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>
            <p:ph type="title"/>
          </p:nvPr>
        </p:nvSpPr>
        <p:spPr>
          <a:xfrm>
            <a:off x="563880" y="3003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Categorical Variables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4034" y="666736"/>
            <a:ext cx="9108657" cy="600838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1267097" y="169817"/>
            <a:ext cx="9052560" cy="43107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EXAMPLE</a:t>
            </a: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2487" y="3069771"/>
            <a:ext cx="7958919" cy="3628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4990011" cy="329327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6818811" y="705394"/>
            <a:ext cx="4284618" cy="66620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MATRIX-DECISION TREE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type="title"/>
          </p:nvPr>
        </p:nvSpPr>
        <p:spPr>
          <a:xfrm>
            <a:off x="1047205" y="263806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Jai Sairam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99" y="629852"/>
            <a:ext cx="9483635" cy="584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4426" y="3552135"/>
            <a:ext cx="5047926" cy="2493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>
            <p:ph type="title"/>
          </p:nvPr>
        </p:nvSpPr>
        <p:spPr>
          <a:xfrm>
            <a:off x="444137" y="365126"/>
            <a:ext cx="10909663" cy="771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Impurity Measures of Nodes: </a:t>
            </a:r>
            <a:endParaRPr/>
          </a:p>
        </p:txBody>
      </p:sp>
      <p:pic>
        <p:nvPicPr>
          <p:cNvPr id="189" name="Google Shape;1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4391" y="1582900"/>
            <a:ext cx="6075371" cy="3589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178" y="1323670"/>
            <a:ext cx="3994895" cy="4128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1267" y="1294491"/>
            <a:ext cx="6297373" cy="415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/>
          <p:nvPr/>
        </p:nvSpPr>
        <p:spPr>
          <a:xfrm>
            <a:off x="1008178" y="326571"/>
            <a:ext cx="6502965" cy="62701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SETS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/>
          <p:nvPr>
            <p:ph type="title"/>
          </p:nvPr>
        </p:nvSpPr>
        <p:spPr>
          <a:xfrm>
            <a:off x="313509" y="111598"/>
            <a:ext cx="10822577" cy="831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Steps for measuring the Impurity</a:t>
            </a:r>
            <a:endParaRPr/>
          </a:p>
        </p:txBody>
      </p:sp>
      <p:grpSp>
        <p:nvGrpSpPr>
          <p:cNvPr id="202" name="Google Shape;202;p12"/>
          <p:cNvGrpSpPr/>
          <p:nvPr/>
        </p:nvGrpSpPr>
        <p:grpSpPr>
          <a:xfrm>
            <a:off x="104504" y="1197060"/>
            <a:ext cx="6263639" cy="5445146"/>
            <a:chOff x="130629" y="308786"/>
            <a:chExt cx="6263639" cy="5445146"/>
          </a:xfrm>
        </p:grpSpPr>
        <p:pic>
          <p:nvPicPr>
            <p:cNvPr id="203" name="Google Shape;20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00887" y="1626582"/>
              <a:ext cx="3999323" cy="41273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4" name="Google Shape;204;p12"/>
            <p:cNvCxnSpPr/>
            <p:nvPr/>
          </p:nvCxnSpPr>
          <p:spPr>
            <a:xfrm flipH="1" rot="10800000">
              <a:off x="3944983" y="1031967"/>
              <a:ext cx="627017" cy="594615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5" name="Google Shape;205;p12"/>
            <p:cNvCxnSpPr/>
            <p:nvPr/>
          </p:nvCxnSpPr>
          <p:spPr>
            <a:xfrm rot="10800000">
              <a:off x="2651760" y="940526"/>
              <a:ext cx="261257" cy="686056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6" name="Google Shape;206;p12"/>
            <p:cNvCxnSpPr>
              <a:endCxn id="207" idx="2"/>
            </p:cNvCxnSpPr>
            <p:nvPr/>
          </p:nvCxnSpPr>
          <p:spPr>
            <a:xfrm rot="10800000">
              <a:off x="1255168" y="832998"/>
              <a:ext cx="1004700" cy="7935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8" name="Google Shape;208;p12"/>
            <p:cNvCxnSpPr/>
            <p:nvPr/>
          </p:nvCxnSpPr>
          <p:spPr>
            <a:xfrm flipH="1" rot="10800000">
              <a:off x="4872446" y="940526"/>
              <a:ext cx="705394" cy="686056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09" name="Google Shape;209;p12"/>
            <p:cNvCxnSpPr/>
            <p:nvPr/>
          </p:nvCxnSpPr>
          <p:spPr>
            <a:xfrm rot="10800000">
              <a:off x="888274" y="1299754"/>
              <a:ext cx="548640" cy="267789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0" name="Google Shape;210;p12"/>
            <p:cNvSpPr/>
            <p:nvPr/>
          </p:nvSpPr>
          <p:spPr>
            <a:xfrm>
              <a:off x="130629" y="1031966"/>
              <a:ext cx="1031965" cy="25158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Nominal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2"/>
            <p:cNvSpPr/>
            <p:nvPr/>
          </p:nvSpPr>
          <p:spPr>
            <a:xfrm>
              <a:off x="2176099" y="378823"/>
              <a:ext cx="1272494" cy="52421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Categorical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2"/>
            <p:cNvSpPr/>
            <p:nvPr/>
          </p:nvSpPr>
          <p:spPr>
            <a:xfrm>
              <a:off x="3840480" y="522515"/>
              <a:ext cx="1345473" cy="50945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Ratio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5362303" y="684104"/>
              <a:ext cx="1031965" cy="251588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Class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618921" y="308786"/>
              <a:ext cx="1272494" cy="524212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Categorical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12"/>
          <p:cNvSpPr/>
          <p:nvPr/>
        </p:nvSpPr>
        <p:spPr>
          <a:xfrm>
            <a:off x="6740435" y="1572378"/>
            <a:ext cx="4911634" cy="75281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Step-1: Class Distribution before and after the Split for each node as a probability measure P(i|t)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12"/>
          <p:cNvGraphicFramePr/>
          <p:nvPr/>
        </p:nvGraphicFramePr>
        <p:xfrm>
          <a:off x="6373018" y="43041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16" name="Google Shape;216;p12"/>
          <p:cNvGraphicFramePr/>
          <p:nvPr/>
        </p:nvGraphicFramePr>
        <p:xfrm>
          <a:off x="10241279" y="43041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7" name="Google Shape;217;p12"/>
          <p:cNvSpPr/>
          <p:nvPr/>
        </p:nvSpPr>
        <p:spPr>
          <a:xfrm>
            <a:off x="8366760" y="2784218"/>
            <a:ext cx="1280159" cy="70539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Refund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2"/>
          <p:cNvCxnSpPr/>
          <p:nvPr/>
        </p:nvCxnSpPr>
        <p:spPr>
          <a:xfrm flipH="1">
            <a:off x="7249886" y="3278777"/>
            <a:ext cx="1198517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9" name="Google Shape;219;p12"/>
          <p:cNvCxnSpPr/>
          <p:nvPr/>
        </p:nvCxnSpPr>
        <p:spPr>
          <a:xfrm>
            <a:off x="9576684" y="3278777"/>
            <a:ext cx="1030356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0" name="Google Shape;220;p12"/>
          <p:cNvSpPr/>
          <p:nvPr/>
        </p:nvSpPr>
        <p:spPr>
          <a:xfrm>
            <a:off x="5812971" y="2777554"/>
            <a:ext cx="2286000" cy="34446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Binary Attribute: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7158446" y="3489612"/>
            <a:ext cx="625362" cy="29861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0091862" y="3413115"/>
            <a:ext cx="625362" cy="29861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336179" y="5812971"/>
            <a:ext cx="6577148" cy="6400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P(i|t): Denotes the fractions of record belonging to class “i” at a given node “t”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2107428" y="1416551"/>
            <a:ext cx="1312296" cy="3152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Married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8366760" y="4038255"/>
            <a:ext cx="1280159" cy="70539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Taxable Income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13"/>
          <p:cNvGraphicFramePr/>
          <p:nvPr/>
        </p:nvGraphicFramePr>
        <p:xfrm>
          <a:off x="6373018" y="55842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31" name="Google Shape;231;p13"/>
          <p:cNvGraphicFramePr/>
          <p:nvPr/>
        </p:nvGraphicFramePr>
        <p:xfrm>
          <a:off x="10241279" y="55842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32" name="Google Shape;232;p13"/>
          <p:cNvCxnSpPr/>
          <p:nvPr/>
        </p:nvCxnSpPr>
        <p:spPr>
          <a:xfrm flipH="1">
            <a:off x="7249886" y="4558940"/>
            <a:ext cx="1198517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3" name="Google Shape;233;p13"/>
          <p:cNvCxnSpPr/>
          <p:nvPr/>
        </p:nvCxnSpPr>
        <p:spPr>
          <a:xfrm>
            <a:off x="9576684" y="4558940"/>
            <a:ext cx="1030356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234" name="Google Shape;234;p13"/>
          <p:cNvGraphicFramePr/>
          <p:nvPr/>
        </p:nvGraphicFramePr>
        <p:xfrm>
          <a:off x="216058" y="20425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35" name="Google Shape;235;p13"/>
          <p:cNvGraphicFramePr/>
          <p:nvPr/>
        </p:nvGraphicFramePr>
        <p:xfrm>
          <a:off x="4084319" y="20425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6" name="Google Shape;236;p13"/>
          <p:cNvSpPr/>
          <p:nvPr/>
        </p:nvSpPr>
        <p:spPr>
          <a:xfrm>
            <a:off x="2209800" y="522652"/>
            <a:ext cx="1280159" cy="70539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Marital Status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13"/>
          <p:cNvCxnSpPr/>
          <p:nvPr/>
        </p:nvCxnSpPr>
        <p:spPr>
          <a:xfrm flipH="1">
            <a:off x="1092926" y="1017211"/>
            <a:ext cx="1198517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8" name="Google Shape;238;p13"/>
          <p:cNvCxnSpPr/>
          <p:nvPr/>
        </p:nvCxnSpPr>
        <p:spPr>
          <a:xfrm>
            <a:off x="3419724" y="1017211"/>
            <a:ext cx="1030356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239" name="Google Shape;239;p13"/>
          <p:cNvGraphicFramePr/>
          <p:nvPr/>
        </p:nvGraphicFramePr>
        <p:xfrm>
          <a:off x="218757" y="55973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40" name="Google Shape;240;p13"/>
          <p:cNvGraphicFramePr/>
          <p:nvPr/>
        </p:nvGraphicFramePr>
        <p:xfrm>
          <a:off x="4087018" y="55973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1" name="Google Shape;241;p13"/>
          <p:cNvSpPr/>
          <p:nvPr/>
        </p:nvSpPr>
        <p:spPr>
          <a:xfrm>
            <a:off x="2212499" y="4077440"/>
            <a:ext cx="1280159" cy="70539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Taxable Income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13"/>
          <p:cNvCxnSpPr/>
          <p:nvPr/>
        </p:nvCxnSpPr>
        <p:spPr>
          <a:xfrm flipH="1">
            <a:off x="1095625" y="4571999"/>
            <a:ext cx="1198517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3" name="Google Shape;243;p13"/>
          <p:cNvCxnSpPr/>
          <p:nvPr/>
        </p:nvCxnSpPr>
        <p:spPr>
          <a:xfrm>
            <a:off x="3422423" y="4571999"/>
            <a:ext cx="1030356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4" name="Google Shape;244;p13"/>
          <p:cNvCxnSpPr>
            <a:stCxn id="236" idx="4"/>
          </p:cNvCxnSpPr>
          <p:nvPr/>
        </p:nvCxnSpPr>
        <p:spPr>
          <a:xfrm>
            <a:off x="2849880" y="1228046"/>
            <a:ext cx="42000" cy="814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245" name="Google Shape;245;p13"/>
          <p:cNvGraphicFramePr/>
          <p:nvPr/>
        </p:nvGraphicFramePr>
        <p:xfrm>
          <a:off x="2250643" y="20557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6" name="Google Shape;246;p13"/>
          <p:cNvSpPr/>
          <p:nvPr/>
        </p:nvSpPr>
        <p:spPr>
          <a:xfrm>
            <a:off x="216058" y="1369908"/>
            <a:ext cx="1312296" cy="3152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4133566" y="1135276"/>
            <a:ext cx="1312296" cy="3152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Divorced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13"/>
          <p:cNvCxnSpPr/>
          <p:nvPr/>
        </p:nvCxnSpPr>
        <p:spPr>
          <a:xfrm>
            <a:off x="8906707" y="4737607"/>
            <a:ext cx="41888" cy="81449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249" name="Google Shape;249;p13"/>
          <p:cNvGraphicFramePr/>
          <p:nvPr/>
        </p:nvGraphicFramePr>
        <p:xfrm>
          <a:off x="8307470" y="55652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50" name="Google Shape;25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3808" y="323347"/>
            <a:ext cx="3385534" cy="3493913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/>
          <p:nvPr/>
        </p:nvSpPr>
        <p:spPr>
          <a:xfrm>
            <a:off x="627017" y="4924697"/>
            <a:ext cx="999831" cy="27432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&lt;80K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3944953" y="4673183"/>
            <a:ext cx="999831" cy="27432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 80K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6373018" y="4558940"/>
            <a:ext cx="1476126" cy="38856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&lt;70K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8170793" y="4960184"/>
            <a:ext cx="1476126" cy="38856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{70K,100k}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10025730" y="4648305"/>
            <a:ext cx="1476126" cy="38856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&gt;100k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808" y="330761"/>
            <a:ext cx="5183229" cy="3509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9726" y="185119"/>
            <a:ext cx="6222274" cy="3688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1657" y="3840481"/>
            <a:ext cx="5544125" cy="281805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4"/>
          <p:cNvSpPr/>
          <p:nvPr/>
        </p:nvSpPr>
        <p:spPr>
          <a:xfrm>
            <a:off x="431074" y="4519749"/>
            <a:ext cx="2860766" cy="72975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Splitting Continuous attribute in two ways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"/>
          <p:cNvSpPr txBox="1"/>
          <p:nvPr>
            <p:ph type="title"/>
          </p:nvPr>
        </p:nvSpPr>
        <p:spPr>
          <a:xfrm>
            <a:off x="153158" y="14671"/>
            <a:ext cx="10822577" cy="831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Steps for measuring the Impurity</a:t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153158" y="881551"/>
            <a:ext cx="7553928" cy="60061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Step-2: Calculate the Gini(t),Entropy(t) and Classification error(t) for each node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" name="Google Shape;270;p15"/>
          <p:cNvGraphicFramePr/>
          <p:nvPr/>
        </p:nvGraphicFramePr>
        <p:xfrm>
          <a:off x="5750992" y="55320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71" name="Google Shape;271;p15"/>
          <p:cNvGraphicFramePr/>
          <p:nvPr/>
        </p:nvGraphicFramePr>
        <p:xfrm>
          <a:off x="9619253" y="55320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72" name="Google Shape;272;p15"/>
          <p:cNvSpPr/>
          <p:nvPr/>
        </p:nvSpPr>
        <p:spPr>
          <a:xfrm>
            <a:off x="7744734" y="3803126"/>
            <a:ext cx="1280159" cy="70539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Refund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5"/>
          <p:cNvCxnSpPr>
            <a:stCxn id="272" idx="3"/>
          </p:cNvCxnSpPr>
          <p:nvPr/>
        </p:nvCxnSpPr>
        <p:spPr>
          <a:xfrm flipH="1">
            <a:off x="6627809" y="4405217"/>
            <a:ext cx="1304400" cy="112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4" name="Google Shape;274;p15"/>
          <p:cNvCxnSpPr>
            <a:stCxn id="272" idx="5"/>
          </p:cNvCxnSpPr>
          <p:nvPr/>
        </p:nvCxnSpPr>
        <p:spPr>
          <a:xfrm>
            <a:off x="8837418" y="4405217"/>
            <a:ext cx="1147500" cy="112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5" name="Google Shape;275;p15"/>
          <p:cNvSpPr/>
          <p:nvPr/>
        </p:nvSpPr>
        <p:spPr>
          <a:xfrm>
            <a:off x="5190945" y="4005463"/>
            <a:ext cx="2286000" cy="34446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Binary Attribute: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6536420" y="4717521"/>
            <a:ext cx="625362" cy="29861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9469836" y="4641024"/>
            <a:ext cx="625362" cy="29861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158" y="1717062"/>
            <a:ext cx="6273768" cy="20824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15"/>
          <p:cNvCxnSpPr/>
          <p:nvPr/>
        </p:nvCxnSpPr>
        <p:spPr>
          <a:xfrm>
            <a:off x="7161782" y="6273693"/>
            <a:ext cx="315163" cy="25773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0" name="Google Shape;280;p15"/>
          <p:cNvSpPr/>
          <p:nvPr/>
        </p:nvSpPr>
        <p:spPr>
          <a:xfrm>
            <a:off x="7480000" y="6203994"/>
            <a:ext cx="712066" cy="52251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N1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5"/>
          <p:cNvCxnSpPr/>
          <p:nvPr/>
        </p:nvCxnSpPr>
        <p:spPr>
          <a:xfrm>
            <a:off x="10981351" y="6266731"/>
            <a:ext cx="315163" cy="25773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2" name="Google Shape;282;p15"/>
          <p:cNvSpPr/>
          <p:nvPr/>
        </p:nvSpPr>
        <p:spPr>
          <a:xfrm>
            <a:off x="11299569" y="6197032"/>
            <a:ext cx="712066" cy="52251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N2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6849101" y="2342512"/>
            <a:ext cx="2327493" cy="39793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Where c: No of classes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16"/>
          <p:cNvGraphicFramePr/>
          <p:nvPr/>
        </p:nvGraphicFramePr>
        <p:xfrm>
          <a:off x="1671662" y="9102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820275"/>
                <a:gridCol w="820275"/>
              </a:tblGrid>
              <a:tr h="3310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Parent Node(Refund)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3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40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310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Gini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 hMerge="1"/>
              </a:tr>
            </a:tbl>
          </a:graphicData>
        </a:graphic>
      </p:graphicFrame>
      <p:graphicFrame>
        <p:nvGraphicFramePr>
          <p:cNvPr id="289" name="Google Shape;289;p16"/>
          <p:cNvGraphicFramePr/>
          <p:nvPr/>
        </p:nvGraphicFramePr>
        <p:xfrm>
          <a:off x="1028892" y="31360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680800"/>
                <a:gridCol w="1269925"/>
                <a:gridCol w="975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N1(Yes)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N2(No)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90" name="Google Shape;290;p16"/>
          <p:cNvCxnSpPr/>
          <p:nvPr/>
        </p:nvCxnSpPr>
        <p:spPr>
          <a:xfrm>
            <a:off x="2491932" y="2686338"/>
            <a:ext cx="0" cy="449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291" name="Google Shape;2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993" y="-87692"/>
            <a:ext cx="5198132" cy="997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4973" y="725946"/>
            <a:ext cx="3392669" cy="864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4618" y="3706213"/>
            <a:ext cx="3644536" cy="135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85063" y="2749325"/>
            <a:ext cx="3543465" cy="94259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6"/>
          <p:cNvSpPr/>
          <p:nvPr/>
        </p:nvSpPr>
        <p:spPr>
          <a:xfrm>
            <a:off x="7654834" y="3136057"/>
            <a:ext cx="1933303" cy="29947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N1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7654833" y="4014417"/>
            <a:ext cx="1933303" cy="29947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N2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7654832" y="910230"/>
            <a:ext cx="3265790" cy="39605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Before Splitting at Parent Node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/>
          <p:nvPr/>
        </p:nvSpPr>
        <p:spPr>
          <a:xfrm>
            <a:off x="2107428" y="1416551"/>
            <a:ext cx="1312296" cy="3152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Married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3" name="Google Shape;303;p17"/>
          <p:cNvGraphicFramePr/>
          <p:nvPr/>
        </p:nvGraphicFramePr>
        <p:xfrm>
          <a:off x="216058" y="20425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04" name="Google Shape;304;p17"/>
          <p:cNvGraphicFramePr/>
          <p:nvPr/>
        </p:nvGraphicFramePr>
        <p:xfrm>
          <a:off x="4084319" y="20425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05" name="Google Shape;305;p17"/>
          <p:cNvSpPr/>
          <p:nvPr/>
        </p:nvSpPr>
        <p:spPr>
          <a:xfrm>
            <a:off x="2209800" y="522652"/>
            <a:ext cx="1280159" cy="70539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Marital Status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7"/>
          <p:cNvCxnSpPr/>
          <p:nvPr/>
        </p:nvCxnSpPr>
        <p:spPr>
          <a:xfrm flipH="1">
            <a:off x="1092926" y="1017211"/>
            <a:ext cx="1198517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7" name="Google Shape;307;p17"/>
          <p:cNvCxnSpPr/>
          <p:nvPr/>
        </p:nvCxnSpPr>
        <p:spPr>
          <a:xfrm>
            <a:off x="3419724" y="1017211"/>
            <a:ext cx="1030356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8" name="Google Shape;308;p17"/>
          <p:cNvCxnSpPr>
            <a:stCxn id="305" idx="4"/>
          </p:cNvCxnSpPr>
          <p:nvPr/>
        </p:nvCxnSpPr>
        <p:spPr>
          <a:xfrm>
            <a:off x="2849880" y="1228046"/>
            <a:ext cx="42000" cy="814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309" name="Google Shape;309;p17"/>
          <p:cNvGraphicFramePr/>
          <p:nvPr/>
        </p:nvGraphicFramePr>
        <p:xfrm>
          <a:off x="2250643" y="20557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10" name="Google Shape;310;p17"/>
          <p:cNvSpPr/>
          <p:nvPr/>
        </p:nvSpPr>
        <p:spPr>
          <a:xfrm>
            <a:off x="216058" y="1369908"/>
            <a:ext cx="1312296" cy="3152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4133566" y="1135276"/>
            <a:ext cx="1312296" cy="3152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Divorced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2" name="Google Shape;312;p17"/>
          <p:cNvGraphicFramePr/>
          <p:nvPr/>
        </p:nvGraphicFramePr>
        <p:xfrm>
          <a:off x="6306064" y="40559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13" name="Google Shape;313;p17"/>
          <p:cNvGraphicFramePr/>
          <p:nvPr/>
        </p:nvGraphicFramePr>
        <p:xfrm>
          <a:off x="10174325" y="40559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14" name="Google Shape;314;p17"/>
          <p:cNvSpPr/>
          <p:nvPr/>
        </p:nvSpPr>
        <p:spPr>
          <a:xfrm>
            <a:off x="8299806" y="2536022"/>
            <a:ext cx="1280159" cy="70539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Taxable Income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7"/>
          <p:cNvCxnSpPr/>
          <p:nvPr/>
        </p:nvCxnSpPr>
        <p:spPr>
          <a:xfrm flipH="1">
            <a:off x="7182932" y="3030581"/>
            <a:ext cx="1198517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6" name="Google Shape;316;p17"/>
          <p:cNvCxnSpPr/>
          <p:nvPr/>
        </p:nvCxnSpPr>
        <p:spPr>
          <a:xfrm>
            <a:off x="9509730" y="3030581"/>
            <a:ext cx="1030356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7" name="Google Shape;317;p17"/>
          <p:cNvSpPr/>
          <p:nvPr/>
        </p:nvSpPr>
        <p:spPr>
          <a:xfrm>
            <a:off x="6714324" y="3383279"/>
            <a:ext cx="999831" cy="27432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&lt;80K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10032260" y="3131765"/>
            <a:ext cx="999831" cy="27432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 80K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216058" y="3069771"/>
            <a:ext cx="1547428" cy="5747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Gini =0.5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2176314" y="3038028"/>
            <a:ext cx="1547428" cy="5747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Gini =0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4084319" y="3019885"/>
            <a:ext cx="1547428" cy="5747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Gini =0.5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6299793" y="5081235"/>
            <a:ext cx="1547428" cy="5747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Gini =0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0174325" y="5081235"/>
            <a:ext cx="1547428" cy="5747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Gini =0.489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3159" y="184757"/>
            <a:ext cx="9641917" cy="6242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/>
          <p:nvPr/>
        </p:nvSpPr>
        <p:spPr>
          <a:xfrm>
            <a:off x="692330" y="627016"/>
            <a:ext cx="7876903" cy="7576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Step-3:To measure the( Information gain) OR Average Weighted Measure 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4" name="Google Shape;334;p19"/>
          <p:cNvGraphicFramePr/>
          <p:nvPr/>
        </p:nvGraphicFramePr>
        <p:xfrm>
          <a:off x="115910" y="32982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35" name="Google Shape;335;p19"/>
          <p:cNvGraphicFramePr/>
          <p:nvPr/>
        </p:nvGraphicFramePr>
        <p:xfrm>
          <a:off x="3984171" y="32982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36" name="Google Shape;336;p19"/>
          <p:cNvSpPr/>
          <p:nvPr/>
        </p:nvSpPr>
        <p:spPr>
          <a:xfrm>
            <a:off x="2109652" y="1778378"/>
            <a:ext cx="1280159" cy="70539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Refund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19"/>
          <p:cNvCxnSpPr/>
          <p:nvPr/>
        </p:nvCxnSpPr>
        <p:spPr>
          <a:xfrm flipH="1">
            <a:off x="992778" y="2272937"/>
            <a:ext cx="1198517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8" name="Google Shape;338;p19"/>
          <p:cNvCxnSpPr/>
          <p:nvPr/>
        </p:nvCxnSpPr>
        <p:spPr>
          <a:xfrm>
            <a:off x="3319576" y="2272937"/>
            <a:ext cx="1030356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39" name="Google Shape;339;p19"/>
          <p:cNvSpPr/>
          <p:nvPr/>
        </p:nvSpPr>
        <p:spPr>
          <a:xfrm>
            <a:off x="901338" y="2483772"/>
            <a:ext cx="625362" cy="29861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3834754" y="2407275"/>
            <a:ext cx="625362" cy="29861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1" name="Google Shape;341;p19"/>
          <p:cNvGraphicFramePr/>
          <p:nvPr/>
        </p:nvGraphicFramePr>
        <p:xfrm>
          <a:off x="6209733" y="32850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42" name="Google Shape;342;p19"/>
          <p:cNvGraphicFramePr/>
          <p:nvPr/>
        </p:nvGraphicFramePr>
        <p:xfrm>
          <a:off x="10077994" y="32850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43" name="Google Shape;343;p19"/>
          <p:cNvSpPr/>
          <p:nvPr/>
        </p:nvSpPr>
        <p:spPr>
          <a:xfrm>
            <a:off x="8203475" y="1765195"/>
            <a:ext cx="1280159" cy="70539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Marital Status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9"/>
          <p:cNvCxnSpPr/>
          <p:nvPr/>
        </p:nvCxnSpPr>
        <p:spPr>
          <a:xfrm flipH="1">
            <a:off x="7086601" y="2259754"/>
            <a:ext cx="1198517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5" name="Google Shape;345;p19"/>
          <p:cNvCxnSpPr/>
          <p:nvPr/>
        </p:nvCxnSpPr>
        <p:spPr>
          <a:xfrm>
            <a:off x="9413399" y="2259754"/>
            <a:ext cx="1030356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6" name="Google Shape;346;p19"/>
          <p:cNvSpPr/>
          <p:nvPr/>
        </p:nvSpPr>
        <p:spPr>
          <a:xfrm>
            <a:off x="5888085" y="2259755"/>
            <a:ext cx="1633944" cy="66789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Single, Divorced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10127241" y="2377819"/>
            <a:ext cx="1312296" cy="31520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Married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910" y="5260401"/>
            <a:ext cx="4743099" cy="109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8119" y="5260401"/>
            <a:ext cx="4646851" cy="107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9"/>
          <p:cNvSpPr/>
          <p:nvPr/>
        </p:nvSpPr>
        <p:spPr>
          <a:xfrm>
            <a:off x="115910" y="4193177"/>
            <a:ext cx="1410790" cy="653143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0.489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10028747" y="4353830"/>
            <a:ext cx="1410790" cy="653143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6234226" y="4345577"/>
            <a:ext cx="1410790" cy="653143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0.37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3925386" y="4305744"/>
            <a:ext cx="1410790" cy="653143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" name="Google Shape;358;p20"/>
          <p:cNvGraphicFramePr/>
          <p:nvPr/>
        </p:nvGraphicFramePr>
        <p:xfrm>
          <a:off x="3262412" y="30108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359" name="Google Shape;359;p20"/>
          <p:cNvGraphicFramePr/>
          <p:nvPr/>
        </p:nvGraphicFramePr>
        <p:xfrm>
          <a:off x="7130673" y="30108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{1397E2EE-8823-4C09-897D-2F75CCA6BF67}</a:tableStyleId>
              </a:tblPr>
              <a:tblGrid>
                <a:gridCol w="705400"/>
                <a:gridCol w="7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Yes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60" name="Google Shape;360;p20"/>
          <p:cNvSpPr/>
          <p:nvPr/>
        </p:nvSpPr>
        <p:spPr>
          <a:xfrm>
            <a:off x="5256154" y="1490993"/>
            <a:ext cx="1280159" cy="70539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Taxable Income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20"/>
          <p:cNvCxnSpPr/>
          <p:nvPr/>
        </p:nvCxnSpPr>
        <p:spPr>
          <a:xfrm flipH="1">
            <a:off x="4139280" y="1985552"/>
            <a:ext cx="1198517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2" name="Google Shape;362;p20"/>
          <p:cNvCxnSpPr/>
          <p:nvPr/>
        </p:nvCxnSpPr>
        <p:spPr>
          <a:xfrm>
            <a:off x="6466078" y="1985552"/>
            <a:ext cx="1030356" cy="102532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3" name="Google Shape;363;p20"/>
          <p:cNvSpPr/>
          <p:nvPr/>
        </p:nvSpPr>
        <p:spPr>
          <a:xfrm>
            <a:off x="3670672" y="2338250"/>
            <a:ext cx="999831" cy="27432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&lt;80K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6988608" y="2086736"/>
            <a:ext cx="999831" cy="27432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 80K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3256141" y="4036206"/>
            <a:ext cx="1547428" cy="5747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Gini =0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7130673" y="4036206"/>
            <a:ext cx="1547428" cy="574766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Gini =0.489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444136" y="297677"/>
            <a:ext cx="7876903" cy="75764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Step-3:To measure the( Information gain) OR Average Weighted Measure 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5002" y="4966434"/>
            <a:ext cx="4743099" cy="109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5"/>
          <p:cNvSpPr txBox="1"/>
          <p:nvPr>
            <p:ph type="title"/>
          </p:nvPr>
        </p:nvSpPr>
        <p:spPr>
          <a:xfrm>
            <a:off x="812074" y="270337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Jai Sairam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9244" y="1281427"/>
            <a:ext cx="7694025" cy="507918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6"/>
          <p:cNvSpPr/>
          <p:nvPr/>
        </p:nvSpPr>
        <p:spPr>
          <a:xfrm>
            <a:off x="1008178" y="326571"/>
            <a:ext cx="6502965" cy="62701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SET for Entropy based DT: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7"/>
          <p:cNvSpPr txBox="1"/>
          <p:nvPr>
            <p:ph type="title"/>
          </p:nvPr>
        </p:nvSpPr>
        <p:spPr>
          <a:xfrm>
            <a:off x="603068" y="325936"/>
            <a:ext cx="10515600" cy="666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Entropy Based Calculation</a:t>
            </a:r>
            <a:endParaRPr/>
          </a:p>
        </p:txBody>
      </p:sp>
      <p:pic>
        <p:nvPicPr>
          <p:cNvPr id="385" name="Google Shape;38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5391" y="2567242"/>
            <a:ext cx="5133277" cy="2981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6431" y="1409920"/>
            <a:ext cx="4261238" cy="901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7872" y="5276461"/>
            <a:ext cx="3284674" cy="855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2546" y="5264799"/>
            <a:ext cx="3050865" cy="855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3467" y="2260221"/>
            <a:ext cx="5094406" cy="336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068" y="1336850"/>
            <a:ext cx="5215407" cy="792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197" y="723284"/>
            <a:ext cx="5134692" cy="2981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6833" y="723284"/>
            <a:ext cx="5326810" cy="2981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197" y="3977719"/>
            <a:ext cx="10989446" cy="2026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6545" y="888274"/>
            <a:ext cx="9694070" cy="3853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89300"/>
            <a:ext cx="5568627" cy="226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131" y="1318918"/>
            <a:ext cx="11517332" cy="4220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1"/>
          <p:cNvSpPr txBox="1"/>
          <p:nvPr>
            <p:ph type="title"/>
          </p:nvPr>
        </p:nvSpPr>
        <p:spPr>
          <a:xfrm>
            <a:off x="981891" y="195879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Jai Sairam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88" y="1697008"/>
            <a:ext cx="4877481" cy="301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3388" y="665189"/>
            <a:ext cx="6343786" cy="4181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Tree Algorithm and Overfitting</a:t>
            </a:r>
            <a:endParaRPr/>
          </a:p>
        </p:txBody>
      </p:sp>
      <p:pic>
        <p:nvPicPr>
          <p:cNvPr id="425" name="Google Shape;42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606" y="1573324"/>
            <a:ext cx="8821381" cy="4887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803346"/>
            <a:ext cx="9653909" cy="5597454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4"/>
          <p:cNvSpPr/>
          <p:nvPr/>
        </p:nvSpPr>
        <p:spPr>
          <a:xfrm>
            <a:off x="1280160" y="339634"/>
            <a:ext cx="5225143" cy="4637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Decision Tree Algorithm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0664" y="482831"/>
            <a:ext cx="4446002" cy="5760566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5"/>
          <p:cNvSpPr/>
          <p:nvPr/>
        </p:nvSpPr>
        <p:spPr>
          <a:xfrm>
            <a:off x="1280160" y="339634"/>
            <a:ext cx="7955280" cy="4637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Flow chart for Decision Tree Algorithm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203" y="713996"/>
            <a:ext cx="10345594" cy="5430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7283" y="766391"/>
            <a:ext cx="8297433" cy="5325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229" y="756864"/>
            <a:ext cx="10145541" cy="5344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34" y="580627"/>
            <a:ext cx="10431331" cy="5696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17566"/>
            <a:ext cx="11070047" cy="6226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41"/>
          <p:cNvPicPr preferRelativeResize="0"/>
          <p:nvPr/>
        </p:nvPicPr>
        <p:blipFill rotWithShape="1">
          <a:blip r:embed="rId3">
            <a:alphaModFix/>
          </a:blip>
          <a:srcRect b="0" l="0" r="0" t="9253"/>
          <a:stretch/>
        </p:blipFill>
        <p:spPr>
          <a:xfrm>
            <a:off x="13438" y="1181685"/>
            <a:ext cx="12165123" cy="5105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781" y="909286"/>
            <a:ext cx="11374437" cy="5039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90" y="579401"/>
            <a:ext cx="11965070" cy="572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2021-09-23T03:22:10Z</dcterms:created>
  <dc:creator>USER</dc:creator>
</cp:coreProperties>
</file>