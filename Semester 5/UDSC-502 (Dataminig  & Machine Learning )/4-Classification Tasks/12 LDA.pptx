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gTZEhDhm9bGfG/jXt/Cp9G84TO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9576ED-07FC-4411-A829-9301DB0BFFE5}">
  <a:tblStyle styleId="{B69576ED-07FC-4411-A829-9301DB0BFFE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8ae52f376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8ae52f37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8ae52f376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8ae52f37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8ae52f376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8ae52f37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8ae52f376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8ae52f37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8ae52f376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48ae52f37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243037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 sz="5100"/>
              <a:t>L</a:t>
            </a:r>
            <a:r>
              <a:rPr lang="en-IN" sz="5100"/>
              <a:t>inear Discriminant Analysis(</a:t>
            </a:r>
            <a:r>
              <a:rPr lang="en-IN"/>
              <a:t>LDA)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77461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AUM SRI SAIRAM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What is LDA?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4472572"/>
            <a:ext cx="10515600" cy="2385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 goal of linear discriminant analysis (LDA) is to find a vector </a:t>
            </a:r>
            <a:r>
              <a:rPr i="1" lang="en-IN"/>
              <a:t>w</a:t>
            </a:r>
            <a:r>
              <a:rPr lang="en-IN"/>
              <a:t> that maximizes the separation between the classes after projection onto </a:t>
            </a:r>
            <a:r>
              <a:rPr i="1" lang="en-IN"/>
              <a:t>w.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92690"/>
            <a:ext cx="10978179" cy="1792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8ae52f376_0_52"/>
          <p:cNvSpPr txBox="1"/>
          <p:nvPr>
            <p:ph type="title"/>
          </p:nvPr>
        </p:nvSpPr>
        <p:spPr>
          <a:xfrm>
            <a:off x="838200" y="365125"/>
            <a:ext cx="10515600" cy="726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Two classes with large Variance:Challenge</a:t>
            </a:r>
            <a:endParaRPr/>
          </a:p>
        </p:txBody>
      </p:sp>
      <p:pic>
        <p:nvPicPr>
          <p:cNvPr id="98" name="Google Shape;98;g348ae52f376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900" y="1091725"/>
            <a:ext cx="8733950" cy="542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838200" y="365126"/>
            <a:ext cx="2001253" cy="477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Data Set</a:t>
            </a:r>
            <a:endParaRPr/>
          </a:p>
        </p:txBody>
      </p:sp>
      <p:graphicFrame>
        <p:nvGraphicFramePr>
          <p:cNvPr id="104" name="Google Shape;104;p3"/>
          <p:cNvGraphicFramePr/>
          <p:nvPr/>
        </p:nvGraphicFramePr>
        <p:xfrm>
          <a:off x="2839455" y="1163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{B69576ED-07FC-4411-A829-9301DB0BFFE5}</a:tableStyleId>
              </a:tblPr>
              <a:tblGrid>
                <a:gridCol w="2810975"/>
                <a:gridCol w="2793550"/>
                <a:gridCol w="2793550"/>
              </a:tblGrid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x1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x2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 u="none" cap="none" strike="noStrike"/>
                        <a:t>y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0.450879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0.132868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1.879524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1.240878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2.769673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1.271422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2.381673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-0.085283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0.876277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1.023040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2.647753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1.108029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1.563462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0.665282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2.552341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0.184051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1.431752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0.886741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2.063362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-0.038390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0.355146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0.530248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1.937572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2.387883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2.359125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0.118055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2.892172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-0.276944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1.065994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0.383006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5.975707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4.621600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6.730952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3.933731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6.848493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2.874139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6.516574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4.790887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3.206102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4.261482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4.140567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4.106317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4.269608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3.577428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6.232002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2.085232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5.160823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5.873123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4.613864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3.668347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3.198801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4.748265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4.961358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4.227667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5.055209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3.718665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6.512988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3.970820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5.375011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4.906609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 u="none" cap="none" strike="noStrike"/>
                        <a:t>c2</a:t>
                      </a:r>
                      <a:endParaRPr/>
                    </a:p>
                  </a:txBody>
                  <a:tcPr marT="17550" marB="1755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IN"/>
              <a:t>Projection on w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838200" y="1825625"/>
            <a:ext cx="10894200" cy="989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292" l="-1042" r="-1853" t="-981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t/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4056" y="1612231"/>
            <a:ext cx="10336129" cy="2935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062411" cy="597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Projection onto </a:t>
            </a:r>
            <a:r>
              <a:rPr b="1" i="1" lang="en-IN"/>
              <a:t>w</a:t>
            </a:r>
            <a:endParaRPr/>
          </a:p>
        </p:txBody>
      </p:sp>
      <p:pic>
        <p:nvPicPr>
          <p:cNvPr id="121" name="Google Shape;12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9943" y="1171260"/>
            <a:ext cx="6192114" cy="4515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48ae52f376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688" y="314900"/>
            <a:ext cx="4706625" cy="582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Mean of projected Points</a:t>
            </a:r>
            <a:endParaRPr/>
          </a:p>
        </p:txBody>
      </p:sp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Calculate the mean of the projected Points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975" y="528400"/>
            <a:ext cx="10183800" cy="526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 txBox="1"/>
          <p:nvPr/>
        </p:nvSpPr>
        <p:spPr>
          <a:xfrm>
            <a:off x="893343" y="5885129"/>
            <a:ext cx="98267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mean of the projected points is the same as the scalar projection of the mean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348ae52f376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888" y="1829178"/>
            <a:ext cx="8614025" cy="35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LDA Criteria?</a:t>
            </a:r>
            <a:endParaRPr/>
          </a:p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Maximize</a:t>
            </a:r>
            <a:r>
              <a:rPr lang="en-IN"/>
              <a:t> the </a:t>
            </a:r>
            <a:r>
              <a:rPr lang="en-IN"/>
              <a:t>distance</a:t>
            </a:r>
            <a:r>
              <a:rPr lang="en-IN"/>
              <a:t> between two classes.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Reduce the variance in each class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Why? and  How?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idx="1" type="body"/>
          </p:nvPr>
        </p:nvSpPr>
        <p:spPr>
          <a:xfrm>
            <a:off x="691950" y="246029"/>
            <a:ext cx="10662000" cy="59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To maximize the separation </a:t>
            </a:r>
            <a:r>
              <a:rPr lang="en-IN"/>
              <a:t>between</a:t>
            </a:r>
            <a:r>
              <a:rPr lang="en-IN"/>
              <a:t> the classes, it seems reasonable to maximize the difference between the projected means, |m1−m2|.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LDA maximizes the separation by ensuring that the scatter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for the projected points within each class is small, where scatter is defined as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5" name="Google Shape;15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750" y="2737800"/>
            <a:ext cx="10661999" cy="3530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Combining the 2 criterias using a SINGLE criterion</a:t>
            </a:r>
            <a:endParaRPr/>
          </a:p>
        </p:txBody>
      </p:sp>
      <p:pic>
        <p:nvPicPr>
          <p:cNvPr id="161" name="Google Shape;16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075" y="2227215"/>
            <a:ext cx="10515600" cy="240356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 txBox="1"/>
          <p:nvPr/>
        </p:nvSpPr>
        <p:spPr>
          <a:xfrm>
            <a:off x="987150" y="4782150"/>
            <a:ext cx="10217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w: Optimal LInear Discriminant(LD)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Numerator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Separation between classes/ Scatter between classes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Denominator: Variance inside the classes/Scatter within class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8ae52f376_0_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Within Class Scatter Matrix</a:t>
            </a:r>
            <a:endParaRPr/>
          </a:p>
        </p:txBody>
      </p:sp>
      <p:pic>
        <p:nvPicPr>
          <p:cNvPr id="168" name="Google Shape;168;g348ae52f376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850" y="2934975"/>
            <a:ext cx="9334375" cy="14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838200" y="211350"/>
            <a:ext cx="105156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Geometric interpretation</a:t>
            </a:r>
            <a:endParaRPr/>
          </a:p>
        </p:txBody>
      </p:sp>
      <p:pic>
        <p:nvPicPr>
          <p:cNvPr id="174" name="Google Shape;1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775" y="1060950"/>
            <a:ext cx="8286450" cy="24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6150" y="3484875"/>
            <a:ext cx="9696400" cy="76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3"/>
          <p:cNvSpPr txBox="1"/>
          <p:nvPr/>
        </p:nvSpPr>
        <p:spPr>
          <a:xfrm>
            <a:off x="838200" y="4246025"/>
            <a:ext cx="10515600" cy="23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B is the </a:t>
            </a:r>
            <a:r>
              <a:rPr b="1" i="1" lang="en-IN" sz="2000">
                <a:solidFill>
                  <a:schemeClr val="dk1"/>
                </a:solidFill>
              </a:rPr>
              <a:t>outer product</a:t>
            </a:r>
            <a:r>
              <a:rPr lang="en-IN" sz="1700">
                <a:solidFill>
                  <a:schemeClr val="dk1"/>
                </a:solidFill>
              </a:rPr>
              <a:t> of a single vector  d=</a:t>
            </a:r>
            <a:r>
              <a:rPr lang="en-IN" sz="1700">
                <a:solidFill>
                  <a:schemeClr val="dk1"/>
                </a:solidFill>
              </a:rPr>
              <a:t>μ</a:t>
            </a:r>
            <a:r>
              <a:rPr lang="en-IN" sz="1700">
                <a:solidFill>
                  <a:schemeClr val="dk1"/>
                </a:solidFill>
              </a:rPr>
              <a:t>1−μ2 ​.</a:t>
            </a:r>
            <a:br>
              <a:rPr lang="en-I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The range of B is spanned by d only.</a:t>
            </a:r>
            <a:br>
              <a:rPr lang="en-I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Therefore, the matrix has only </a:t>
            </a:r>
            <a:r>
              <a:rPr b="1" lang="en-IN" sz="1700">
                <a:solidFill>
                  <a:schemeClr val="dk1"/>
                </a:solidFill>
              </a:rPr>
              <a:t>one nonzero eigenvalue</a:t>
            </a:r>
            <a:r>
              <a:rPr lang="en-IN" sz="1700">
                <a:solidFill>
                  <a:schemeClr val="dk1"/>
                </a:solidFill>
              </a:rPr>
              <a:t>, and hence its rank is </a:t>
            </a:r>
            <a:r>
              <a:rPr b="1" lang="en-IN" sz="1700">
                <a:solidFill>
                  <a:schemeClr val="dk1"/>
                </a:solidFill>
              </a:rPr>
              <a:t>1</a:t>
            </a:r>
            <a:r>
              <a:rPr lang="en-IN" sz="1700">
                <a:solidFill>
                  <a:schemeClr val="dk1"/>
                </a:solidFill>
              </a:rPr>
              <a:t>.</a:t>
            </a:r>
            <a:br>
              <a:rPr lang="en-I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So The between-class separation has only </a:t>
            </a:r>
            <a:r>
              <a:rPr b="1" lang="en-IN" sz="1700">
                <a:solidFill>
                  <a:schemeClr val="dk1"/>
                </a:solidFill>
              </a:rPr>
              <a:t>one direction</a:t>
            </a:r>
            <a:r>
              <a:rPr lang="en-IN" sz="1700">
                <a:solidFill>
                  <a:schemeClr val="dk1"/>
                </a:solidFill>
              </a:rPr>
              <a:t> — That is  the line connecting μ1​ and μ2​.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375" y="112275"/>
            <a:ext cx="9980826" cy="67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Based on Attribute View….</a:t>
            </a:r>
            <a:endParaRPr/>
          </a:p>
        </p:txBody>
      </p:sp>
      <p:pic>
        <p:nvPicPr>
          <p:cNvPr id="187" name="Google Shape;1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75" y="1812376"/>
            <a:ext cx="10664854" cy="132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5"/>
          <p:cNvSpPr txBox="1"/>
          <p:nvPr/>
        </p:nvSpPr>
        <p:spPr>
          <a:xfrm>
            <a:off x="838200" y="3259625"/>
            <a:ext cx="10240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/>
              <a:t>W</a:t>
            </a:r>
            <a:r>
              <a:rPr lang="en-IN" sz="1800"/>
              <a:t>here S = S1+S2 denotes the within-class scatter matrix for the given data. 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/>
              <a:t>Because both S1 and S2 are d × d </a:t>
            </a:r>
            <a:r>
              <a:rPr b="1" lang="en-IN" sz="1800"/>
              <a:t>symmetric positive semidefinite matrices</a:t>
            </a:r>
            <a:r>
              <a:rPr lang="en-IN" sz="1800"/>
              <a:t>, S has the same properties.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So the Criterion Looks like</a:t>
            </a:r>
            <a:endParaRPr/>
          </a:p>
        </p:txBody>
      </p:sp>
      <p:pic>
        <p:nvPicPr>
          <p:cNvPr id="194" name="Google Shape;1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5475" y="1766203"/>
            <a:ext cx="5268775" cy="169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 txBox="1"/>
          <p:nvPr/>
        </p:nvSpPr>
        <p:spPr>
          <a:xfrm>
            <a:off x="1848863" y="3859550"/>
            <a:ext cx="78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Maxima Problem in 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differentiation….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850" y="266776"/>
            <a:ext cx="8226222" cy="648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8ae52f376_0_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Singular and Non-Singular</a:t>
            </a:r>
            <a:endParaRPr/>
          </a:p>
        </p:txBody>
      </p:sp>
      <p:sp>
        <p:nvSpPr>
          <p:cNvPr id="206" name="Google Shape;206;g348ae52f376_0_4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Determinant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Linear Independence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Invertible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The Conclusion</a:t>
            </a:r>
            <a:endParaRPr/>
          </a:p>
        </p:txBody>
      </p:sp>
      <p:pic>
        <p:nvPicPr>
          <p:cNvPr id="212" name="Google Shape;2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163" y="2381284"/>
            <a:ext cx="10289675" cy="33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The Algorithm</a:t>
            </a:r>
            <a:endParaRPr/>
          </a:p>
        </p:txBody>
      </p:sp>
      <p:pic>
        <p:nvPicPr>
          <p:cNvPr id="218" name="Google Shape;2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850" y="2042999"/>
            <a:ext cx="10941950" cy="40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"/>
          <p:cNvSpPr txBox="1"/>
          <p:nvPr/>
        </p:nvSpPr>
        <p:spPr>
          <a:xfrm>
            <a:off x="1981200" y="274320"/>
            <a:ext cx="2081404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PCA vs LDA</a:t>
            </a:r>
            <a:endParaRPr/>
          </a:p>
        </p:txBody>
      </p:sp>
      <p:sp>
        <p:nvSpPr>
          <p:cNvPr id="224" name="Google Shape;224;p4"/>
          <p:cNvSpPr txBox="1"/>
          <p:nvPr/>
        </p:nvSpPr>
        <p:spPr>
          <a:xfrm>
            <a:off x="2164080" y="1371600"/>
            <a:ext cx="73152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Principal Component Analysis (PCA):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Works with unlabeled data.(T/F)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Maximizes total variance of projected data.(T/F)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Finds directions of greatest variance regardless of class labels.(T/F)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Discriminant Analysis (LDA):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Works with labeled data.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Maximizes separation </a:t>
            </a:r>
            <a:r>
              <a:rPr b="1"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classes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relative to </a:t>
            </a:r>
            <a:r>
              <a:rPr b="1"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within-class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scatter.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Finds </a:t>
            </a:r>
            <a:r>
              <a:rPr b="1"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discriminative directions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classification.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type="title"/>
          </p:nvPr>
        </p:nvSpPr>
        <p:spPr>
          <a:xfrm>
            <a:off x="838200" y="25639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Jai Sairam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2025-09-01T15:09:37Z</dcterms:created>
  <dc:creator>Sri P Sunil Kumar</dc:creator>
</cp:coreProperties>
</file>