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3" r:id="rId21"/>
    <p:sldId id="272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24cf844cb5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24cf844cb5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124cf844cb5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4cf844cb5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24cf844cb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4cf844cb5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124cf844cb5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4cf844cb5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124cf844cb5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4cf844cb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124cf844cb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4cf844cb5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124cf844cb5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4cf844cb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124cf844cb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24cf844cb5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124cf844cb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24cf844cb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124cf844cb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24cf844cb5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124cf844cb5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4cf844cb5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124cf844cb5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4cf844cb5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4cf844cb5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24cf844cb5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124cf844cb5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4cf844cb5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124cf844cb5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4cf844cb5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124cf844cb5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4cf844cb5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124cf844cb5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4cf844cb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124cf844cb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24cf844cb5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24cf844cb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457200" y="900113"/>
            <a:ext cx="4038600" cy="25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48200" y="900113"/>
            <a:ext cx="4038600" cy="25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6012600" y="771581"/>
            <a:ext cx="3291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821600" y="-1209619"/>
            <a:ext cx="32910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learning/library/everything-time-monochronism-polychronism-orientation-6902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1371600" y="1479176"/>
            <a:ext cx="6400800" cy="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rgbClr val="353C5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800" b="1" dirty="0">
                <a:solidFill>
                  <a:srgbClr val="353C5F"/>
                </a:solidFill>
                <a:latin typeface="Calibri"/>
                <a:ea typeface="Calibri"/>
                <a:cs typeface="Calibri"/>
                <a:sym typeface="Calibri"/>
              </a:rPr>
              <a:t>ublic Speaking</a:t>
            </a:r>
            <a:endParaRPr dirty="0"/>
          </a:p>
          <a:p>
            <a:pPr marL="342900" marR="0" lvl="0" indent="-3429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5183B8"/>
                </a:solidFill>
                <a:latin typeface="Calibri"/>
                <a:ea typeface="Calibri"/>
                <a:cs typeface="Calibri"/>
                <a:sym typeface="Calibri"/>
              </a:rPr>
              <a:t>Lecture </a:t>
            </a:r>
            <a:r>
              <a:rPr lang="en" sz="2000" b="1" smtClean="0">
                <a:solidFill>
                  <a:srgbClr val="5183B8"/>
                </a:solidFill>
                <a:latin typeface="Calibri"/>
                <a:ea typeface="Calibri"/>
                <a:cs typeface="Calibri"/>
                <a:sym typeface="Calibri"/>
              </a:rPr>
              <a:t>24: </a:t>
            </a:r>
            <a:r>
              <a:rPr lang="en" sz="2000" b="1">
                <a:solidFill>
                  <a:srgbClr val="5183B8"/>
                </a:solidFill>
                <a:latin typeface="Calibri"/>
                <a:ea typeface="Calibri"/>
                <a:cs typeface="Calibri"/>
                <a:sym typeface="Calibri"/>
              </a:rPr>
              <a:t>Chronemics</a:t>
            </a:r>
            <a:endParaRPr sz="2000" b="1" i="0" u="none" strike="noStrike" cap="none" dirty="0">
              <a:solidFill>
                <a:srgbClr val="518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371600" y="2568394"/>
            <a:ext cx="64008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C5F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353C5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1200" b="1">
                <a:solidFill>
                  <a:srgbClr val="353C5F"/>
                </a:solidFill>
                <a:latin typeface="Calibri"/>
                <a:ea typeface="Calibri"/>
                <a:cs typeface="Calibri"/>
                <a:sym typeface="Calibri"/>
              </a:rPr>
              <a:t>rof. Binod Mishra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5183B8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5183B8"/>
                </a:solidFill>
                <a:latin typeface="Calibri"/>
                <a:ea typeface="Calibri"/>
                <a:cs typeface="Calibri"/>
                <a:sym typeface="Calibri"/>
              </a:rPr>
              <a:t>DEPARTMENT OF HUMANITIES AND SOCIAL SCIENCES</a:t>
            </a:r>
            <a:endParaRPr sz="900" b="1" i="0" u="none" strike="noStrike" cap="none">
              <a:solidFill>
                <a:srgbClr val="518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457200" y="474314"/>
            <a:ext cx="4290300" cy="39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 dirty="0">
                <a:solidFill>
                  <a:schemeClr val="dk2"/>
                </a:solidFill>
              </a:rPr>
              <a:t>“For the Present is the point at which time touches the eternity”</a:t>
            </a:r>
            <a:br>
              <a:rPr lang="en" sz="2800" dirty="0">
                <a:solidFill>
                  <a:schemeClr val="dk2"/>
                </a:solidFill>
              </a:rPr>
            </a:br>
            <a:r>
              <a:rPr lang="en" sz="2800" dirty="0">
                <a:solidFill>
                  <a:schemeClr val="dk2"/>
                </a:solidFill>
              </a:rPr>
              <a:t>- C.S. Lewis</a:t>
            </a:r>
            <a:endParaRPr sz="2800" dirty="0">
              <a:solidFill>
                <a:schemeClr val="dk2"/>
              </a:solidFill>
            </a:endParaRPr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414" y="334088"/>
            <a:ext cx="2980786" cy="41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Introduction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45" name="Google Shape;145;p27"/>
          <p:cNvSpPr txBox="1">
            <a:spLocks noGrp="1"/>
          </p:cNvSpPr>
          <p:nvPr>
            <p:ph type="body" idx="1"/>
          </p:nvPr>
        </p:nvSpPr>
        <p:spPr>
          <a:xfrm>
            <a:off x="457199" y="892098"/>
            <a:ext cx="6203795" cy="370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56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sz="2000" dirty="0"/>
              <a:t>Study of time in relation to human communication.</a:t>
            </a:r>
            <a:endParaRPr sz="2000" dirty="0"/>
          </a:p>
          <a:p>
            <a:pPr marL="457200" lvl="0" indent="-3556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sz="2000" dirty="0"/>
              <a:t>The term was coined by Thomas Bruneau in the year 1979</a:t>
            </a:r>
            <a:r>
              <a:rPr lang="en" sz="2000" dirty="0" smtClean="0"/>
              <a:t>.</a:t>
            </a:r>
          </a:p>
          <a:p>
            <a:pPr marL="10160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dirty="0"/>
          </a:p>
          <a:p>
            <a:pPr marL="342900" lvl="0" indent="-1397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 smtClean="0"/>
              <a:t>“</a:t>
            </a:r>
            <a:r>
              <a:rPr lang="en-US" sz="2000" dirty="0"/>
              <a:t>I</a:t>
            </a:r>
            <a:r>
              <a:rPr lang="en" sz="2000" dirty="0" smtClean="0"/>
              <a:t>t </a:t>
            </a:r>
            <a:r>
              <a:rPr lang="en" sz="2000" dirty="0"/>
              <a:t>is not space that is the hidden dimension of </a:t>
            </a:r>
            <a:r>
              <a:rPr lang="en" sz="2000" dirty="0" smtClean="0"/>
              <a:t>human communication</a:t>
            </a:r>
            <a:r>
              <a:rPr lang="en" sz="2000" dirty="0"/>
              <a:t>, but it is time that is hidden and is a major aspect of all areas of semiotic or nonverbal communication.” (Bruneau 91)</a:t>
            </a: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Time, </a:t>
            </a: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Timing        3 Essentials of Chronemics</a:t>
            </a: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Tempo</a:t>
            </a: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747" y="3593700"/>
            <a:ext cx="134100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4975" y="1252703"/>
            <a:ext cx="2286000" cy="2638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 dirty="0">
                <a:solidFill>
                  <a:schemeClr val="dk2"/>
                </a:solidFill>
              </a:rPr>
              <a:t>Time Talks</a:t>
            </a:r>
            <a:endParaRPr sz="2800" dirty="0">
              <a:solidFill>
                <a:schemeClr val="dk2"/>
              </a:solidFill>
            </a:endParaRPr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457200" y="964019"/>
            <a:ext cx="8229600" cy="357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556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sz="2000" dirty="0"/>
              <a:t>The time at which communication occurs suggests the nature and importance of </a:t>
            </a:r>
            <a:r>
              <a:rPr lang="en" sz="2000" dirty="0" smtClean="0"/>
              <a:t>communication.</a:t>
            </a:r>
            <a:r>
              <a:rPr lang="en" sz="2000" dirty="0"/>
              <a:t> </a:t>
            </a:r>
            <a:r>
              <a:rPr lang="en" sz="2000" dirty="0" smtClean="0"/>
              <a:t>Example</a:t>
            </a:r>
            <a:r>
              <a:rPr lang="en" sz="2000" dirty="0"/>
              <a:t>: An early morning telephone call or a late-night call might signify urgency.</a:t>
            </a:r>
            <a:endParaRPr sz="2000" dirty="0"/>
          </a:p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sz="2000" dirty="0"/>
              <a:t>In Western culture, advance notice is rendered for </a:t>
            </a:r>
            <a:r>
              <a:rPr lang="en-US" sz="2000" dirty="0"/>
              <a:t>the </a:t>
            </a:r>
            <a:r>
              <a:rPr lang="en" sz="2000" dirty="0"/>
              <a:t>scheduling of events.</a:t>
            </a:r>
            <a:endParaRPr sz="2000" dirty="0"/>
          </a:p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sz="2000" dirty="0"/>
              <a:t>Edward Hall termed this particular preparatory duration before the main event as “lead time”.</a:t>
            </a:r>
            <a:endParaRPr sz="2000" dirty="0"/>
          </a:p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v"/>
            </a:pPr>
            <a:r>
              <a:rPr lang="en" sz="2000" dirty="0"/>
              <a:t>Western culture perceives time as “a road to </a:t>
            </a:r>
            <a:r>
              <a:rPr lang="en-US" sz="2000" dirty="0"/>
              <a:t>the </a:t>
            </a:r>
            <a:r>
              <a:rPr lang="en" sz="2000" dirty="0"/>
              <a:t>future” while for many other native </a:t>
            </a:r>
            <a:r>
              <a:rPr lang="en-US" sz="2000" dirty="0"/>
              <a:t>cultures</a:t>
            </a:r>
            <a:r>
              <a:rPr lang="en" sz="2000" dirty="0"/>
              <a:t> “time is all that is present”.</a:t>
            </a:r>
            <a:endParaRPr sz="2000" dirty="0"/>
          </a:p>
        </p:txBody>
      </p:sp>
      <p:sp>
        <p:nvSpPr>
          <p:cNvPr id="155" name="Google Shape;155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Types of Time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61" name="Google Shape;161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50" y="1063378"/>
            <a:ext cx="8200590" cy="339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 dirty="0" smtClean="0">
                <a:solidFill>
                  <a:schemeClr val="dk2"/>
                </a:solidFill>
              </a:rPr>
              <a:t>Contd</a:t>
            </a:r>
            <a:r>
              <a:rPr lang="en" sz="2800" dirty="0">
                <a:solidFill>
                  <a:schemeClr val="dk2"/>
                </a:solidFill>
              </a:rPr>
              <a:t>…</a:t>
            </a:r>
            <a:endParaRPr sz="2800" dirty="0">
              <a:solidFill>
                <a:schemeClr val="dk2"/>
              </a:solidFill>
            </a:endParaRPr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193288" y="921834"/>
            <a:ext cx="8493512" cy="3672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514350" indent="-514350">
              <a:lnSpc>
                <a:spcPct val="170000"/>
              </a:lnSpc>
              <a:spcBef>
                <a:spcPts val="1000"/>
              </a:spcBef>
              <a:buSzPct val="39285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Social time: It refers to how a particular society as a group perceives, understands and equips time.</a:t>
            </a:r>
          </a:p>
          <a:p>
            <a:pPr marL="514350" indent="-514350">
              <a:lnSpc>
                <a:spcPct val="170000"/>
              </a:lnSpc>
              <a:spcBef>
                <a:spcPts val="1000"/>
              </a:spcBef>
              <a:buSzPct val="39285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Psychological time: It refers to an individual’s own temporal experiences in relation to the duration, pace and succession of an event.</a:t>
            </a:r>
          </a:p>
          <a:p>
            <a:pPr marL="514350" indent="-514350">
              <a:lnSpc>
                <a:spcPct val="170000"/>
              </a:lnSpc>
              <a:spcBef>
                <a:spcPts val="1000"/>
              </a:spcBef>
              <a:buSzPct val="39285"/>
              <a:buFont typeface="Wingdings" panose="05000000000000000000" pitchFamily="2" charset="2"/>
              <a:buChar char="q"/>
            </a:pPr>
            <a:r>
              <a:rPr lang="en" sz="2800" dirty="0" smtClean="0">
                <a:solidFill>
                  <a:schemeClr val="tx1"/>
                </a:solidFill>
              </a:rPr>
              <a:t>Biological </a:t>
            </a:r>
            <a:r>
              <a:rPr lang="en" sz="2800" dirty="0">
                <a:solidFill>
                  <a:schemeClr val="tx1"/>
                </a:solidFill>
              </a:rPr>
              <a:t>time: It includes our bodily understanding of time to carry out </a:t>
            </a:r>
            <a:r>
              <a:rPr lang="en" sz="2800" dirty="0" smtClean="0">
                <a:solidFill>
                  <a:schemeClr val="tx1"/>
                </a:solidFill>
              </a:rPr>
              <a:t>our diurnals at </a:t>
            </a:r>
            <a:r>
              <a:rPr lang="en" sz="2800" dirty="0">
                <a:solidFill>
                  <a:schemeClr val="tx1"/>
                </a:solidFill>
              </a:rPr>
              <a:t>regular intervals.</a:t>
            </a:r>
            <a:endParaRPr sz="2800" dirty="0">
              <a:solidFill>
                <a:schemeClr val="tx1"/>
              </a:solidFill>
            </a:endParaRPr>
          </a:p>
          <a:p>
            <a:pPr marL="514350" indent="-514350">
              <a:lnSpc>
                <a:spcPct val="170000"/>
              </a:lnSpc>
              <a:spcBef>
                <a:spcPts val="1000"/>
              </a:spcBef>
              <a:buSzPct val="39285"/>
              <a:buFont typeface="Wingdings" panose="05000000000000000000" pitchFamily="2" charset="2"/>
              <a:buChar char="q"/>
            </a:pPr>
            <a:r>
              <a:rPr lang="en" sz="2800" dirty="0" smtClean="0">
                <a:solidFill>
                  <a:schemeClr val="tx1"/>
                </a:solidFill>
              </a:rPr>
              <a:t>Cultural </a:t>
            </a:r>
            <a:r>
              <a:rPr lang="en" sz="2800" dirty="0">
                <a:solidFill>
                  <a:schemeClr val="tx1"/>
                </a:solidFill>
              </a:rPr>
              <a:t>time: A cultural outlook towards time orientation in terms of the culture’s preference towards its past, present and future.</a:t>
            </a:r>
            <a:endParaRPr sz="2800" dirty="0">
              <a:solidFill>
                <a:schemeClr val="tx1"/>
              </a:solidFill>
            </a:endParaRP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endParaRPr sz="2000" dirty="0"/>
          </a:p>
        </p:txBody>
      </p:sp>
      <p:sp>
        <p:nvSpPr>
          <p:cNvPr id="169" name="Google Shape;169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Time Perceptions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75" name="Google Shape;175;p31"/>
          <p:cNvSpPr txBox="1">
            <a:spLocks noGrp="1"/>
          </p:cNvSpPr>
          <p:nvPr>
            <p:ph type="body" idx="1"/>
          </p:nvPr>
        </p:nvSpPr>
        <p:spPr>
          <a:xfrm>
            <a:off x="364273" y="869795"/>
            <a:ext cx="5642327" cy="372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" sz="2000" dirty="0"/>
              <a:t>•Time as a concept is perceived differently in various parts of the world.</a:t>
            </a:r>
            <a:endParaRPr sz="2000" dirty="0"/>
          </a:p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" sz="2000" dirty="0"/>
              <a:t>•It varies on the basis of culture, nation, ethnicity and traditional customs.</a:t>
            </a:r>
            <a:endParaRPr sz="2000" dirty="0"/>
          </a:p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" sz="2000" dirty="0"/>
              <a:t>•In general, time is categorized into largely two categories: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i. Monochronic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ii. Polychronic</a:t>
            </a: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200" y="1629628"/>
            <a:ext cx="2832600" cy="1884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Monochronic Time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1"/>
          </p:nvPr>
        </p:nvSpPr>
        <p:spPr>
          <a:xfrm>
            <a:off x="457200" y="1063378"/>
            <a:ext cx="55215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000" dirty="0"/>
              <a:t>Individualistic. Low-context cultures.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000" dirty="0">
                <a:solidFill>
                  <a:srgbClr val="4472C4"/>
                </a:solidFill>
              </a:rPr>
              <a:t>“One thing at a time” </a:t>
            </a:r>
            <a:r>
              <a:rPr lang="en" sz="2000" dirty="0"/>
              <a:t>is the mantra.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000" dirty="0"/>
              <a:t>Schedules are kept tight and respected.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000" dirty="0"/>
              <a:t>Punctuality is upheld.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000" dirty="0"/>
              <a:t>Precision is appreciated.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000" dirty="0"/>
              <a:t>M-time is observed in German, North American and North European cultures.</a:t>
            </a:r>
            <a:endParaRPr sz="20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700" y="1479746"/>
            <a:ext cx="3012824" cy="287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457200" y="1836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Polychronic Time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91" name="Google Shape;191;p33"/>
          <p:cNvSpPr txBox="1">
            <a:spLocks noGrp="1"/>
          </p:cNvSpPr>
          <p:nvPr>
            <p:ph type="body" idx="1"/>
          </p:nvPr>
        </p:nvSpPr>
        <p:spPr>
          <a:xfrm>
            <a:off x="457200" y="886047"/>
            <a:ext cx="6040244" cy="370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42900" lvl="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Group-based</a:t>
            </a:r>
            <a:r>
              <a:rPr lang="en" sz="2600" dirty="0"/>
              <a:t>. High-context culture.</a:t>
            </a:r>
            <a:endParaRPr sz="2600" dirty="0"/>
          </a:p>
          <a:p>
            <a:pPr lvl="0" indent="-4572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Multi-tasking </a:t>
            </a:r>
            <a:r>
              <a:rPr lang="en" sz="2600" dirty="0"/>
              <a:t>is a talent.</a:t>
            </a:r>
            <a:endParaRPr sz="2600" dirty="0"/>
          </a:p>
          <a:p>
            <a:pPr lvl="0" indent="-4572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High </a:t>
            </a:r>
            <a:r>
              <a:rPr lang="en" sz="2600" dirty="0"/>
              <a:t>interpersonal values.</a:t>
            </a:r>
            <a:endParaRPr sz="2600" dirty="0"/>
          </a:p>
          <a:p>
            <a:pPr lvl="0" indent="-4572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Time </a:t>
            </a:r>
            <a:r>
              <a:rPr lang="en" sz="2600" dirty="0"/>
              <a:t>is flexible.</a:t>
            </a:r>
            <a:endParaRPr sz="2600" dirty="0"/>
          </a:p>
          <a:p>
            <a:pPr lvl="0" indent="-4572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Schedules </a:t>
            </a:r>
            <a:r>
              <a:rPr lang="en" sz="2600" dirty="0"/>
              <a:t>are loose or non-existent.</a:t>
            </a:r>
            <a:endParaRPr sz="2600" dirty="0"/>
          </a:p>
          <a:p>
            <a:pPr lvl="0" indent="-4572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P-time </a:t>
            </a:r>
            <a:r>
              <a:rPr lang="en" sz="2600" dirty="0"/>
              <a:t>patterned people are more past and </a:t>
            </a:r>
            <a:r>
              <a:rPr lang="en-US" sz="2600" dirty="0"/>
              <a:t>present-oriented</a:t>
            </a:r>
            <a:r>
              <a:rPr lang="en" sz="2600" dirty="0"/>
              <a:t> than expressing eagerness towards </a:t>
            </a:r>
            <a:r>
              <a:rPr lang="en-US" sz="2600" dirty="0"/>
              <a:t>the </a:t>
            </a:r>
            <a:r>
              <a:rPr lang="en" sz="2600" dirty="0"/>
              <a:t>future.</a:t>
            </a:r>
            <a:endParaRPr sz="2600" dirty="0"/>
          </a:p>
          <a:p>
            <a:pPr lvl="0" indent="-457200" algn="l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" sz="2600" dirty="0" smtClean="0"/>
              <a:t>P-time </a:t>
            </a:r>
            <a:r>
              <a:rPr lang="en" sz="2600" dirty="0"/>
              <a:t>is observed in Asian, African and Latin cultures.</a:t>
            </a:r>
            <a:endParaRPr sz="26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301" y="1839375"/>
            <a:ext cx="3352699" cy="211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Time Orientations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158976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2000" dirty="0" smtClean="0"/>
              <a:t>Humans </a:t>
            </a:r>
            <a:r>
              <a:rPr lang="en" sz="2000" dirty="0"/>
              <a:t>develop time cognitivism over the age, depending upon their culture and </a:t>
            </a:r>
            <a:r>
              <a:rPr lang="en" sz="2000" dirty="0" smtClean="0"/>
              <a:t>upbringing.</a:t>
            </a:r>
          </a:p>
          <a:p>
            <a:pPr marL="342900" lvl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2000" dirty="0" smtClean="0"/>
              <a:t>There </a:t>
            </a:r>
            <a:r>
              <a:rPr lang="en" sz="2000" dirty="0"/>
              <a:t>are four different types of time orientation:</a:t>
            </a:r>
            <a:endParaRPr sz="2000" dirty="0"/>
          </a:p>
          <a:p>
            <a:pPr marL="558800" lvl="0" indent="-457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+mj-lt"/>
              <a:buAutoNum type="arabicPeriod"/>
            </a:pPr>
            <a:r>
              <a:rPr lang="en" sz="2000" dirty="0"/>
              <a:t>Past</a:t>
            </a:r>
            <a:endParaRPr sz="2000" dirty="0"/>
          </a:p>
          <a:p>
            <a:pPr marL="5588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/>
            </a:pPr>
            <a:r>
              <a:rPr lang="en" sz="2000" dirty="0"/>
              <a:t>Present</a:t>
            </a:r>
            <a:endParaRPr sz="2000" dirty="0"/>
          </a:p>
          <a:p>
            <a:pPr marL="5588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/>
            </a:pPr>
            <a:r>
              <a:rPr lang="en" sz="2000" dirty="0"/>
              <a:t>Future</a:t>
            </a:r>
            <a:endParaRPr sz="2000" dirty="0"/>
          </a:p>
          <a:p>
            <a:pPr marL="5588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+mj-lt"/>
              <a:buAutoNum type="arabicPeriod"/>
            </a:pPr>
            <a:r>
              <a:rPr lang="en" sz="2000" dirty="0"/>
              <a:t>Timeline</a:t>
            </a:r>
            <a:endParaRPr sz="2000" dirty="0"/>
          </a:p>
        </p:txBody>
      </p:sp>
      <p:sp>
        <p:nvSpPr>
          <p:cNvPr id="200" name="Google Shape;200;p3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201" y="2107450"/>
            <a:ext cx="2766494" cy="24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Four Types of Time Orientations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07" name="Google Shape;207;p3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3376"/>
            <a:ext cx="8606675" cy="355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Time and Negotiation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14" name="Google Shape;214;p36"/>
          <p:cNvSpPr txBox="1">
            <a:spLocks noGrp="1"/>
          </p:cNvSpPr>
          <p:nvPr>
            <p:ph type="body" idx="1"/>
          </p:nvPr>
        </p:nvSpPr>
        <p:spPr>
          <a:xfrm>
            <a:off x="260195" y="877229"/>
            <a:ext cx="5977405" cy="371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lvl="0" indent="-45720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Wingdings" panose="05000000000000000000" pitchFamily="2" charset="2"/>
              <a:buChar char="q"/>
            </a:pPr>
            <a:r>
              <a:rPr lang="en" sz="2800" dirty="0" smtClean="0"/>
              <a:t>Time </a:t>
            </a:r>
            <a:r>
              <a:rPr lang="en" sz="2800" dirty="0"/>
              <a:t>speaks a lot, especially when it is communication between parties of different power hierarchies.</a:t>
            </a:r>
            <a:endParaRPr sz="2800" dirty="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" sz="2800" dirty="0"/>
              <a:t>Waiting time</a:t>
            </a:r>
            <a:endParaRPr sz="2800" dirty="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" sz="2800" dirty="0"/>
              <a:t>Talk time</a:t>
            </a:r>
            <a:endParaRPr sz="2800" dirty="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" sz="2800" dirty="0"/>
              <a:t>Work Time</a:t>
            </a:r>
            <a:endParaRPr sz="2800" dirty="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/>
              <a:t>The parties with higher power </a:t>
            </a:r>
            <a:r>
              <a:rPr lang="en-US" sz="2800" dirty="0"/>
              <a:t>positions</a:t>
            </a:r>
            <a:r>
              <a:rPr lang="en" sz="2800" dirty="0"/>
              <a:t> shall afford to bend time as per their convenience.</a:t>
            </a:r>
            <a:endParaRPr sz="2800" dirty="0"/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/>
              <a:t>The subordinate group are bound to stick to their time constraints.</a:t>
            </a:r>
            <a:endParaRPr sz="28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endParaRPr sz="2000"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16" name="Google Shape;21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9678" y="1673939"/>
            <a:ext cx="2107275" cy="1795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Timing and Time-keeping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22" name="Google Shape;222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/>
              <a:t>“The clock </a:t>
            </a:r>
            <a:r>
              <a:rPr lang="en-US" sz="1500" dirty="0"/>
              <a:t>may be</a:t>
            </a:r>
            <a:r>
              <a:rPr lang="en" sz="1500" dirty="0"/>
              <a:t> the machine of all the machines” (Bruneau 428)</a:t>
            </a:r>
            <a:endParaRPr sz="1500" dirty="0"/>
          </a:p>
          <a:p>
            <a:pPr marL="457200" lvl="0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" sz="1500" dirty="0"/>
              <a:t>Mumford notes that the primary characteristic of human civilization is its </a:t>
            </a:r>
            <a:r>
              <a:rPr lang="en" sz="1500" b="1" dirty="0"/>
              <a:t>temporal regularity.</a:t>
            </a:r>
            <a:endParaRPr sz="1500" b="1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1500" dirty="0"/>
              <a:t>Time keeping allows </a:t>
            </a:r>
            <a:r>
              <a:rPr lang="en-US" sz="1500" dirty="0"/>
              <a:t>one</a:t>
            </a:r>
            <a:r>
              <a:rPr lang="en" sz="1500" dirty="0"/>
              <a:t> to keep track of things </a:t>
            </a:r>
            <a:r>
              <a:rPr lang="en-US" sz="1500" dirty="0"/>
              <a:t>that </a:t>
            </a:r>
            <a:r>
              <a:rPr lang="en" sz="1500" dirty="0"/>
              <a:t>happened and happening.</a:t>
            </a:r>
            <a:endParaRPr sz="15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1500" dirty="0"/>
              <a:t>In public speaking, it becomes an integral part to stick </a:t>
            </a:r>
            <a:r>
              <a:rPr lang="en" sz="1500" dirty="0" smtClean="0"/>
              <a:t>to </a:t>
            </a:r>
            <a:r>
              <a:rPr lang="en" sz="1500" dirty="0"/>
              <a:t>the time regulations.</a:t>
            </a:r>
            <a:endParaRPr sz="15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1500" dirty="0"/>
              <a:t>In formal scenarios, it is observed that timekeeping:</a:t>
            </a:r>
            <a:endParaRPr sz="15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1500" dirty="0"/>
              <a:t>Optimizes individual performances.</a:t>
            </a:r>
            <a:endParaRPr sz="15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1500" dirty="0"/>
              <a:t>Increases clarity in communication.</a:t>
            </a:r>
            <a:endParaRPr sz="15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1500" dirty="0"/>
              <a:t>Provides more accuracy without any delays or errors.</a:t>
            </a:r>
            <a:endParaRPr sz="1500" dirty="0"/>
          </a:p>
        </p:txBody>
      </p:sp>
      <p:sp>
        <p:nvSpPr>
          <p:cNvPr id="223" name="Google Shape;223;p3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Speech Chronemics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1"/>
          </p:nvPr>
        </p:nvSpPr>
        <p:spPr>
          <a:xfrm>
            <a:off x="457200" y="821635"/>
            <a:ext cx="8229600" cy="3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The term “speech chronemics” is introduced by psychologist H.P. Krüger.</a:t>
            </a:r>
            <a:endParaRPr sz="17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It elucidates upon time as a hidden dimension of speech.</a:t>
            </a:r>
            <a:endParaRPr sz="17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His research work focused on analyzing speech signal patterns.</a:t>
            </a:r>
            <a:endParaRPr sz="17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The patterns consisted of two primary distinctions:</a:t>
            </a:r>
            <a:endParaRPr sz="17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Speaking (Ons)</a:t>
            </a:r>
            <a:endParaRPr sz="1700" dirty="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Pausing (Offs)</a:t>
            </a:r>
            <a:endParaRPr sz="1700" dirty="0"/>
          </a:p>
          <a:p>
            <a:pPr lvl="0" indent="-355600">
              <a:lnSpc>
                <a:spcPct val="150000"/>
              </a:lnSpc>
              <a:spcBef>
                <a:spcPts val="0"/>
              </a:spcBef>
              <a:buSzPts val="2000"/>
              <a:buFont typeface="Wingdings" panose="05000000000000000000" pitchFamily="2" charset="2"/>
              <a:buChar char="q"/>
            </a:pPr>
            <a:r>
              <a:rPr lang="en" sz="1700" dirty="0"/>
              <a:t>The time taken by participants while speaking and pausing was studied in order to understand the larger effect of communication. (Krüger</a:t>
            </a:r>
            <a:r>
              <a:rPr lang="en-US" sz="1700" dirty="0"/>
              <a:t> </a:t>
            </a:r>
            <a:r>
              <a:rPr lang="en" sz="1700" dirty="0"/>
              <a:t>11)</a:t>
            </a:r>
            <a:endParaRPr sz="17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230" name="Google Shape;230;p3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>
                <a:solidFill>
                  <a:schemeClr val="dk2"/>
                </a:solidFill>
              </a:rPr>
              <a:t>Importance of Timing in Public Speaking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36" name="Google Shape;236;p3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6512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50"/>
              <a:buChar char="•"/>
            </a:pPr>
            <a:r>
              <a:rPr lang="en" sz="1900" dirty="0"/>
              <a:t>A public speaker should make the most out of given time stipulations to gain successful feedback.</a:t>
            </a:r>
            <a:endParaRPr sz="1900" dirty="0"/>
          </a:p>
          <a:p>
            <a:pPr marL="457200" lvl="0" indent="-3651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" sz="1900" dirty="0"/>
              <a:t>Time awareness – Timers are available </a:t>
            </a:r>
            <a:r>
              <a:rPr lang="en-US" sz="1900" dirty="0"/>
              <a:t>in</a:t>
            </a:r>
            <a:r>
              <a:rPr lang="en" sz="1900" dirty="0"/>
              <a:t> certain scenarios. However, wearing a watch comes </a:t>
            </a:r>
            <a:r>
              <a:rPr lang="en-US" sz="1900" dirty="0"/>
              <a:t>in </a:t>
            </a:r>
            <a:r>
              <a:rPr lang="en" sz="1900" dirty="0"/>
              <a:t>handy.</a:t>
            </a:r>
            <a:endParaRPr sz="1900" dirty="0"/>
          </a:p>
          <a:p>
            <a:pPr marL="457200" lvl="0" indent="-3651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" sz="1900" dirty="0"/>
              <a:t>Repetitive rehearsal </a:t>
            </a:r>
            <a:r>
              <a:rPr lang="en-US" sz="1900" dirty="0"/>
              <a:t>in</a:t>
            </a:r>
            <a:r>
              <a:rPr lang="en" sz="1900" dirty="0"/>
              <a:t> accordance </a:t>
            </a:r>
            <a:r>
              <a:rPr lang="en-US" sz="1900" dirty="0"/>
              <a:t>with</a:t>
            </a:r>
            <a:r>
              <a:rPr lang="en" sz="1900" dirty="0"/>
              <a:t> the given time limit.</a:t>
            </a:r>
            <a:endParaRPr sz="1900" dirty="0"/>
          </a:p>
          <a:p>
            <a:pPr marL="457200" lvl="0" indent="-3651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" sz="1900" dirty="0"/>
              <a:t>Time utilization is not just for </a:t>
            </a:r>
            <a:r>
              <a:rPr lang="en-US" sz="1900" dirty="0"/>
              <a:t>speakers</a:t>
            </a:r>
            <a:r>
              <a:rPr lang="en" sz="1900" dirty="0"/>
              <a:t> but also for listeners.</a:t>
            </a:r>
            <a:endParaRPr sz="1900" dirty="0"/>
          </a:p>
          <a:p>
            <a:pPr marL="457200" lvl="0" indent="-3651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50"/>
              <a:buChar char="•"/>
            </a:pPr>
            <a:r>
              <a:rPr lang="en" sz="1900" dirty="0"/>
              <a:t>A speaker should allow time for listeners to react and engage with the content delivered.</a:t>
            </a:r>
            <a:endParaRPr sz="19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237" name="Google Shape;237;p3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485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800" dirty="0">
                <a:solidFill>
                  <a:schemeClr val="dk2"/>
                </a:solidFill>
              </a:rPr>
              <a:t>Avoid Chronarchy</a:t>
            </a:r>
            <a:endParaRPr sz="2800" dirty="0">
              <a:solidFill>
                <a:schemeClr val="dk2"/>
              </a:solidFill>
            </a:endParaRPr>
          </a:p>
        </p:txBody>
      </p:sp>
      <p:sp>
        <p:nvSpPr>
          <p:cNvPr id="243" name="Google Shape;243;p4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800" dirty="0"/>
              <a:t>Wright pinpoints “the tyranny of clockworks” in the contemporary world.</a:t>
            </a:r>
            <a:endParaRPr sz="18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800" dirty="0"/>
              <a:t>Communication theorists like Bruneau </a:t>
            </a:r>
            <a:r>
              <a:rPr lang="en" sz="1800" dirty="0" smtClean="0"/>
              <a:t>suggest </a:t>
            </a:r>
            <a:r>
              <a:rPr lang="en" sz="1800" dirty="0"/>
              <a:t>that humans should use time and not </a:t>
            </a:r>
            <a:r>
              <a:rPr lang="en-US" sz="1800" dirty="0"/>
              <a:t>let it be another</a:t>
            </a:r>
            <a:r>
              <a:rPr lang="en" sz="1800" dirty="0"/>
              <a:t> </a:t>
            </a:r>
            <a:r>
              <a:rPr lang="en-US" sz="1800" dirty="0"/>
              <a:t>way around</a:t>
            </a:r>
            <a:r>
              <a:rPr lang="en" sz="1800" dirty="0"/>
              <a:t>.</a:t>
            </a:r>
            <a:endParaRPr sz="18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800" dirty="0"/>
              <a:t>“Let chronarchy, then, be not merely ‘rule by time’, but ‘regimentation of man by time-keeping’ ” (Bruneau 428)</a:t>
            </a:r>
            <a:endParaRPr sz="18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pitchFamily="2" charset="2"/>
              <a:buChar char="q"/>
            </a:pPr>
            <a:r>
              <a:rPr lang="en" sz="1800" dirty="0"/>
              <a:t>Objective timekeeping should be </a:t>
            </a:r>
            <a:r>
              <a:rPr lang="en-US" sz="1800" dirty="0"/>
              <a:t>controlled</a:t>
            </a:r>
            <a:r>
              <a:rPr lang="en" sz="1800" dirty="0"/>
              <a:t>. Intercultural differences in perception of time must be embraced and accommodated.</a:t>
            </a:r>
            <a:endParaRPr sz="1800" dirty="0"/>
          </a:p>
          <a:p>
            <a:pPr marL="34290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244" name="Google Shape;244;p4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2"/>
                </a:solidFill>
              </a:rPr>
              <a:t>Time matters </a:t>
            </a:r>
            <a:endParaRPr lang="en-IN" sz="2800" dirty="0">
              <a:solidFill>
                <a:schemeClr val="bg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Adrenalin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Subject concern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</a:t>
            </a:r>
            <a:r>
              <a:rPr lang="en-US" sz="2000" dirty="0" smtClean="0"/>
              <a:t>ontractual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7421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solidFill>
                  <a:schemeClr val="bg2"/>
                </a:solidFill>
              </a:rPr>
              <a:t>Contd</a:t>
            </a:r>
            <a:r>
              <a:rPr lang="en-US" sz="2800" dirty="0" smtClean="0">
                <a:solidFill>
                  <a:schemeClr val="bg2"/>
                </a:solidFill>
              </a:rPr>
              <a:t>…</a:t>
            </a:r>
            <a:endParaRPr lang="en-IN" sz="2800" dirty="0">
              <a:solidFill>
                <a:schemeClr val="bg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The speaker and the audience are in quite the opposite state.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Speakers are emotionally involved in what they are saying.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Timing of a speaker’s talk is a contract with the audience.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Span of memory and attention is limited.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/>
              <a:t>Good timing lends security to the audience and helps the speaker reflect his competence.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27043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56" name="Google Shape;256;p42"/>
          <p:cNvSpPr txBox="1"/>
          <p:nvPr/>
        </p:nvSpPr>
        <p:spPr>
          <a:xfrm>
            <a:off x="5543950" y="3439416"/>
            <a:ext cx="21783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353C5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257" name="Google Shape;257;p42"/>
          <p:cNvSpPr txBox="1"/>
          <p:nvPr/>
        </p:nvSpPr>
        <p:spPr>
          <a:xfrm>
            <a:off x="402450" y="1126450"/>
            <a:ext cx="8339100" cy="24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"The entire universe is weighted toward rhythm . . . everywhere, as in a cosmic dance, natural bodies are doing their rounds . . . the universe is littered with </a:t>
            </a:r>
            <a:r>
              <a:rPr lang="en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clocks."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Dora Marsden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Works Consulted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50" name="Google Shape;250;p4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200" dirty="0"/>
              <a:t>Bruneau, Thomas J. “Chronemics: The study of time in human interaction”, </a:t>
            </a:r>
            <a:r>
              <a:rPr lang="en" sz="2200" i="1" dirty="0"/>
              <a:t>Journal of the Communication Association of the Pacific</a:t>
            </a:r>
            <a:r>
              <a:rPr lang="en" sz="2200" dirty="0"/>
              <a:t>, vol. 6, no. 1, 1977.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 dirty="0"/>
              <a:t>---.“Time, change, and </a:t>
            </a:r>
            <a:r>
              <a:rPr lang="en-US" sz="2200" dirty="0"/>
              <a:t>socio-cultural</a:t>
            </a:r>
            <a:r>
              <a:rPr lang="en" sz="2200" dirty="0"/>
              <a:t> communication: A chronemic perspective.” </a:t>
            </a:r>
            <a:r>
              <a:rPr lang="en" sz="2200" i="1" dirty="0"/>
              <a:t>Sign Systems Studies, </a:t>
            </a:r>
            <a:r>
              <a:rPr lang="en" sz="2200" dirty="0"/>
              <a:t>vol. 35, no. 1-2, 2007, pp. 89-117.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200" dirty="0"/>
              <a:t>Krüger, H.P. “Speech chronemics-a hidden dimension of speech. Theoretical background, measurement and clinical validity.”, </a:t>
            </a:r>
            <a:r>
              <a:rPr lang="en" sz="2200" i="1" dirty="0"/>
              <a:t>Pharmacopsychiatry, </a:t>
            </a:r>
            <a:r>
              <a:rPr lang="en" sz="2200" dirty="0"/>
              <a:t>vol. 22, no. 1, 1989, pp. 5-12.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200" dirty="0"/>
              <a:t>Lindquist, Jay D., and Carol Scarborough. “The polychronic-monochronic tendency model: PMTS scale development and validation.” </a:t>
            </a:r>
            <a:r>
              <a:rPr lang="en" sz="2200" i="1" dirty="0"/>
              <a:t>Time and Society, </a:t>
            </a:r>
            <a:r>
              <a:rPr lang="en" sz="2200" dirty="0"/>
              <a:t>vol. 16, no. 2, 2007, pp. 253 – 285.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200" dirty="0"/>
              <a:t>Mumford, L. </a:t>
            </a:r>
            <a:r>
              <a:rPr lang="en" sz="2200" i="1" dirty="0"/>
              <a:t>Technics and civilization</a:t>
            </a:r>
            <a:r>
              <a:rPr lang="en" sz="2200" dirty="0"/>
              <a:t>. Brace &amp; World, 1962.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 sz="22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200" dirty="0"/>
              <a:t>Wright, Lawrence. </a:t>
            </a:r>
            <a:r>
              <a:rPr lang="en" sz="2200" i="1" dirty="0"/>
              <a:t>Clockwork man</a:t>
            </a:r>
            <a:r>
              <a:rPr lang="en" sz="2200" dirty="0"/>
              <a:t>. Horizon Press, 1968.</a:t>
            </a:r>
            <a:endParaRPr sz="2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2200" u="sng" dirty="0">
                <a:solidFill>
                  <a:schemeClr val="hlink"/>
                </a:solidFill>
                <a:hlinkClick r:id="rId3"/>
              </a:rPr>
              <a:t>https://www.pmi.org/learning/library/everything-time-monochronism-polychronism-orientation-6902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1158</Words>
  <Application>Microsoft Office PowerPoint</Application>
  <PresentationFormat>On-screen Show (16:9)</PresentationFormat>
  <Paragraphs>128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Wingdings</vt:lpstr>
      <vt:lpstr>Simple Light</vt:lpstr>
      <vt:lpstr>Office Theme</vt:lpstr>
      <vt:lpstr>PowerPoint Presentation</vt:lpstr>
      <vt:lpstr>“For the Present is the point at which time touches the eternity” - C.S. Lewis</vt:lpstr>
      <vt:lpstr>Introduction</vt:lpstr>
      <vt:lpstr>Time Talks</vt:lpstr>
      <vt:lpstr>Types of Time</vt:lpstr>
      <vt:lpstr>Contd…</vt:lpstr>
      <vt:lpstr>Time Perceptions</vt:lpstr>
      <vt:lpstr>Monochronic Time</vt:lpstr>
      <vt:lpstr>Polychronic Time</vt:lpstr>
      <vt:lpstr>Time Orientations</vt:lpstr>
      <vt:lpstr>Four Types of Time Orientations</vt:lpstr>
      <vt:lpstr>Time and Negotiation</vt:lpstr>
      <vt:lpstr>Timing and Time-keeping</vt:lpstr>
      <vt:lpstr>Speech Chronemics</vt:lpstr>
      <vt:lpstr>Importance of Timing in Public Speaking</vt:lpstr>
      <vt:lpstr>Avoid Chronarchy</vt:lpstr>
      <vt:lpstr>Time matters </vt:lpstr>
      <vt:lpstr>Contd…</vt:lpstr>
      <vt:lpstr>PowerPoint Presentation</vt:lpstr>
      <vt:lpstr>Works Consulted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17</cp:revision>
  <dcterms:modified xsi:type="dcterms:W3CDTF">2022-06-14T14:18:28Z</dcterms:modified>
</cp:coreProperties>
</file>