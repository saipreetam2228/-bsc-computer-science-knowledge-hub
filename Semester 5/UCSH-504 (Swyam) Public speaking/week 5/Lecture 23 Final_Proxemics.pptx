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0" r:id="rId1"/>
    <p:sldMasterId id="2147483671" r:id="rId2"/>
  </p:sldMasterIdLst>
  <p:notesMasterIdLst>
    <p:notesMasterId r:id="rId2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3" r:id="rId16"/>
    <p:sldId id="269" r:id="rId17"/>
    <p:sldId id="274" r:id="rId18"/>
    <p:sldId id="275" r:id="rId19"/>
    <p:sldId id="270" r:id="rId20"/>
    <p:sldId id="271" r:id="rId21"/>
    <p:sldId id="272"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6" d="100"/>
          <a:sy n="86" d="100"/>
        </p:scale>
        <p:origin x="72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124d937e95b_0_3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 name="Google Shape;127;g124d937e95b_0_3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8" name="Google Shape;128;g124d937e95b_0_37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g124d937e95b_0_5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5" name="Google Shape;135;g124d937e95b_0_5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124d937e95b_0_3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g124d937e95b_0_3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124d937e95b_0_4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g124d937e95b_0_4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124d937e95b_0_4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g124d937e95b_0_4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124d937e95b_0_4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 name="Google Shape;168;g124d937e95b_0_4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24d937e95b_0_4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124d937e95b_0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24d937e95b_0_4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3" name="Google Shape;183;g124d937e95b_0_4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124d937e95b_0_5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1" name="Google Shape;191;g124d937e95b_0_5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124d937e95b_0_5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g124d937e95b_0_5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124d937e95b_0_5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g124d937e95b_0_5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124d937e95b_0_5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g124d937e95b_0_5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24d937e95b_0_5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2" name="Google Shape;222;g124d937e95b_0_5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124d937e95b_0_5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2" name="Google Shape;232;g124d937e95b_0_5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124d937e95b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9" name="Google Shape;239;g124d937e95b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124d937e95b_0_5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 name="Google Shape;247;g124d937e95b_0_5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24d937e95b_0_5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4" name="Google Shape;254;g124d937e95b_0_5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56"/>
        <p:cNvGrpSpPr/>
        <p:nvPr/>
      </p:nvGrpSpPr>
      <p:grpSpPr>
        <a:xfrm>
          <a:off x="0" y="0"/>
          <a:ext cx="0" cy="0"/>
          <a:chOff x="0" y="0"/>
          <a:chExt cx="0" cy="0"/>
        </a:xfrm>
      </p:grpSpPr>
      <p:sp>
        <p:nvSpPr>
          <p:cNvPr id="57" name="Google Shape;57;p14"/>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14"/>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14"/>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Title and Content" type="obj">
  <p:cSld name="OBJECT">
    <p:spTree>
      <p:nvGrpSpPr>
        <p:cNvPr id="1" name="Shape 60"/>
        <p:cNvGrpSpPr/>
        <p:nvPr/>
      </p:nvGrpSpPr>
      <p:grpSpPr>
        <a:xfrm>
          <a:off x="0" y="0"/>
          <a:ext cx="0" cy="0"/>
          <a:chOff x="0" y="0"/>
          <a:chExt cx="0" cy="0"/>
        </a:xfrm>
      </p:grpSpPr>
      <p:sp>
        <p:nvSpPr>
          <p:cNvPr id="61" name="Google Shape;61;p15"/>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15"/>
          <p:cNvSpPr txBox="1">
            <a:spLocks noGrp="1"/>
          </p:cNvSpPr>
          <p:nvPr>
            <p:ph type="body" idx="1"/>
          </p:nvPr>
        </p:nvSpPr>
        <p:spPr>
          <a:xfrm>
            <a:off x="457200" y="1200151"/>
            <a:ext cx="8229600" cy="3394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63" name="Google Shape;63;p15"/>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4" name="Google Shape;64;p15"/>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15"/>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66"/>
        <p:cNvGrpSpPr/>
        <p:nvPr/>
      </p:nvGrpSpPr>
      <p:grpSpPr>
        <a:xfrm>
          <a:off x="0" y="0"/>
          <a:ext cx="0" cy="0"/>
          <a:chOff x="0" y="0"/>
          <a:chExt cx="0" cy="0"/>
        </a:xfrm>
      </p:grpSpPr>
      <p:sp>
        <p:nvSpPr>
          <p:cNvPr id="67" name="Google Shape;67;p16"/>
          <p:cNvSpPr txBox="1">
            <a:spLocks noGrp="1"/>
          </p:cNvSpPr>
          <p:nvPr>
            <p:ph type="ctrTitle"/>
          </p:nvPr>
        </p:nvSpPr>
        <p:spPr>
          <a:xfrm>
            <a:off x="685800" y="1597819"/>
            <a:ext cx="7772400" cy="11025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8" name="Google Shape;68;p16"/>
          <p:cNvSpPr txBox="1">
            <a:spLocks noGrp="1"/>
          </p:cNvSpPr>
          <p:nvPr>
            <p:ph type="subTitle" idx="1"/>
          </p:nvPr>
        </p:nvSpPr>
        <p:spPr>
          <a:xfrm>
            <a:off x="1371600" y="2914650"/>
            <a:ext cx="6400800" cy="1314600"/>
          </a:xfrm>
          <a:prstGeom prst="rect">
            <a:avLst/>
          </a:prstGeom>
          <a:noFill/>
          <a:ln>
            <a:noFill/>
          </a:ln>
        </p:spPr>
        <p:txBody>
          <a:bodyPr spcFirstLastPara="1" wrap="square" lIns="91425" tIns="45700" rIns="91425" bIns="45700" anchor="t" anchorCtr="0">
            <a:normAutofit/>
          </a:bodyPr>
          <a:lstStyle>
            <a:lvl1pPr lvl="0" algn="ctr" rtl="0">
              <a:spcBef>
                <a:spcPts val="640"/>
              </a:spcBef>
              <a:spcAft>
                <a:spcPts val="0"/>
              </a:spcAft>
              <a:buClr>
                <a:srgbClr val="888888"/>
              </a:buClr>
              <a:buSzPts val="3200"/>
              <a:buNone/>
              <a:defRPr>
                <a:solidFill>
                  <a:srgbClr val="888888"/>
                </a:solidFill>
              </a:defRPr>
            </a:lvl1pPr>
            <a:lvl2pPr lvl="1" algn="ctr" rtl="0">
              <a:spcBef>
                <a:spcPts val="560"/>
              </a:spcBef>
              <a:spcAft>
                <a:spcPts val="0"/>
              </a:spcAft>
              <a:buClr>
                <a:srgbClr val="888888"/>
              </a:buClr>
              <a:buSzPts val="2800"/>
              <a:buNone/>
              <a:defRPr>
                <a:solidFill>
                  <a:srgbClr val="888888"/>
                </a:solidFill>
              </a:defRPr>
            </a:lvl2pPr>
            <a:lvl3pPr lvl="2" algn="ctr" rtl="0">
              <a:spcBef>
                <a:spcPts val="480"/>
              </a:spcBef>
              <a:spcAft>
                <a:spcPts val="0"/>
              </a:spcAft>
              <a:buClr>
                <a:srgbClr val="888888"/>
              </a:buClr>
              <a:buSzPts val="2400"/>
              <a:buNone/>
              <a:defRPr>
                <a:solidFill>
                  <a:srgbClr val="888888"/>
                </a:solidFill>
              </a:defRPr>
            </a:lvl3pPr>
            <a:lvl4pPr lvl="3" algn="ctr" rtl="0">
              <a:spcBef>
                <a:spcPts val="400"/>
              </a:spcBef>
              <a:spcAft>
                <a:spcPts val="0"/>
              </a:spcAft>
              <a:buClr>
                <a:srgbClr val="888888"/>
              </a:buClr>
              <a:buSzPts val="2000"/>
              <a:buNone/>
              <a:defRPr>
                <a:solidFill>
                  <a:srgbClr val="888888"/>
                </a:solidFill>
              </a:defRPr>
            </a:lvl4pPr>
            <a:lvl5pPr lvl="4" algn="ctr" rtl="0">
              <a:spcBef>
                <a:spcPts val="400"/>
              </a:spcBef>
              <a:spcAft>
                <a:spcPts val="0"/>
              </a:spcAft>
              <a:buClr>
                <a:srgbClr val="888888"/>
              </a:buClr>
              <a:buSzPts val="20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69" name="Google Shape;69;p16"/>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6"/>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1" name="Google Shape;71;p16"/>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722313" y="3305176"/>
            <a:ext cx="7772400" cy="1021500"/>
          </a:xfrm>
          <a:prstGeom prst="rect">
            <a:avLst/>
          </a:prstGeom>
          <a:noFill/>
          <a:ln>
            <a:noFill/>
          </a:ln>
        </p:spPr>
        <p:txBody>
          <a:bodyPr spcFirstLastPara="1" wrap="square" lIns="91425" tIns="45700" rIns="91425" bIns="45700" anchor="t" anchorCtr="0">
            <a:normAutofit/>
          </a:bodyPr>
          <a:lstStyle>
            <a:lvl1pPr lvl="0" algn="l" rtl="0">
              <a:spcBef>
                <a:spcPts val="0"/>
              </a:spcBef>
              <a:spcAft>
                <a:spcPts val="0"/>
              </a:spcAft>
              <a:buClr>
                <a:schemeClr val="dk1"/>
              </a:buClr>
              <a:buSzPts val="4000"/>
              <a:buFont typeface="Calibri"/>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4" name="Google Shape;74;p17"/>
          <p:cNvSpPr txBox="1">
            <a:spLocks noGrp="1"/>
          </p:cNvSpPr>
          <p:nvPr>
            <p:ph type="body" idx="1"/>
          </p:nvPr>
        </p:nvSpPr>
        <p:spPr>
          <a:xfrm>
            <a:off x="722313" y="2180035"/>
            <a:ext cx="7772400" cy="11250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75" name="Google Shape;75;p17"/>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7"/>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7" name="Google Shape;77;p17"/>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Two Content" type="twoObj">
  <p:cSld name="TWO_OBJECTS">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0" name="Google Shape;80;p18"/>
          <p:cNvSpPr txBox="1">
            <a:spLocks noGrp="1"/>
          </p:cNvSpPr>
          <p:nvPr>
            <p:ph type="body" idx="1"/>
          </p:nvPr>
        </p:nvSpPr>
        <p:spPr>
          <a:xfrm>
            <a:off x="457200" y="900113"/>
            <a:ext cx="4038600" cy="25455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81" name="Google Shape;81;p18"/>
          <p:cNvSpPr txBox="1">
            <a:spLocks noGrp="1"/>
          </p:cNvSpPr>
          <p:nvPr>
            <p:ph type="body" idx="2"/>
          </p:nvPr>
        </p:nvSpPr>
        <p:spPr>
          <a:xfrm>
            <a:off x="4648200" y="900113"/>
            <a:ext cx="4038600" cy="25455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82" name="Google Shape;82;p18"/>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3" name="Google Shape;83;p18"/>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18"/>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Comparison" type="twoTxTwoObj">
  <p:cSld name="TWO_OBJECTS_WITH_TEXT">
    <p:spTree>
      <p:nvGrpSpPr>
        <p:cNvPr id="1" name="Shape 85"/>
        <p:cNvGrpSpPr/>
        <p:nvPr/>
      </p:nvGrpSpPr>
      <p:grpSpPr>
        <a:xfrm>
          <a:off x="0" y="0"/>
          <a:ext cx="0" cy="0"/>
          <a:chOff x="0" y="0"/>
          <a:chExt cx="0" cy="0"/>
        </a:xfrm>
      </p:grpSpPr>
      <p:sp>
        <p:nvSpPr>
          <p:cNvPr id="86" name="Google Shape;86;p19"/>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4400"/>
              <a:buFont typeface="Calibri"/>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7" name="Google Shape;87;p19"/>
          <p:cNvSpPr txBox="1">
            <a:spLocks noGrp="1"/>
          </p:cNvSpPr>
          <p:nvPr>
            <p:ph type="body" idx="1"/>
          </p:nvPr>
        </p:nvSpPr>
        <p:spPr>
          <a:xfrm>
            <a:off x="457200" y="1151335"/>
            <a:ext cx="4040100" cy="4797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88" name="Google Shape;88;p19"/>
          <p:cNvSpPr txBox="1">
            <a:spLocks noGrp="1"/>
          </p:cNvSpPr>
          <p:nvPr>
            <p:ph type="body" idx="2"/>
          </p:nvPr>
        </p:nvSpPr>
        <p:spPr>
          <a:xfrm>
            <a:off x="457200" y="1631156"/>
            <a:ext cx="4040100" cy="29634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89" name="Google Shape;89;p19"/>
          <p:cNvSpPr txBox="1">
            <a:spLocks noGrp="1"/>
          </p:cNvSpPr>
          <p:nvPr>
            <p:ph type="body" idx="3"/>
          </p:nvPr>
        </p:nvSpPr>
        <p:spPr>
          <a:xfrm>
            <a:off x="4645026" y="1151335"/>
            <a:ext cx="4041900" cy="4797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90" name="Google Shape;90;p19"/>
          <p:cNvSpPr txBox="1">
            <a:spLocks noGrp="1"/>
          </p:cNvSpPr>
          <p:nvPr>
            <p:ph type="body" idx="4"/>
          </p:nvPr>
        </p:nvSpPr>
        <p:spPr>
          <a:xfrm>
            <a:off x="4645026" y="1631156"/>
            <a:ext cx="4041900" cy="29634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91" name="Google Shape;91;p19"/>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2" name="Google Shape;92;p19"/>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3" name="Google Shape;93;p1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94"/>
        <p:cNvGrpSpPr/>
        <p:nvPr/>
      </p:nvGrpSpPr>
      <p:grpSpPr>
        <a:xfrm>
          <a:off x="0" y="0"/>
          <a:ext cx="0" cy="0"/>
          <a:chOff x="0" y="0"/>
          <a:chExt cx="0" cy="0"/>
        </a:xfrm>
      </p:grpSpPr>
      <p:sp>
        <p:nvSpPr>
          <p:cNvPr id="95" name="Google Shape;95;p20"/>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96" name="Google Shape;96;p20"/>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7" name="Google Shape;97;p20"/>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98" name="Google Shape;98;p2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457201" y="204787"/>
            <a:ext cx="3008400" cy="8715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Calibri"/>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1" name="Google Shape;101;p21"/>
          <p:cNvSpPr txBox="1">
            <a:spLocks noGrp="1"/>
          </p:cNvSpPr>
          <p:nvPr>
            <p:ph type="body" idx="1"/>
          </p:nvPr>
        </p:nvSpPr>
        <p:spPr>
          <a:xfrm>
            <a:off x="3575050" y="204788"/>
            <a:ext cx="5111700" cy="43899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102" name="Google Shape;102;p21"/>
          <p:cNvSpPr txBox="1">
            <a:spLocks noGrp="1"/>
          </p:cNvSpPr>
          <p:nvPr>
            <p:ph type="body" idx="2"/>
          </p:nvPr>
        </p:nvSpPr>
        <p:spPr>
          <a:xfrm>
            <a:off x="457201" y="1076326"/>
            <a:ext cx="3008400" cy="35184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103" name="Google Shape;103;p21"/>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4" name="Google Shape;104;p21"/>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05" name="Google Shape;105;p21"/>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1792288" y="3600450"/>
            <a:ext cx="5486400" cy="425100"/>
          </a:xfrm>
          <a:prstGeom prst="rect">
            <a:avLst/>
          </a:prstGeom>
          <a:noFill/>
          <a:ln>
            <a:noFill/>
          </a:ln>
        </p:spPr>
        <p:txBody>
          <a:bodyPr spcFirstLastPara="1" wrap="square" lIns="91425" tIns="45700" rIns="91425" bIns="45700" anchor="b" anchorCtr="0">
            <a:normAutofit/>
          </a:bodyPr>
          <a:lstStyle>
            <a:lvl1pPr lvl="0" algn="l" rtl="0">
              <a:spcBef>
                <a:spcPts val="0"/>
              </a:spcBef>
              <a:spcAft>
                <a:spcPts val="0"/>
              </a:spcAft>
              <a:buClr>
                <a:schemeClr val="dk1"/>
              </a:buClr>
              <a:buSzPts val="2000"/>
              <a:buFont typeface="Calibri"/>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08" name="Google Shape;108;p22"/>
          <p:cNvSpPr>
            <a:spLocks noGrp="1"/>
          </p:cNvSpPr>
          <p:nvPr>
            <p:ph type="pic" idx="2"/>
          </p:nvPr>
        </p:nvSpPr>
        <p:spPr>
          <a:xfrm>
            <a:off x="1792288" y="459581"/>
            <a:ext cx="5486400" cy="3086100"/>
          </a:xfrm>
          <a:prstGeom prst="rect">
            <a:avLst/>
          </a:prstGeom>
          <a:noFill/>
          <a:ln>
            <a:noFill/>
          </a:ln>
        </p:spPr>
      </p:sp>
      <p:sp>
        <p:nvSpPr>
          <p:cNvPr id="109" name="Google Shape;109;p22"/>
          <p:cNvSpPr txBox="1">
            <a:spLocks noGrp="1"/>
          </p:cNvSpPr>
          <p:nvPr>
            <p:ph type="body" idx="1"/>
          </p:nvPr>
        </p:nvSpPr>
        <p:spPr>
          <a:xfrm>
            <a:off x="1792288" y="4025503"/>
            <a:ext cx="5486400" cy="6036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110" name="Google Shape;110;p22"/>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1" name="Google Shape;111;p22"/>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2" name="Google Shape;112;p22"/>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Title and Vertical Text" type="vertTx">
  <p:cSld name="VERTICAL_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15" name="Google Shape;115;p23"/>
          <p:cNvSpPr txBox="1">
            <a:spLocks noGrp="1"/>
          </p:cNvSpPr>
          <p:nvPr>
            <p:ph type="body" idx="1"/>
          </p:nvPr>
        </p:nvSpPr>
        <p:spPr>
          <a:xfrm rot="5400000">
            <a:off x="2874750" y="-1217399"/>
            <a:ext cx="3394500" cy="82296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116" name="Google Shape;116;p2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7" name="Google Shape;117;p2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18" name="Google Shape;118;p2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6012600" y="771581"/>
            <a:ext cx="3291000" cy="2057400"/>
          </a:xfrm>
          <a:prstGeom prst="rect">
            <a:avLst/>
          </a:prstGeom>
          <a:noFill/>
          <a:ln>
            <a:noFill/>
          </a:ln>
        </p:spPr>
        <p:txBody>
          <a:bodyPr spcFirstLastPara="1" wrap="square" lIns="91425" tIns="45700" rIns="91425" bIns="45700" anchor="ctr" anchorCtr="0">
            <a:normAutofit/>
          </a:bodyPr>
          <a:lstStyle>
            <a:lvl1pPr lvl="0" algn="ctr" rtl="0">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1821600" y="-1209619"/>
            <a:ext cx="3291000" cy="60198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3" name="Google Shape;123;p24"/>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24" name="Google Shape;124;p24"/>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457200" y="1200151"/>
            <a:ext cx="8229600" cy="3394500"/>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457200" y="4767263"/>
            <a:ext cx="2133600" cy="2739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3124200" y="4767263"/>
            <a:ext cx="2895600" cy="2739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3">
            <a:alphaModFix/>
          </a:blip>
          <a:stretch>
            <a:fillRect/>
          </a:stretch>
        </a:blipFill>
        <a:effectLst/>
      </p:bgPr>
    </p:bg>
    <p:spTree>
      <p:nvGrpSpPr>
        <p:cNvPr id="1" name="Shape 129"/>
        <p:cNvGrpSpPr/>
        <p:nvPr/>
      </p:nvGrpSpPr>
      <p:grpSpPr>
        <a:xfrm>
          <a:off x="0" y="0"/>
          <a:ext cx="0" cy="0"/>
          <a:chOff x="0" y="0"/>
          <a:chExt cx="0" cy="0"/>
        </a:xfrm>
      </p:grpSpPr>
      <p:sp>
        <p:nvSpPr>
          <p:cNvPr id="130" name="Google Shape;130;p25"/>
          <p:cNvSpPr txBox="1"/>
          <p:nvPr/>
        </p:nvSpPr>
        <p:spPr>
          <a:xfrm>
            <a:off x="1371600" y="1479176"/>
            <a:ext cx="6400800" cy="887400"/>
          </a:xfrm>
          <a:prstGeom prst="rect">
            <a:avLst/>
          </a:prstGeom>
          <a:noFill/>
          <a:ln>
            <a:noFill/>
          </a:ln>
        </p:spPr>
        <p:txBody>
          <a:bodyPr spcFirstLastPara="1" wrap="square" lIns="91425" tIns="45700" rIns="91425" bIns="45700" anchor="t" anchorCtr="0">
            <a:normAutofit/>
          </a:bodyPr>
          <a:lstStyle/>
          <a:p>
            <a:pPr marL="342900" marR="0" lvl="0" indent="-342900" algn="ctr" rtl="0">
              <a:lnSpc>
                <a:spcPct val="100000"/>
              </a:lnSpc>
              <a:spcBef>
                <a:spcPts val="0"/>
              </a:spcBef>
              <a:spcAft>
                <a:spcPts val="0"/>
              </a:spcAft>
              <a:buNone/>
            </a:pPr>
            <a:r>
              <a:rPr lang="en" sz="2800" b="1" i="0" u="none" strike="noStrike" cap="none" dirty="0">
                <a:solidFill>
                  <a:srgbClr val="353C5F"/>
                </a:solidFill>
                <a:latin typeface="Calibri"/>
                <a:ea typeface="Calibri"/>
                <a:cs typeface="Calibri"/>
                <a:sym typeface="Calibri"/>
              </a:rPr>
              <a:t>P</a:t>
            </a:r>
            <a:r>
              <a:rPr lang="en" sz="2800" b="1" dirty="0">
                <a:solidFill>
                  <a:srgbClr val="353C5F"/>
                </a:solidFill>
                <a:latin typeface="Calibri"/>
                <a:ea typeface="Calibri"/>
                <a:cs typeface="Calibri"/>
                <a:sym typeface="Calibri"/>
              </a:rPr>
              <a:t>ublic Speaking</a:t>
            </a:r>
            <a:endParaRPr dirty="0"/>
          </a:p>
          <a:p>
            <a:pPr marL="342900" marR="0" lvl="0" indent="-342900" algn="ctr" rtl="0">
              <a:lnSpc>
                <a:spcPct val="100000"/>
              </a:lnSpc>
              <a:spcBef>
                <a:spcPts val="400"/>
              </a:spcBef>
              <a:spcAft>
                <a:spcPts val="0"/>
              </a:spcAft>
              <a:buNone/>
            </a:pPr>
            <a:r>
              <a:rPr lang="en-US" sz="2000" b="1">
                <a:solidFill>
                  <a:srgbClr val="5183B8"/>
                </a:solidFill>
                <a:latin typeface="Calibri"/>
                <a:ea typeface="Calibri"/>
                <a:cs typeface="Calibri"/>
                <a:sym typeface="Calibri"/>
              </a:rPr>
              <a:t>Lecture </a:t>
            </a:r>
            <a:r>
              <a:rPr lang="en-US" sz="2000" b="1" smtClean="0">
                <a:solidFill>
                  <a:srgbClr val="5183B8"/>
                </a:solidFill>
                <a:latin typeface="Calibri"/>
                <a:ea typeface="Calibri"/>
                <a:cs typeface="Calibri"/>
                <a:sym typeface="Calibri"/>
              </a:rPr>
              <a:t>23: </a:t>
            </a:r>
            <a:r>
              <a:rPr lang="en" sz="2000" b="1" dirty="0">
                <a:solidFill>
                  <a:srgbClr val="5183B8"/>
                </a:solidFill>
                <a:latin typeface="Calibri"/>
                <a:ea typeface="Calibri"/>
                <a:cs typeface="Calibri"/>
                <a:sym typeface="Calibri"/>
              </a:rPr>
              <a:t>Proxemics</a:t>
            </a:r>
            <a:endParaRPr sz="2000" b="1" i="0" u="none" strike="noStrike" cap="none" dirty="0">
              <a:solidFill>
                <a:srgbClr val="5183B8"/>
              </a:solidFill>
              <a:latin typeface="Calibri"/>
              <a:ea typeface="Calibri"/>
              <a:cs typeface="Calibri"/>
              <a:sym typeface="Calibri"/>
            </a:endParaRPr>
          </a:p>
        </p:txBody>
      </p:sp>
      <p:sp>
        <p:nvSpPr>
          <p:cNvPr id="131" name="Google Shape;131;p25"/>
          <p:cNvSpPr txBox="1"/>
          <p:nvPr/>
        </p:nvSpPr>
        <p:spPr>
          <a:xfrm>
            <a:off x="1371600" y="2568394"/>
            <a:ext cx="6400800" cy="537900"/>
          </a:xfrm>
          <a:prstGeom prst="rect">
            <a:avLst/>
          </a:prstGeom>
          <a:noFill/>
          <a:ln>
            <a:noFill/>
          </a:ln>
        </p:spPr>
        <p:txBody>
          <a:bodyPr spcFirstLastPara="1" wrap="square" lIns="91425" tIns="45700" rIns="91425" bIns="45700" anchor="t" anchorCtr="0">
            <a:normAutofit/>
          </a:bodyPr>
          <a:lstStyle/>
          <a:p>
            <a:pPr marL="0" marR="0" lvl="0" indent="0" algn="ctr" rtl="0">
              <a:lnSpc>
                <a:spcPct val="100000"/>
              </a:lnSpc>
              <a:spcBef>
                <a:spcPts val="0"/>
              </a:spcBef>
              <a:spcAft>
                <a:spcPts val="0"/>
              </a:spcAft>
              <a:buClr>
                <a:srgbClr val="353C5F"/>
              </a:buClr>
              <a:buSzPts val="1200"/>
              <a:buFont typeface="Arial"/>
              <a:buNone/>
            </a:pPr>
            <a:r>
              <a:rPr lang="en" sz="1200" b="1">
                <a:solidFill>
                  <a:srgbClr val="353C5F"/>
                </a:solidFill>
                <a:latin typeface="Calibri"/>
                <a:ea typeface="Calibri"/>
                <a:cs typeface="Calibri"/>
                <a:sym typeface="Calibri"/>
              </a:rPr>
              <a:t>Prof. Binod Mishra</a:t>
            </a:r>
            <a:endParaRPr/>
          </a:p>
          <a:p>
            <a:pPr marL="0" marR="0" lvl="0" indent="0" algn="ctr" rtl="0">
              <a:lnSpc>
                <a:spcPct val="100000"/>
              </a:lnSpc>
              <a:spcBef>
                <a:spcPts val="180"/>
              </a:spcBef>
              <a:spcAft>
                <a:spcPts val="0"/>
              </a:spcAft>
              <a:buClr>
                <a:srgbClr val="5183B8"/>
              </a:buClr>
              <a:buSzPts val="900"/>
              <a:buFont typeface="Arial"/>
              <a:buNone/>
            </a:pPr>
            <a:r>
              <a:rPr lang="en" sz="900" b="1" i="0" u="none" strike="noStrike" cap="none">
                <a:solidFill>
                  <a:srgbClr val="5183B8"/>
                </a:solidFill>
                <a:latin typeface="Calibri"/>
                <a:ea typeface="Calibri"/>
                <a:cs typeface="Calibri"/>
                <a:sym typeface="Calibri"/>
              </a:rPr>
              <a:t>DEPARTMENT </a:t>
            </a:r>
            <a:r>
              <a:rPr lang="en" sz="900" b="1">
                <a:solidFill>
                  <a:srgbClr val="5183B8"/>
                </a:solidFill>
                <a:latin typeface="Calibri"/>
                <a:ea typeface="Calibri"/>
                <a:cs typeface="Calibri"/>
                <a:sym typeface="Calibri"/>
              </a:rPr>
              <a:t>OF HUMANITIES AND SOCIAL SCIENCES</a:t>
            </a:r>
            <a:endParaRPr sz="900" b="1" i="0" u="none" strike="noStrike" cap="none">
              <a:solidFill>
                <a:srgbClr val="5183B8"/>
              </a:solidFill>
              <a:latin typeface="Calibri"/>
              <a:ea typeface="Calibri"/>
              <a:cs typeface="Calibri"/>
              <a:sym typeface="Calibri"/>
            </a:endParaRPr>
          </a:p>
        </p:txBody>
      </p:sp>
      <p:sp>
        <p:nvSpPr>
          <p:cNvPr id="132" name="Google Shape;132;p25"/>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a:t>
            </a:fld>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6"/>
          <p:cNvSpPr txBox="1">
            <a:spLocks noGrp="1"/>
          </p:cNvSpPr>
          <p:nvPr>
            <p:ph type="title"/>
          </p:nvPr>
        </p:nvSpPr>
        <p:spPr>
          <a:xfrm>
            <a:off x="457200" y="545839"/>
            <a:ext cx="3247500" cy="3895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a:solidFill>
                  <a:schemeClr val="dk2"/>
                </a:solidFill>
              </a:rPr>
              <a:t>“Language has time as its element, all other media have space as their element.”</a:t>
            </a:r>
            <a:br>
              <a:rPr lang="en" sz="2800">
                <a:solidFill>
                  <a:schemeClr val="dk2"/>
                </a:solidFill>
              </a:rPr>
            </a:br>
            <a:r>
              <a:rPr lang="en" sz="2800">
                <a:solidFill>
                  <a:schemeClr val="dk2"/>
                </a:solidFill>
              </a:rPr>
              <a:t>- Soren Kierkegaard</a:t>
            </a:r>
            <a:endParaRPr sz="2800">
              <a:solidFill>
                <a:schemeClr val="dk2"/>
              </a:solidFill>
            </a:endParaRPr>
          </a:p>
        </p:txBody>
      </p:sp>
      <p:sp>
        <p:nvSpPr>
          <p:cNvPr id="138" name="Google Shape;138;p26"/>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2</a:t>
            </a:fld>
            <a:endParaRPr/>
          </a:p>
        </p:txBody>
      </p:sp>
      <p:pic>
        <p:nvPicPr>
          <p:cNvPr id="139" name="Google Shape;139;p26"/>
          <p:cNvPicPr preferRelativeResize="0"/>
          <p:nvPr/>
        </p:nvPicPr>
        <p:blipFill>
          <a:blip r:embed="rId3">
            <a:alphaModFix/>
          </a:blip>
          <a:stretch>
            <a:fillRect/>
          </a:stretch>
        </p:blipFill>
        <p:spPr>
          <a:xfrm>
            <a:off x="5607235" y="459124"/>
            <a:ext cx="2837990" cy="3895199"/>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7"/>
          <p:cNvSpPr txBox="1">
            <a:spLocks noGrp="1"/>
          </p:cNvSpPr>
          <p:nvPr>
            <p:ph type="title"/>
          </p:nvPr>
        </p:nvSpPr>
        <p:spPr>
          <a:xfrm>
            <a:off x="457200" y="205978"/>
            <a:ext cx="8229600" cy="492832"/>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 sz="2800" dirty="0">
                <a:solidFill>
                  <a:schemeClr val="dk2"/>
                </a:solidFill>
              </a:rPr>
              <a:t>Introduction</a:t>
            </a:r>
            <a:endParaRPr sz="2800" dirty="0">
              <a:solidFill>
                <a:schemeClr val="dk2"/>
              </a:solidFill>
            </a:endParaRPr>
          </a:p>
        </p:txBody>
      </p:sp>
      <p:sp>
        <p:nvSpPr>
          <p:cNvPr id="145" name="Google Shape;145;p27"/>
          <p:cNvSpPr txBox="1">
            <a:spLocks noGrp="1"/>
          </p:cNvSpPr>
          <p:nvPr>
            <p:ph type="body" idx="1"/>
          </p:nvPr>
        </p:nvSpPr>
        <p:spPr>
          <a:xfrm>
            <a:off x="59473" y="564995"/>
            <a:ext cx="4878227" cy="4103649"/>
          </a:xfrm>
          <a:prstGeom prst="rect">
            <a:avLst/>
          </a:prstGeom>
          <a:noFill/>
          <a:ln>
            <a:noFill/>
          </a:ln>
        </p:spPr>
        <p:txBody>
          <a:bodyPr spcFirstLastPara="1" wrap="square" lIns="91425" tIns="45700" rIns="91425" bIns="45700" anchor="t" anchorCtr="0">
            <a:normAutofit fontScale="70000" lnSpcReduction="20000"/>
          </a:bodyPr>
          <a:lstStyle/>
          <a:p>
            <a:pPr marL="342900" lvl="0" algn="l" rtl="0">
              <a:lnSpc>
                <a:spcPct val="160000"/>
              </a:lnSpc>
              <a:spcBef>
                <a:spcPts val="1000"/>
              </a:spcBef>
              <a:spcAft>
                <a:spcPts val="0"/>
              </a:spcAft>
              <a:buClr>
                <a:schemeClr val="dk1"/>
              </a:buClr>
              <a:buSzPct val="55000"/>
              <a:buFont typeface="Wingdings" panose="05000000000000000000" pitchFamily="2" charset="2"/>
              <a:buChar char="v"/>
            </a:pPr>
            <a:r>
              <a:rPr lang="en" sz="2000" dirty="0" smtClean="0">
                <a:latin typeface="Arial"/>
                <a:ea typeface="Arial"/>
                <a:cs typeface="Arial"/>
                <a:sym typeface="Arial"/>
              </a:rPr>
              <a:t> </a:t>
            </a:r>
            <a:r>
              <a:rPr lang="en" sz="2300" dirty="0">
                <a:latin typeface="Calibri" panose="020F0502020204030204" pitchFamily="34" charset="0"/>
              </a:rPr>
              <a:t>A term coined by cultural anthropologist Edward T. Hall in his book </a:t>
            </a:r>
            <a:r>
              <a:rPr lang="en" sz="2300" i="1" dirty="0">
                <a:latin typeface="Calibri" panose="020F0502020204030204" pitchFamily="34" charset="0"/>
              </a:rPr>
              <a:t>The Hidden Dimension, </a:t>
            </a:r>
            <a:r>
              <a:rPr lang="en" sz="2300" dirty="0">
                <a:latin typeface="Calibri" panose="020F0502020204030204" pitchFamily="34" charset="0"/>
              </a:rPr>
              <a:t>written in 1963.</a:t>
            </a:r>
            <a:endParaRPr sz="2300" dirty="0">
              <a:latin typeface="Calibri" panose="020F0502020204030204" pitchFamily="34" charset="0"/>
            </a:endParaRPr>
          </a:p>
          <a:p>
            <a:pPr marL="342900" lvl="0" algn="l" rtl="0">
              <a:lnSpc>
                <a:spcPct val="160000"/>
              </a:lnSpc>
              <a:spcBef>
                <a:spcPts val="1000"/>
              </a:spcBef>
              <a:spcAft>
                <a:spcPts val="0"/>
              </a:spcAft>
              <a:buClr>
                <a:schemeClr val="dk1"/>
              </a:buClr>
              <a:buSzPct val="55000"/>
              <a:buFont typeface="Wingdings" panose="05000000000000000000" pitchFamily="2" charset="2"/>
              <a:buChar char="v"/>
            </a:pPr>
            <a:r>
              <a:rPr lang="en" sz="2300" dirty="0" smtClean="0">
                <a:latin typeface="Calibri" panose="020F0502020204030204" pitchFamily="34" charset="0"/>
              </a:rPr>
              <a:t>It </a:t>
            </a:r>
            <a:r>
              <a:rPr lang="en" sz="2300" dirty="0">
                <a:latin typeface="Calibri" panose="020F0502020204030204" pitchFamily="34" charset="0"/>
              </a:rPr>
              <a:t>is about </a:t>
            </a:r>
            <a:r>
              <a:rPr lang="en-US" sz="2300" dirty="0">
                <a:latin typeface="Calibri" panose="020F0502020204030204" pitchFamily="34" charset="0"/>
              </a:rPr>
              <a:t>how</a:t>
            </a:r>
            <a:r>
              <a:rPr lang="en" sz="2300" dirty="0">
                <a:latin typeface="Calibri" panose="020F0502020204030204" pitchFamily="34" charset="0"/>
              </a:rPr>
              <a:t> people understand and use space in a cultural context.</a:t>
            </a:r>
            <a:endParaRPr sz="2300" dirty="0">
              <a:latin typeface="Calibri" panose="020F0502020204030204" pitchFamily="34" charset="0"/>
            </a:endParaRPr>
          </a:p>
          <a:p>
            <a:pPr marL="342900" lvl="0">
              <a:lnSpc>
                <a:spcPct val="160000"/>
              </a:lnSpc>
              <a:spcBef>
                <a:spcPts val="1000"/>
              </a:spcBef>
              <a:buSzPct val="55000"/>
              <a:buFont typeface="Wingdings" panose="05000000000000000000" pitchFamily="2" charset="2"/>
              <a:buChar char="v"/>
            </a:pPr>
            <a:r>
              <a:rPr lang="en" sz="2300" dirty="0" smtClean="0">
                <a:latin typeface="Calibri" panose="020F0502020204030204" pitchFamily="34" charset="0"/>
              </a:rPr>
              <a:t>While </a:t>
            </a:r>
            <a:r>
              <a:rPr lang="en" sz="2300" dirty="0">
                <a:latin typeface="Calibri" panose="020F0502020204030204" pitchFamily="34" charset="0"/>
              </a:rPr>
              <a:t>talking about human perceptions of social space and personal space, Hall defines </a:t>
            </a:r>
            <a:r>
              <a:rPr lang="en" sz="2300" dirty="0">
                <a:solidFill>
                  <a:schemeClr val="dk2"/>
                </a:solidFill>
                <a:latin typeface="Calibri" panose="020F0502020204030204" pitchFamily="34" charset="0"/>
              </a:rPr>
              <a:t>proxemics </a:t>
            </a:r>
            <a:r>
              <a:rPr lang="en" sz="2300" dirty="0" smtClean="0">
                <a:latin typeface="Calibri" panose="020F0502020204030204" pitchFamily="34" charset="0"/>
              </a:rPr>
              <a:t>as“the </a:t>
            </a:r>
            <a:r>
              <a:rPr lang="en" sz="2300" dirty="0">
                <a:latin typeface="Calibri" panose="020F0502020204030204" pitchFamily="34" charset="0"/>
              </a:rPr>
              <a:t>interrelated observations and theories of man's use of space as a </a:t>
            </a:r>
            <a:r>
              <a:rPr lang="en-US" sz="2300" dirty="0">
                <a:latin typeface="Calibri" panose="020F0502020204030204" pitchFamily="34" charset="0"/>
              </a:rPr>
              <a:t>specialized</a:t>
            </a:r>
            <a:r>
              <a:rPr lang="en" sz="2300" dirty="0">
                <a:latin typeface="Calibri" panose="020F0502020204030204" pitchFamily="34" charset="0"/>
              </a:rPr>
              <a:t> elaboration of culture” (Hall 1)</a:t>
            </a:r>
            <a:endParaRPr sz="2300" dirty="0">
              <a:latin typeface="Calibri" panose="020F0502020204030204" pitchFamily="34" charset="0"/>
            </a:endParaRPr>
          </a:p>
          <a:p>
            <a:pPr marL="342900" lvl="0" indent="-139700" algn="l" rtl="0">
              <a:spcBef>
                <a:spcPts val="0"/>
              </a:spcBef>
              <a:spcAft>
                <a:spcPts val="0"/>
              </a:spcAft>
              <a:buClr>
                <a:schemeClr val="dk1"/>
              </a:buClr>
              <a:buSzPct val="160000"/>
              <a:buNone/>
            </a:pPr>
            <a:endParaRPr sz="2000" dirty="0"/>
          </a:p>
        </p:txBody>
      </p:sp>
      <p:sp>
        <p:nvSpPr>
          <p:cNvPr id="146" name="Google Shape;146;p27"/>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3</a:t>
            </a:fld>
            <a:endParaRPr/>
          </a:p>
        </p:txBody>
      </p:sp>
      <p:pic>
        <p:nvPicPr>
          <p:cNvPr id="147" name="Google Shape;147;p27"/>
          <p:cNvPicPr preferRelativeResize="0"/>
          <p:nvPr/>
        </p:nvPicPr>
        <p:blipFill>
          <a:blip r:embed="rId3">
            <a:alphaModFix/>
          </a:blip>
          <a:stretch>
            <a:fillRect/>
          </a:stretch>
        </p:blipFill>
        <p:spPr>
          <a:xfrm>
            <a:off x="3502692" y="4066237"/>
            <a:ext cx="2076895" cy="618258"/>
          </a:xfrm>
          <a:prstGeom prst="rect">
            <a:avLst/>
          </a:prstGeom>
          <a:noFill/>
          <a:ln>
            <a:noFill/>
          </a:ln>
        </p:spPr>
      </p:pic>
      <p:pic>
        <p:nvPicPr>
          <p:cNvPr id="148" name="Google Shape;148;p27"/>
          <p:cNvPicPr preferRelativeResize="0"/>
          <p:nvPr/>
        </p:nvPicPr>
        <p:blipFill>
          <a:blip r:embed="rId4">
            <a:alphaModFix/>
          </a:blip>
          <a:stretch>
            <a:fillRect/>
          </a:stretch>
        </p:blipFill>
        <p:spPr>
          <a:xfrm>
            <a:off x="4998075" y="1716599"/>
            <a:ext cx="1499950" cy="2159950"/>
          </a:xfrm>
          <a:prstGeom prst="rect">
            <a:avLst/>
          </a:prstGeom>
          <a:noFill/>
          <a:ln>
            <a:noFill/>
          </a:ln>
        </p:spPr>
      </p:pic>
      <p:pic>
        <p:nvPicPr>
          <p:cNvPr id="149" name="Google Shape;149;p27"/>
          <p:cNvPicPr preferRelativeResize="0"/>
          <p:nvPr/>
        </p:nvPicPr>
        <p:blipFill>
          <a:blip r:embed="rId5">
            <a:alphaModFix/>
          </a:blip>
          <a:stretch>
            <a:fillRect/>
          </a:stretch>
        </p:blipFill>
        <p:spPr>
          <a:xfrm>
            <a:off x="6650425" y="872203"/>
            <a:ext cx="2196561" cy="3399085"/>
          </a:xfrm>
          <a:prstGeom prst="rect">
            <a:avLst/>
          </a:prstGeom>
          <a:noFill/>
          <a:ln>
            <a:noFill/>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8"/>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a:solidFill>
                  <a:schemeClr val="dk2"/>
                </a:solidFill>
              </a:rPr>
              <a:t>Proxemics: Space, Culture &amp; Communication</a:t>
            </a:r>
            <a:endParaRPr sz="2800">
              <a:solidFill>
                <a:schemeClr val="dk2"/>
              </a:solidFill>
            </a:endParaRPr>
          </a:p>
        </p:txBody>
      </p:sp>
      <p:sp>
        <p:nvSpPr>
          <p:cNvPr id="155" name="Google Shape;155;p28"/>
          <p:cNvSpPr txBox="1">
            <a:spLocks noGrp="1"/>
          </p:cNvSpPr>
          <p:nvPr>
            <p:ph type="body" idx="1"/>
          </p:nvPr>
        </p:nvSpPr>
        <p:spPr>
          <a:xfrm>
            <a:off x="118946" y="921834"/>
            <a:ext cx="4847064" cy="3672816"/>
          </a:xfrm>
          <a:prstGeom prst="rect">
            <a:avLst/>
          </a:prstGeom>
          <a:noFill/>
          <a:ln>
            <a:noFill/>
          </a:ln>
        </p:spPr>
        <p:txBody>
          <a:bodyPr spcFirstLastPara="1" wrap="square" lIns="91425" tIns="45700" rIns="91425" bIns="45700" anchor="t" anchorCtr="0">
            <a:normAutofit fontScale="77500" lnSpcReduction="20000"/>
          </a:bodyPr>
          <a:lstStyle/>
          <a:p>
            <a:pPr marL="342900" lvl="0" algn="l" rtl="0">
              <a:lnSpc>
                <a:spcPct val="170000"/>
              </a:lnSpc>
              <a:spcBef>
                <a:spcPts val="1000"/>
              </a:spcBef>
              <a:spcAft>
                <a:spcPts val="0"/>
              </a:spcAft>
              <a:buClr>
                <a:schemeClr val="dk1"/>
              </a:buClr>
              <a:buSzPct val="55000"/>
              <a:buFont typeface="Wingdings" panose="05000000000000000000" pitchFamily="2" charset="2"/>
              <a:buChar char="§"/>
            </a:pPr>
            <a:r>
              <a:rPr lang="en" sz="2000" dirty="0" smtClean="0"/>
              <a:t>Spatial </a:t>
            </a:r>
            <a:r>
              <a:rPr lang="en" sz="2000" dirty="0"/>
              <a:t>C</a:t>
            </a:r>
            <a:r>
              <a:rPr lang="en" sz="2000" dirty="0" smtClean="0"/>
              <a:t>ommunication</a:t>
            </a:r>
            <a:endParaRPr sz="2000" dirty="0"/>
          </a:p>
          <a:p>
            <a:pPr marL="342900" lvl="0" algn="l" rtl="0">
              <a:lnSpc>
                <a:spcPct val="170000"/>
              </a:lnSpc>
              <a:spcBef>
                <a:spcPts val="1000"/>
              </a:spcBef>
              <a:spcAft>
                <a:spcPts val="0"/>
              </a:spcAft>
              <a:buClr>
                <a:schemeClr val="dk1"/>
              </a:buClr>
              <a:buSzPct val="55000"/>
              <a:buFont typeface="Wingdings" panose="05000000000000000000" pitchFamily="2" charset="2"/>
              <a:buChar char="§"/>
            </a:pPr>
            <a:r>
              <a:rPr lang="en-US" sz="2000" dirty="0" smtClean="0"/>
              <a:t>Close </a:t>
            </a:r>
            <a:r>
              <a:rPr lang="en-US" sz="2000" dirty="0"/>
              <a:t>study</a:t>
            </a:r>
            <a:r>
              <a:rPr lang="en" sz="2000" dirty="0"/>
              <a:t>/ Awareness of physical </a:t>
            </a:r>
            <a:r>
              <a:rPr lang="en" sz="2000" dirty="0" smtClean="0"/>
              <a:t>space</a:t>
            </a:r>
            <a:endParaRPr sz="2000" dirty="0"/>
          </a:p>
          <a:p>
            <a:pPr marL="342900" lvl="0" algn="l" rtl="0">
              <a:lnSpc>
                <a:spcPct val="170000"/>
              </a:lnSpc>
              <a:spcBef>
                <a:spcPts val="1000"/>
              </a:spcBef>
              <a:spcAft>
                <a:spcPts val="0"/>
              </a:spcAft>
              <a:buClr>
                <a:schemeClr val="dk1"/>
              </a:buClr>
              <a:buSzPct val="55000"/>
              <a:buFont typeface="Wingdings" panose="05000000000000000000" pitchFamily="2" charset="2"/>
              <a:buChar char="§"/>
            </a:pPr>
            <a:r>
              <a:rPr lang="en" sz="2000" dirty="0" smtClean="0"/>
              <a:t>Behavioral norms</a:t>
            </a:r>
            <a:endParaRPr lang="en" sz="2000" dirty="0"/>
          </a:p>
          <a:p>
            <a:pPr marL="342900" lvl="0" algn="l" rtl="0">
              <a:lnSpc>
                <a:spcPct val="170000"/>
              </a:lnSpc>
              <a:spcBef>
                <a:spcPts val="1000"/>
              </a:spcBef>
              <a:spcAft>
                <a:spcPts val="0"/>
              </a:spcAft>
              <a:buClr>
                <a:schemeClr val="dk1"/>
              </a:buClr>
              <a:buSzPct val="55000"/>
              <a:buFont typeface="Wingdings" panose="05000000000000000000" pitchFamily="2" charset="2"/>
              <a:buChar char="§"/>
            </a:pPr>
            <a:r>
              <a:rPr lang="en" sz="2000" dirty="0" smtClean="0"/>
              <a:t>Cultural variations</a:t>
            </a:r>
            <a:endParaRPr sz="2000" dirty="0"/>
          </a:p>
          <a:p>
            <a:pPr marL="0" lvl="0" indent="0">
              <a:lnSpc>
                <a:spcPct val="170000"/>
              </a:lnSpc>
              <a:spcBef>
                <a:spcPts val="1000"/>
              </a:spcBef>
              <a:buSzPct val="55000"/>
              <a:buNone/>
            </a:pPr>
            <a:r>
              <a:rPr lang="en" sz="2000" dirty="0">
                <a:latin typeface="Arial"/>
                <a:ea typeface="Arial"/>
                <a:cs typeface="Arial"/>
                <a:sym typeface="Arial"/>
              </a:rPr>
              <a:t>• </a:t>
            </a:r>
            <a:r>
              <a:rPr lang="en" sz="2000" dirty="0"/>
              <a:t>Proxemics, as a field of non-verbal communication, tries to ground the </a:t>
            </a:r>
            <a:r>
              <a:rPr lang="en" sz="2000" dirty="0" smtClean="0"/>
              <a:t>relationship“between </a:t>
            </a:r>
            <a:r>
              <a:rPr lang="en" sz="2000" dirty="0"/>
              <a:t>man and the cultural dimension is one in which both </a:t>
            </a:r>
            <a:r>
              <a:rPr lang="en" sz="2000" i="1" dirty="0">
                <a:solidFill>
                  <a:schemeClr val="dk2"/>
                </a:solidFill>
              </a:rPr>
              <a:t>man and his environment participate in </a:t>
            </a:r>
            <a:r>
              <a:rPr lang="en-US" sz="2000" i="1" dirty="0" err="1">
                <a:solidFill>
                  <a:schemeClr val="dk2"/>
                </a:solidFill>
              </a:rPr>
              <a:t>moulding</a:t>
            </a:r>
            <a:r>
              <a:rPr lang="en" sz="2000" i="1" dirty="0">
                <a:solidFill>
                  <a:schemeClr val="dk2"/>
                </a:solidFill>
              </a:rPr>
              <a:t> each othe</a:t>
            </a:r>
            <a:r>
              <a:rPr lang="en" sz="2000" i="1" dirty="0"/>
              <a:t>r</a:t>
            </a:r>
            <a:r>
              <a:rPr lang="en" sz="2000" dirty="0"/>
              <a:t>” (Hall 4)</a:t>
            </a:r>
            <a:endParaRPr sz="2000" dirty="0"/>
          </a:p>
          <a:p>
            <a:pPr marL="342900" lvl="0" indent="-139700" algn="l" rtl="0">
              <a:spcBef>
                <a:spcPts val="0"/>
              </a:spcBef>
              <a:spcAft>
                <a:spcPts val="0"/>
              </a:spcAft>
              <a:buClr>
                <a:schemeClr val="dk1"/>
              </a:buClr>
              <a:buSzPct val="160000"/>
              <a:buNone/>
            </a:pPr>
            <a:endParaRPr sz="2000" dirty="0"/>
          </a:p>
        </p:txBody>
      </p:sp>
      <p:sp>
        <p:nvSpPr>
          <p:cNvPr id="156" name="Google Shape;156;p28"/>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4</a:t>
            </a:fld>
            <a:endParaRPr/>
          </a:p>
        </p:txBody>
      </p:sp>
      <p:pic>
        <p:nvPicPr>
          <p:cNvPr id="157" name="Google Shape;157;p28"/>
          <p:cNvPicPr preferRelativeResize="0"/>
          <p:nvPr/>
        </p:nvPicPr>
        <p:blipFill>
          <a:blip r:embed="rId3">
            <a:alphaModFix/>
          </a:blip>
          <a:stretch>
            <a:fillRect/>
          </a:stretch>
        </p:blipFill>
        <p:spPr>
          <a:xfrm>
            <a:off x="4979700" y="1215778"/>
            <a:ext cx="4011899" cy="3318712"/>
          </a:xfrm>
          <a:prstGeom prst="rect">
            <a:avLst/>
          </a:prstGeom>
          <a:noFill/>
          <a:ln>
            <a:noFill/>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9"/>
          <p:cNvSpPr txBox="1">
            <a:spLocks noGrp="1"/>
          </p:cNvSpPr>
          <p:nvPr>
            <p:ph type="title"/>
          </p:nvPr>
        </p:nvSpPr>
        <p:spPr>
          <a:xfrm>
            <a:off x="457200" y="205978"/>
            <a:ext cx="8229600" cy="433359"/>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ts val="4400"/>
              <a:buFont typeface="Calibri"/>
              <a:buNone/>
            </a:pPr>
            <a:r>
              <a:rPr lang="en" sz="2800" dirty="0">
                <a:solidFill>
                  <a:schemeClr val="dk2"/>
                </a:solidFill>
              </a:rPr>
              <a:t>Communication across S</a:t>
            </a:r>
            <a:r>
              <a:rPr lang="en" sz="2800" dirty="0" smtClean="0">
                <a:solidFill>
                  <a:schemeClr val="dk2"/>
                </a:solidFill>
              </a:rPr>
              <a:t>paces</a:t>
            </a:r>
            <a:endParaRPr sz="2800" dirty="0">
              <a:solidFill>
                <a:schemeClr val="dk2"/>
              </a:solidFill>
            </a:endParaRPr>
          </a:p>
        </p:txBody>
      </p:sp>
      <p:sp>
        <p:nvSpPr>
          <p:cNvPr id="163" name="Google Shape;163;p29"/>
          <p:cNvSpPr txBox="1">
            <a:spLocks noGrp="1"/>
          </p:cNvSpPr>
          <p:nvPr>
            <p:ph type="body" idx="1"/>
          </p:nvPr>
        </p:nvSpPr>
        <p:spPr>
          <a:xfrm>
            <a:off x="230459" y="617034"/>
            <a:ext cx="5507641" cy="3977616"/>
          </a:xfrm>
          <a:prstGeom prst="rect">
            <a:avLst/>
          </a:prstGeom>
          <a:noFill/>
          <a:ln>
            <a:noFill/>
          </a:ln>
        </p:spPr>
        <p:txBody>
          <a:bodyPr spcFirstLastPara="1" wrap="square" lIns="91425" tIns="45700" rIns="91425" bIns="45700" anchor="t" anchorCtr="0">
            <a:normAutofit fontScale="77500" lnSpcReduction="20000"/>
          </a:bodyPr>
          <a:lstStyle/>
          <a:p>
            <a:pPr marL="457200" lvl="0" indent="-346075" algn="l" rtl="0">
              <a:lnSpc>
                <a:spcPct val="170000"/>
              </a:lnSpc>
              <a:spcBef>
                <a:spcPts val="0"/>
              </a:spcBef>
              <a:spcAft>
                <a:spcPts val="0"/>
              </a:spcAft>
              <a:buSzPct val="100000"/>
              <a:buAutoNum type="arabicPeriod"/>
            </a:pPr>
            <a:r>
              <a:rPr lang="en" sz="2000" dirty="0"/>
              <a:t>Edward Hall divided </a:t>
            </a:r>
            <a:r>
              <a:rPr lang="en-US" sz="2000" dirty="0"/>
              <a:t>human</a:t>
            </a:r>
            <a:r>
              <a:rPr lang="en" sz="2000" dirty="0"/>
              <a:t> perception of spatiality into two broad categories namely:</a:t>
            </a:r>
            <a:endParaRPr sz="2000" dirty="0"/>
          </a:p>
          <a:p>
            <a:pPr marL="914400" lvl="1" indent="-322580" algn="l" rtl="0">
              <a:lnSpc>
                <a:spcPct val="170000"/>
              </a:lnSpc>
              <a:spcBef>
                <a:spcPts val="0"/>
              </a:spcBef>
              <a:spcAft>
                <a:spcPts val="0"/>
              </a:spcAft>
              <a:buSzPct val="100000"/>
              <a:buAutoNum type="alphaLcPeriod"/>
            </a:pPr>
            <a:r>
              <a:rPr lang="en" sz="1600" dirty="0"/>
              <a:t>Personal Space</a:t>
            </a:r>
            <a:endParaRPr sz="1600" dirty="0"/>
          </a:p>
          <a:p>
            <a:pPr marL="914400" lvl="1" indent="-322580" algn="l" rtl="0">
              <a:lnSpc>
                <a:spcPct val="170000"/>
              </a:lnSpc>
              <a:spcBef>
                <a:spcPts val="0"/>
              </a:spcBef>
              <a:spcAft>
                <a:spcPts val="0"/>
              </a:spcAft>
              <a:buSzPct val="100000"/>
              <a:buAutoNum type="alphaLcPeriod"/>
            </a:pPr>
            <a:r>
              <a:rPr lang="en" sz="1600" dirty="0"/>
              <a:t>Territory</a:t>
            </a:r>
            <a:endParaRPr sz="1600" dirty="0"/>
          </a:p>
          <a:p>
            <a:pPr marL="457200" lvl="0" indent="-340201" algn="l" rtl="0">
              <a:lnSpc>
                <a:spcPct val="170000"/>
              </a:lnSpc>
              <a:spcBef>
                <a:spcPts val="0"/>
              </a:spcBef>
              <a:spcAft>
                <a:spcPts val="0"/>
              </a:spcAft>
              <a:buSzPct val="100000"/>
              <a:buAutoNum type="arabicPeriod"/>
            </a:pPr>
            <a:r>
              <a:rPr lang="en" sz="1900" dirty="0"/>
              <a:t>Personal space is understood as the distance at which the individual could be touched physically.</a:t>
            </a:r>
            <a:endParaRPr sz="1900" dirty="0"/>
          </a:p>
          <a:p>
            <a:pPr marL="0" lvl="0" indent="0" algn="l" rtl="0">
              <a:lnSpc>
                <a:spcPct val="170000"/>
              </a:lnSpc>
              <a:spcBef>
                <a:spcPts val="0"/>
              </a:spcBef>
              <a:spcAft>
                <a:spcPts val="0"/>
              </a:spcAft>
              <a:buNone/>
            </a:pPr>
            <a:r>
              <a:rPr lang="en" sz="1900" dirty="0">
                <a:solidFill>
                  <a:schemeClr val="bg2"/>
                </a:solidFill>
              </a:rPr>
              <a:t>“the man’s boundary begins and ends with his skin.” </a:t>
            </a:r>
            <a:r>
              <a:rPr lang="en" sz="1900" dirty="0"/>
              <a:t>(Hall 115)</a:t>
            </a:r>
            <a:endParaRPr sz="1900" dirty="0"/>
          </a:p>
          <a:p>
            <a:pPr marL="459899" lvl="0" algn="l" rtl="0">
              <a:lnSpc>
                <a:spcPct val="170000"/>
              </a:lnSpc>
              <a:spcBef>
                <a:spcPts val="0"/>
              </a:spcBef>
              <a:spcAft>
                <a:spcPts val="0"/>
              </a:spcAft>
              <a:buSzPct val="100000"/>
              <a:buFont typeface="Wingdings" panose="05000000000000000000" pitchFamily="2" charset="2"/>
              <a:buChar char="q"/>
            </a:pPr>
            <a:r>
              <a:rPr lang="en" sz="1900" dirty="0"/>
              <a:t>Meanwhile, the concept of “territory” is associated with animals and birds.</a:t>
            </a:r>
            <a:endParaRPr sz="1900" dirty="0"/>
          </a:p>
          <a:p>
            <a:pPr marL="459899" lvl="0" algn="l" rtl="0">
              <a:lnSpc>
                <a:spcPct val="170000"/>
              </a:lnSpc>
              <a:spcBef>
                <a:spcPts val="0"/>
              </a:spcBef>
              <a:spcAft>
                <a:spcPts val="0"/>
              </a:spcAft>
              <a:buSzPct val="100000"/>
              <a:buFont typeface="Wingdings" panose="05000000000000000000" pitchFamily="2" charset="2"/>
              <a:buChar char="q"/>
            </a:pPr>
            <a:r>
              <a:rPr lang="en" sz="1900" dirty="0"/>
              <a:t>Territory suggests the critical distance around which “flight-or-fight reaction” takes place.</a:t>
            </a:r>
            <a:endParaRPr sz="2000" dirty="0"/>
          </a:p>
        </p:txBody>
      </p:sp>
      <p:sp>
        <p:nvSpPr>
          <p:cNvPr id="164" name="Google Shape;164;p2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5</a:t>
            </a:fld>
            <a:endParaRPr/>
          </a:p>
        </p:txBody>
      </p:sp>
      <p:pic>
        <p:nvPicPr>
          <p:cNvPr id="165" name="Google Shape;165;p29"/>
          <p:cNvPicPr preferRelativeResize="0"/>
          <p:nvPr/>
        </p:nvPicPr>
        <p:blipFill>
          <a:blip r:embed="rId3">
            <a:alphaModFix/>
          </a:blip>
          <a:stretch>
            <a:fillRect/>
          </a:stretch>
        </p:blipFill>
        <p:spPr>
          <a:xfrm>
            <a:off x="5738100" y="572430"/>
            <a:ext cx="3101100" cy="3561386"/>
          </a:xfrm>
          <a:prstGeom prst="rect">
            <a:avLst/>
          </a:prstGeom>
          <a:noFill/>
          <a:ln>
            <a:noFill/>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pic>
        <p:nvPicPr>
          <p:cNvPr id="172" name="Google Shape;172;p30"/>
          <p:cNvPicPr preferRelativeResize="0"/>
          <p:nvPr/>
        </p:nvPicPr>
        <p:blipFill>
          <a:blip r:embed="rId3">
            <a:alphaModFix/>
          </a:blip>
          <a:stretch>
            <a:fillRect/>
          </a:stretch>
        </p:blipFill>
        <p:spPr>
          <a:xfrm>
            <a:off x="1060600" y="915576"/>
            <a:ext cx="7278399" cy="3699300"/>
          </a:xfrm>
          <a:prstGeom prst="rect">
            <a:avLst/>
          </a:prstGeom>
          <a:noFill/>
          <a:ln>
            <a:noFill/>
          </a:ln>
        </p:spPr>
      </p:pic>
      <p:sp>
        <p:nvSpPr>
          <p:cNvPr id="170" name="Google Shape;170;p30"/>
          <p:cNvSpPr txBox="1">
            <a:spLocks noGrp="1"/>
          </p:cNvSpPr>
          <p:nvPr>
            <p:ph type="title"/>
          </p:nvPr>
        </p:nvSpPr>
        <p:spPr>
          <a:xfrm>
            <a:off x="3349254" y="184713"/>
            <a:ext cx="2133601" cy="857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dirty="0">
                <a:solidFill>
                  <a:schemeClr val="dk2"/>
                </a:solidFill>
              </a:rPr>
              <a:t>Space Zones</a:t>
            </a:r>
            <a:endParaRPr sz="2800" dirty="0">
              <a:solidFill>
                <a:schemeClr val="dk2"/>
              </a:solidFill>
            </a:endParaRPr>
          </a:p>
        </p:txBody>
      </p:sp>
      <p:sp>
        <p:nvSpPr>
          <p:cNvPr id="171" name="Google Shape;171;p3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6</a:t>
            </a:fld>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31"/>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dirty="0">
                <a:solidFill>
                  <a:schemeClr val="dk2"/>
                </a:solidFill>
              </a:rPr>
              <a:t>Intimate distance</a:t>
            </a:r>
            <a:endParaRPr sz="2800" dirty="0">
              <a:solidFill>
                <a:schemeClr val="dk2"/>
              </a:solidFill>
            </a:endParaRPr>
          </a:p>
        </p:txBody>
      </p:sp>
      <p:sp>
        <p:nvSpPr>
          <p:cNvPr id="178" name="Google Shape;178;p31"/>
          <p:cNvSpPr txBox="1">
            <a:spLocks noGrp="1"/>
          </p:cNvSpPr>
          <p:nvPr>
            <p:ph type="body" idx="1"/>
          </p:nvPr>
        </p:nvSpPr>
        <p:spPr>
          <a:xfrm>
            <a:off x="457200" y="878958"/>
            <a:ext cx="5673300" cy="3715692"/>
          </a:xfrm>
          <a:prstGeom prst="rect">
            <a:avLst/>
          </a:prstGeom>
          <a:noFill/>
          <a:ln>
            <a:noFill/>
          </a:ln>
        </p:spPr>
        <p:txBody>
          <a:bodyPr spcFirstLastPara="1" wrap="square" lIns="91425" tIns="45700" rIns="91425" bIns="45700" anchor="t" anchorCtr="0">
            <a:normAutofit fontScale="92500" lnSpcReduction="20000"/>
          </a:bodyPr>
          <a:lstStyle/>
          <a:p>
            <a:pPr marL="457200" lvl="0" indent="-355600" algn="l" rtl="0">
              <a:lnSpc>
                <a:spcPct val="150000"/>
              </a:lnSpc>
              <a:spcBef>
                <a:spcPts val="1000"/>
              </a:spcBef>
              <a:spcAft>
                <a:spcPts val="0"/>
              </a:spcAft>
              <a:buSzPts val="2000"/>
              <a:buChar char="•"/>
            </a:pPr>
            <a:r>
              <a:rPr lang="en" sz="2000" dirty="0">
                <a:solidFill>
                  <a:schemeClr val="bg2"/>
                </a:solidFill>
              </a:rPr>
              <a:t>Close phase:</a:t>
            </a:r>
            <a:endParaRPr sz="2000" dirty="0">
              <a:solidFill>
                <a:schemeClr val="bg2"/>
              </a:solidFill>
            </a:endParaRPr>
          </a:p>
          <a:p>
            <a:pPr marL="914400" lvl="1" indent="-355600" algn="l" rtl="0">
              <a:lnSpc>
                <a:spcPct val="150000"/>
              </a:lnSpc>
              <a:spcBef>
                <a:spcPts val="0"/>
              </a:spcBef>
              <a:spcAft>
                <a:spcPts val="0"/>
              </a:spcAft>
              <a:buSzPts val="2000"/>
              <a:buChar char="–"/>
            </a:pPr>
            <a:r>
              <a:rPr lang="en" sz="2000" dirty="0"/>
              <a:t>Overload of </a:t>
            </a:r>
            <a:r>
              <a:rPr lang="en-US" sz="2000" dirty="0"/>
              <a:t>sensory inputs</a:t>
            </a:r>
            <a:r>
              <a:rPr lang="en" sz="2000" dirty="0"/>
              <a:t>.</a:t>
            </a:r>
            <a:endParaRPr sz="2000" dirty="0"/>
          </a:p>
          <a:p>
            <a:pPr marL="914400" lvl="1" indent="-355600" algn="l" rtl="0">
              <a:lnSpc>
                <a:spcPct val="150000"/>
              </a:lnSpc>
              <a:spcBef>
                <a:spcPts val="0"/>
              </a:spcBef>
              <a:spcAft>
                <a:spcPts val="0"/>
              </a:spcAft>
              <a:buSzPts val="2000"/>
              <a:buChar char="–"/>
            </a:pPr>
            <a:r>
              <a:rPr lang="en" sz="2000" dirty="0"/>
              <a:t>Overwhelming reaction from the receiver.</a:t>
            </a:r>
            <a:endParaRPr sz="2000" dirty="0"/>
          </a:p>
          <a:p>
            <a:pPr marL="914400" lvl="1" indent="-355600" algn="l" rtl="0">
              <a:lnSpc>
                <a:spcPct val="150000"/>
              </a:lnSpc>
              <a:spcBef>
                <a:spcPts val="0"/>
              </a:spcBef>
              <a:spcAft>
                <a:spcPts val="0"/>
              </a:spcAft>
              <a:buSzPts val="2000"/>
              <a:buChar char="–"/>
            </a:pPr>
            <a:r>
              <a:rPr lang="en" sz="2000" dirty="0"/>
              <a:t>Output type: Highly positive or negative</a:t>
            </a:r>
          </a:p>
          <a:p>
            <a:pPr marL="558800" lvl="1" indent="0" algn="l" rtl="0">
              <a:lnSpc>
                <a:spcPct val="150000"/>
              </a:lnSpc>
              <a:spcBef>
                <a:spcPts val="0"/>
              </a:spcBef>
              <a:spcAft>
                <a:spcPts val="0"/>
              </a:spcAft>
              <a:buSzPts val="2000"/>
              <a:buNone/>
            </a:pPr>
            <a:endParaRPr sz="2000" dirty="0"/>
          </a:p>
          <a:p>
            <a:pPr marL="457200" lvl="0" indent="-355600" algn="l" rtl="0">
              <a:lnSpc>
                <a:spcPct val="150000"/>
              </a:lnSpc>
              <a:spcBef>
                <a:spcPts val="0"/>
              </a:spcBef>
              <a:spcAft>
                <a:spcPts val="0"/>
              </a:spcAft>
              <a:buSzPts val="2000"/>
              <a:buChar char="•"/>
            </a:pPr>
            <a:r>
              <a:rPr lang="en" sz="2000" dirty="0">
                <a:solidFill>
                  <a:schemeClr val="bg2"/>
                </a:solidFill>
              </a:rPr>
              <a:t>Far phase: </a:t>
            </a:r>
            <a:r>
              <a:rPr lang="en" sz="2000" dirty="0"/>
              <a:t>(6-18 inches)</a:t>
            </a:r>
            <a:endParaRPr sz="2000" dirty="0"/>
          </a:p>
          <a:p>
            <a:pPr marL="914400" lvl="1" indent="-355600" algn="l" rtl="0">
              <a:lnSpc>
                <a:spcPct val="150000"/>
              </a:lnSpc>
              <a:spcBef>
                <a:spcPts val="0"/>
              </a:spcBef>
              <a:spcAft>
                <a:spcPts val="0"/>
              </a:spcAft>
              <a:buSzPts val="2000"/>
              <a:buChar char="–"/>
            </a:pPr>
            <a:r>
              <a:rPr lang="en" sz="2000" dirty="0"/>
              <a:t>Phase of cultural differences, esp. while greeting gestures.</a:t>
            </a:r>
            <a:endParaRPr sz="2000" dirty="0"/>
          </a:p>
          <a:p>
            <a:pPr marL="914400" lvl="1" indent="-355600" algn="l" rtl="0">
              <a:lnSpc>
                <a:spcPct val="150000"/>
              </a:lnSpc>
              <a:spcBef>
                <a:spcPts val="0"/>
              </a:spcBef>
              <a:spcAft>
                <a:spcPts val="0"/>
              </a:spcAft>
              <a:buSzPts val="2000"/>
              <a:buChar char="–"/>
            </a:pPr>
            <a:r>
              <a:rPr lang="en" sz="2000" dirty="0"/>
              <a:t>High risk of offending/ getting offended.</a:t>
            </a:r>
            <a:endParaRPr sz="2000" dirty="0"/>
          </a:p>
        </p:txBody>
      </p:sp>
      <p:sp>
        <p:nvSpPr>
          <p:cNvPr id="179" name="Google Shape;179;p31"/>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7</a:t>
            </a:fld>
            <a:endParaRPr/>
          </a:p>
        </p:txBody>
      </p:sp>
      <p:pic>
        <p:nvPicPr>
          <p:cNvPr id="180" name="Google Shape;180;p31"/>
          <p:cNvPicPr preferRelativeResize="0"/>
          <p:nvPr/>
        </p:nvPicPr>
        <p:blipFill>
          <a:blip r:embed="rId3">
            <a:alphaModFix/>
          </a:blip>
          <a:stretch>
            <a:fillRect/>
          </a:stretch>
        </p:blipFill>
        <p:spPr>
          <a:xfrm>
            <a:off x="6553200" y="942753"/>
            <a:ext cx="2311674" cy="3661907"/>
          </a:xfrm>
          <a:prstGeom prst="rect">
            <a:avLst/>
          </a:prstGeom>
          <a:noFill/>
          <a:ln>
            <a:noFill/>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32"/>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dirty="0">
                <a:solidFill>
                  <a:schemeClr val="dk2"/>
                </a:solidFill>
              </a:rPr>
              <a:t>Personal distance</a:t>
            </a:r>
            <a:endParaRPr sz="2800" dirty="0">
              <a:solidFill>
                <a:schemeClr val="dk2"/>
              </a:solidFill>
            </a:endParaRPr>
          </a:p>
        </p:txBody>
      </p:sp>
      <p:sp>
        <p:nvSpPr>
          <p:cNvPr id="186" name="Google Shape;186;p32"/>
          <p:cNvSpPr txBox="1">
            <a:spLocks noGrp="1"/>
          </p:cNvSpPr>
          <p:nvPr>
            <p:ph type="body" idx="1"/>
          </p:nvPr>
        </p:nvSpPr>
        <p:spPr>
          <a:xfrm>
            <a:off x="457200" y="1200150"/>
            <a:ext cx="5177700" cy="3394500"/>
          </a:xfrm>
          <a:prstGeom prst="rect">
            <a:avLst/>
          </a:prstGeom>
          <a:noFill/>
          <a:ln>
            <a:noFill/>
          </a:ln>
        </p:spPr>
        <p:txBody>
          <a:bodyPr spcFirstLastPara="1" wrap="square" lIns="91425" tIns="45700" rIns="91425" bIns="45700" anchor="t" anchorCtr="0">
            <a:normAutofit fontScale="62500" lnSpcReduction="20000"/>
          </a:bodyPr>
          <a:lstStyle/>
          <a:p>
            <a:pPr marL="0" lvl="0" indent="0" algn="l" rtl="0">
              <a:lnSpc>
                <a:spcPct val="170000"/>
              </a:lnSpc>
              <a:spcBef>
                <a:spcPts val="1000"/>
              </a:spcBef>
              <a:spcAft>
                <a:spcPts val="0"/>
              </a:spcAft>
              <a:buNone/>
            </a:pPr>
            <a:r>
              <a:rPr lang="en" sz="2000" dirty="0"/>
              <a:t>A small protective sphere or body bubble.</a:t>
            </a:r>
            <a:endParaRPr sz="2000" dirty="0"/>
          </a:p>
          <a:p>
            <a:pPr marL="0" lvl="0" indent="0" algn="l" rtl="0">
              <a:lnSpc>
                <a:spcPct val="170000"/>
              </a:lnSpc>
              <a:spcBef>
                <a:spcPts val="1000"/>
              </a:spcBef>
              <a:spcAft>
                <a:spcPts val="0"/>
              </a:spcAft>
              <a:buNone/>
            </a:pPr>
            <a:r>
              <a:rPr lang="en" sz="2000" b="1" dirty="0">
                <a:solidFill>
                  <a:schemeClr val="bg2"/>
                </a:solidFill>
              </a:rPr>
              <a:t>Close Phase: (1 ½ - 2 ½ feet)</a:t>
            </a:r>
            <a:endParaRPr sz="2000" b="1" dirty="0">
              <a:solidFill>
                <a:schemeClr val="bg2"/>
              </a:solidFill>
            </a:endParaRPr>
          </a:p>
          <a:p>
            <a:pPr marL="914400" lvl="0" indent="-336550" algn="l" rtl="0">
              <a:lnSpc>
                <a:spcPct val="170000"/>
              </a:lnSpc>
              <a:spcBef>
                <a:spcPts val="500"/>
              </a:spcBef>
              <a:spcAft>
                <a:spcPts val="0"/>
              </a:spcAft>
              <a:buSzPct val="100000"/>
              <a:buChar char="•"/>
            </a:pPr>
            <a:r>
              <a:rPr lang="en" sz="2000" dirty="0"/>
              <a:t>Expresses </a:t>
            </a:r>
            <a:r>
              <a:rPr lang="en-US" sz="2000" dirty="0"/>
              <a:t>the </a:t>
            </a:r>
            <a:r>
              <a:rPr lang="en" sz="2000" dirty="0"/>
              <a:t>intimacy of </a:t>
            </a:r>
            <a:r>
              <a:rPr lang="en-US" sz="2000" dirty="0"/>
              <a:t>the </a:t>
            </a:r>
            <a:r>
              <a:rPr lang="en" sz="2000" dirty="0"/>
              <a:t>relationship.</a:t>
            </a:r>
            <a:endParaRPr sz="2000" dirty="0"/>
          </a:p>
          <a:p>
            <a:pPr marL="914400" lvl="0" indent="-336550" algn="l" rtl="0">
              <a:lnSpc>
                <a:spcPct val="170000"/>
              </a:lnSpc>
              <a:spcBef>
                <a:spcPts val="0"/>
              </a:spcBef>
              <a:spcAft>
                <a:spcPts val="0"/>
              </a:spcAft>
              <a:buSzPct val="100000"/>
              <a:buChar char="•"/>
            </a:pPr>
            <a:r>
              <a:rPr lang="en" sz="2000" dirty="0"/>
              <a:t>Example: Husband &amp; Wife sharing their personal spheres.</a:t>
            </a:r>
            <a:endParaRPr sz="2000" dirty="0"/>
          </a:p>
          <a:p>
            <a:pPr marL="914400" lvl="0" indent="0" algn="l" rtl="0">
              <a:lnSpc>
                <a:spcPct val="170000"/>
              </a:lnSpc>
              <a:spcBef>
                <a:spcPts val="500"/>
              </a:spcBef>
              <a:spcAft>
                <a:spcPts val="0"/>
              </a:spcAft>
              <a:buNone/>
            </a:pPr>
            <a:endParaRPr sz="2000" dirty="0"/>
          </a:p>
          <a:p>
            <a:pPr marL="0" lvl="0" indent="0" algn="l" rtl="0">
              <a:lnSpc>
                <a:spcPct val="170000"/>
              </a:lnSpc>
              <a:spcBef>
                <a:spcPts val="0"/>
              </a:spcBef>
              <a:spcAft>
                <a:spcPts val="0"/>
              </a:spcAft>
              <a:buNone/>
            </a:pPr>
            <a:r>
              <a:rPr lang="en" sz="2000" b="1" dirty="0">
                <a:solidFill>
                  <a:schemeClr val="bg2"/>
                </a:solidFill>
              </a:rPr>
              <a:t>Far Phase: (2 ½ - 4 feet)</a:t>
            </a:r>
            <a:endParaRPr sz="2000" b="1" dirty="0">
              <a:solidFill>
                <a:schemeClr val="bg2"/>
              </a:solidFill>
            </a:endParaRPr>
          </a:p>
          <a:p>
            <a:pPr marL="914400" lvl="0" indent="-336550" algn="l" rtl="0">
              <a:lnSpc>
                <a:spcPct val="170000"/>
              </a:lnSpc>
              <a:spcBef>
                <a:spcPts val="0"/>
              </a:spcBef>
              <a:spcAft>
                <a:spcPts val="0"/>
              </a:spcAft>
              <a:buSzPct val="100000"/>
              <a:buChar char="•"/>
            </a:pPr>
            <a:r>
              <a:rPr lang="en" sz="2000" dirty="0"/>
              <a:t>Keeping someone at an “arm’s length” (120)</a:t>
            </a:r>
            <a:endParaRPr sz="2000" dirty="0"/>
          </a:p>
          <a:p>
            <a:pPr marL="914400" lvl="0" indent="-336550" algn="l" rtl="0">
              <a:lnSpc>
                <a:spcPct val="170000"/>
              </a:lnSpc>
              <a:spcBef>
                <a:spcPts val="0"/>
              </a:spcBef>
              <a:spcAft>
                <a:spcPts val="0"/>
              </a:spcAft>
              <a:buSzPct val="100000"/>
              <a:buChar char="•"/>
            </a:pPr>
            <a:r>
              <a:rPr lang="en" sz="2000" dirty="0"/>
              <a:t>Last point for establishing physical contact/ touch.</a:t>
            </a:r>
            <a:endParaRPr sz="2000" dirty="0"/>
          </a:p>
          <a:p>
            <a:pPr marL="914400" lvl="0" indent="-336550" algn="l" rtl="0">
              <a:lnSpc>
                <a:spcPct val="170000"/>
              </a:lnSpc>
              <a:spcBef>
                <a:spcPts val="0"/>
              </a:spcBef>
              <a:spcAft>
                <a:spcPts val="0"/>
              </a:spcAft>
              <a:buSzPct val="100000"/>
              <a:buChar char="•"/>
            </a:pPr>
            <a:r>
              <a:rPr lang="en" sz="2000" dirty="0"/>
              <a:t>Regulated and normal sensory inputs.</a:t>
            </a:r>
            <a:endParaRPr sz="2000" dirty="0"/>
          </a:p>
          <a:p>
            <a:pPr marL="342900" lvl="0" indent="-139700" algn="l" rtl="0">
              <a:spcBef>
                <a:spcPts val="0"/>
              </a:spcBef>
              <a:spcAft>
                <a:spcPts val="0"/>
              </a:spcAft>
              <a:buClr>
                <a:schemeClr val="dk1"/>
              </a:buClr>
              <a:buSzPct val="160000"/>
              <a:buNone/>
            </a:pPr>
            <a:endParaRPr sz="2000" dirty="0"/>
          </a:p>
        </p:txBody>
      </p:sp>
      <p:sp>
        <p:nvSpPr>
          <p:cNvPr id="187" name="Google Shape;187;p32"/>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8</a:t>
            </a:fld>
            <a:endParaRPr/>
          </a:p>
        </p:txBody>
      </p:sp>
      <p:pic>
        <p:nvPicPr>
          <p:cNvPr id="188" name="Google Shape;188;p32"/>
          <p:cNvPicPr preferRelativeResize="0"/>
          <p:nvPr/>
        </p:nvPicPr>
        <p:blipFill>
          <a:blip r:embed="rId3">
            <a:alphaModFix/>
          </a:blip>
          <a:stretch>
            <a:fillRect/>
          </a:stretch>
        </p:blipFill>
        <p:spPr>
          <a:xfrm>
            <a:off x="5634900" y="1502303"/>
            <a:ext cx="3204300" cy="2138891"/>
          </a:xfrm>
          <a:prstGeom prst="rect">
            <a:avLst/>
          </a:prstGeom>
          <a:noFill/>
          <a:ln>
            <a:noFill/>
          </a:ln>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3"/>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a:solidFill>
                  <a:schemeClr val="dk2"/>
                </a:solidFill>
              </a:rPr>
              <a:t>Social Zones</a:t>
            </a:r>
            <a:endParaRPr sz="2800">
              <a:solidFill>
                <a:schemeClr val="dk2"/>
              </a:solidFill>
            </a:endParaRPr>
          </a:p>
        </p:txBody>
      </p:sp>
      <p:sp>
        <p:nvSpPr>
          <p:cNvPr id="194" name="Google Shape;194;p33"/>
          <p:cNvSpPr txBox="1">
            <a:spLocks noGrp="1"/>
          </p:cNvSpPr>
          <p:nvPr>
            <p:ph type="body" idx="1"/>
          </p:nvPr>
        </p:nvSpPr>
        <p:spPr>
          <a:xfrm>
            <a:off x="457200" y="1200151"/>
            <a:ext cx="8229600" cy="33945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50000"/>
              </a:lnSpc>
              <a:spcBef>
                <a:spcPts val="1000"/>
              </a:spcBef>
              <a:spcAft>
                <a:spcPts val="0"/>
              </a:spcAft>
              <a:buNone/>
            </a:pPr>
            <a:r>
              <a:rPr lang="en" sz="2000" dirty="0"/>
              <a:t>Touch is reduced or entirely removed at this zone.</a:t>
            </a:r>
            <a:endParaRPr sz="2000" dirty="0"/>
          </a:p>
          <a:p>
            <a:pPr marL="0" lvl="0" indent="0" algn="l" rtl="0">
              <a:lnSpc>
                <a:spcPct val="150000"/>
              </a:lnSpc>
              <a:spcBef>
                <a:spcPts val="1000"/>
              </a:spcBef>
              <a:spcAft>
                <a:spcPts val="0"/>
              </a:spcAft>
              <a:buNone/>
            </a:pPr>
            <a:r>
              <a:rPr lang="en" sz="2000" dirty="0"/>
              <a:t>Voice plays a primary role </a:t>
            </a:r>
            <a:r>
              <a:rPr lang="en-US" sz="2000" dirty="0"/>
              <a:t>in</a:t>
            </a:r>
            <a:r>
              <a:rPr lang="en" sz="2000" dirty="0"/>
              <a:t> communication.</a:t>
            </a:r>
            <a:endParaRPr sz="2000" dirty="0"/>
          </a:p>
          <a:p>
            <a:pPr marL="0" lvl="0" indent="0" algn="l" rtl="0">
              <a:lnSpc>
                <a:spcPct val="150000"/>
              </a:lnSpc>
              <a:spcBef>
                <a:spcPts val="1000"/>
              </a:spcBef>
              <a:spcAft>
                <a:spcPts val="0"/>
              </a:spcAft>
              <a:buNone/>
            </a:pPr>
            <a:r>
              <a:rPr lang="en" sz="2000" b="1" dirty="0">
                <a:solidFill>
                  <a:schemeClr val="bg2"/>
                </a:solidFill>
              </a:rPr>
              <a:t>Close phase: (4 – 7 feet)</a:t>
            </a:r>
            <a:endParaRPr sz="2000" b="1" dirty="0">
              <a:solidFill>
                <a:schemeClr val="bg2"/>
              </a:solidFill>
            </a:endParaRPr>
          </a:p>
          <a:p>
            <a:pPr marL="434975">
              <a:lnSpc>
                <a:spcPct val="150000"/>
              </a:lnSpc>
              <a:spcBef>
                <a:spcPts val="500"/>
              </a:spcBef>
              <a:buSzPts val="2150"/>
            </a:pPr>
            <a:r>
              <a:rPr lang="en" sz="2000" dirty="0"/>
              <a:t>Impersonal business zone.</a:t>
            </a:r>
            <a:endParaRPr sz="2000" dirty="0"/>
          </a:p>
          <a:p>
            <a:pPr marL="434975">
              <a:lnSpc>
                <a:spcPct val="150000"/>
              </a:lnSpc>
              <a:spcBef>
                <a:spcPts val="0"/>
              </a:spcBef>
              <a:buSzPts val="2150"/>
            </a:pPr>
            <a:r>
              <a:rPr lang="en" sz="2000" dirty="0"/>
              <a:t>Work relationships.</a:t>
            </a:r>
            <a:endParaRPr sz="2000" dirty="0"/>
          </a:p>
          <a:p>
            <a:pPr marL="434975">
              <a:lnSpc>
                <a:spcPct val="150000"/>
              </a:lnSpc>
              <a:spcBef>
                <a:spcPts val="0"/>
              </a:spcBef>
              <a:buSzPts val="2150"/>
            </a:pPr>
            <a:r>
              <a:rPr lang="en" sz="2000" dirty="0"/>
              <a:t>Social gathering</a:t>
            </a:r>
            <a:endParaRPr sz="2000" dirty="0"/>
          </a:p>
          <a:p>
            <a:pPr marL="0" lvl="0" indent="0" algn="l" rtl="0">
              <a:lnSpc>
                <a:spcPct val="150000"/>
              </a:lnSpc>
              <a:spcBef>
                <a:spcPts val="1000"/>
              </a:spcBef>
              <a:spcAft>
                <a:spcPts val="0"/>
              </a:spcAft>
              <a:buNone/>
            </a:pPr>
            <a:r>
              <a:rPr lang="en" sz="2000" b="1" dirty="0">
                <a:solidFill>
                  <a:schemeClr val="bg2"/>
                </a:solidFill>
              </a:rPr>
              <a:t>Far Phase: (7 – 12 feet)</a:t>
            </a:r>
            <a:endParaRPr sz="2000" b="1" dirty="0">
              <a:solidFill>
                <a:schemeClr val="bg2"/>
              </a:solidFill>
            </a:endParaRPr>
          </a:p>
          <a:p>
            <a:pPr marL="457200" lvl="0" indent="-365125" algn="l" rtl="0">
              <a:lnSpc>
                <a:spcPct val="150000"/>
              </a:lnSpc>
              <a:spcBef>
                <a:spcPts val="500"/>
              </a:spcBef>
              <a:spcAft>
                <a:spcPts val="0"/>
              </a:spcAft>
              <a:buSzPts val="2150"/>
              <a:buChar char="•"/>
            </a:pPr>
            <a:r>
              <a:rPr lang="en" sz="2000" dirty="0"/>
              <a:t>Formal business zone.</a:t>
            </a:r>
            <a:endParaRPr sz="2000" dirty="0"/>
          </a:p>
          <a:p>
            <a:pPr marL="457200" lvl="0" indent="-365125" algn="l" rtl="0">
              <a:lnSpc>
                <a:spcPct val="150000"/>
              </a:lnSpc>
              <a:spcBef>
                <a:spcPts val="0"/>
              </a:spcBef>
              <a:spcAft>
                <a:spcPts val="0"/>
              </a:spcAft>
              <a:buSzPts val="2150"/>
              <a:buChar char="•"/>
            </a:pPr>
            <a:r>
              <a:rPr lang="en" sz="2000" dirty="0"/>
              <a:t>Interviews, Meetings, Conferences etc.</a:t>
            </a:r>
            <a:endParaRPr sz="2000" dirty="0"/>
          </a:p>
          <a:p>
            <a:pPr marL="342900" lvl="0" indent="-139700" algn="l" rtl="0">
              <a:spcBef>
                <a:spcPts val="0"/>
              </a:spcBef>
              <a:spcAft>
                <a:spcPts val="0"/>
              </a:spcAft>
              <a:buClr>
                <a:schemeClr val="dk1"/>
              </a:buClr>
              <a:buSzPts val="3200"/>
              <a:buNone/>
            </a:pPr>
            <a:endParaRPr sz="2000" dirty="0"/>
          </a:p>
        </p:txBody>
      </p:sp>
      <p:sp>
        <p:nvSpPr>
          <p:cNvPr id="195" name="Google Shape;195;p33"/>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9</a:t>
            </a:fld>
            <a:endParaRPr/>
          </a:p>
        </p:txBody>
      </p:sp>
      <p:pic>
        <p:nvPicPr>
          <p:cNvPr id="196" name="Google Shape;196;p33"/>
          <p:cNvPicPr preferRelativeResize="0"/>
          <p:nvPr/>
        </p:nvPicPr>
        <p:blipFill>
          <a:blip r:embed="rId3">
            <a:alphaModFix/>
          </a:blip>
          <a:stretch>
            <a:fillRect/>
          </a:stretch>
        </p:blipFill>
        <p:spPr>
          <a:xfrm>
            <a:off x="5856104" y="2005175"/>
            <a:ext cx="2830699" cy="2274400"/>
          </a:xfrm>
          <a:prstGeom prst="rect">
            <a:avLst/>
          </a:prstGeom>
          <a:noFill/>
          <a:ln>
            <a:noFill/>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34"/>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a:solidFill>
                  <a:schemeClr val="dk2"/>
                </a:solidFill>
              </a:rPr>
              <a:t>Public Zones</a:t>
            </a:r>
            <a:endParaRPr sz="2800">
              <a:solidFill>
                <a:schemeClr val="dk2"/>
              </a:solidFill>
            </a:endParaRPr>
          </a:p>
        </p:txBody>
      </p:sp>
      <p:sp>
        <p:nvSpPr>
          <p:cNvPr id="202" name="Google Shape;202;p34"/>
          <p:cNvSpPr txBox="1">
            <a:spLocks noGrp="1"/>
          </p:cNvSpPr>
          <p:nvPr>
            <p:ph type="body" idx="1"/>
          </p:nvPr>
        </p:nvSpPr>
        <p:spPr>
          <a:xfrm>
            <a:off x="457200" y="1200150"/>
            <a:ext cx="4956900" cy="33945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60000"/>
              </a:lnSpc>
              <a:spcBef>
                <a:spcPts val="1000"/>
              </a:spcBef>
              <a:spcAft>
                <a:spcPts val="0"/>
              </a:spcAft>
              <a:buClr>
                <a:schemeClr val="dk1"/>
              </a:buClr>
              <a:buSzPct val="55000"/>
              <a:buFont typeface="Arial"/>
              <a:buNone/>
            </a:pPr>
            <a:r>
              <a:rPr lang="en" sz="2000" dirty="0"/>
              <a:t>Sensorial shifts </a:t>
            </a:r>
            <a:r>
              <a:rPr lang="en-US" sz="2000" dirty="0"/>
              <a:t>occur</a:t>
            </a:r>
            <a:r>
              <a:rPr lang="en" sz="2000" dirty="0"/>
              <a:t> with respect to loss of familiarity.</a:t>
            </a:r>
            <a:endParaRPr sz="2000" dirty="0"/>
          </a:p>
          <a:p>
            <a:pPr marL="0" lvl="0" indent="0" algn="l" rtl="0">
              <a:lnSpc>
                <a:spcPct val="160000"/>
              </a:lnSpc>
              <a:spcBef>
                <a:spcPts val="1000"/>
              </a:spcBef>
              <a:spcAft>
                <a:spcPts val="0"/>
              </a:spcAft>
              <a:buClr>
                <a:schemeClr val="dk1"/>
              </a:buClr>
              <a:buSzPct val="55000"/>
              <a:buFont typeface="Arial"/>
              <a:buNone/>
            </a:pPr>
            <a:r>
              <a:rPr lang="en" sz="2000" b="1" dirty="0"/>
              <a:t>Close phase: (12 – 25 feet)</a:t>
            </a:r>
            <a:endParaRPr sz="2000" b="1" dirty="0"/>
          </a:p>
          <a:p>
            <a:pPr marL="457200" lvl="0" indent="-346075" algn="l" rtl="0">
              <a:lnSpc>
                <a:spcPct val="160000"/>
              </a:lnSpc>
              <a:spcBef>
                <a:spcPts val="500"/>
              </a:spcBef>
              <a:spcAft>
                <a:spcPts val="0"/>
              </a:spcAft>
              <a:buSzPct val="100000"/>
              <a:buChar char="•"/>
            </a:pPr>
            <a:r>
              <a:rPr lang="en" sz="2000" dirty="0"/>
              <a:t>“Careful choice of words and phrasing…occurs” ( Hall 123)</a:t>
            </a:r>
            <a:endParaRPr sz="2000" dirty="0"/>
          </a:p>
          <a:p>
            <a:pPr marL="457200" lvl="0" indent="-346075" algn="l" rtl="0">
              <a:lnSpc>
                <a:spcPct val="160000"/>
              </a:lnSpc>
              <a:spcBef>
                <a:spcPts val="0"/>
              </a:spcBef>
              <a:spcAft>
                <a:spcPts val="0"/>
              </a:spcAft>
              <a:buSzPct val="100000"/>
              <a:buChar char="•"/>
            </a:pPr>
            <a:r>
              <a:rPr lang="en" sz="2000" dirty="0"/>
              <a:t>Formal style</a:t>
            </a:r>
            <a:endParaRPr sz="2000" dirty="0"/>
          </a:p>
          <a:p>
            <a:pPr marL="0" lvl="0" indent="0" algn="l" rtl="0">
              <a:lnSpc>
                <a:spcPct val="160000"/>
              </a:lnSpc>
              <a:spcBef>
                <a:spcPts val="1000"/>
              </a:spcBef>
              <a:spcAft>
                <a:spcPts val="0"/>
              </a:spcAft>
              <a:buClr>
                <a:schemeClr val="dk1"/>
              </a:buClr>
              <a:buSzPct val="55000"/>
              <a:buFont typeface="Arial"/>
              <a:buNone/>
            </a:pPr>
            <a:r>
              <a:rPr lang="en" sz="2000" b="1" dirty="0"/>
              <a:t>Far phase: (25 feet or more)</a:t>
            </a:r>
            <a:endParaRPr sz="2000" b="1" dirty="0"/>
          </a:p>
          <a:p>
            <a:pPr marL="457200" lvl="0" indent="-346075" algn="l" rtl="0">
              <a:lnSpc>
                <a:spcPct val="160000"/>
              </a:lnSpc>
              <a:spcBef>
                <a:spcPts val="500"/>
              </a:spcBef>
              <a:spcAft>
                <a:spcPts val="0"/>
              </a:spcAft>
              <a:buSzPct val="100000"/>
              <a:buChar char="•"/>
            </a:pPr>
            <a:r>
              <a:rPr lang="en" sz="2000" dirty="0"/>
              <a:t>A distance set around </a:t>
            </a:r>
            <a:r>
              <a:rPr lang="en" sz="2000" dirty="0">
                <a:solidFill>
                  <a:srgbClr val="44546A"/>
                </a:solidFill>
              </a:rPr>
              <a:t>public speakers.</a:t>
            </a:r>
            <a:endParaRPr sz="2000" dirty="0">
              <a:solidFill>
                <a:srgbClr val="44546A"/>
              </a:solidFill>
            </a:endParaRPr>
          </a:p>
          <a:p>
            <a:pPr marL="457200" lvl="0" indent="-346075" algn="l" rtl="0">
              <a:lnSpc>
                <a:spcPct val="160000"/>
              </a:lnSpc>
              <a:spcBef>
                <a:spcPts val="0"/>
              </a:spcBef>
              <a:spcAft>
                <a:spcPts val="0"/>
              </a:spcAft>
              <a:buSzPct val="100000"/>
              <a:buChar char="•"/>
            </a:pPr>
            <a:r>
              <a:rPr lang="en" sz="2000" dirty="0"/>
              <a:t>Voice loses its subtlety.</a:t>
            </a:r>
            <a:endParaRPr sz="2000" dirty="0"/>
          </a:p>
          <a:p>
            <a:pPr marL="457200" lvl="0" indent="-346075" algn="l" rtl="0">
              <a:lnSpc>
                <a:spcPct val="160000"/>
              </a:lnSpc>
              <a:spcBef>
                <a:spcPts val="0"/>
              </a:spcBef>
              <a:spcAft>
                <a:spcPts val="0"/>
              </a:spcAft>
              <a:buSzPct val="100000"/>
              <a:buChar char="•"/>
            </a:pPr>
            <a:r>
              <a:rPr lang="en" sz="2000" dirty="0"/>
              <a:t>Exaggeration of non-verbal communication is required.</a:t>
            </a:r>
            <a:endParaRPr sz="2000" dirty="0"/>
          </a:p>
          <a:p>
            <a:pPr marL="457200" lvl="0" indent="-346075" algn="l" rtl="0">
              <a:lnSpc>
                <a:spcPct val="160000"/>
              </a:lnSpc>
              <a:spcBef>
                <a:spcPts val="0"/>
              </a:spcBef>
              <a:spcAft>
                <a:spcPts val="0"/>
              </a:spcAft>
              <a:buSzPct val="100000"/>
              <a:buChar char="•"/>
            </a:pPr>
            <a:r>
              <a:rPr lang="en" sz="2000" dirty="0"/>
              <a:t>High usage of kinesics.</a:t>
            </a:r>
            <a:endParaRPr sz="2000" dirty="0"/>
          </a:p>
        </p:txBody>
      </p:sp>
      <p:sp>
        <p:nvSpPr>
          <p:cNvPr id="203" name="Google Shape;203;p34"/>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10</a:t>
            </a:fld>
            <a:endParaRPr/>
          </a:p>
        </p:txBody>
      </p:sp>
      <p:pic>
        <p:nvPicPr>
          <p:cNvPr id="204" name="Google Shape;204;p34"/>
          <p:cNvPicPr preferRelativeResize="0"/>
          <p:nvPr/>
        </p:nvPicPr>
        <p:blipFill>
          <a:blip r:embed="rId3">
            <a:alphaModFix/>
          </a:blip>
          <a:stretch>
            <a:fillRect/>
          </a:stretch>
        </p:blipFill>
        <p:spPr>
          <a:xfrm>
            <a:off x="5414100" y="1427238"/>
            <a:ext cx="3523700" cy="2976176"/>
          </a:xfrm>
          <a:prstGeom prst="rect">
            <a:avLst/>
          </a:prstGeom>
          <a:noFill/>
          <a:ln>
            <a:noFill/>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35"/>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a:solidFill>
                  <a:schemeClr val="dk2"/>
                </a:solidFill>
              </a:rPr>
              <a:t>Interpersonal Distances</a:t>
            </a:r>
            <a:endParaRPr sz="2800">
              <a:solidFill>
                <a:schemeClr val="dk2"/>
              </a:solidFill>
            </a:endParaRPr>
          </a:p>
        </p:txBody>
      </p:sp>
      <p:sp>
        <p:nvSpPr>
          <p:cNvPr id="210" name="Google Shape;210;p35"/>
          <p:cNvSpPr txBox="1">
            <a:spLocks noGrp="1"/>
          </p:cNvSpPr>
          <p:nvPr>
            <p:ph type="body" idx="1"/>
          </p:nvPr>
        </p:nvSpPr>
        <p:spPr>
          <a:xfrm>
            <a:off x="457200" y="1200150"/>
            <a:ext cx="8229600" cy="1371600"/>
          </a:xfrm>
          <a:prstGeom prst="rect">
            <a:avLst/>
          </a:prstGeom>
          <a:noFill/>
          <a:ln>
            <a:noFill/>
          </a:ln>
        </p:spPr>
        <p:txBody>
          <a:bodyPr spcFirstLastPara="1" wrap="square" lIns="91425" tIns="45700" rIns="91425" bIns="45700" anchor="t" anchorCtr="0">
            <a:normAutofit fontScale="70000" lnSpcReduction="20000"/>
          </a:bodyPr>
          <a:lstStyle/>
          <a:p>
            <a:pPr marL="0" lvl="0" indent="0" algn="l" rtl="0">
              <a:lnSpc>
                <a:spcPct val="150000"/>
              </a:lnSpc>
              <a:spcBef>
                <a:spcPts val="1000"/>
              </a:spcBef>
              <a:spcAft>
                <a:spcPts val="0"/>
              </a:spcAft>
              <a:buClr>
                <a:schemeClr val="dk1"/>
              </a:buClr>
              <a:buSzPct val="39285"/>
              <a:buFont typeface="Arial"/>
              <a:buNone/>
            </a:pPr>
            <a:r>
              <a:rPr lang="en" sz="2400" dirty="0"/>
              <a:t>Communication is carried out in two different forms of distances:</a:t>
            </a:r>
            <a:endParaRPr sz="2400" dirty="0"/>
          </a:p>
          <a:p>
            <a:pPr marL="0" lvl="0" indent="0" algn="l" rtl="0">
              <a:lnSpc>
                <a:spcPct val="150000"/>
              </a:lnSpc>
              <a:spcBef>
                <a:spcPts val="500"/>
              </a:spcBef>
              <a:spcAft>
                <a:spcPts val="0"/>
              </a:spcAft>
              <a:buClr>
                <a:schemeClr val="dk1"/>
              </a:buClr>
              <a:buSzPct val="45833"/>
              <a:buFont typeface="Arial"/>
              <a:buNone/>
            </a:pPr>
            <a:r>
              <a:rPr lang="en" sz="2400" dirty="0">
                <a:latin typeface="Arial"/>
                <a:ea typeface="Arial"/>
                <a:cs typeface="Arial"/>
                <a:sym typeface="Arial"/>
              </a:rPr>
              <a:t>1. </a:t>
            </a:r>
            <a:r>
              <a:rPr lang="en" sz="2400" dirty="0"/>
              <a:t>Horizontal Distances (Space Zones)</a:t>
            </a:r>
            <a:endParaRPr sz="2400" dirty="0"/>
          </a:p>
          <a:p>
            <a:pPr marL="0" lvl="0" indent="0" algn="l" rtl="0">
              <a:lnSpc>
                <a:spcPct val="150000"/>
              </a:lnSpc>
              <a:spcBef>
                <a:spcPts val="500"/>
              </a:spcBef>
              <a:spcAft>
                <a:spcPts val="0"/>
              </a:spcAft>
              <a:buClr>
                <a:schemeClr val="dk1"/>
              </a:buClr>
              <a:buSzPct val="45833"/>
              <a:buFont typeface="Arial"/>
              <a:buNone/>
            </a:pPr>
            <a:r>
              <a:rPr lang="en" sz="2400" dirty="0">
                <a:latin typeface="Arial"/>
                <a:ea typeface="Arial"/>
                <a:cs typeface="Arial"/>
                <a:sym typeface="Arial"/>
              </a:rPr>
              <a:t>2. </a:t>
            </a:r>
            <a:r>
              <a:rPr lang="en" sz="2400" dirty="0"/>
              <a:t>Vertical Distances (Power Zones)</a:t>
            </a:r>
            <a:endParaRPr sz="2400" dirty="0"/>
          </a:p>
          <a:p>
            <a:pPr marL="342900" lvl="0" indent="-139700" algn="l" rtl="0">
              <a:spcBef>
                <a:spcPts val="0"/>
              </a:spcBef>
              <a:spcAft>
                <a:spcPts val="0"/>
              </a:spcAft>
              <a:buClr>
                <a:schemeClr val="dk1"/>
              </a:buClr>
              <a:buSzPct val="160000"/>
              <a:buNone/>
            </a:pPr>
            <a:endParaRPr sz="2000" dirty="0"/>
          </a:p>
        </p:txBody>
      </p:sp>
      <p:sp>
        <p:nvSpPr>
          <p:cNvPr id="211" name="Google Shape;211;p35"/>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11</a:t>
            </a:fld>
            <a:endParaRPr/>
          </a:p>
        </p:txBody>
      </p:sp>
      <p:pic>
        <p:nvPicPr>
          <p:cNvPr id="212" name="Google Shape;212;p35"/>
          <p:cNvPicPr preferRelativeResize="0"/>
          <p:nvPr/>
        </p:nvPicPr>
        <p:blipFill>
          <a:blip r:embed="rId3">
            <a:alphaModFix/>
          </a:blip>
          <a:stretch>
            <a:fillRect/>
          </a:stretch>
        </p:blipFill>
        <p:spPr>
          <a:xfrm>
            <a:off x="1503312" y="2571750"/>
            <a:ext cx="6137374" cy="2104575"/>
          </a:xfrm>
          <a:prstGeom prst="rect">
            <a:avLst/>
          </a:prstGeom>
          <a:noFill/>
          <a:ln>
            <a:noFill/>
          </a:ln>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6"/>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a:solidFill>
                  <a:schemeClr val="dk2"/>
                </a:solidFill>
              </a:rPr>
              <a:t>The Cultural Dilemma</a:t>
            </a:r>
            <a:endParaRPr sz="2800">
              <a:solidFill>
                <a:schemeClr val="dk2"/>
              </a:solidFill>
            </a:endParaRPr>
          </a:p>
        </p:txBody>
      </p:sp>
      <p:sp>
        <p:nvSpPr>
          <p:cNvPr id="218" name="Google Shape;218;p36"/>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12</a:t>
            </a:fld>
            <a:endParaRPr/>
          </a:p>
        </p:txBody>
      </p:sp>
      <p:pic>
        <p:nvPicPr>
          <p:cNvPr id="219" name="Google Shape;219;p36"/>
          <p:cNvPicPr preferRelativeResize="0"/>
          <p:nvPr/>
        </p:nvPicPr>
        <p:blipFill>
          <a:blip r:embed="rId3">
            <a:alphaModFix/>
          </a:blip>
          <a:stretch>
            <a:fillRect/>
          </a:stretch>
        </p:blipFill>
        <p:spPr>
          <a:xfrm>
            <a:off x="0" y="905906"/>
            <a:ext cx="9144000" cy="3331688"/>
          </a:xfrm>
          <a:prstGeom prst="rect">
            <a:avLst/>
          </a:prstGeom>
          <a:noFill/>
          <a:ln>
            <a:noFill/>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7"/>
          <p:cNvSpPr txBox="1">
            <a:spLocks noGrp="1"/>
          </p:cNvSpPr>
          <p:nvPr>
            <p:ph type="title"/>
          </p:nvPr>
        </p:nvSpPr>
        <p:spPr>
          <a:xfrm>
            <a:off x="215274" y="480450"/>
            <a:ext cx="4697100" cy="544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dirty="0">
                <a:solidFill>
                  <a:schemeClr val="dk2"/>
                </a:solidFill>
              </a:rPr>
              <a:t>Intercultural Differences</a:t>
            </a:r>
            <a:endParaRPr sz="2800" dirty="0">
              <a:solidFill>
                <a:schemeClr val="dk2"/>
              </a:solidFill>
            </a:endParaRPr>
          </a:p>
        </p:txBody>
      </p:sp>
      <p:sp>
        <p:nvSpPr>
          <p:cNvPr id="225" name="Google Shape;225;p37"/>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13</a:t>
            </a:fld>
            <a:endParaRPr/>
          </a:p>
        </p:txBody>
      </p:sp>
      <p:pic>
        <p:nvPicPr>
          <p:cNvPr id="226" name="Google Shape;226;p37"/>
          <p:cNvPicPr preferRelativeResize="0"/>
          <p:nvPr/>
        </p:nvPicPr>
        <p:blipFill rotWithShape="1">
          <a:blip r:embed="rId3">
            <a:alphaModFix/>
          </a:blip>
          <a:srcRect r="50605"/>
          <a:stretch/>
        </p:blipFill>
        <p:spPr>
          <a:xfrm>
            <a:off x="555650" y="1215775"/>
            <a:ext cx="4016349" cy="3399076"/>
          </a:xfrm>
          <a:prstGeom prst="rect">
            <a:avLst/>
          </a:prstGeom>
          <a:noFill/>
          <a:ln>
            <a:noFill/>
          </a:ln>
        </p:spPr>
      </p:pic>
      <p:pic>
        <p:nvPicPr>
          <p:cNvPr id="227" name="Google Shape;227;p37"/>
          <p:cNvPicPr preferRelativeResize="0"/>
          <p:nvPr/>
        </p:nvPicPr>
        <p:blipFill rotWithShape="1">
          <a:blip r:embed="rId3">
            <a:alphaModFix/>
          </a:blip>
          <a:srcRect l="50755"/>
          <a:stretch/>
        </p:blipFill>
        <p:spPr>
          <a:xfrm>
            <a:off x="4238600" y="289325"/>
            <a:ext cx="4826825" cy="4405125"/>
          </a:xfrm>
          <a:prstGeom prst="rect">
            <a:avLst/>
          </a:prstGeom>
          <a:noFill/>
          <a:ln>
            <a:noFill/>
          </a:ln>
        </p:spPr>
      </p:pic>
      <p:sp>
        <p:nvSpPr>
          <p:cNvPr id="228" name="Google Shape;228;p37"/>
          <p:cNvSpPr txBox="1"/>
          <p:nvPr/>
        </p:nvSpPr>
        <p:spPr>
          <a:xfrm>
            <a:off x="1564475" y="2603900"/>
            <a:ext cx="1736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Calibri"/>
                <a:ea typeface="Calibri"/>
                <a:cs typeface="Calibri"/>
                <a:sym typeface="Calibri"/>
              </a:rPr>
              <a:t>Low-context cultures</a:t>
            </a:r>
            <a:endParaRPr>
              <a:latin typeface="Calibri"/>
              <a:ea typeface="Calibri"/>
              <a:cs typeface="Calibri"/>
              <a:sym typeface="Calibri"/>
            </a:endParaRPr>
          </a:p>
        </p:txBody>
      </p:sp>
      <p:sp>
        <p:nvSpPr>
          <p:cNvPr id="229" name="Google Shape;229;p37"/>
          <p:cNvSpPr txBox="1"/>
          <p:nvPr/>
        </p:nvSpPr>
        <p:spPr>
          <a:xfrm>
            <a:off x="5928100" y="2203700"/>
            <a:ext cx="1736100" cy="61552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latin typeface="Calibri"/>
                <a:ea typeface="Calibri"/>
                <a:cs typeface="Calibri"/>
                <a:sym typeface="Calibri"/>
              </a:rPr>
              <a:t>High-context cultures</a:t>
            </a:r>
            <a:endParaRPr dirty="0">
              <a:latin typeface="Calibri"/>
              <a:ea typeface="Calibri"/>
              <a:cs typeface="Calibri"/>
              <a:sym typeface="Calibri"/>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err="1" smtClean="0">
                <a:solidFill>
                  <a:schemeClr val="bg2"/>
                </a:solidFill>
              </a:rPr>
              <a:t>Contd</a:t>
            </a:r>
            <a:r>
              <a:rPr lang="en-IN" sz="2800" dirty="0" smtClean="0">
                <a:solidFill>
                  <a:schemeClr val="bg2"/>
                </a:solidFill>
              </a:rPr>
              <a:t>…</a:t>
            </a:r>
            <a:endParaRPr lang="en-IN" sz="2800" dirty="0">
              <a:solidFill>
                <a:schemeClr val="bg2"/>
              </a:solidFill>
            </a:endParaRPr>
          </a:p>
        </p:txBody>
      </p:sp>
      <p:sp>
        <p:nvSpPr>
          <p:cNvPr id="3" name="Text Placeholder 2"/>
          <p:cNvSpPr>
            <a:spLocks noGrp="1"/>
          </p:cNvSpPr>
          <p:nvPr>
            <p:ph type="body" idx="1"/>
          </p:nvPr>
        </p:nvSpPr>
        <p:spPr/>
        <p:txBody>
          <a:bodyPr>
            <a:normAutofit/>
          </a:bodyPr>
          <a:lstStyle/>
          <a:p>
            <a:r>
              <a:rPr lang="en-US" sz="2400" dirty="0"/>
              <a:t>Mehrabian </a:t>
            </a:r>
            <a:r>
              <a:rPr lang="en-US" sz="2400" dirty="0" smtClean="0"/>
              <a:t>says: “Status </a:t>
            </a:r>
            <a:r>
              <a:rPr lang="en-US" sz="2400" dirty="0"/>
              <a:t>manifests itself by relaxed posture and way of </a:t>
            </a:r>
            <a:r>
              <a:rPr lang="en-US" sz="2400" dirty="0" smtClean="0"/>
              <a:t>interacting.”</a:t>
            </a:r>
            <a:endParaRPr lang="en-US" sz="2400" dirty="0"/>
          </a:p>
          <a:p>
            <a:r>
              <a:rPr lang="en-US" sz="2400" dirty="0"/>
              <a:t>Most non verbal communication at work in U.S. reinforces power.</a:t>
            </a:r>
          </a:p>
          <a:p>
            <a:r>
              <a:rPr lang="en-US" sz="2400" dirty="0"/>
              <a:t>You and I are close friends.</a:t>
            </a:r>
          </a:p>
        </p:txBody>
      </p:sp>
    </p:spTree>
    <p:extLst>
      <p:ext uri="{BB962C8B-B14F-4D97-AF65-F5344CB8AC3E}">
        <p14:creationId xmlns:p14="http://schemas.microsoft.com/office/powerpoint/2010/main" val="255231829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38"/>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a:solidFill>
                  <a:schemeClr val="dk2"/>
                </a:solidFill>
              </a:rPr>
              <a:t>Perceptions of Space</a:t>
            </a:r>
            <a:endParaRPr sz="2800">
              <a:solidFill>
                <a:schemeClr val="dk2"/>
              </a:solidFill>
            </a:endParaRPr>
          </a:p>
        </p:txBody>
      </p:sp>
      <p:sp>
        <p:nvSpPr>
          <p:cNvPr id="235" name="Google Shape;235;p38"/>
          <p:cNvSpPr txBox="1">
            <a:spLocks noGrp="1"/>
          </p:cNvSpPr>
          <p:nvPr>
            <p:ph type="body" idx="1"/>
          </p:nvPr>
        </p:nvSpPr>
        <p:spPr>
          <a:xfrm>
            <a:off x="457200" y="1200151"/>
            <a:ext cx="8229600" cy="3394500"/>
          </a:xfrm>
          <a:prstGeom prst="rect">
            <a:avLst/>
          </a:prstGeom>
          <a:noFill/>
          <a:ln>
            <a:noFill/>
          </a:ln>
        </p:spPr>
        <p:txBody>
          <a:bodyPr spcFirstLastPara="1" wrap="square" lIns="91425" tIns="45700" rIns="91425" bIns="45700" anchor="t" anchorCtr="0">
            <a:normAutofit fontScale="55000" lnSpcReduction="20000"/>
          </a:bodyPr>
          <a:lstStyle/>
          <a:p>
            <a:pPr marL="605155" lvl="0" indent="-514350" algn="l" rtl="0">
              <a:lnSpc>
                <a:spcPct val="170000"/>
              </a:lnSpc>
              <a:spcBef>
                <a:spcPts val="1000"/>
              </a:spcBef>
              <a:spcAft>
                <a:spcPts val="0"/>
              </a:spcAft>
              <a:buSzPct val="100000"/>
              <a:buFont typeface="+mj-lt"/>
              <a:buAutoNum type="arabicPeriod"/>
            </a:pPr>
            <a:r>
              <a:rPr lang="en" sz="2800" dirty="0"/>
              <a:t>Visual space</a:t>
            </a:r>
            <a:endParaRPr sz="2800" dirty="0"/>
          </a:p>
          <a:p>
            <a:pPr marL="605155" lvl="0" indent="-514350" algn="l" rtl="0">
              <a:lnSpc>
                <a:spcPct val="170000"/>
              </a:lnSpc>
              <a:spcBef>
                <a:spcPts val="0"/>
              </a:spcBef>
              <a:spcAft>
                <a:spcPts val="0"/>
              </a:spcAft>
              <a:buSzPct val="100000"/>
              <a:buFont typeface="+mj-lt"/>
              <a:buAutoNum type="arabicPeriod"/>
            </a:pPr>
            <a:r>
              <a:rPr lang="en" sz="2800" dirty="0"/>
              <a:t>Auditory space</a:t>
            </a:r>
            <a:endParaRPr sz="2800" dirty="0"/>
          </a:p>
          <a:p>
            <a:pPr marL="605155" lvl="0" indent="-514350" algn="l" rtl="0">
              <a:lnSpc>
                <a:spcPct val="170000"/>
              </a:lnSpc>
              <a:spcBef>
                <a:spcPts val="0"/>
              </a:spcBef>
              <a:spcAft>
                <a:spcPts val="0"/>
              </a:spcAft>
              <a:buSzPct val="100000"/>
              <a:buFont typeface="+mj-lt"/>
              <a:buAutoNum type="arabicPeriod"/>
            </a:pPr>
            <a:r>
              <a:rPr lang="en" sz="2800" dirty="0"/>
              <a:t>Olfactory Space</a:t>
            </a:r>
            <a:endParaRPr sz="2800" dirty="0"/>
          </a:p>
          <a:p>
            <a:pPr marL="605155" lvl="0" indent="-514350" algn="l" rtl="0">
              <a:lnSpc>
                <a:spcPct val="170000"/>
              </a:lnSpc>
              <a:spcBef>
                <a:spcPts val="0"/>
              </a:spcBef>
              <a:spcAft>
                <a:spcPts val="0"/>
              </a:spcAft>
              <a:buSzPct val="100000"/>
              <a:buFont typeface="+mj-lt"/>
              <a:buAutoNum type="arabicPeriod"/>
            </a:pPr>
            <a:r>
              <a:rPr lang="en" sz="2800" dirty="0"/>
              <a:t>Thermal Space</a:t>
            </a:r>
            <a:endParaRPr sz="2800" dirty="0"/>
          </a:p>
          <a:p>
            <a:pPr marL="605155" lvl="0" indent="-514350" algn="l" rtl="0">
              <a:lnSpc>
                <a:spcPct val="170000"/>
              </a:lnSpc>
              <a:spcBef>
                <a:spcPts val="0"/>
              </a:spcBef>
              <a:spcAft>
                <a:spcPts val="0"/>
              </a:spcAft>
              <a:buSzPct val="100000"/>
              <a:buFont typeface="+mj-lt"/>
              <a:buAutoNum type="arabicPeriod"/>
            </a:pPr>
            <a:r>
              <a:rPr lang="en" sz="2800" dirty="0"/>
              <a:t>Tactile space</a:t>
            </a:r>
            <a:endParaRPr sz="2800" dirty="0"/>
          </a:p>
          <a:p>
            <a:pPr marL="0" lvl="0" indent="0" algn="l" rtl="0">
              <a:lnSpc>
                <a:spcPct val="170000"/>
              </a:lnSpc>
              <a:spcBef>
                <a:spcPts val="1000"/>
              </a:spcBef>
              <a:spcAft>
                <a:spcPts val="0"/>
              </a:spcAft>
              <a:buClr>
                <a:schemeClr val="dk1"/>
              </a:buClr>
              <a:buSzPct val="39285"/>
              <a:buFont typeface="Arial"/>
              <a:buNone/>
            </a:pPr>
            <a:r>
              <a:rPr lang="en" sz="2800" dirty="0"/>
              <a:t>Proper spatial awareness through </a:t>
            </a:r>
            <a:r>
              <a:rPr lang="en-US" sz="2800" dirty="0"/>
              <a:t>a </a:t>
            </a:r>
            <a:r>
              <a:rPr lang="en" sz="2800" dirty="0"/>
              <a:t>different sensorial medium is essential for a speaker to recognize the situational context and changes.</a:t>
            </a:r>
            <a:endParaRPr sz="2800" dirty="0"/>
          </a:p>
          <a:p>
            <a:pPr marL="0" lvl="0" indent="0" algn="l" rtl="0">
              <a:lnSpc>
                <a:spcPct val="170000"/>
              </a:lnSpc>
              <a:spcBef>
                <a:spcPts val="1000"/>
              </a:spcBef>
              <a:spcAft>
                <a:spcPts val="0"/>
              </a:spcAft>
              <a:buClr>
                <a:schemeClr val="dk1"/>
              </a:buClr>
              <a:buSzPct val="39285"/>
              <a:buFont typeface="Arial"/>
              <a:buNone/>
            </a:pPr>
            <a:r>
              <a:rPr lang="en" sz="2800" dirty="0"/>
              <a:t>Enhanced perception of spaces leads to increased output in communication.</a:t>
            </a:r>
            <a:endParaRPr sz="2800" dirty="0"/>
          </a:p>
          <a:p>
            <a:pPr marL="342900" lvl="0" indent="-139700" algn="l" rtl="0">
              <a:spcBef>
                <a:spcPts val="0"/>
              </a:spcBef>
              <a:spcAft>
                <a:spcPts val="0"/>
              </a:spcAft>
              <a:buClr>
                <a:schemeClr val="dk1"/>
              </a:buClr>
              <a:buSzPct val="160000"/>
              <a:buNone/>
            </a:pPr>
            <a:endParaRPr sz="2000" dirty="0"/>
          </a:p>
        </p:txBody>
      </p:sp>
      <p:sp>
        <p:nvSpPr>
          <p:cNvPr id="236" name="Google Shape;236;p38"/>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15</a:t>
            </a:fld>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solidFill>
                  <a:schemeClr val="bg2"/>
                </a:solidFill>
              </a:rPr>
              <a:t>Space in Public Speaking</a:t>
            </a:r>
            <a:endParaRPr lang="en-IN" sz="2800" dirty="0">
              <a:solidFill>
                <a:schemeClr val="bg2"/>
              </a:solidFill>
            </a:endParaRPr>
          </a:p>
        </p:txBody>
      </p:sp>
      <p:sp>
        <p:nvSpPr>
          <p:cNvPr id="3" name="Text Placeholder 2"/>
          <p:cNvSpPr>
            <a:spLocks noGrp="1"/>
          </p:cNvSpPr>
          <p:nvPr>
            <p:ph type="body" idx="1"/>
          </p:nvPr>
        </p:nvSpPr>
        <p:spPr>
          <a:xfrm>
            <a:off x="457200" y="921834"/>
            <a:ext cx="8229600" cy="3695119"/>
          </a:xfrm>
        </p:spPr>
        <p:txBody>
          <a:bodyPr>
            <a:normAutofit/>
          </a:bodyPr>
          <a:lstStyle/>
          <a:p>
            <a:pPr>
              <a:buFont typeface="Wingdings" panose="05000000000000000000" pitchFamily="2" charset="2"/>
              <a:buChar char="v"/>
            </a:pPr>
            <a:r>
              <a:rPr lang="en-IN" sz="2000" dirty="0" smtClean="0"/>
              <a:t>We are conscious of others near us, especially if they are behind us.</a:t>
            </a:r>
          </a:p>
          <a:p>
            <a:pPr>
              <a:buFont typeface="Wingdings" panose="05000000000000000000" pitchFamily="2" charset="2"/>
              <a:buChar char="v"/>
            </a:pPr>
            <a:r>
              <a:rPr lang="en-IN" sz="2000" dirty="0" smtClean="0"/>
              <a:t>A Speaker is prepared to be unaware of physical surroundings.</a:t>
            </a:r>
          </a:p>
          <a:p>
            <a:pPr>
              <a:buFont typeface="Wingdings" panose="05000000000000000000" pitchFamily="2" charset="2"/>
              <a:buChar char="v"/>
            </a:pPr>
            <a:r>
              <a:rPr lang="en-IN" sz="2000" dirty="0" smtClean="0"/>
              <a:t>A speaker should become conscious of how close he should stand to the audience.</a:t>
            </a:r>
          </a:p>
          <a:p>
            <a:pPr>
              <a:buFont typeface="Wingdings" panose="05000000000000000000" pitchFamily="2" charset="2"/>
              <a:buChar char="v"/>
            </a:pPr>
            <a:r>
              <a:rPr lang="en-IN" sz="2000" dirty="0" smtClean="0"/>
              <a:t>It is easier to understand the speech of a person one can see.</a:t>
            </a:r>
            <a:endParaRPr lang="en-IN" sz="2000" dirty="0"/>
          </a:p>
        </p:txBody>
      </p:sp>
      <p:sp>
        <p:nvSpPr>
          <p:cNvPr id="4" name="Rectangle 3"/>
          <p:cNvSpPr/>
          <p:nvPr/>
        </p:nvSpPr>
        <p:spPr>
          <a:xfrm>
            <a:off x="1561170" y="2869581"/>
            <a:ext cx="6348761" cy="165038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IN" dirty="0" smtClean="0">
                <a:solidFill>
                  <a:srgbClr val="FFFF00"/>
                </a:solidFill>
              </a:rPr>
              <a:t>Anglo-Saxons stand at a reserved distance when conversing, while the Spanish and Italian peoples stand much closer. At international conferences you can often see Americans and British people edging backwards, pursued by Italians and Spaniards trying to get to their usual degrees of closeness.</a:t>
            </a:r>
          </a:p>
          <a:p>
            <a:pPr algn="just"/>
            <a:endParaRPr lang="en-IN" dirty="0" smtClean="0">
              <a:solidFill>
                <a:srgbClr val="FFFF00"/>
              </a:solidFill>
            </a:endParaRPr>
          </a:p>
          <a:p>
            <a:pPr algn="just"/>
            <a:r>
              <a:rPr lang="en-IN" dirty="0" smtClean="0"/>
              <a:t>                                                      </a:t>
            </a:r>
            <a:r>
              <a:rPr lang="en-IN" dirty="0" smtClean="0">
                <a:solidFill>
                  <a:srgbClr val="FFFF00"/>
                </a:solidFill>
              </a:rPr>
              <a:t>(Christopher Turk in </a:t>
            </a:r>
            <a:r>
              <a:rPr lang="en-IN" i="1" dirty="0" smtClean="0">
                <a:solidFill>
                  <a:srgbClr val="FFFF00"/>
                </a:solidFill>
              </a:rPr>
              <a:t>Effective Speaking </a:t>
            </a:r>
            <a:r>
              <a:rPr lang="en-IN" dirty="0" smtClean="0">
                <a:solidFill>
                  <a:srgbClr val="FFFF00"/>
                </a:solidFill>
              </a:rPr>
              <a:t>)</a:t>
            </a:r>
            <a:endParaRPr lang="en-IN" dirty="0">
              <a:solidFill>
                <a:srgbClr val="FFFF00"/>
              </a:solidFill>
            </a:endParaRPr>
          </a:p>
        </p:txBody>
      </p:sp>
    </p:spTree>
    <p:extLst>
      <p:ext uri="{BB962C8B-B14F-4D97-AF65-F5344CB8AC3E}">
        <p14:creationId xmlns:p14="http://schemas.microsoft.com/office/powerpoint/2010/main" val="1528415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2800" dirty="0" smtClean="0">
                <a:solidFill>
                  <a:schemeClr val="bg2"/>
                </a:solidFill>
              </a:rPr>
              <a:t>Some Tips </a:t>
            </a:r>
            <a:endParaRPr lang="en-IN" sz="2800" dirty="0">
              <a:solidFill>
                <a:schemeClr val="bg2"/>
              </a:solidFill>
            </a:endParaRPr>
          </a:p>
        </p:txBody>
      </p:sp>
      <p:sp>
        <p:nvSpPr>
          <p:cNvPr id="3" name="Text Placeholder 2"/>
          <p:cNvSpPr>
            <a:spLocks noGrp="1"/>
          </p:cNvSpPr>
          <p:nvPr>
            <p:ph type="body" idx="1"/>
          </p:nvPr>
        </p:nvSpPr>
        <p:spPr/>
        <p:txBody>
          <a:bodyPr>
            <a:normAutofit/>
          </a:bodyPr>
          <a:lstStyle/>
          <a:p>
            <a:pPr>
              <a:buFont typeface="Wingdings" panose="05000000000000000000" pitchFamily="2" charset="2"/>
              <a:buChar char="ü"/>
            </a:pPr>
            <a:r>
              <a:rPr lang="en-IN" sz="2400" dirty="0" smtClean="0"/>
              <a:t>Check the room and physical arrangement in advance.</a:t>
            </a:r>
          </a:p>
          <a:p>
            <a:pPr>
              <a:buFont typeface="Wingdings" panose="05000000000000000000" pitchFamily="2" charset="2"/>
              <a:buChar char="ü"/>
            </a:pPr>
            <a:r>
              <a:rPr lang="en-IN" sz="2400" dirty="0" smtClean="0"/>
              <a:t>Request for change if required. Ensure proper ventilation.</a:t>
            </a:r>
          </a:p>
          <a:p>
            <a:pPr>
              <a:buFont typeface="Wingdings" panose="05000000000000000000" pitchFamily="2" charset="2"/>
              <a:buChar char="ü"/>
            </a:pPr>
            <a:r>
              <a:rPr lang="en-IN" sz="2400" dirty="0" smtClean="0"/>
              <a:t>Be aware of audience’s cultural background.</a:t>
            </a:r>
          </a:p>
          <a:p>
            <a:pPr>
              <a:buFont typeface="Wingdings" panose="05000000000000000000" pitchFamily="2" charset="2"/>
              <a:buChar char="ü"/>
            </a:pPr>
            <a:r>
              <a:rPr lang="en-IN" sz="2400" dirty="0" smtClean="0"/>
              <a:t>Push the rostrum to one side and </a:t>
            </a:r>
            <a:r>
              <a:rPr lang="en-US" sz="2400" dirty="0" smtClean="0"/>
              <a:t>stand </a:t>
            </a:r>
            <a:r>
              <a:rPr lang="en-US" sz="2400" dirty="0"/>
              <a:t>in front of the table</a:t>
            </a:r>
            <a:r>
              <a:rPr lang="en-US" sz="2400" dirty="0" smtClean="0"/>
              <a:t>.</a:t>
            </a:r>
          </a:p>
          <a:p>
            <a:endParaRPr lang="en-IN" dirty="0"/>
          </a:p>
        </p:txBody>
      </p:sp>
    </p:spTree>
    <p:extLst>
      <p:ext uri="{BB962C8B-B14F-4D97-AF65-F5344CB8AC3E}">
        <p14:creationId xmlns:p14="http://schemas.microsoft.com/office/powerpoint/2010/main" val="22273048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9"/>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a:solidFill>
                  <a:schemeClr val="dk2"/>
                </a:solidFill>
              </a:rPr>
              <a:t>Digital Proxemics</a:t>
            </a:r>
            <a:endParaRPr sz="2800">
              <a:solidFill>
                <a:schemeClr val="dk2"/>
              </a:solidFill>
            </a:endParaRPr>
          </a:p>
        </p:txBody>
      </p:sp>
      <p:sp>
        <p:nvSpPr>
          <p:cNvPr id="242" name="Google Shape;242;p39"/>
          <p:cNvSpPr txBox="1">
            <a:spLocks noGrp="1"/>
          </p:cNvSpPr>
          <p:nvPr>
            <p:ph type="body" idx="1"/>
          </p:nvPr>
        </p:nvSpPr>
        <p:spPr>
          <a:xfrm>
            <a:off x="457200" y="1017975"/>
            <a:ext cx="5900400" cy="3576600"/>
          </a:xfrm>
          <a:prstGeom prst="rect">
            <a:avLst/>
          </a:prstGeom>
          <a:noFill/>
          <a:ln>
            <a:noFill/>
          </a:ln>
        </p:spPr>
        <p:txBody>
          <a:bodyPr spcFirstLastPara="1" wrap="square" lIns="91425" tIns="45700" rIns="91425" bIns="45700" anchor="t" anchorCtr="0">
            <a:normAutofit fontScale="85000" lnSpcReduction="20000"/>
          </a:bodyPr>
          <a:lstStyle/>
          <a:p>
            <a:pPr marL="342900" lvl="0" algn="l" rtl="0">
              <a:lnSpc>
                <a:spcPct val="115000"/>
              </a:lnSpc>
              <a:spcBef>
                <a:spcPts val="0"/>
              </a:spcBef>
              <a:spcAft>
                <a:spcPts val="0"/>
              </a:spcAft>
              <a:buClr>
                <a:schemeClr val="dk1"/>
              </a:buClr>
              <a:buSzPct val="55000"/>
              <a:buFont typeface="Wingdings" panose="05000000000000000000" pitchFamily="2" charset="2"/>
              <a:buChar char="q"/>
            </a:pPr>
            <a:r>
              <a:rPr lang="en" sz="2000" dirty="0" smtClean="0"/>
              <a:t>Proxemics </a:t>
            </a:r>
            <a:r>
              <a:rPr lang="en" sz="2000" dirty="0"/>
              <a:t>is a marker of intercultural communication.</a:t>
            </a:r>
            <a:endParaRPr sz="2000" dirty="0"/>
          </a:p>
          <a:p>
            <a:pPr marL="342900" lvl="0" algn="l" rtl="0">
              <a:lnSpc>
                <a:spcPct val="115000"/>
              </a:lnSpc>
              <a:spcBef>
                <a:spcPts val="0"/>
              </a:spcBef>
              <a:spcAft>
                <a:spcPts val="0"/>
              </a:spcAft>
              <a:buClr>
                <a:schemeClr val="dk1"/>
              </a:buClr>
              <a:buSzPct val="55000"/>
              <a:buFont typeface="Wingdings" panose="05000000000000000000" pitchFamily="2" charset="2"/>
              <a:buChar char="q"/>
            </a:pPr>
            <a:r>
              <a:rPr lang="en" sz="2000" dirty="0" smtClean="0"/>
              <a:t>With </a:t>
            </a:r>
            <a:r>
              <a:rPr lang="en" sz="2000" dirty="0"/>
              <a:t>increasing </a:t>
            </a:r>
            <a:r>
              <a:rPr lang="en-US" sz="2000" dirty="0"/>
              <a:t>trends</a:t>
            </a:r>
            <a:r>
              <a:rPr lang="en" sz="2000" dirty="0"/>
              <a:t> </a:t>
            </a:r>
            <a:r>
              <a:rPr lang="en-US" sz="2000" dirty="0"/>
              <a:t>toward</a:t>
            </a:r>
            <a:r>
              <a:rPr lang="en" sz="2000" dirty="0"/>
              <a:t> digital culture, one can observe changes in human perceptions of space too.</a:t>
            </a:r>
            <a:endParaRPr sz="2000" dirty="0"/>
          </a:p>
          <a:p>
            <a:pPr marL="342900" lvl="0" algn="l" rtl="0">
              <a:lnSpc>
                <a:spcPct val="115000"/>
              </a:lnSpc>
              <a:spcBef>
                <a:spcPts val="0"/>
              </a:spcBef>
              <a:spcAft>
                <a:spcPts val="0"/>
              </a:spcAft>
              <a:buClr>
                <a:schemeClr val="dk1"/>
              </a:buClr>
              <a:buSzPct val="55000"/>
              <a:buFont typeface="Wingdings" panose="05000000000000000000" pitchFamily="2" charset="2"/>
              <a:buChar char="q"/>
            </a:pPr>
            <a:endParaRPr sz="2000" dirty="0"/>
          </a:p>
          <a:p>
            <a:pPr marL="0" lvl="0" indent="0" algn="l" rtl="0">
              <a:lnSpc>
                <a:spcPct val="115000"/>
              </a:lnSpc>
              <a:spcBef>
                <a:spcPts val="0"/>
              </a:spcBef>
              <a:spcAft>
                <a:spcPts val="0"/>
              </a:spcAft>
              <a:buClr>
                <a:schemeClr val="dk1"/>
              </a:buClr>
              <a:buSzPct val="55000"/>
              <a:buNone/>
            </a:pPr>
            <a:r>
              <a:rPr lang="en" sz="2000" dirty="0">
                <a:solidFill>
                  <a:schemeClr val="bg2"/>
                </a:solidFill>
              </a:rPr>
              <a:t>“As culture changes, so changes the rule of proxemics”</a:t>
            </a:r>
            <a:r>
              <a:rPr lang="en" sz="2000" dirty="0"/>
              <a:t> (McArthur 25 )</a:t>
            </a:r>
            <a:endParaRPr sz="2000" dirty="0"/>
          </a:p>
          <a:p>
            <a:pPr marL="0" lvl="0" indent="0" algn="l" rtl="0">
              <a:lnSpc>
                <a:spcPct val="115000"/>
              </a:lnSpc>
              <a:spcBef>
                <a:spcPts val="0"/>
              </a:spcBef>
              <a:spcAft>
                <a:spcPts val="0"/>
              </a:spcAft>
              <a:buClr>
                <a:schemeClr val="dk1"/>
              </a:buClr>
              <a:buSzPct val="55000"/>
              <a:buFont typeface="Arial"/>
              <a:buNone/>
            </a:pPr>
            <a:endParaRPr sz="2000" dirty="0"/>
          </a:p>
          <a:p>
            <a:pPr marL="0" lvl="0" indent="0" algn="l" rtl="0">
              <a:lnSpc>
                <a:spcPct val="115000"/>
              </a:lnSpc>
              <a:spcBef>
                <a:spcPts val="0"/>
              </a:spcBef>
              <a:spcAft>
                <a:spcPts val="0"/>
              </a:spcAft>
              <a:buClr>
                <a:schemeClr val="dk1"/>
              </a:buClr>
              <a:buSzPct val="55000"/>
              <a:buFont typeface="Arial"/>
              <a:buNone/>
            </a:pPr>
            <a:r>
              <a:rPr lang="en" sz="2000" dirty="0">
                <a:latin typeface="Arial"/>
                <a:ea typeface="Arial"/>
                <a:cs typeface="Arial"/>
                <a:sym typeface="Arial"/>
              </a:rPr>
              <a:t>i</a:t>
            </a:r>
            <a:r>
              <a:rPr lang="en" sz="2000" dirty="0" smtClean="0">
                <a:latin typeface="Arial"/>
                <a:ea typeface="Arial"/>
                <a:cs typeface="Arial"/>
                <a:sym typeface="Arial"/>
              </a:rPr>
              <a:t>. </a:t>
            </a:r>
            <a:r>
              <a:rPr lang="en" sz="2000" dirty="0" smtClean="0"/>
              <a:t>Smart </a:t>
            </a:r>
            <a:r>
              <a:rPr lang="en" sz="2000" dirty="0"/>
              <a:t>cities</a:t>
            </a:r>
            <a:endParaRPr sz="2000" dirty="0"/>
          </a:p>
          <a:p>
            <a:pPr marL="0" lvl="0" indent="0" algn="l" rtl="0">
              <a:lnSpc>
                <a:spcPct val="115000"/>
              </a:lnSpc>
              <a:spcBef>
                <a:spcPts val="0"/>
              </a:spcBef>
              <a:spcAft>
                <a:spcPts val="0"/>
              </a:spcAft>
              <a:buClr>
                <a:schemeClr val="dk1"/>
              </a:buClr>
              <a:buSzPct val="55000"/>
              <a:buFont typeface="Arial"/>
              <a:buNone/>
            </a:pPr>
            <a:r>
              <a:rPr lang="en" sz="2000" dirty="0">
                <a:latin typeface="Arial"/>
                <a:ea typeface="Arial"/>
                <a:cs typeface="Arial"/>
                <a:sym typeface="Arial"/>
              </a:rPr>
              <a:t>ii</a:t>
            </a:r>
            <a:r>
              <a:rPr lang="en" sz="2000" dirty="0" smtClean="0">
                <a:latin typeface="Arial"/>
                <a:ea typeface="Arial"/>
                <a:cs typeface="Arial"/>
                <a:sym typeface="Arial"/>
              </a:rPr>
              <a:t>. </a:t>
            </a:r>
            <a:r>
              <a:rPr lang="en" sz="2000" dirty="0" smtClean="0"/>
              <a:t>Digital </a:t>
            </a:r>
            <a:r>
              <a:rPr lang="en" sz="2000" dirty="0"/>
              <a:t>classrooms</a:t>
            </a:r>
            <a:endParaRPr sz="2000" dirty="0"/>
          </a:p>
          <a:p>
            <a:pPr marL="0" lvl="0" indent="0" algn="l" rtl="0">
              <a:lnSpc>
                <a:spcPct val="115000"/>
              </a:lnSpc>
              <a:spcBef>
                <a:spcPts val="0"/>
              </a:spcBef>
              <a:spcAft>
                <a:spcPts val="0"/>
              </a:spcAft>
              <a:buClr>
                <a:schemeClr val="dk1"/>
              </a:buClr>
              <a:buSzPct val="55000"/>
              <a:buFont typeface="Arial"/>
              <a:buNone/>
            </a:pPr>
            <a:r>
              <a:rPr lang="en" sz="2000" dirty="0">
                <a:latin typeface="Arial"/>
                <a:ea typeface="Arial"/>
                <a:cs typeface="Arial"/>
                <a:sym typeface="Arial"/>
              </a:rPr>
              <a:t>iii</a:t>
            </a:r>
            <a:r>
              <a:rPr lang="en" sz="2000" dirty="0" smtClean="0">
                <a:latin typeface="Arial"/>
                <a:ea typeface="Arial"/>
                <a:cs typeface="Arial"/>
                <a:sym typeface="Arial"/>
              </a:rPr>
              <a:t>. </a:t>
            </a:r>
            <a:r>
              <a:rPr lang="en" sz="2000" dirty="0" smtClean="0"/>
              <a:t>Sentient </a:t>
            </a:r>
            <a:r>
              <a:rPr lang="en" sz="2000" dirty="0"/>
              <a:t>objects</a:t>
            </a:r>
            <a:endParaRPr sz="2000" dirty="0"/>
          </a:p>
          <a:p>
            <a:pPr marL="0" lvl="0" indent="0" algn="l" rtl="0">
              <a:lnSpc>
                <a:spcPct val="115000"/>
              </a:lnSpc>
              <a:spcBef>
                <a:spcPts val="0"/>
              </a:spcBef>
              <a:spcAft>
                <a:spcPts val="0"/>
              </a:spcAft>
              <a:buClr>
                <a:schemeClr val="dk1"/>
              </a:buClr>
              <a:buSzPct val="55000"/>
              <a:buFont typeface="Arial"/>
              <a:buNone/>
            </a:pPr>
            <a:r>
              <a:rPr lang="en" sz="2000" dirty="0">
                <a:latin typeface="Arial"/>
                <a:ea typeface="Arial"/>
                <a:cs typeface="Arial"/>
                <a:sym typeface="Arial"/>
              </a:rPr>
              <a:t>iv</a:t>
            </a:r>
            <a:r>
              <a:rPr lang="en" sz="2000" dirty="0" smtClean="0">
                <a:latin typeface="Arial"/>
                <a:ea typeface="Arial"/>
                <a:cs typeface="Arial"/>
                <a:sym typeface="Arial"/>
              </a:rPr>
              <a:t>. </a:t>
            </a:r>
            <a:r>
              <a:rPr lang="en" sz="2000" dirty="0" smtClean="0"/>
              <a:t>Wearable </a:t>
            </a:r>
            <a:r>
              <a:rPr lang="en" sz="2000" dirty="0"/>
              <a:t>e-gadgets</a:t>
            </a:r>
            <a:endParaRPr sz="2000" dirty="0"/>
          </a:p>
          <a:p>
            <a:pPr marL="0" lvl="0" indent="0" algn="l" rtl="0">
              <a:lnSpc>
                <a:spcPct val="115000"/>
              </a:lnSpc>
              <a:spcBef>
                <a:spcPts val="0"/>
              </a:spcBef>
              <a:spcAft>
                <a:spcPts val="0"/>
              </a:spcAft>
              <a:buClr>
                <a:schemeClr val="dk1"/>
              </a:buClr>
              <a:buSzPct val="55000"/>
              <a:buFont typeface="Arial"/>
              <a:buNone/>
            </a:pPr>
            <a:endParaRPr sz="2000" dirty="0"/>
          </a:p>
          <a:p>
            <a:pPr marL="0" lvl="0" indent="0" algn="l" rtl="0">
              <a:lnSpc>
                <a:spcPct val="115000"/>
              </a:lnSpc>
              <a:spcBef>
                <a:spcPts val="0"/>
              </a:spcBef>
              <a:spcAft>
                <a:spcPts val="0"/>
              </a:spcAft>
              <a:buClr>
                <a:schemeClr val="dk1"/>
              </a:buClr>
              <a:buSzPct val="55000"/>
              <a:buNone/>
            </a:pPr>
            <a:r>
              <a:rPr lang="en" sz="2000" dirty="0"/>
              <a:t>The above additions to our communication space </a:t>
            </a:r>
            <a:r>
              <a:rPr lang="en-US" sz="2000" dirty="0"/>
              <a:t>have</a:t>
            </a:r>
            <a:r>
              <a:rPr lang="en" sz="2000" dirty="0"/>
              <a:t> redefined proxemics </a:t>
            </a:r>
            <a:r>
              <a:rPr lang="en-US" sz="2000" dirty="0"/>
              <a:t>on</a:t>
            </a:r>
            <a:r>
              <a:rPr lang="en" sz="2000" dirty="0"/>
              <a:t> multiple levels.</a:t>
            </a:r>
            <a:endParaRPr sz="2000" dirty="0"/>
          </a:p>
        </p:txBody>
      </p:sp>
      <p:sp>
        <p:nvSpPr>
          <p:cNvPr id="243" name="Google Shape;243;p39"/>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18</a:t>
            </a:fld>
            <a:endParaRPr/>
          </a:p>
        </p:txBody>
      </p:sp>
      <p:pic>
        <p:nvPicPr>
          <p:cNvPr id="244" name="Google Shape;244;p39"/>
          <p:cNvPicPr preferRelativeResize="0"/>
          <p:nvPr/>
        </p:nvPicPr>
        <p:blipFill>
          <a:blip r:embed="rId3">
            <a:alphaModFix/>
          </a:blip>
          <a:stretch>
            <a:fillRect/>
          </a:stretch>
        </p:blipFill>
        <p:spPr>
          <a:xfrm>
            <a:off x="5962675" y="1830637"/>
            <a:ext cx="2946350" cy="2169375"/>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0"/>
          <p:cNvSpPr txBox="1">
            <a:spLocks noGrp="1"/>
          </p:cNvSpPr>
          <p:nvPr>
            <p:ph type="body" idx="1"/>
          </p:nvPr>
        </p:nvSpPr>
        <p:spPr>
          <a:xfrm>
            <a:off x="457199" y="1200150"/>
            <a:ext cx="7705493" cy="2040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1000"/>
              </a:spcBef>
              <a:spcAft>
                <a:spcPts val="0"/>
              </a:spcAft>
              <a:buClr>
                <a:schemeClr val="dk1"/>
              </a:buClr>
              <a:buSzPts val="1100"/>
              <a:buFont typeface="Arial"/>
              <a:buNone/>
            </a:pPr>
            <a:r>
              <a:rPr lang="en" sz="2400" dirty="0"/>
              <a:t>“Proximity breeds familiarity, and </a:t>
            </a:r>
            <a:r>
              <a:rPr lang="en-US" sz="2400" dirty="0"/>
              <a:t>familiarity</a:t>
            </a:r>
            <a:r>
              <a:rPr lang="en" sz="2400" dirty="0"/>
              <a:t> breeds comfort.”</a:t>
            </a:r>
            <a:endParaRPr sz="2400" dirty="0"/>
          </a:p>
          <a:p>
            <a:pPr marL="0" lvl="0" indent="0" algn="l" rtl="0">
              <a:lnSpc>
                <a:spcPct val="90000"/>
              </a:lnSpc>
              <a:spcBef>
                <a:spcPts val="1000"/>
              </a:spcBef>
              <a:spcAft>
                <a:spcPts val="0"/>
              </a:spcAft>
              <a:buClr>
                <a:schemeClr val="dk1"/>
              </a:buClr>
              <a:buSzPts val="1100"/>
              <a:buFont typeface="Arial"/>
              <a:buNone/>
            </a:pPr>
            <a:r>
              <a:rPr lang="en" sz="2400" dirty="0" smtClean="0"/>
              <a:t>                                  - </a:t>
            </a:r>
            <a:r>
              <a:rPr lang="en" sz="2400" dirty="0"/>
              <a:t>Nicholas Sparks in </a:t>
            </a:r>
            <a:r>
              <a:rPr lang="en" sz="2400" i="1" dirty="0"/>
              <a:t>The Lucky One</a:t>
            </a:r>
            <a:endParaRPr sz="2400" i="1" dirty="0"/>
          </a:p>
          <a:p>
            <a:pPr marL="342900" lvl="0" indent="-139700" algn="l" rtl="0">
              <a:spcBef>
                <a:spcPts val="0"/>
              </a:spcBef>
              <a:spcAft>
                <a:spcPts val="0"/>
              </a:spcAft>
              <a:buClr>
                <a:schemeClr val="dk1"/>
              </a:buClr>
              <a:buSzPts val="3200"/>
              <a:buNone/>
            </a:pPr>
            <a:endParaRPr sz="2000" dirty="0"/>
          </a:p>
        </p:txBody>
      </p:sp>
      <p:sp>
        <p:nvSpPr>
          <p:cNvPr id="250" name="Google Shape;250;p40"/>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19</a:t>
            </a:fld>
            <a:endParaRPr/>
          </a:p>
        </p:txBody>
      </p:sp>
      <p:sp>
        <p:nvSpPr>
          <p:cNvPr id="251" name="Google Shape;251;p40"/>
          <p:cNvSpPr txBox="1"/>
          <p:nvPr/>
        </p:nvSpPr>
        <p:spPr>
          <a:xfrm>
            <a:off x="5626500" y="3480691"/>
            <a:ext cx="2178300" cy="531300"/>
          </a:xfrm>
          <a:prstGeom prst="rect">
            <a:avLst/>
          </a:prstGeom>
          <a:noFill/>
          <a:ln>
            <a:noFill/>
          </a:ln>
        </p:spPr>
        <p:txBody>
          <a:bodyPr spcFirstLastPara="1" wrap="square" lIns="91425" tIns="45700" rIns="91425" bIns="45700" anchor="t" anchorCtr="0">
            <a:normAutofit/>
          </a:bodyPr>
          <a:lstStyle/>
          <a:p>
            <a:pPr marL="342900" marR="0" lvl="0" indent="-342900" algn="ctr" rtl="0">
              <a:lnSpc>
                <a:spcPct val="100000"/>
              </a:lnSpc>
              <a:spcBef>
                <a:spcPts val="0"/>
              </a:spcBef>
              <a:spcAft>
                <a:spcPts val="0"/>
              </a:spcAft>
              <a:buNone/>
            </a:pPr>
            <a:r>
              <a:rPr lang="en" sz="2800" b="1" i="0" u="none" strike="noStrike" cap="none">
                <a:solidFill>
                  <a:srgbClr val="353C5F"/>
                </a:solidFill>
                <a:latin typeface="Calibri"/>
                <a:ea typeface="Calibri"/>
                <a:cs typeface="Calibri"/>
                <a:sym typeface="Calibri"/>
              </a:rPr>
              <a:t>Thank You</a:t>
            </a:r>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1"/>
          <p:cNvSpPr txBox="1">
            <a:spLocks noGrp="1"/>
          </p:cNvSpPr>
          <p:nvPr>
            <p:ph type="title"/>
          </p:nvPr>
        </p:nvSpPr>
        <p:spPr>
          <a:xfrm>
            <a:off x="457200" y="205978"/>
            <a:ext cx="8229600" cy="8574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 sz="2800">
                <a:solidFill>
                  <a:schemeClr val="dk2"/>
                </a:solidFill>
              </a:rPr>
              <a:t>Works Consulted</a:t>
            </a:r>
            <a:endParaRPr sz="2800">
              <a:solidFill>
                <a:schemeClr val="dk2"/>
              </a:solidFill>
            </a:endParaRPr>
          </a:p>
        </p:txBody>
      </p:sp>
      <p:sp>
        <p:nvSpPr>
          <p:cNvPr id="257" name="Google Shape;257;p41"/>
          <p:cNvSpPr txBox="1">
            <a:spLocks noGrp="1"/>
          </p:cNvSpPr>
          <p:nvPr>
            <p:ph type="body" idx="1"/>
          </p:nvPr>
        </p:nvSpPr>
        <p:spPr>
          <a:xfrm>
            <a:off x="457200" y="906966"/>
            <a:ext cx="8229600" cy="3687685"/>
          </a:xfrm>
          <a:prstGeom prst="rect">
            <a:avLst/>
          </a:prstGeom>
          <a:noFill/>
          <a:ln>
            <a:noFill/>
          </a:ln>
        </p:spPr>
        <p:txBody>
          <a:bodyPr spcFirstLastPara="1" wrap="square" lIns="91425" tIns="45700" rIns="91425" bIns="45700" anchor="t" anchorCtr="0">
            <a:normAutofit fontScale="92500" lnSpcReduction="10000"/>
          </a:bodyPr>
          <a:lstStyle/>
          <a:p>
            <a:pPr marL="342900" lvl="0" algn="just">
              <a:lnSpc>
                <a:spcPct val="90000"/>
              </a:lnSpc>
              <a:spcBef>
                <a:spcPts val="1000"/>
              </a:spcBef>
              <a:buSzPts val="1100"/>
              <a:buFont typeface="Wingdings" panose="05000000000000000000" pitchFamily="2" charset="2"/>
              <a:buChar char="q"/>
            </a:pPr>
            <a:r>
              <a:rPr lang="en-US" sz="2200" dirty="0">
                <a:solidFill>
                  <a:srgbClr val="222222"/>
                </a:solidFill>
                <a:latin typeface="Calibri" panose="020F0502020204030204" pitchFamily="34" charset="0"/>
              </a:rPr>
              <a:t>Adler, Ronald B., et al. Interplay: The Process of Interpersonal Communication, Oxford University Press, 2010.</a:t>
            </a:r>
          </a:p>
          <a:p>
            <a:pPr marL="342900" lvl="0" algn="just" rtl="0">
              <a:lnSpc>
                <a:spcPct val="90000"/>
              </a:lnSpc>
              <a:spcBef>
                <a:spcPts val="1000"/>
              </a:spcBef>
              <a:spcAft>
                <a:spcPts val="0"/>
              </a:spcAft>
              <a:buClr>
                <a:schemeClr val="dk1"/>
              </a:buClr>
              <a:buSzPts val="1100"/>
              <a:buFont typeface="Wingdings" panose="05000000000000000000" pitchFamily="2" charset="2"/>
              <a:buChar char="q"/>
            </a:pPr>
            <a:r>
              <a:rPr lang="en" sz="2200" dirty="0" smtClean="0">
                <a:solidFill>
                  <a:srgbClr val="222222"/>
                </a:solidFill>
                <a:latin typeface="Calibri" panose="020F0502020204030204" pitchFamily="34" charset="0"/>
              </a:rPr>
              <a:t>Hall, Edward T. </a:t>
            </a:r>
            <a:r>
              <a:rPr lang="en" sz="2200" i="1" dirty="0" smtClean="0">
                <a:solidFill>
                  <a:srgbClr val="222222"/>
                </a:solidFill>
                <a:latin typeface="Calibri" panose="020F0502020204030204" pitchFamily="34" charset="0"/>
              </a:rPr>
              <a:t>The Hidden Dimension</a:t>
            </a:r>
            <a:r>
              <a:rPr lang="en" sz="2200" dirty="0" smtClean="0">
                <a:solidFill>
                  <a:srgbClr val="222222"/>
                </a:solidFill>
                <a:latin typeface="Calibri" panose="020F0502020204030204" pitchFamily="34" charset="0"/>
              </a:rPr>
              <a:t>, Anchor Books, 1969.</a:t>
            </a:r>
            <a:endParaRPr sz="2200" dirty="0" smtClean="0">
              <a:solidFill>
                <a:srgbClr val="222222"/>
              </a:solidFill>
              <a:latin typeface="Calibri" panose="020F0502020204030204" pitchFamily="34" charset="0"/>
            </a:endParaRPr>
          </a:p>
          <a:p>
            <a:pPr marL="342900" lvl="0" algn="just" rtl="0">
              <a:lnSpc>
                <a:spcPct val="90000"/>
              </a:lnSpc>
              <a:spcBef>
                <a:spcPts val="1000"/>
              </a:spcBef>
              <a:spcAft>
                <a:spcPts val="0"/>
              </a:spcAft>
              <a:buClr>
                <a:schemeClr val="dk1"/>
              </a:buClr>
              <a:buSzPts val="1100"/>
              <a:buFont typeface="Wingdings" panose="05000000000000000000" pitchFamily="2" charset="2"/>
              <a:buChar char="q"/>
            </a:pPr>
            <a:r>
              <a:rPr lang="en" sz="2200" dirty="0" smtClean="0">
                <a:latin typeface="Calibri" panose="020F0502020204030204" pitchFamily="34" charset="0"/>
              </a:rPr>
              <a:t>McArthur, John A. </a:t>
            </a:r>
            <a:r>
              <a:rPr lang="en" sz="2200" i="1" dirty="0" smtClean="0">
                <a:latin typeface="Calibri" panose="020F0502020204030204" pitchFamily="34" charset="0"/>
              </a:rPr>
              <a:t>Digital proxemics: How technology shapes the ways we move, </a:t>
            </a:r>
            <a:r>
              <a:rPr lang="en" sz="2200" dirty="0" smtClean="0">
                <a:latin typeface="Calibri" panose="020F0502020204030204" pitchFamily="34" charset="0"/>
              </a:rPr>
              <a:t>Peter Lang International Academic Publishers, 2016.</a:t>
            </a:r>
            <a:endParaRPr sz="2200" dirty="0" smtClean="0">
              <a:latin typeface="Calibri" panose="020F0502020204030204" pitchFamily="34" charset="0"/>
            </a:endParaRPr>
          </a:p>
          <a:p>
            <a:pPr marL="342900" lvl="0" algn="just" rtl="0">
              <a:lnSpc>
                <a:spcPct val="90000"/>
              </a:lnSpc>
              <a:spcBef>
                <a:spcPts val="1000"/>
              </a:spcBef>
              <a:spcAft>
                <a:spcPts val="0"/>
              </a:spcAft>
              <a:buClr>
                <a:schemeClr val="dk1"/>
              </a:buClr>
              <a:buSzPts val="1100"/>
              <a:buFont typeface="Wingdings" panose="05000000000000000000" pitchFamily="2" charset="2"/>
              <a:buChar char="q"/>
            </a:pPr>
            <a:r>
              <a:rPr lang="en" sz="2200" dirty="0" smtClean="0">
                <a:latin typeface="Calibri" panose="020F0502020204030204" pitchFamily="34" charset="0"/>
              </a:rPr>
              <a:t>Riggio, Ronald E., and Robert S. Feldman. </a:t>
            </a:r>
            <a:r>
              <a:rPr lang="en" sz="2200" i="1" dirty="0" smtClean="0">
                <a:latin typeface="Calibri" panose="020F0502020204030204" pitchFamily="34" charset="0"/>
              </a:rPr>
              <a:t>Applications of nonverbal communication,</a:t>
            </a:r>
            <a:r>
              <a:rPr lang="en" sz="2200" dirty="0" smtClean="0">
                <a:latin typeface="Calibri" panose="020F0502020204030204" pitchFamily="34" charset="0"/>
              </a:rPr>
              <a:t> Psychology Press, 2005.</a:t>
            </a:r>
          </a:p>
          <a:p>
            <a:pPr marL="342900" lvl="0" algn="just">
              <a:lnSpc>
                <a:spcPct val="90000"/>
              </a:lnSpc>
              <a:spcBef>
                <a:spcPts val="1000"/>
              </a:spcBef>
              <a:buSzPts val="1100"/>
              <a:buFont typeface="Wingdings" panose="05000000000000000000" pitchFamily="2" charset="2"/>
              <a:buChar char="q"/>
            </a:pPr>
            <a:r>
              <a:rPr lang="en-US" sz="2200" dirty="0">
                <a:latin typeface="Calibri" panose="020F0502020204030204" pitchFamily="34" charset="0"/>
              </a:rPr>
              <a:t>Sharma, </a:t>
            </a:r>
            <a:r>
              <a:rPr lang="en-US" sz="2200" dirty="0" err="1">
                <a:latin typeface="Calibri" panose="020F0502020204030204" pitchFamily="34" charset="0"/>
              </a:rPr>
              <a:t>Sangeeta</a:t>
            </a:r>
            <a:r>
              <a:rPr lang="en-US" sz="2200" dirty="0">
                <a:latin typeface="Calibri" panose="020F0502020204030204" pitchFamily="34" charset="0"/>
              </a:rPr>
              <a:t> and </a:t>
            </a:r>
            <a:r>
              <a:rPr lang="en-US" sz="2200" dirty="0" err="1">
                <a:latin typeface="Calibri" panose="020F0502020204030204" pitchFamily="34" charset="0"/>
              </a:rPr>
              <a:t>Binod</a:t>
            </a:r>
            <a:r>
              <a:rPr lang="en-US" sz="2200" dirty="0">
                <a:latin typeface="Calibri" panose="020F0502020204030204" pitchFamily="34" charset="0"/>
              </a:rPr>
              <a:t> Mishra. Communication Skills for Engineers and Scientists, PHI Learning, 2015.</a:t>
            </a:r>
          </a:p>
          <a:p>
            <a:pPr marL="342900" lvl="0" algn="just">
              <a:lnSpc>
                <a:spcPct val="90000"/>
              </a:lnSpc>
              <a:spcBef>
                <a:spcPts val="1000"/>
              </a:spcBef>
              <a:buSzPts val="1100"/>
              <a:buFont typeface="Wingdings" panose="05000000000000000000" pitchFamily="2" charset="2"/>
              <a:buChar char="q"/>
            </a:pPr>
            <a:r>
              <a:rPr lang="en-US" sz="2200" dirty="0" smtClean="0">
                <a:latin typeface="Calibri" panose="020F0502020204030204" pitchFamily="34" charset="0"/>
              </a:rPr>
              <a:t>Turk, Christopher. </a:t>
            </a:r>
            <a:r>
              <a:rPr lang="en-US" sz="2200" i="1" dirty="0" smtClean="0">
                <a:latin typeface="Calibri" panose="020F0502020204030204" pitchFamily="34" charset="0"/>
              </a:rPr>
              <a:t>Effective Speaking: Communicating in Speech</a:t>
            </a:r>
            <a:r>
              <a:rPr lang="en-US" sz="2200" dirty="0" smtClean="0">
                <a:latin typeface="Calibri" panose="020F0502020204030204" pitchFamily="34" charset="0"/>
              </a:rPr>
              <a:t>. </a:t>
            </a:r>
            <a:r>
              <a:rPr lang="en-US" sz="2200" dirty="0" err="1" smtClean="0">
                <a:latin typeface="Calibri" panose="020F0502020204030204" pitchFamily="34" charset="0"/>
              </a:rPr>
              <a:t>Spon</a:t>
            </a:r>
            <a:r>
              <a:rPr lang="en-US" sz="2200" dirty="0" smtClean="0">
                <a:latin typeface="Calibri" panose="020F0502020204030204" pitchFamily="34" charset="0"/>
              </a:rPr>
              <a:t> Press, 1985.</a:t>
            </a:r>
          </a:p>
          <a:p>
            <a:pPr marL="0" lvl="0" indent="0" algn="l" rtl="0">
              <a:lnSpc>
                <a:spcPct val="90000"/>
              </a:lnSpc>
              <a:spcBef>
                <a:spcPts val="1000"/>
              </a:spcBef>
              <a:spcAft>
                <a:spcPts val="0"/>
              </a:spcAft>
              <a:buClr>
                <a:schemeClr val="dk1"/>
              </a:buClr>
              <a:buSzPts val="1100"/>
              <a:buFont typeface="Arial"/>
              <a:buNone/>
            </a:pPr>
            <a:endParaRPr lang="en" sz="2000" dirty="0" smtClean="0"/>
          </a:p>
          <a:p>
            <a:pPr marL="0" lvl="0" indent="0" algn="l" rtl="0">
              <a:lnSpc>
                <a:spcPct val="90000"/>
              </a:lnSpc>
              <a:spcBef>
                <a:spcPts val="1000"/>
              </a:spcBef>
              <a:spcAft>
                <a:spcPts val="0"/>
              </a:spcAft>
              <a:buClr>
                <a:schemeClr val="dk1"/>
              </a:buClr>
              <a:buSzPts val="1100"/>
              <a:buFont typeface="Arial"/>
              <a:buNone/>
            </a:pPr>
            <a:endParaRPr sz="2000" dirty="0"/>
          </a:p>
          <a:p>
            <a:pPr marL="342900" lvl="0" indent="-139700" algn="l" rtl="0">
              <a:spcBef>
                <a:spcPts val="0"/>
              </a:spcBef>
              <a:spcAft>
                <a:spcPts val="0"/>
              </a:spcAft>
              <a:buClr>
                <a:schemeClr val="dk1"/>
              </a:buClr>
              <a:buSzPts val="3200"/>
              <a:buNone/>
            </a:pPr>
            <a:endParaRPr sz="2000" dirty="0"/>
          </a:p>
        </p:txBody>
      </p:sp>
      <p:sp>
        <p:nvSpPr>
          <p:cNvPr id="258" name="Google Shape;258;p41"/>
          <p:cNvSpPr txBox="1">
            <a:spLocks noGrp="1"/>
          </p:cNvSpPr>
          <p:nvPr>
            <p:ph type="sldNum" idx="12"/>
          </p:nvPr>
        </p:nvSpPr>
        <p:spPr>
          <a:xfrm>
            <a:off x="6553200" y="4767263"/>
            <a:ext cx="2133600" cy="27390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
              <a:t>20</a:t>
            </a:fld>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68</TotalTime>
  <Words>1001</Words>
  <Application>Microsoft Office PowerPoint</Application>
  <PresentationFormat>On-screen Show (16:9)</PresentationFormat>
  <Paragraphs>137</Paragraphs>
  <Slides>20</Slides>
  <Notes>17</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20</vt:i4>
      </vt:variant>
    </vt:vector>
  </HeadingPairs>
  <TitlesOfParts>
    <vt:vector size="25" baseType="lpstr">
      <vt:lpstr>Arial</vt:lpstr>
      <vt:lpstr>Calibri</vt:lpstr>
      <vt:lpstr>Wingdings</vt:lpstr>
      <vt:lpstr>Simple Light</vt:lpstr>
      <vt:lpstr>Office Theme</vt:lpstr>
      <vt:lpstr>PowerPoint Presentation</vt:lpstr>
      <vt:lpstr>“Language has time as its element, all other media have space as their element.” - Soren Kierkegaard</vt:lpstr>
      <vt:lpstr>Introduction</vt:lpstr>
      <vt:lpstr>Proxemics: Space, Culture &amp; Communication</vt:lpstr>
      <vt:lpstr>Communication across Spaces</vt:lpstr>
      <vt:lpstr>Space Zones</vt:lpstr>
      <vt:lpstr>Intimate distance</vt:lpstr>
      <vt:lpstr>Personal distance</vt:lpstr>
      <vt:lpstr>Social Zones</vt:lpstr>
      <vt:lpstr>Public Zones</vt:lpstr>
      <vt:lpstr>Interpersonal Distances</vt:lpstr>
      <vt:lpstr>The Cultural Dilemma</vt:lpstr>
      <vt:lpstr>Intercultural Differences</vt:lpstr>
      <vt:lpstr>Contd…</vt:lpstr>
      <vt:lpstr>Perceptions of Space</vt:lpstr>
      <vt:lpstr>Space in Public Speaking</vt:lpstr>
      <vt:lpstr>Some Tips </vt:lpstr>
      <vt:lpstr>Digital Proxemics</vt:lpstr>
      <vt:lpstr>PowerPoint Presentation</vt:lpstr>
      <vt:lpstr>Works Consulted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HP</cp:lastModifiedBy>
  <cp:revision>17</cp:revision>
  <dcterms:modified xsi:type="dcterms:W3CDTF">2022-06-14T14:17:43Z</dcterms:modified>
</cp:coreProperties>
</file>